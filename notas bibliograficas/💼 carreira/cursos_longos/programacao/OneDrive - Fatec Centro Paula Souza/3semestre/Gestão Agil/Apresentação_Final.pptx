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750BA-D6ED-44F1-9806-602F527E0631}" type="datetimeFigureOut">
              <a:rPr lang="pt-BR" smtClean="0"/>
              <a:t>29/04/2023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9ACB1-4641-4DD0-ABC5-52217003366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7057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750BA-D6ED-44F1-9806-602F527E0631}" type="datetimeFigureOut">
              <a:rPr lang="pt-BR" smtClean="0"/>
              <a:t>29/04/2023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9ACB1-4641-4DD0-ABC5-52217003366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1068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750BA-D6ED-44F1-9806-602F527E0631}" type="datetimeFigureOut">
              <a:rPr lang="pt-BR" smtClean="0"/>
              <a:t>29/04/2023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9ACB1-4641-4DD0-ABC5-52217003366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4140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750BA-D6ED-44F1-9806-602F527E0631}" type="datetimeFigureOut">
              <a:rPr lang="pt-BR" smtClean="0"/>
              <a:t>29/04/2023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9ACB1-4641-4DD0-ABC5-52217003366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6238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750BA-D6ED-44F1-9806-602F527E0631}" type="datetimeFigureOut">
              <a:rPr lang="pt-BR" smtClean="0"/>
              <a:t>29/04/2023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9ACB1-4641-4DD0-ABC5-52217003366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0060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750BA-D6ED-44F1-9806-602F527E0631}" type="datetimeFigureOut">
              <a:rPr lang="pt-BR" smtClean="0"/>
              <a:t>29/04/2023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9ACB1-4641-4DD0-ABC5-52217003366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4449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750BA-D6ED-44F1-9806-602F527E0631}" type="datetimeFigureOut">
              <a:rPr lang="pt-BR" smtClean="0"/>
              <a:t>29/04/2023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9ACB1-4641-4DD0-ABC5-52217003366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5349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750BA-D6ED-44F1-9806-602F527E0631}" type="datetimeFigureOut">
              <a:rPr lang="pt-BR" smtClean="0"/>
              <a:t>29/04/2023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9ACB1-4641-4DD0-ABC5-52217003366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7912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750BA-D6ED-44F1-9806-602F527E0631}" type="datetimeFigureOut">
              <a:rPr lang="pt-BR" smtClean="0"/>
              <a:t>29/04/2023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9ACB1-4641-4DD0-ABC5-52217003366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4239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750BA-D6ED-44F1-9806-602F527E0631}" type="datetimeFigureOut">
              <a:rPr lang="pt-BR" smtClean="0"/>
              <a:t>29/04/2023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9ACB1-4641-4DD0-ABC5-52217003366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1735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750BA-D6ED-44F1-9806-602F527E0631}" type="datetimeFigureOut">
              <a:rPr lang="pt-BR" smtClean="0"/>
              <a:t>29/04/2023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9ACB1-4641-4DD0-ABC5-52217003366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83953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97" b="1" i="0">
                <a:solidFill>
                  <a:srgbClr val="496200"/>
                </a:solidFill>
                <a:latin typeface="Century Schoolbook"/>
                <a:cs typeface="Century Schoolboo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988558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28216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F750BA-D6ED-44F1-9806-602F527E0631}" type="datetimeFigureOut">
              <a:rPr lang="pt-BR" smtClean="0"/>
              <a:t>29/04/2023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99ACB1-4641-4DD0-ABC5-52217003366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5790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2.jpg"/><Relationship Id="rId5" Type="http://schemas.openxmlformats.org/officeDocument/2006/relationships/image" Target="../media/image111.jpg"/><Relationship Id="rId4" Type="http://schemas.openxmlformats.org/officeDocument/2006/relationships/image" Target="../media/image110.jp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13.xml"/><Relationship Id="rId5" Type="http://schemas.openxmlformats.org/officeDocument/2006/relationships/hyperlink" Target="mailto:andre.belini@ifsp.edu.br" TargetMode="External"/><Relationship Id="rId4" Type="http://schemas.openxmlformats.org/officeDocument/2006/relationships/hyperlink" Target="mailto:prof.andre.luis.belini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0802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32748" y="307691"/>
            <a:ext cx="8523963" cy="461238"/>
          </a:xfrm>
        </p:spPr>
        <p:txBody>
          <a:bodyPr>
            <a:normAutofit fontScale="90000"/>
          </a:bodyPr>
          <a:lstStyle/>
          <a:p>
            <a:r>
              <a:rPr lang="pt-BR" dirty="0" smtClean="0">
                <a:solidFill>
                  <a:schemeClr val="tx1"/>
                </a:solidFill>
              </a:rPr>
              <a:t>       </a:t>
            </a:r>
            <a:r>
              <a:rPr lang="pt-BR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Fatec-Faculdade de Tecnologia de Mauá</a:t>
            </a:r>
            <a:endParaRPr lang="pt-B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213395" y="1906410"/>
            <a:ext cx="8143316" cy="4397134"/>
          </a:xfrm>
        </p:spPr>
        <p:txBody>
          <a:bodyPr>
            <a:normAutofit fontScale="55000" lnSpcReduction="20000"/>
          </a:bodyPr>
          <a:lstStyle/>
          <a:p>
            <a:r>
              <a:rPr lang="pt-BR" dirty="0" smtClean="0"/>
              <a:t>      </a:t>
            </a:r>
            <a:r>
              <a:rPr lang="pt-BR" b="1" dirty="0" smtClean="0"/>
              <a:t>D</a:t>
            </a:r>
            <a:r>
              <a:rPr lang="pt-BR" sz="1998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isciplina:</a:t>
            </a:r>
            <a:r>
              <a:rPr lang="pt-BR" sz="1998" b="1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98" b="1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Gestão Ágil</a:t>
            </a:r>
            <a:endParaRPr lang="pt-BR" sz="1998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BR" b="1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r>
              <a:rPr lang="pt-BR" dirty="0"/>
              <a:t> </a:t>
            </a:r>
            <a:r>
              <a:rPr lang="pt-BR" dirty="0" smtClean="0"/>
              <a:t>                                           </a:t>
            </a:r>
          </a:p>
          <a:p>
            <a:endParaRPr lang="pt-BR" dirty="0"/>
          </a:p>
          <a:p>
            <a:endParaRPr lang="pt-BR" dirty="0" smtClean="0"/>
          </a:p>
          <a:p>
            <a:r>
              <a:rPr lang="pt-BR" dirty="0"/>
              <a:t> </a:t>
            </a:r>
            <a:r>
              <a:rPr lang="pt-BR" dirty="0" smtClean="0"/>
              <a:t>                                        </a:t>
            </a:r>
          </a:p>
          <a:p>
            <a:r>
              <a:rPr lang="pt-BR" dirty="0" smtClean="0"/>
              <a:t>                                                                          </a:t>
            </a:r>
            <a:r>
              <a:rPr lang="pt-BR" sz="1399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Rivaldo J. Silva</a:t>
            </a:r>
            <a:r>
              <a:rPr lang="pt-B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</a:t>
            </a:r>
            <a:r>
              <a:rPr lang="pt-BR" sz="1199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E-mail: rivaldo.silva3@fatec.sp.gov.br</a:t>
            </a:r>
            <a:endParaRPr lang="pt-BR" sz="1199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  <p:pic>
        <p:nvPicPr>
          <p:cNvPr id="6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5669" y="2896093"/>
            <a:ext cx="2014387" cy="2014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687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3676" y="794250"/>
            <a:ext cx="6319384" cy="689294"/>
          </a:xfrm>
          <a:prstGeom prst="rect">
            <a:avLst/>
          </a:prstGeom>
        </p:spPr>
        <p:txBody>
          <a:bodyPr vert="horz" wrap="square" lIns="0" tIns="12688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100"/>
              </a:spcBef>
            </a:pPr>
            <a:r>
              <a:rPr cap="small" spc="-5" dirty="0">
                <a:latin typeface="Century Schoolbook"/>
                <a:cs typeface="Century Schoolbook"/>
              </a:rPr>
              <a:t>Mat</a:t>
            </a:r>
            <a:r>
              <a:rPr cap="small" spc="-10" dirty="0">
                <a:latin typeface="Century Schoolbook"/>
                <a:cs typeface="Century Schoolbook"/>
              </a:rPr>
              <a:t>éri</a:t>
            </a:r>
            <a:r>
              <a:rPr cap="small" spc="-5" dirty="0">
                <a:latin typeface="Century Schoolbook"/>
                <a:cs typeface="Century Schoolbook"/>
              </a:rPr>
              <a:t>a</a:t>
            </a:r>
            <a:r>
              <a:rPr b="0" cap="small" dirty="0">
                <a:latin typeface="Century Schoolbook"/>
                <a:cs typeface="Century Schoolbook"/>
              </a:rPr>
              <a:t>:</a:t>
            </a:r>
            <a:r>
              <a:rPr spc="145" dirty="0">
                <a:latin typeface="Times New Roman"/>
                <a:cs typeface="Times New Roman"/>
              </a:rPr>
              <a:t> </a:t>
            </a:r>
            <a:r>
              <a:rPr lang="pt-BR" spc="145" dirty="0">
                <a:latin typeface="Times New Roman"/>
                <a:cs typeface="Times New Roman"/>
              </a:rPr>
              <a:t>Gestão </a:t>
            </a:r>
            <a:r>
              <a:rPr lang="pt-BR" spc="145" dirty="0">
                <a:latin typeface="Times New Roman"/>
                <a:cs typeface="Times New Roman"/>
              </a:rPr>
              <a:t>Á</a:t>
            </a:r>
            <a:r>
              <a:rPr lang="pt-BR" spc="145" dirty="0">
                <a:latin typeface="Times New Roman"/>
                <a:cs typeface="Times New Roman"/>
              </a:rPr>
              <a:t>gil</a:t>
            </a:r>
            <a:endParaRPr sz="2398" dirty="0">
              <a:latin typeface="Century Schoolbook"/>
              <a:cs typeface="Century Schoolboo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3676" y="1552534"/>
            <a:ext cx="5033429" cy="1273529"/>
          </a:xfrm>
          <a:prstGeom prst="rect">
            <a:avLst/>
          </a:prstGeom>
        </p:spPr>
        <p:txBody>
          <a:bodyPr vert="horz" wrap="square" lIns="0" tIns="88818" rIns="0" bIns="0" rtlCol="0">
            <a:spAutoFit/>
          </a:bodyPr>
          <a:lstStyle/>
          <a:p>
            <a:pPr marL="286762" marR="26011" indent="-274073">
              <a:spcBef>
                <a:spcPts val="599"/>
              </a:spcBef>
              <a:buClr>
                <a:srgbClr val="94C600"/>
              </a:buClr>
              <a:buSzPct val="68750"/>
              <a:buFont typeface="Wingdings"/>
              <a:buChar char=""/>
              <a:tabLst>
                <a:tab pos="286762" algn="l"/>
              </a:tabLst>
            </a:pPr>
            <a:r>
              <a:rPr sz="2398" b="1" dirty="0" err="1">
                <a:solidFill>
                  <a:srgbClr val="496200"/>
                </a:solidFill>
                <a:latin typeface="Century Schoolbook"/>
                <a:cs typeface="Century Schoolbook"/>
              </a:rPr>
              <a:t>Tema</a:t>
            </a:r>
            <a:r>
              <a:rPr sz="2398" b="1" dirty="0">
                <a:solidFill>
                  <a:srgbClr val="496200"/>
                </a:solidFill>
                <a:latin typeface="Century Schoolbook"/>
                <a:cs typeface="Century Schoolbook"/>
              </a:rPr>
              <a:t>:</a:t>
            </a:r>
            <a:r>
              <a:rPr sz="2398" spc="40" dirty="0">
                <a:solidFill>
                  <a:srgbClr val="496200"/>
                </a:solidFill>
                <a:latin typeface="Times New Roman"/>
                <a:cs typeface="Times New Roman"/>
              </a:rPr>
              <a:t> </a:t>
            </a:r>
            <a:r>
              <a:rPr sz="2398" b="1" dirty="0">
                <a:solidFill>
                  <a:srgbClr val="496200"/>
                </a:solidFill>
                <a:latin typeface="Century Schoolbook"/>
                <a:cs typeface="Century Schoolbook"/>
              </a:rPr>
              <a:t>Metodologias</a:t>
            </a:r>
            <a:r>
              <a:rPr sz="2398" spc="65" dirty="0">
                <a:solidFill>
                  <a:srgbClr val="496200"/>
                </a:solidFill>
                <a:latin typeface="Times New Roman"/>
                <a:cs typeface="Times New Roman"/>
              </a:rPr>
              <a:t> </a:t>
            </a:r>
            <a:r>
              <a:rPr sz="2398" b="1" dirty="0">
                <a:solidFill>
                  <a:srgbClr val="496200"/>
                </a:solidFill>
                <a:latin typeface="Century Schoolbook"/>
                <a:cs typeface="Century Schoolbook"/>
              </a:rPr>
              <a:t>Ágeis</a:t>
            </a:r>
            <a:r>
              <a:rPr sz="2398" spc="60" dirty="0">
                <a:solidFill>
                  <a:srgbClr val="496200"/>
                </a:solidFill>
                <a:latin typeface="Times New Roman"/>
                <a:cs typeface="Times New Roman"/>
              </a:rPr>
              <a:t> </a:t>
            </a:r>
            <a:r>
              <a:rPr sz="2398" b="1" spc="-25" dirty="0">
                <a:solidFill>
                  <a:srgbClr val="496200"/>
                </a:solidFill>
                <a:latin typeface="Century Schoolbook"/>
                <a:cs typeface="Century Schoolbook"/>
              </a:rPr>
              <a:t>de</a:t>
            </a:r>
            <a:r>
              <a:rPr sz="2398" spc="-25" dirty="0">
                <a:solidFill>
                  <a:srgbClr val="496200"/>
                </a:solidFill>
                <a:latin typeface="Times New Roman"/>
                <a:cs typeface="Times New Roman"/>
              </a:rPr>
              <a:t> </a:t>
            </a:r>
            <a:r>
              <a:rPr sz="2398" b="1" dirty="0">
                <a:solidFill>
                  <a:srgbClr val="496200"/>
                </a:solidFill>
                <a:latin typeface="Century Schoolbook"/>
                <a:cs typeface="Century Schoolbook"/>
              </a:rPr>
              <a:t>Desenvolvimento</a:t>
            </a:r>
            <a:r>
              <a:rPr sz="2398" spc="50" dirty="0">
                <a:solidFill>
                  <a:srgbClr val="496200"/>
                </a:solidFill>
                <a:latin typeface="Times New Roman"/>
                <a:cs typeface="Times New Roman"/>
              </a:rPr>
              <a:t> </a:t>
            </a:r>
            <a:r>
              <a:rPr sz="2398" b="1" dirty="0">
                <a:solidFill>
                  <a:srgbClr val="496200"/>
                </a:solidFill>
                <a:latin typeface="Century Schoolbook"/>
                <a:cs typeface="Century Schoolbook"/>
              </a:rPr>
              <a:t>de</a:t>
            </a:r>
            <a:r>
              <a:rPr sz="2398" spc="65" dirty="0">
                <a:solidFill>
                  <a:srgbClr val="496200"/>
                </a:solidFill>
                <a:latin typeface="Times New Roman"/>
                <a:cs typeface="Times New Roman"/>
              </a:rPr>
              <a:t> </a:t>
            </a:r>
            <a:r>
              <a:rPr sz="2398" b="1" spc="-10" dirty="0">
                <a:solidFill>
                  <a:srgbClr val="496200"/>
                </a:solidFill>
                <a:latin typeface="Century Schoolbook"/>
                <a:cs typeface="Century Schoolbook"/>
              </a:rPr>
              <a:t>Software</a:t>
            </a:r>
            <a:endParaRPr sz="2398" dirty="0">
              <a:latin typeface="Century Schoolbook"/>
              <a:cs typeface="Century Schoolbook"/>
            </a:endParaRPr>
          </a:p>
          <a:p>
            <a:pPr marL="12689">
              <a:spcBef>
                <a:spcPts val="599"/>
              </a:spcBef>
              <a:buClr>
                <a:srgbClr val="94C600"/>
              </a:buClr>
              <a:buSzPct val="68750"/>
              <a:tabLst>
                <a:tab pos="286762" algn="l"/>
              </a:tabLst>
            </a:pPr>
            <a:endParaRPr sz="2398" dirty="0">
              <a:latin typeface="Century Schoolbook"/>
              <a:cs typeface="Century Schoolbook"/>
            </a:endParaRPr>
          </a:p>
        </p:txBody>
      </p:sp>
      <p:pic>
        <p:nvPicPr>
          <p:cNvPr id="12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01153" y="3124482"/>
            <a:ext cx="2014387" cy="2014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754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3675" y="454488"/>
            <a:ext cx="4517018" cy="1365776"/>
          </a:xfrm>
          <a:prstGeom prst="rect">
            <a:avLst/>
          </a:prstGeom>
        </p:spPr>
        <p:txBody>
          <a:bodyPr vert="horz" wrap="square" lIns="0" tIns="12688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100"/>
              </a:spcBef>
            </a:pPr>
            <a:r>
              <a:rPr cap="small" spc="5" dirty="0"/>
              <a:t>T</a:t>
            </a:r>
            <a:r>
              <a:rPr cap="small" dirty="0"/>
              <a:t>ópi</a:t>
            </a:r>
            <a:r>
              <a:rPr cap="small" spc="5" dirty="0"/>
              <a:t>c</a:t>
            </a:r>
            <a:r>
              <a:rPr cap="small" dirty="0"/>
              <a:t>os</a:t>
            </a:r>
            <a:r>
              <a:rPr sz="2398" spc="229" dirty="0">
                <a:latin typeface="Times New Roman"/>
                <a:cs typeface="Times New Roman"/>
              </a:rPr>
              <a:t> </a:t>
            </a:r>
            <a:r>
              <a:rPr cap="small" dirty="0"/>
              <a:t>apre</a:t>
            </a:r>
            <a:r>
              <a:rPr cap="small" spc="-5" dirty="0"/>
              <a:t>s</a:t>
            </a:r>
            <a:r>
              <a:rPr cap="small" dirty="0"/>
              <a:t>en</a:t>
            </a:r>
            <a:r>
              <a:rPr cap="small" spc="-10" dirty="0"/>
              <a:t>t</a:t>
            </a:r>
            <a:r>
              <a:rPr cap="small" dirty="0"/>
              <a:t>ados</a:t>
            </a:r>
            <a:endParaRPr sz="239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3676" y="1741336"/>
            <a:ext cx="5985683" cy="2887846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286762" indent="-274073">
              <a:spcBef>
                <a:spcPts val="100"/>
              </a:spcBef>
              <a:buClr>
                <a:srgbClr val="94C600"/>
              </a:buClr>
              <a:buSzPct val="68750"/>
              <a:buFont typeface="Wingdings"/>
              <a:buChar char=""/>
              <a:tabLst>
                <a:tab pos="286762" algn="l"/>
              </a:tabLst>
            </a:pPr>
            <a:r>
              <a:rPr sz="2398" dirty="0">
                <a:latin typeface="Century Schoolbook"/>
                <a:cs typeface="Century Schoolbook"/>
              </a:rPr>
              <a:t>Métodos</a:t>
            </a:r>
            <a:r>
              <a:rPr sz="2398" spc="50" dirty="0">
                <a:latin typeface="Times New Roman"/>
                <a:cs typeface="Times New Roman"/>
              </a:rPr>
              <a:t> </a:t>
            </a:r>
            <a:r>
              <a:rPr sz="2398" spc="-10" dirty="0">
                <a:latin typeface="Century Schoolbook"/>
                <a:cs typeface="Century Schoolbook"/>
              </a:rPr>
              <a:t>ágeis</a:t>
            </a:r>
            <a:endParaRPr sz="2398">
              <a:latin typeface="Century Schoolbook"/>
              <a:cs typeface="Century Schoolbook"/>
            </a:endParaRPr>
          </a:p>
          <a:p>
            <a:pPr marL="286762" indent="-274073">
              <a:spcBef>
                <a:spcPts val="2038"/>
              </a:spcBef>
              <a:buClr>
                <a:srgbClr val="94C600"/>
              </a:buClr>
              <a:buSzPct val="68750"/>
              <a:buFont typeface="Wingdings"/>
              <a:buChar char=""/>
              <a:tabLst>
                <a:tab pos="286762" algn="l"/>
              </a:tabLst>
            </a:pPr>
            <a:r>
              <a:rPr sz="2398" dirty="0">
                <a:latin typeface="Century Schoolbook"/>
                <a:cs typeface="Century Schoolbook"/>
              </a:rPr>
              <a:t>Desenvolvimento</a:t>
            </a:r>
            <a:r>
              <a:rPr sz="2398" spc="35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ágil</a:t>
            </a:r>
            <a:r>
              <a:rPr sz="2398" spc="50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e</a:t>
            </a:r>
            <a:r>
              <a:rPr sz="2398" spc="50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dirigido</a:t>
            </a:r>
            <a:r>
              <a:rPr sz="2398" spc="25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a</a:t>
            </a:r>
            <a:r>
              <a:rPr sz="2398" spc="50" dirty="0">
                <a:latin typeface="Times New Roman"/>
                <a:cs typeface="Times New Roman"/>
              </a:rPr>
              <a:t> </a:t>
            </a:r>
            <a:r>
              <a:rPr sz="2398" spc="-10" dirty="0">
                <a:latin typeface="Century Schoolbook"/>
                <a:cs typeface="Century Schoolbook"/>
              </a:rPr>
              <a:t>planos</a:t>
            </a:r>
            <a:endParaRPr sz="2398">
              <a:latin typeface="Century Schoolbook"/>
              <a:cs typeface="Century Schoolbook"/>
            </a:endParaRPr>
          </a:p>
          <a:p>
            <a:pPr marL="286762" indent="-274073">
              <a:spcBef>
                <a:spcPts val="2038"/>
              </a:spcBef>
              <a:buClr>
                <a:srgbClr val="94C600"/>
              </a:buClr>
              <a:buSzPct val="68750"/>
              <a:buFont typeface="Wingdings"/>
              <a:buChar char=""/>
              <a:tabLst>
                <a:tab pos="286762" algn="l"/>
              </a:tabLst>
            </a:pPr>
            <a:r>
              <a:rPr sz="2398" dirty="0">
                <a:latin typeface="Century Schoolbook"/>
                <a:cs typeface="Century Schoolbook"/>
              </a:rPr>
              <a:t>Extreme</a:t>
            </a:r>
            <a:r>
              <a:rPr sz="2398" spc="50" dirty="0">
                <a:latin typeface="Times New Roman"/>
                <a:cs typeface="Times New Roman"/>
              </a:rPr>
              <a:t> </a:t>
            </a:r>
            <a:r>
              <a:rPr sz="2398" spc="-10" dirty="0">
                <a:latin typeface="Century Schoolbook"/>
                <a:cs typeface="Century Schoolbook"/>
              </a:rPr>
              <a:t>Programming</a:t>
            </a:r>
            <a:endParaRPr sz="2398">
              <a:latin typeface="Century Schoolbook"/>
              <a:cs typeface="Century Schoolbook"/>
            </a:endParaRPr>
          </a:p>
          <a:p>
            <a:pPr marL="286762" indent="-274073">
              <a:spcBef>
                <a:spcPts val="2038"/>
              </a:spcBef>
              <a:buClr>
                <a:srgbClr val="94C600"/>
              </a:buClr>
              <a:buSzPct val="68750"/>
              <a:buFont typeface="Wingdings"/>
              <a:buChar char=""/>
              <a:tabLst>
                <a:tab pos="286762" algn="l"/>
              </a:tabLst>
            </a:pPr>
            <a:r>
              <a:rPr sz="2398" dirty="0">
                <a:latin typeface="Century Schoolbook"/>
                <a:cs typeface="Century Schoolbook"/>
              </a:rPr>
              <a:t>Gerenciamento</a:t>
            </a:r>
            <a:r>
              <a:rPr sz="2398" spc="15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ágil</a:t>
            </a:r>
            <a:r>
              <a:rPr sz="2398" spc="50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de</a:t>
            </a:r>
            <a:r>
              <a:rPr sz="2398" spc="55" dirty="0">
                <a:latin typeface="Times New Roman"/>
                <a:cs typeface="Times New Roman"/>
              </a:rPr>
              <a:t> </a:t>
            </a:r>
            <a:r>
              <a:rPr sz="2398" spc="-10" dirty="0">
                <a:latin typeface="Century Schoolbook"/>
                <a:cs typeface="Century Schoolbook"/>
              </a:rPr>
              <a:t>projetos</a:t>
            </a:r>
            <a:endParaRPr sz="2398">
              <a:latin typeface="Century Schoolbook"/>
              <a:cs typeface="Century Schoolbook"/>
            </a:endParaRPr>
          </a:p>
          <a:p>
            <a:pPr marL="286762" indent="-274073">
              <a:spcBef>
                <a:spcPts val="2038"/>
              </a:spcBef>
              <a:buClr>
                <a:srgbClr val="94C600"/>
              </a:buClr>
              <a:buSzPct val="68750"/>
              <a:buFont typeface="Wingdings"/>
              <a:buChar char=""/>
              <a:tabLst>
                <a:tab pos="286762" algn="l"/>
              </a:tabLst>
            </a:pPr>
            <a:r>
              <a:rPr sz="2398" dirty="0">
                <a:latin typeface="Century Schoolbook"/>
                <a:cs typeface="Century Schoolbook"/>
              </a:rPr>
              <a:t>Escalamento</a:t>
            </a:r>
            <a:r>
              <a:rPr sz="2398" spc="60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de</a:t>
            </a:r>
            <a:r>
              <a:rPr sz="2398" spc="55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métodos</a:t>
            </a:r>
            <a:r>
              <a:rPr sz="2398" spc="45" dirty="0">
                <a:latin typeface="Times New Roman"/>
                <a:cs typeface="Times New Roman"/>
              </a:rPr>
              <a:t> </a:t>
            </a:r>
            <a:r>
              <a:rPr sz="2398" spc="-10" dirty="0">
                <a:latin typeface="Century Schoolbook"/>
                <a:cs typeface="Century Schoolbook"/>
              </a:rPr>
              <a:t>ágeis</a:t>
            </a:r>
            <a:endParaRPr sz="2398">
              <a:latin typeface="Century Schoolbook"/>
              <a:cs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1112986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3676" y="46627"/>
            <a:ext cx="5650078" cy="1614332"/>
          </a:xfrm>
          <a:prstGeom prst="rect">
            <a:avLst/>
          </a:prstGeom>
        </p:spPr>
        <p:txBody>
          <a:bodyPr vert="horz" wrap="square" lIns="0" tIns="31086" rIns="0" bIns="0" rtlCol="0" anchor="ctr">
            <a:spAutoFit/>
          </a:bodyPr>
          <a:lstStyle/>
          <a:p>
            <a:pPr marL="12689" marR="5075">
              <a:lnSpc>
                <a:spcPct val="116700"/>
              </a:lnSpc>
              <a:spcBef>
                <a:spcPts val="245"/>
              </a:spcBef>
            </a:pPr>
            <a:r>
              <a:rPr cap="small" spc="-5" dirty="0"/>
              <a:t>D</a:t>
            </a:r>
            <a:r>
              <a:rPr cap="small" dirty="0"/>
              <a:t>e</a:t>
            </a:r>
            <a:r>
              <a:rPr cap="small" spc="-5" dirty="0"/>
              <a:t>s</a:t>
            </a:r>
            <a:r>
              <a:rPr cap="small" dirty="0"/>
              <a:t>envo</a:t>
            </a:r>
            <a:r>
              <a:rPr cap="small" spc="-10" dirty="0"/>
              <a:t>l</a:t>
            </a:r>
            <a:r>
              <a:rPr cap="small" dirty="0"/>
              <a:t>vi</a:t>
            </a:r>
            <a:r>
              <a:rPr cap="small" spc="-5" dirty="0"/>
              <a:t>m</a:t>
            </a:r>
            <a:r>
              <a:rPr cap="small" dirty="0"/>
              <a:t>en</a:t>
            </a:r>
            <a:r>
              <a:rPr cap="small" spc="-10" dirty="0"/>
              <a:t>t</a:t>
            </a:r>
            <a:r>
              <a:rPr cap="small" dirty="0"/>
              <a:t>o</a:t>
            </a:r>
            <a:r>
              <a:rPr sz="2398" spc="275" dirty="0">
                <a:latin typeface="Times New Roman"/>
                <a:cs typeface="Times New Roman"/>
              </a:rPr>
              <a:t> </a:t>
            </a:r>
            <a:r>
              <a:rPr cap="small" spc="-5" dirty="0"/>
              <a:t>r</a:t>
            </a:r>
            <a:r>
              <a:rPr cap="small" dirty="0"/>
              <a:t>ápido</a:t>
            </a:r>
            <a:r>
              <a:rPr sz="2398" spc="240" dirty="0">
                <a:latin typeface="Times New Roman"/>
                <a:cs typeface="Times New Roman"/>
              </a:rPr>
              <a:t> </a:t>
            </a:r>
            <a:r>
              <a:rPr cap="small" dirty="0"/>
              <a:t>de</a:t>
            </a:r>
            <a:r>
              <a:rPr sz="2398" dirty="0">
                <a:latin typeface="Times New Roman"/>
                <a:cs typeface="Times New Roman"/>
              </a:rPr>
              <a:t> </a:t>
            </a:r>
            <a:r>
              <a:rPr cap="small" spc="-5" dirty="0"/>
              <a:t>s</a:t>
            </a:r>
            <a:r>
              <a:rPr cap="small" dirty="0"/>
              <a:t>o</a:t>
            </a:r>
            <a:r>
              <a:rPr cap="small" spc="-10" dirty="0"/>
              <a:t>ft</a:t>
            </a:r>
            <a:r>
              <a:rPr cap="small" spc="-5" dirty="0"/>
              <a:t>w</a:t>
            </a:r>
            <a:r>
              <a:rPr cap="small" dirty="0"/>
              <a:t>are</a:t>
            </a:r>
            <a:endParaRPr sz="239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3676" y="1558630"/>
            <a:ext cx="7301454" cy="4204887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286127" marR="5075" indent="-274073" algn="just">
              <a:lnSpc>
                <a:spcPct val="150000"/>
              </a:lnSpc>
              <a:spcBef>
                <a:spcPts val="100"/>
              </a:spcBef>
              <a:buClr>
                <a:srgbClr val="94C600"/>
              </a:buClr>
              <a:buSzPct val="68750"/>
              <a:buFont typeface="Wingdings"/>
              <a:buChar char=""/>
              <a:tabLst>
                <a:tab pos="286762" algn="l"/>
              </a:tabLst>
            </a:pPr>
            <a:r>
              <a:rPr sz="2398" dirty="0">
                <a:latin typeface="Century Schoolbook"/>
                <a:cs typeface="Century Schoolbook"/>
              </a:rPr>
              <a:t>Atualmente,</a:t>
            </a:r>
            <a:r>
              <a:rPr sz="2398" spc="450" dirty="0">
                <a:latin typeface="Times New Roman"/>
                <a:cs typeface="Times New Roman"/>
              </a:rPr>
              <a:t>  </a:t>
            </a:r>
            <a:r>
              <a:rPr sz="2398" dirty="0">
                <a:latin typeface="Century Schoolbook"/>
                <a:cs typeface="Century Schoolbook"/>
              </a:rPr>
              <a:t>a</a:t>
            </a:r>
            <a:r>
              <a:rPr sz="2398" spc="459" dirty="0">
                <a:latin typeface="Times New Roman"/>
                <a:cs typeface="Times New Roman"/>
              </a:rPr>
              <a:t>  </a:t>
            </a:r>
            <a:r>
              <a:rPr sz="2398" dirty="0">
                <a:latin typeface="Century Schoolbook"/>
                <a:cs typeface="Century Schoolbook"/>
              </a:rPr>
              <a:t>entrega</a:t>
            </a:r>
            <a:r>
              <a:rPr sz="2398" spc="455" dirty="0">
                <a:latin typeface="Times New Roman"/>
                <a:cs typeface="Times New Roman"/>
              </a:rPr>
              <a:t>  </a:t>
            </a:r>
            <a:r>
              <a:rPr sz="2398" dirty="0">
                <a:latin typeface="Century Schoolbook"/>
                <a:cs typeface="Century Schoolbook"/>
              </a:rPr>
              <a:t>e</a:t>
            </a:r>
            <a:r>
              <a:rPr sz="2398" spc="459" dirty="0">
                <a:latin typeface="Times New Roman"/>
                <a:cs typeface="Times New Roman"/>
              </a:rPr>
              <a:t>  </a:t>
            </a:r>
            <a:r>
              <a:rPr sz="2398" dirty="0">
                <a:latin typeface="Century Schoolbook"/>
                <a:cs typeface="Century Schoolbook"/>
              </a:rPr>
              <a:t>o</a:t>
            </a:r>
            <a:r>
              <a:rPr sz="2398" spc="450" dirty="0">
                <a:latin typeface="Times New Roman"/>
                <a:cs typeface="Times New Roman"/>
              </a:rPr>
              <a:t>  </a:t>
            </a:r>
            <a:r>
              <a:rPr sz="2398" spc="-10" dirty="0">
                <a:latin typeface="Century Schoolbook"/>
                <a:cs typeface="Century Schoolbook"/>
              </a:rPr>
              <a:t>desenvolvimento</a:t>
            </a:r>
            <a:r>
              <a:rPr sz="2398" spc="-10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rápidos</a:t>
            </a:r>
            <a:r>
              <a:rPr sz="2398" spc="114" dirty="0">
                <a:latin typeface="Times New Roman"/>
                <a:cs typeface="Times New Roman"/>
              </a:rPr>
              <a:t>  </a:t>
            </a:r>
            <a:r>
              <a:rPr sz="2398" dirty="0">
                <a:latin typeface="Century Schoolbook"/>
                <a:cs typeface="Century Schoolbook"/>
              </a:rPr>
              <a:t>têm</a:t>
            </a:r>
            <a:r>
              <a:rPr sz="2398" spc="120" dirty="0">
                <a:latin typeface="Times New Roman"/>
                <a:cs typeface="Times New Roman"/>
              </a:rPr>
              <a:t>  </a:t>
            </a:r>
            <a:r>
              <a:rPr sz="2398" dirty="0">
                <a:latin typeface="Century Schoolbook"/>
                <a:cs typeface="Century Schoolbook"/>
              </a:rPr>
              <a:t>sido</a:t>
            </a:r>
            <a:r>
              <a:rPr sz="2398" spc="114" dirty="0">
                <a:latin typeface="Times New Roman"/>
                <a:cs typeface="Times New Roman"/>
              </a:rPr>
              <a:t>  </a:t>
            </a:r>
            <a:r>
              <a:rPr sz="2398" dirty="0">
                <a:latin typeface="Century Schoolbook"/>
                <a:cs typeface="Century Schoolbook"/>
              </a:rPr>
              <a:t>geralmente,</a:t>
            </a:r>
            <a:r>
              <a:rPr sz="2398" spc="105" dirty="0">
                <a:latin typeface="Times New Roman"/>
                <a:cs typeface="Times New Roman"/>
              </a:rPr>
              <a:t>  </a:t>
            </a:r>
            <a:r>
              <a:rPr sz="2398" dirty="0">
                <a:latin typeface="Century Schoolbook"/>
                <a:cs typeface="Century Schoolbook"/>
              </a:rPr>
              <a:t>o</a:t>
            </a:r>
            <a:r>
              <a:rPr sz="2398" spc="114" dirty="0">
                <a:latin typeface="Times New Roman"/>
                <a:cs typeface="Times New Roman"/>
              </a:rPr>
              <a:t>  </a:t>
            </a:r>
            <a:r>
              <a:rPr sz="2398" dirty="0">
                <a:latin typeface="Century Schoolbook"/>
                <a:cs typeface="Century Schoolbook"/>
              </a:rPr>
              <a:t>requisito</a:t>
            </a:r>
            <a:r>
              <a:rPr sz="2398" spc="114" dirty="0">
                <a:latin typeface="Times New Roman"/>
                <a:cs typeface="Times New Roman"/>
              </a:rPr>
              <a:t>  </a:t>
            </a:r>
            <a:r>
              <a:rPr sz="2398" spc="-20" dirty="0">
                <a:latin typeface="Century Schoolbook"/>
                <a:cs typeface="Century Schoolbook"/>
              </a:rPr>
              <a:t>mais</a:t>
            </a:r>
            <a:r>
              <a:rPr sz="2398" spc="-20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importante</a:t>
            </a:r>
            <a:r>
              <a:rPr sz="2398" spc="45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nos</a:t>
            </a:r>
            <a:r>
              <a:rPr sz="2398" spc="50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sistemas</a:t>
            </a:r>
            <a:r>
              <a:rPr sz="2398" spc="60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de</a:t>
            </a:r>
            <a:r>
              <a:rPr sz="2398" spc="60" dirty="0">
                <a:latin typeface="Times New Roman"/>
                <a:cs typeface="Times New Roman"/>
              </a:rPr>
              <a:t> </a:t>
            </a:r>
            <a:r>
              <a:rPr sz="2398" spc="-10" dirty="0">
                <a:latin typeface="Century Schoolbook"/>
                <a:cs typeface="Century Schoolbook"/>
              </a:rPr>
              <a:t>software:</a:t>
            </a:r>
            <a:endParaRPr sz="2398">
              <a:latin typeface="Century Schoolbook"/>
              <a:cs typeface="Century Schoolbook"/>
            </a:endParaRPr>
          </a:p>
          <a:p>
            <a:pPr marL="651558" marR="5075" lvl="1" indent="-274073" algn="just">
              <a:lnSpc>
                <a:spcPct val="150000"/>
              </a:lnSpc>
              <a:spcBef>
                <a:spcPts val="574"/>
              </a:spcBef>
              <a:buClr>
                <a:srgbClr val="94C600"/>
              </a:buClr>
              <a:buSzPct val="78571"/>
              <a:buFont typeface="Wingdings 2"/>
              <a:buChar char=""/>
              <a:tabLst>
                <a:tab pos="652192" algn="l"/>
              </a:tabLst>
            </a:pPr>
            <a:r>
              <a:rPr sz="2098" dirty="0">
                <a:latin typeface="Century Schoolbook"/>
                <a:cs typeface="Century Schoolbook"/>
              </a:rPr>
              <a:t>Os</a:t>
            </a:r>
            <a:r>
              <a:rPr sz="2098" spc="300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negócios</a:t>
            </a:r>
            <a:r>
              <a:rPr sz="2098" spc="305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operam</a:t>
            </a:r>
            <a:r>
              <a:rPr sz="2098" spc="295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com</a:t>
            </a:r>
            <a:r>
              <a:rPr sz="2098" spc="305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requisitos</a:t>
            </a:r>
            <a:r>
              <a:rPr sz="2098" spc="305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que</a:t>
            </a:r>
            <a:r>
              <a:rPr sz="2098" spc="300" dirty="0">
                <a:latin typeface="Times New Roman"/>
                <a:cs typeface="Times New Roman"/>
              </a:rPr>
              <a:t>  </a:t>
            </a:r>
            <a:r>
              <a:rPr sz="2098" spc="-10" dirty="0">
                <a:latin typeface="Century Schoolbook"/>
                <a:cs typeface="Century Schoolbook"/>
              </a:rPr>
              <a:t>mudam</a:t>
            </a:r>
            <a:r>
              <a:rPr sz="2098" spc="-10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rapidamente</a:t>
            </a:r>
            <a:r>
              <a:rPr sz="2098" spc="90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e</a:t>
            </a:r>
            <a:r>
              <a:rPr sz="2098" spc="100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é</a:t>
            </a:r>
            <a:r>
              <a:rPr sz="2098" spc="100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praticamente</a:t>
            </a:r>
            <a:r>
              <a:rPr sz="2098" spc="100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impossível</a:t>
            </a:r>
            <a:r>
              <a:rPr sz="2098" spc="100" dirty="0">
                <a:latin typeface="Times New Roman"/>
                <a:cs typeface="Times New Roman"/>
              </a:rPr>
              <a:t>  </a:t>
            </a:r>
            <a:r>
              <a:rPr sz="2098" spc="-10" dirty="0">
                <a:latin typeface="Century Schoolbook"/>
                <a:cs typeface="Century Schoolbook"/>
              </a:rPr>
              <a:t>produzir</a:t>
            </a:r>
            <a:r>
              <a:rPr sz="2098" spc="-10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um</a:t>
            </a:r>
            <a:r>
              <a:rPr sz="2098" spc="35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conjunto</a:t>
            </a:r>
            <a:r>
              <a:rPr sz="2098" spc="60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estável</a:t>
            </a:r>
            <a:r>
              <a:rPr sz="2098" spc="40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de</a:t>
            </a:r>
            <a:r>
              <a:rPr sz="2098" spc="50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requisitos</a:t>
            </a:r>
            <a:r>
              <a:rPr sz="2098" spc="55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de</a:t>
            </a:r>
            <a:r>
              <a:rPr sz="2098" spc="60" dirty="0">
                <a:latin typeface="Times New Roman"/>
                <a:cs typeface="Times New Roman"/>
              </a:rPr>
              <a:t> </a:t>
            </a:r>
            <a:r>
              <a:rPr sz="2098" spc="-10" dirty="0">
                <a:latin typeface="Century Schoolbook"/>
                <a:cs typeface="Century Schoolbook"/>
              </a:rPr>
              <a:t>software.</a:t>
            </a:r>
            <a:endParaRPr sz="2098">
              <a:latin typeface="Century Schoolbook"/>
              <a:cs typeface="Century Schoolbook"/>
            </a:endParaRPr>
          </a:p>
          <a:p>
            <a:pPr marL="651558" marR="5075" lvl="1" indent="-274073" algn="just">
              <a:lnSpc>
                <a:spcPct val="150000"/>
              </a:lnSpc>
              <a:spcBef>
                <a:spcPts val="505"/>
              </a:spcBef>
              <a:buClr>
                <a:srgbClr val="94C600"/>
              </a:buClr>
              <a:buSzPct val="78571"/>
              <a:buFont typeface="Wingdings 2"/>
              <a:buChar char=""/>
              <a:tabLst>
                <a:tab pos="652192" algn="l"/>
              </a:tabLst>
            </a:pPr>
            <a:r>
              <a:rPr sz="2098" dirty="0">
                <a:latin typeface="Century Schoolbook"/>
                <a:cs typeface="Century Schoolbook"/>
              </a:rPr>
              <a:t>O</a:t>
            </a:r>
            <a:r>
              <a:rPr sz="2098" spc="275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software</a:t>
            </a:r>
            <a:r>
              <a:rPr sz="2098" spc="300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precisa</a:t>
            </a:r>
            <a:r>
              <a:rPr sz="2098" spc="280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evoluir</a:t>
            </a:r>
            <a:r>
              <a:rPr sz="2098" spc="290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rapidamente</a:t>
            </a:r>
            <a:r>
              <a:rPr sz="2098" spc="290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para</a:t>
            </a:r>
            <a:r>
              <a:rPr sz="2098" spc="285" dirty="0">
                <a:latin typeface="Times New Roman"/>
                <a:cs typeface="Times New Roman"/>
              </a:rPr>
              <a:t> </a:t>
            </a:r>
            <a:r>
              <a:rPr sz="2098" spc="-10" dirty="0">
                <a:latin typeface="Century Schoolbook"/>
                <a:cs typeface="Century Schoolbook"/>
              </a:rPr>
              <a:t>refletir</a:t>
            </a:r>
            <a:r>
              <a:rPr sz="2098" spc="-10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as</a:t>
            </a:r>
            <a:r>
              <a:rPr sz="2098" spc="50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necessidades</a:t>
            </a:r>
            <a:r>
              <a:rPr sz="2098" spc="55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de</a:t>
            </a:r>
            <a:r>
              <a:rPr sz="2098" spc="50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negócio</a:t>
            </a:r>
            <a:r>
              <a:rPr sz="2098" spc="50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em</a:t>
            </a:r>
            <a:r>
              <a:rPr sz="2098" spc="50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constante</a:t>
            </a:r>
            <a:r>
              <a:rPr sz="2098" spc="50" dirty="0">
                <a:latin typeface="Times New Roman"/>
                <a:cs typeface="Times New Roman"/>
              </a:rPr>
              <a:t> </a:t>
            </a:r>
            <a:r>
              <a:rPr sz="2098" spc="-10" dirty="0">
                <a:latin typeface="Century Schoolbook"/>
                <a:cs typeface="Century Schoolbook"/>
              </a:rPr>
              <a:t>mudança.</a:t>
            </a:r>
            <a:endParaRPr sz="2098">
              <a:latin typeface="Century Schoolbook"/>
              <a:cs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1491370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3676" y="46627"/>
            <a:ext cx="5650078" cy="1614332"/>
          </a:xfrm>
          <a:prstGeom prst="rect">
            <a:avLst/>
          </a:prstGeom>
        </p:spPr>
        <p:txBody>
          <a:bodyPr vert="horz" wrap="square" lIns="0" tIns="31086" rIns="0" bIns="0" rtlCol="0" anchor="ctr">
            <a:spAutoFit/>
          </a:bodyPr>
          <a:lstStyle/>
          <a:p>
            <a:pPr marL="12689" marR="5075">
              <a:lnSpc>
                <a:spcPct val="116700"/>
              </a:lnSpc>
              <a:spcBef>
                <a:spcPts val="245"/>
              </a:spcBef>
            </a:pPr>
            <a:r>
              <a:rPr cap="small" spc="-5" dirty="0"/>
              <a:t>D</a:t>
            </a:r>
            <a:r>
              <a:rPr cap="small" dirty="0"/>
              <a:t>e</a:t>
            </a:r>
            <a:r>
              <a:rPr cap="small" spc="-5" dirty="0"/>
              <a:t>s</a:t>
            </a:r>
            <a:r>
              <a:rPr cap="small" dirty="0"/>
              <a:t>envo</a:t>
            </a:r>
            <a:r>
              <a:rPr cap="small" spc="-10" dirty="0"/>
              <a:t>l</a:t>
            </a:r>
            <a:r>
              <a:rPr cap="small" dirty="0"/>
              <a:t>vi</a:t>
            </a:r>
            <a:r>
              <a:rPr cap="small" spc="-5" dirty="0"/>
              <a:t>m</a:t>
            </a:r>
            <a:r>
              <a:rPr cap="small" dirty="0"/>
              <a:t>en</a:t>
            </a:r>
            <a:r>
              <a:rPr cap="small" spc="-10" dirty="0"/>
              <a:t>t</a:t>
            </a:r>
            <a:r>
              <a:rPr cap="small" dirty="0"/>
              <a:t>o</a:t>
            </a:r>
            <a:r>
              <a:rPr sz="2398" spc="275" dirty="0">
                <a:latin typeface="Times New Roman"/>
                <a:cs typeface="Times New Roman"/>
              </a:rPr>
              <a:t> </a:t>
            </a:r>
            <a:r>
              <a:rPr cap="small" spc="-5" dirty="0"/>
              <a:t>r</a:t>
            </a:r>
            <a:r>
              <a:rPr cap="small" dirty="0"/>
              <a:t>ápido</a:t>
            </a:r>
            <a:r>
              <a:rPr sz="2398" spc="240" dirty="0">
                <a:latin typeface="Times New Roman"/>
                <a:cs typeface="Times New Roman"/>
              </a:rPr>
              <a:t> </a:t>
            </a:r>
            <a:r>
              <a:rPr cap="small" dirty="0"/>
              <a:t>de</a:t>
            </a:r>
            <a:r>
              <a:rPr sz="2398" dirty="0">
                <a:latin typeface="Times New Roman"/>
                <a:cs typeface="Times New Roman"/>
              </a:rPr>
              <a:t> </a:t>
            </a:r>
            <a:r>
              <a:rPr cap="small" spc="-5" dirty="0"/>
              <a:t>s</a:t>
            </a:r>
            <a:r>
              <a:rPr cap="small" dirty="0"/>
              <a:t>o</a:t>
            </a:r>
            <a:r>
              <a:rPr cap="small" spc="-10" dirty="0"/>
              <a:t>ft</a:t>
            </a:r>
            <a:r>
              <a:rPr cap="small" spc="-5" dirty="0"/>
              <a:t>w</a:t>
            </a:r>
            <a:r>
              <a:rPr cap="small" dirty="0"/>
              <a:t>are</a:t>
            </a:r>
            <a:endParaRPr sz="239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3676" y="1741336"/>
            <a:ext cx="7302722" cy="4428834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286762" indent="-274073" algn="just">
              <a:spcBef>
                <a:spcPts val="100"/>
              </a:spcBef>
              <a:buClr>
                <a:srgbClr val="94C600"/>
              </a:buClr>
              <a:buSzPct val="68750"/>
              <a:buFont typeface="Wingdings"/>
              <a:buChar char=""/>
              <a:tabLst>
                <a:tab pos="286762" algn="l"/>
              </a:tabLst>
            </a:pPr>
            <a:r>
              <a:rPr sz="2398" dirty="0">
                <a:latin typeface="Century Schoolbook"/>
                <a:cs typeface="Century Schoolbook"/>
              </a:rPr>
              <a:t>Desenvolvimento</a:t>
            </a:r>
            <a:r>
              <a:rPr sz="2398" spc="25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rápido</a:t>
            </a:r>
            <a:r>
              <a:rPr sz="2398" spc="35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de</a:t>
            </a:r>
            <a:r>
              <a:rPr sz="2398" spc="40" dirty="0">
                <a:latin typeface="Times New Roman"/>
                <a:cs typeface="Times New Roman"/>
              </a:rPr>
              <a:t> </a:t>
            </a:r>
            <a:r>
              <a:rPr sz="2398" spc="-10" dirty="0">
                <a:latin typeface="Century Schoolbook"/>
                <a:cs typeface="Century Schoolbook"/>
              </a:rPr>
              <a:t>software</a:t>
            </a:r>
            <a:endParaRPr sz="2398">
              <a:latin typeface="Century Schoolbook"/>
              <a:cs typeface="Century Schoolbook"/>
            </a:endParaRPr>
          </a:p>
          <a:p>
            <a:pPr marL="651558" marR="5075" lvl="1" indent="-274073" algn="just">
              <a:lnSpc>
                <a:spcPct val="150000"/>
              </a:lnSpc>
              <a:spcBef>
                <a:spcPts val="574"/>
              </a:spcBef>
              <a:buClr>
                <a:srgbClr val="94C600"/>
              </a:buClr>
              <a:buSzPct val="78571"/>
              <a:buFont typeface="Wingdings 2"/>
              <a:buChar char=""/>
              <a:tabLst>
                <a:tab pos="652192" algn="l"/>
              </a:tabLst>
            </a:pPr>
            <a:r>
              <a:rPr sz="2098" dirty="0">
                <a:latin typeface="Century Schoolbook"/>
                <a:cs typeface="Century Schoolbook"/>
              </a:rPr>
              <a:t>A</a:t>
            </a:r>
            <a:r>
              <a:rPr sz="2098" spc="165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especificação,</a:t>
            </a:r>
            <a:r>
              <a:rPr sz="2098" spc="165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o</a:t>
            </a:r>
            <a:r>
              <a:rPr sz="2098" spc="175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projeto</a:t>
            </a:r>
            <a:r>
              <a:rPr sz="2098" spc="165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e</a:t>
            </a:r>
            <a:r>
              <a:rPr sz="2098" spc="170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a</a:t>
            </a:r>
            <a:r>
              <a:rPr sz="2098" spc="160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implementação</a:t>
            </a:r>
            <a:r>
              <a:rPr sz="2098" spc="165" dirty="0">
                <a:latin typeface="Times New Roman"/>
                <a:cs typeface="Times New Roman"/>
              </a:rPr>
              <a:t>  </a:t>
            </a:r>
            <a:r>
              <a:rPr sz="2098" spc="-25" dirty="0">
                <a:latin typeface="Century Schoolbook"/>
                <a:cs typeface="Century Schoolbook"/>
              </a:rPr>
              <a:t>são</a:t>
            </a:r>
            <a:r>
              <a:rPr sz="2098" spc="-25" dirty="0">
                <a:latin typeface="Times New Roman"/>
                <a:cs typeface="Times New Roman"/>
              </a:rPr>
              <a:t> </a:t>
            </a:r>
            <a:r>
              <a:rPr sz="2098" spc="-10" dirty="0">
                <a:latin typeface="Century Schoolbook"/>
                <a:cs typeface="Century Schoolbook"/>
              </a:rPr>
              <a:t>intercaladas.</a:t>
            </a:r>
            <a:endParaRPr sz="2098">
              <a:latin typeface="Century Schoolbook"/>
              <a:cs typeface="Century Schoolbook"/>
            </a:endParaRPr>
          </a:p>
          <a:p>
            <a:pPr marL="651558" marR="6344" lvl="1" indent="-274073" algn="just">
              <a:lnSpc>
                <a:spcPct val="150000"/>
              </a:lnSpc>
              <a:spcBef>
                <a:spcPts val="505"/>
              </a:spcBef>
              <a:buClr>
                <a:srgbClr val="94C600"/>
              </a:buClr>
              <a:buSzPct val="78571"/>
              <a:buFont typeface="Wingdings 2"/>
              <a:buChar char=""/>
              <a:tabLst>
                <a:tab pos="652192" algn="l"/>
              </a:tabLst>
            </a:pPr>
            <a:r>
              <a:rPr sz="2098" dirty="0">
                <a:latin typeface="Century Schoolbook"/>
                <a:cs typeface="Century Schoolbook"/>
              </a:rPr>
              <a:t>O</a:t>
            </a:r>
            <a:r>
              <a:rPr sz="2098" spc="430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sistema</a:t>
            </a:r>
            <a:r>
              <a:rPr sz="2098" spc="415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desenvolvido</a:t>
            </a:r>
            <a:r>
              <a:rPr sz="2098" spc="450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como</a:t>
            </a:r>
            <a:r>
              <a:rPr sz="2098" spc="455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uma</a:t>
            </a:r>
            <a:r>
              <a:rPr sz="2098" spc="425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série</a:t>
            </a:r>
            <a:r>
              <a:rPr sz="2098" spc="450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de</a:t>
            </a:r>
            <a:r>
              <a:rPr sz="2098" spc="440" dirty="0">
                <a:latin typeface="Times New Roman"/>
                <a:cs typeface="Times New Roman"/>
              </a:rPr>
              <a:t> </a:t>
            </a:r>
            <a:r>
              <a:rPr sz="2098" spc="-10" dirty="0">
                <a:latin typeface="Century Schoolbook"/>
                <a:cs typeface="Century Schoolbook"/>
              </a:rPr>
              <a:t>versões,</a:t>
            </a:r>
            <a:r>
              <a:rPr sz="2098" spc="-10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com</a:t>
            </a:r>
            <a:r>
              <a:rPr sz="2098" spc="210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os</a:t>
            </a:r>
            <a:r>
              <a:rPr sz="2098" spc="210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stakeholders</a:t>
            </a:r>
            <a:r>
              <a:rPr sz="2098" spc="215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envolvidos</a:t>
            </a:r>
            <a:r>
              <a:rPr sz="2098" spc="210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na</a:t>
            </a:r>
            <a:r>
              <a:rPr sz="2098" spc="204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avaliação</a:t>
            </a:r>
            <a:r>
              <a:rPr sz="2098" spc="215" dirty="0">
                <a:latin typeface="Times New Roman"/>
                <a:cs typeface="Times New Roman"/>
              </a:rPr>
              <a:t>  </a:t>
            </a:r>
            <a:r>
              <a:rPr sz="2098" spc="-25" dirty="0">
                <a:latin typeface="Century Schoolbook"/>
                <a:cs typeface="Century Schoolbook"/>
              </a:rPr>
              <a:t>das</a:t>
            </a:r>
            <a:r>
              <a:rPr sz="2098" spc="-25" dirty="0">
                <a:latin typeface="Times New Roman"/>
                <a:cs typeface="Times New Roman"/>
              </a:rPr>
              <a:t> </a:t>
            </a:r>
            <a:r>
              <a:rPr sz="2098" spc="-10" dirty="0">
                <a:latin typeface="Century Schoolbook"/>
                <a:cs typeface="Century Schoolbook"/>
              </a:rPr>
              <a:t>versões.</a:t>
            </a:r>
            <a:endParaRPr sz="2098">
              <a:latin typeface="Century Schoolbook"/>
              <a:cs typeface="Century Schoolbook"/>
            </a:endParaRPr>
          </a:p>
          <a:p>
            <a:pPr marL="651558" marR="5075" lvl="1" indent="-274073" algn="just">
              <a:lnSpc>
                <a:spcPct val="150000"/>
              </a:lnSpc>
              <a:spcBef>
                <a:spcPts val="500"/>
              </a:spcBef>
              <a:buClr>
                <a:srgbClr val="94C600"/>
              </a:buClr>
              <a:buSzPct val="78571"/>
              <a:buFont typeface="Wingdings 2"/>
              <a:buChar char=""/>
              <a:tabLst>
                <a:tab pos="652192" algn="l"/>
              </a:tabLst>
            </a:pPr>
            <a:r>
              <a:rPr sz="2098" dirty="0">
                <a:latin typeface="Century Schoolbook"/>
                <a:cs typeface="Century Schoolbook"/>
              </a:rPr>
              <a:t>Geralmente</a:t>
            </a:r>
            <a:r>
              <a:rPr sz="2098" spc="280" dirty="0">
                <a:latin typeface="Times New Roman"/>
                <a:cs typeface="Times New Roman"/>
              </a:rPr>
              <a:t>    </a:t>
            </a:r>
            <a:r>
              <a:rPr sz="2098" dirty="0">
                <a:latin typeface="Century Schoolbook"/>
                <a:cs typeface="Century Schoolbook"/>
              </a:rPr>
              <a:t>as</a:t>
            </a:r>
            <a:r>
              <a:rPr sz="2098" spc="285" dirty="0">
                <a:latin typeface="Times New Roman"/>
                <a:cs typeface="Times New Roman"/>
              </a:rPr>
              <a:t>    </a:t>
            </a:r>
            <a:r>
              <a:rPr sz="2098" dirty="0">
                <a:latin typeface="Century Schoolbook"/>
                <a:cs typeface="Century Schoolbook"/>
              </a:rPr>
              <a:t>interfaces</a:t>
            </a:r>
            <a:r>
              <a:rPr sz="2098" spc="290" dirty="0">
                <a:latin typeface="Times New Roman"/>
                <a:cs typeface="Times New Roman"/>
              </a:rPr>
              <a:t>    </a:t>
            </a:r>
            <a:r>
              <a:rPr sz="2098" dirty="0">
                <a:latin typeface="Century Schoolbook"/>
                <a:cs typeface="Century Schoolbook"/>
              </a:rPr>
              <a:t>de</a:t>
            </a:r>
            <a:r>
              <a:rPr sz="2098" spc="285" dirty="0">
                <a:latin typeface="Times New Roman"/>
                <a:cs typeface="Times New Roman"/>
              </a:rPr>
              <a:t>    </a:t>
            </a:r>
            <a:r>
              <a:rPr sz="2098" dirty="0">
                <a:latin typeface="Century Schoolbook"/>
                <a:cs typeface="Century Schoolbook"/>
              </a:rPr>
              <a:t>usuário</a:t>
            </a:r>
            <a:r>
              <a:rPr sz="2098" spc="285" dirty="0">
                <a:latin typeface="Times New Roman"/>
                <a:cs typeface="Times New Roman"/>
              </a:rPr>
              <a:t>    </a:t>
            </a:r>
            <a:r>
              <a:rPr sz="2098" spc="-25" dirty="0">
                <a:latin typeface="Century Schoolbook"/>
                <a:cs typeface="Century Schoolbook"/>
              </a:rPr>
              <a:t>são</a:t>
            </a:r>
            <a:r>
              <a:rPr sz="2098" spc="-25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desenvolvidas</a:t>
            </a:r>
            <a:r>
              <a:rPr sz="2098" spc="80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usando</a:t>
            </a:r>
            <a:r>
              <a:rPr sz="2098" spc="95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uma</a:t>
            </a:r>
            <a:r>
              <a:rPr sz="2098" spc="90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IDE</a:t>
            </a:r>
            <a:r>
              <a:rPr sz="2098" spc="90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e</a:t>
            </a:r>
            <a:r>
              <a:rPr sz="2098" spc="90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um</a:t>
            </a:r>
            <a:r>
              <a:rPr sz="2098" spc="95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conjunto</a:t>
            </a:r>
            <a:r>
              <a:rPr sz="2098" spc="100" dirty="0">
                <a:latin typeface="Times New Roman"/>
                <a:cs typeface="Times New Roman"/>
              </a:rPr>
              <a:t>  </a:t>
            </a:r>
            <a:r>
              <a:rPr sz="2098" spc="-25" dirty="0">
                <a:latin typeface="Century Schoolbook"/>
                <a:cs typeface="Century Schoolbook"/>
              </a:rPr>
              <a:t>de</a:t>
            </a:r>
            <a:r>
              <a:rPr sz="2098" spc="-25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ferramentas</a:t>
            </a:r>
            <a:r>
              <a:rPr sz="2098" spc="40" dirty="0">
                <a:latin typeface="Times New Roman"/>
                <a:cs typeface="Times New Roman"/>
              </a:rPr>
              <a:t> </a:t>
            </a:r>
            <a:r>
              <a:rPr sz="2098" spc="-10" dirty="0">
                <a:latin typeface="Century Schoolbook"/>
                <a:cs typeface="Century Schoolbook"/>
              </a:rPr>
              <a:t>gráficas.</a:t>
            </a:r>
            <a:endParaRPr sz="2098">
              <a:latin typeface="Century Schoolbook"/>
              <a:cs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4194724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3676" y="454488"/>
            <a:ext cx="2980470" cy="1365776"/>
          </a:xfrm>
          <a:prstGeom prst="rect">
            <a:avLst/>
          </a:prstGeom>
        </p:spPr>
        <p:txBody>
          <a:bodyPr vert="horz" wrap="square" lIns="0" tIns="12688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100"/>
              </a:spcBef>
            </a:pPr>
            <a:r>
              <a:rPr cap="small" spc="-5" dirty="0"/>
              <a:t>M</a:t>
            </a:r>
            <a:r>
              <a:rPr cap="small" dirty="0"/>
              <a:t>é</a:t>
            </a:r>
            <a:r>
              <a:rPr cap="small" spc="-10" dirty="0"/>
              <a:t>t</a:t>
            </a:r>
            <a:r>
              <a:rPr cap="small" dirty="0"/>
              <a:t>odos</a:t>
            </a:r>
            <a:r>
              <a:rPr sz="2398" spc="254" dirty="0">
                <a:latin typeface="Times New Roman"/>
                <a:cs typeface="Times New Roman"/>
              </a:rPr>
              <a:t> </a:t>
            </a:r>
            <a:r>
              <a:rPr cap="small" dirty="0"/>
              <a:t>ágeis</a:t>
            </a:r>
            <a:endParaRPr sz="239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3675" y="1588470"/>
            <a:ext cx="7303358" cy="4780933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286762" marR="5710" indent="-274073" algn="just">
              <a:lnSpc>
                <a:spcPct val="130000"/>
              </a:lnSpc>
              <a:spcBef>
                <a:spcPts val="100"/>
              </a:spcBef>
              <a:buClr>
                <a:srgbClr val="94C600"/>
              </a:buClr>
              <a:buSzPct val="68421"/>
              <a:buFont typeface="Wingdings"/>
              <a:buChar char=""/>
              <a:tabLst>
                <a:tab pos="286762" algn="l"/>
              </a:tabLst>
            </a:pPr>
            <a:r>
              <a:rPr sz="1898" dirty="0">
                <a:latin typeface="Century Schoolbook"/>
                <a:cs typeface="Century Schoolbook"/>
              </a:rPr>
              <a:t>A</a:t>
            </a:r>
            <a:r>
              <a:rPr sz="1898" spc="5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insatisfação</a:t>
            </a:r>
            <a:r>
              <a:rPr sz="1898" spc="6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com</a:t>
            </a:r>
            <a:r>
              <a:rPr sz="1898" spc="5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o</a:t>
            </a:r>
            <a:r>
              <a:rPr sz="1898" spc="6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overhead</a:t>
            </a:r>
            <a:r>
              <a:rPr sz="1898" spc="5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que</a:t>
            </a:r>
            <a:r>
              <a:rPr sz="1898" spc="5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envolve</a:t>
            </a:r>
            <a:r>
              <a:rPr sz="1898" spc="5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os</a:t>
            </a:r>
            <a:r>
              <a:rPr sz="1898" spc="5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métodos</a:t>
            </a:r>
            <a:r>
              <a:rPr sz="1898" spc="50" dirty="0">
                <a:latin typeface="Times New Roman"/>
                <a:cs typeface="Times New Roman"/>
              </a:rPr>
              <a:t>  </a:t>
            </a:r>
            <a:r>
              <a:rPr sz="1898" spc="-25" dirty="0">
                <a:latin typeface="Century Schoolbook"/>
                <a:cs typeface="Century Schoolbook"/>
              </a:rPr>
              <a:t>de</a:t>
            </a:r>
            <a:r>
              <a:rPr sz="1898" spc="-2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projeto</a:t>
            </a:r>
            <a:r>
              <a:rPr sz="1898" spc="8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</a:t>
            </a:r>
            <a:r>
              <a:rPr sz="1898" spc="8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software</a:t>
            </a:r>
            <a:r>
              <a:rPr sz="1898" spc="8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dos</a:t>
            </a:r>
            <a:r>
              <a:rPr sz="1898" spc="8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anos</a:t>
            </a:r>
            <a:r>
              <a:rPr sz="1898" spc="7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</a:t>
            </a:r>
            <a:r>
              <a:rPr sz="1898" spc="8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1980</a:t>
            </a:r>
            <a:r>
              <a:rPr sz="1898" spc="8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e</a:t>
            </a:r>
            <a:r>
              <a:rPr sz="1898" spc="8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1990</a:t>
            </a:r>
            <a:r>
              <a:rPr sz="1898" spc="8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levou</a:t>
            </a:r>
            <a:r>
              <a:rPr sz="1898" spc="9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a</a:t>
            </a:r>
            <a:r>
              <a:rPr sz="1898" spc="9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criação</a:t>
            </a:r>
            <a:r>
              <a:rPr sz="1898" spc="85" dirty="0">
                <a:latin typeface="Times New Roman"/>
                <a:cs typeface="Times New Roman"/>
              </a:rPr>
              <a:t> </a:t>
            </a:r>
            <a:r>
              <a:rPr sz="1898" spc="-25" dirty="0">
                <a:latin typeface="Century Schoolbook"/>
                <a:cs typeface="Century Schoolbook"/>
              </a:rPr>
              <a:t>de</a:t>
            </a:r>
            <a:r>
              <a:rPr sz="1898" spc="-2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métodos</a:t>
            </a:r>
            <a:r>
              <a:rPr sz="1898" spc="-1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ágeis.</a:t>
            </a:r>
            <a:r>
              <a:rPr sz="1898" spc="-2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Esses</a:t>
            </a:r>
            <a:r>
              <a:rPr sz="1898" spc="-10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métodos:</a:t>
            </a:r>
            <a:endParaRPr sz="1898">
              <a:latin typeface="Century Schoolbook"/>
              <a:cs typeface="Century Schoolbook"/>
            </a:endParaRPr>
          </a:p>
          <a:p>
            <a:pPr marL="652192" lvl="1" indent="-274708" algn="just">
              <a:spcBef>
                <a:spcPts val="1018"/>
              </a:spcBef>
              <a:buClr>
                <a:srgbClr val="94C600"/>
              </a:buClr>
              <a:buSzPct val="78125"/>
              <a:buFont typeface="Wingdings 2"/>
              <a:buChar char=""/>
              <a:tabLst>
                <a:tab pos="652192" algn="l"/>
              </a:tabLst>
            </a:pPr>
            <a:r>
              <a:rPr sz="1599" dirty="0">
                <a:latin typeface="Century Schoolbook"/>
                <a:cs typeface="Century Schoolbook"/>
              </a:rPr>
              <a:t>Têm</a:t>
            </a:r>
            <a:r>
              <a:rPr sz="1599" spc="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foco</a:t>
            </a:r>
            <a:r>
              <a:rPr sz="1599" spc="3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no</a:t>
            </a:r>
            <a:r>
              <a:rPr sz="1599" spc="2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código</a:t>
            </a:r>
            <a:r>
              <a:rPr sz="1599" spc="4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ao</a:t>
            </a:r>
            <a:r>
              <a:rPr sz="1599" spc="2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invés</a:t>
            </a:r>
            <a:r>
              <a:rPr sz="1599" spc="1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de</a:t>
            </a:r>
            <a:r>
              <a:rPr sz="1599" spc="4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no</a:t>
            </a:r>
            <a:r>
              <a:rPr sz="1599" spc="15" dirty="0">
                <a:latin typeface="Times New Roman"/>
                <a:cs typeface="Times New Roman"/>
              </a:rPr>
              <a:t> </a:t>
            </a:r>
            <a:r>
              <a:rPr sz="1599" spc="-10" dirty="0">
                <a:latin typeface="Century Schoolbook"/>
                <a:cs typeface="Century Schoolbook"/>
              </a:rPr>
              <a:t>projeto.</a:t>
            </a:r>
            <a:endParaRPr sz="1599">
              <a:latin typeface="Century Schoolbook"/>
              <a:cs typeface="Century Schoolbook"/>
            </a:endParaRPr>
          </a:p>
          <a:p>
            <a:pPr marL="651558" marR="6344" lvl="1" indent="-274073" algn="just">
              <a:lnSpc>
                <a:spcPct val="130000"/>
              </a:lnSpc>
              <a:spcBef>
                <a:spcPts val="384"/>
              </a:spcBef>
              <a:buClr>
                <a:srgbClr val="94C600"/>
              </a:buClr>
              <a:buSzPct val="78125"/>
              <a:buFont typeface="Wingdings 2"/>
              <a:buChar char=""/>
              <a:tabLst>
                <a:tab pos="652192" algn="l"/>
              </a:tabLst>
            </a:pPr>
            <a:r>
              <a:rPr sz="1599" dirty="0">
                <a:latin typeface="Century Schoolbook"/>
                <a:cs typeface="Century Schoolbook"/>
              </a:rPr>
              <a:t>São</a:t>
            </a:r>
            <a:r>
              <a:rPr sz="1599" spc="42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baseados</a:t>
            </a:r>
            <a:r>
              <a:rPr sz="1599" spc="42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em</a:t>
            </a:r>
            <a:r>
              <a:rPr sz="1599" spc="42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uma</a:t>
            </a:r>
            <a:r>
              <a:rPr sz="1599" spc="42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abordagem</a:t>
            </a:r>
            <a:r>
              <a:rPr sz="1599" spc="41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iterativa</a:t>
            </a:r>
            <a:r>
              <a:rPr sz="1599" spc="434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de</a:t>
            </a:r>
            <a:r>
              <a:rPr sz="1599" spc="42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desenvolvimento</a:t>
            </a:r>
            <a:r>
              <a:rPr sz="1599" spc="430" dirty="0">
                <a:latin typeface="Times New Roman"/>
                <a:cs typeface="Times New Roman"/>
              </a:rPr>
              <a:t> </a:t>
            </a:r>
            <a:r>
              <a:rPr sz="1599" spc="-25" dirty="0">
                <a:latin typeface="Century Schoolbook"/>
                <a:cs typeface="Century Schoolbook"/>
              </a:rPr>
              <a:t>de</a:t>
            </a:r>
            <a:r>
              <a:rPr sz="1599" spc="-25" dirty="0">
                <a:latin typeface="Times New Roman"/>
                <a:cs typeface="Times New Roman"/>
              </a:rPr>
              <a:t> </a:t>
            </a:r>
            <a:r>
              <a:rPr sz="1599" spc="-10" dirty="0">
                <a:latin typeface="Century Schoolbook"/>
                <a:cs typeface="Century Schoolbook"/>
              </a:rPr>
              <a:t>software.</a:t>
            </a:r>
            <a:endParaRPr sz="1599">
              <a:latin typeface="Century Schoolbook"/>
              <a:cs typeface="Century Schoolbook"/>
            </a:endParaRPr>
          </a:p>
          <a:p>
            <a:pPr marL="651558" marR="5075" lvl="1" indent="-274073" algn="just">
              <a:lnSpc>
                <a:spcPct val="130000"/>
              </a:lnSpc>
              <a:spcBef>
                <a:spcPts val="380"/>
              </a:spcBef>
              <a:buClr>
                <a:srgbClr val="94C600"/>
              </a:buClr>
              <a:buSzPct val="78125"/>
              <a:buFont typeface="Wingdings 2"/>
              <a:buChar char=""/>
              <a:tabLst>
                <a:tab pos="652192" algn="l"/>
              </a:tabLst>
            </a:pPr>
            <a:r>
              <a:rPr sz="1599" dirty="0">
                <a:latin typeface="Century Schoolbook"/>
                <a:cs typeface="Century Schoolbook"/>
              </a:rPr>
              <a:t>São</a:t>
            </a:r>
            <a:r>
              <a:rPr sz="1599" spc="204" dirty="0">
                <a:latin typeface="Times New Roman"/>
                <a:cs typeface="Times New Roman"/>
              </a:rPr>
              <a:t>   </a:t>
            </a:r>
            <a:r>
              <a:rPr sz="1599" dirty="0">
                <a:latin typeface="Century Schoolbook"/>
                <a:cs typeface="Century Schoolbook"/>
              </a:rPr>
              <a:t>planejados</a:t>
            </a:r>
            <a:r>
              <a:rPr sz="1599" spc="204" dirty="0">
                <a:latin typeface="Times New Roman"/>
                <a:cs typeface="Times New Roman"/>
              </a:rPr>
              <a:t>   </a:t>
            </a:r>
            <a:r>
              <a:rPr sz="1599" dirty="0">
                <a:latin typeface="Century Schoolbook"/>
                <a:cs typeface="Century Schoolbook"/>
              </a:rPr>
              <a:t>para</a:t>
            </a:r>
            <a:r>
              <a:rPr sz="1599" spc="210" dirty="0">
                <a:latin typeface="Times New Roman"/>
                <a:cs typeface="Times New Roman"/>
              </a:rPr>
              <a:t>   </a:t>
            </a:r>
            <a:r>
              <a:rPr sz="1599" dirty="0">
                <a:latin typeface="Century Schoolbook"/>
                <a:cs typeface="Century Schoolbook"/>
              </a:rPr>
              <a:t>entregar</a:t>
            </a:r>
            <a:r>
              <a:rPr sz="1599" spc="204" dirty="0">
                <a:latin typeface="Times New Roman"/>
                <a:cs typeface="Times New Roman"/>
              </a:rPr>
              <a:t>   </a:t>
            </a:r>
            <a:r>
              <a:rPr sz="1599" dirty="0">
                <a:latin typeface="Century Schoolbook"/>
                <a:cs typeface="Century Schoolbook"/>
              </a:rPr>
              <a:t>rapidamente</a:t>
            </a:r>
            <a:r>
              <a:rPr sz="1599" spc="204" dirty="0">
                <a:latin typeface="Times New Roman"/>
                <a:cs typeface="Times New Roman"/>
              </a:rPr>
              <a:t>   </a:t>
            </a:r>
            <a:r>
              <a:rPr sz="1599" dirty="0">
                <a:latin typeface="Century Schoolbook"/>
                <a:cs typeface="Century Schoolbook"/>
              </a:rPr>
              <a:t>o</a:t>
            </a:r>
            <a:r>
              <a:rPr sz="1599" spc="204" dirty="0">
                <a:latin typeface="Times New Roman"/>
                <a:cs typeface="Times New Roman"/>
              </a:rPr>
              <a:t>   </a:t>
            </a:r>
            <a:r>
              <a:rPr sz="1599" dirty="0">
                <a:latin typeface="Century Schoolbook"/>
                <a:cs typeface="Century Schoolbook"/>
              </a:rPr>
              <a:t>software</a:t>
            </a:r>
            <a:r>
              <a:rPr sz="1599" spc="204" dirty="0">
                <a:latin typeface="Times New Roman"/>
                <a:cs typeface="Times New Roman"/>
              </a:rPr>
              <a:t>   </a:t>
            </a:r>
            <a:r>
              <a:rPr sz="1599" spc="-25" dirty="0">
                <a:latin typeface="Century Schoolbook"/>
                <a:cs typeface="Century Schoolbook"/>
              </a:rPr>
              <a:t>em</a:t>
            </a:r>
            <a:r>
              <a:rPr sz="1599" spc="-2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funcionamento</a:t>
            </a:r>
            <a:r>
              <a:rPr sz="1599" spc="265" dirty="0">
                <a:latin typeface="Times New Roman"/>
                <a:cs typeface="Times New Roman"/>
              </a:rPr>
              <a:t>  </a:t>
            </a:r>
            <a:r>
              <a:rPr sz="1599" dirty="0">
                <a:latin typeface="Century Schoolbook"/>
                <a:cs typeface="Century Schoolbook"/>
              </a:rPr>
              <a:t>e</a:t>
            </a:r>
            <a:r>
              <a:rPr sz="1599" spc="265" dirty="0">
                <a:latin typeface="Times New Roman"/>
                <a:cs typeface="Times New Roman"/>
              </a:rPr>
              <a:t> </a:t>
            </a:r>
            <a:r>
              <a:rPr sz="1599" spc="-10" dirty="0">
                <a:latin typeface="Century Schoolbook"/>
                <a:cs typeface="Century Schoolbook"/>
              </a:rPr>
              <a:t>evoluí-</a:t>
            </a:r>
            <a:r>
              <a:rPr sz="1599" dirty="0">
                <a:latin typeface="Century Schoolbook"/>
                <a:cs typeface="Century Schoolbook"/>
              </a:rPr>
              <a:t>lo</a:t>
            </a:r>
            <a:r>
              <a:rPr sz="1599" spc="254" dirty="0">
                <a:latin typeface="Times New Roman"/>
                <a:cs typeface="Times New Roman"/>
              </a:rPr>
              <a:t>  </a:t>
            </a:r>
            <a:r>
              <a:rPr sz="1599" dirty="0">
                <a:latin typeface="Century Schoolbook"/>
                <a:cs typeface="Century Schoolbook"/>
              </a:rPr>
              <a:t>rapidamente</a:t>
            </a:r>
            <a:r>
              <a:rPr sz="1599" spc="27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para</a:t>
            </a:r>
            <a:r>
              <a:rPr sz="1599" spc="26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alcançar</a:t>
            </a:r>
            <a:r>
              <a:rPr sz="1599" spc="26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os</a:t>
            </a:r>
            <a:r>
              <a:rPr sz="1599" spc="260" dirty="0">
                <a:latin typeface="Times New Roman"/>
                <a:cs typeface="Times New Roman"/>
              </a:rPr>
              <a:t> </a:t>
            </a:r>
            <a:r>
              <a:rPr sz="1599" spc="-10" dirty="0">
                <a:latin typeface="Century Schoolbook"/>
                <a:cs typeface="Century Schoolbook"/>
              </a:rPr>
              <a:t>requisitos</a:t>
            </a:r>
            <a:r>
              <a:rPr sz="1599" spc="-1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em</a:t>
            </a:r>
            <a:r>
              <a:rPr sz="1599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constante</a:t>
            </a:r>
            <a:r>
              <a:rPr sz="1599" spc="5" dirty="0">
                <a:latin typeface="Times New Roman"/>
                <a:cs typeface="Times New Roman"/>
              </a:rPr>
              <a:t> </a:t>
            </a:r>
            <a:r>
              <a:rPr sz="1599" spc="-10" dirty="0">
                <a:latin typeface="Century Schoolbook"/>
                <a:cs typeface="Century Schoolbook"/>
              </a:rPr>
              <a:t>mudança.</a:t>
            </a:r>
            <a:endParaRPr sz="1599">
              <a:latin typeface="Century Schoolbook"/>
              <a:cs typeface="Century Schoolbook"/>
            </a:endParaRPr>
          </a:p>
          <a:p>
            <a:pPr marL="286762" marR="5710" indent="-274073" algn="just">
              <a:lnSpc>
                <a:spcPct val="130000"/>
              </a:lnSpc>
              <a:spcBef>
                <a:spcPts val="540"/>
              </a:spcBef>
              <a:buClr>
                <a:srgbClr val="94C600"/>
              </a:buClr>
              <a:buSzPct val="68421"/>
              <a:buFont typeface="Wingdings"/>
              <a:buChar char=""/>
              <a:tabLst>
                <a:tab pos="286762" algn="l"/>
              </a:tabLst>
            </a:pPr>
            <a:r>
              <a:rPr sz="1898" dirty="0">
                <a:latin typeface="Century Schoolbook"/>
                <a:cs typeface="Century Schoolbook"/>
              </a:rPr>
              <a:t>O</a:t>
            </a:r>
            <a:r>
              <a:rPr sz="1898" spc="22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objetivo</a:t>
            </a:r>
            <a:r>
              <a:rPr sz="1898" spc="22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dos</a:t>
            </a:r>
            <a:r>
              <a:rPr sz="1898" spc="21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métodos</a:t>
            </a:r>
            <a:r>
              <a:rPr sz="1898" spc="22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ágeis</a:t>
            </a:r>
            <a:r>
              <a:rPr sz="1898" spc="22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é</a:t>
            </a:r>
            <a:r>
              <a:rPr sz="1898" spc="22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reduzir</a:t>
            </a:r>
            <a:r>
              <a:rPr sz="1898" spc="21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o</a:t>
            </a:r>
            <a:r>
              <a:rPr sz="1898" spc="22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overhead</a:t>
            </a:r>
            <a:r>
              <a:rPr sz="1898" spc="220" dirty="0">
                <a:latin typeface="Times New Roman"/>
                <a:cs typeface="Times New Roman"/>
              </a:rPr>
              <a:t>  </a:t>
            </a:r>
            <a:r>
              <a:rPr sz="1898" spc="-25" dirty="0">
                <a:latin typeface="Century Schoolbook"/>
                <a:cs typeface="Century Schoolbook"/>
              </a:rPr>
              <a:t>nos</a:t>
            </a:r>
            <a:r>
              <a:rPr sz="1898" spc="-2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processos</a:t>
            </a:r>
            <a:r>
              <a:rPr sz="1898" spc="24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de</a:t>
            </a:r>
            <a:r>
              <a:rPr sz="1898" spc="24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software</a:t>
            </a:r>
            <a:r>
              <a:rPr sz="1898" spc="25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(ex.</a:t>
            </a:r>
            <a:r>
              <a:rPr sz="1898" spc="25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limitando</a:t>
            </a:r>
            <a:r>
              <a:rPr sz="1898" spc="26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a</a:t>
            </a:r>
            <a:r>
              <a:rPr sz="1898" spc="25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documentação)</a:t>
            </a:r>
            <a:r>
              <a:rPr sz="1898" spc="250" dirty="0">
                <a:latin typeface="Times New Roman"/>
                <a:cs typeface="Times New Roman"/>
              </a:rPr>
              <a:t>  </a:t>
            </a:r>
            <a:r>
              <a:rPr sz="1898" spc="-50" dirty="0">
                <a:latin typeface="Century Schoolbook"/>
                <a:cs typeface="Century Schoolbook"/>
              </a:rPr>
              <a:t>e</a:t>
            </a:r>
            <a:r>
              <a:rPr sz="1898" spc="-5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permitir</a:t>
            </a:r>
            <a:r>
              <a:rPr sz="1898" spc="7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uma</a:t>
            </a:r>
            <a:r>
              <a:rPr sz="1898" spc="8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resposta</a:t>
            </a:r>
            <a:r>
              <a:rPr sz="1898" spc="8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rápida</a:t>
            </a:r>
            <a:r>
              <a:rPr sz="1898" spc="8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aos</a:t>
            </a:r>
            <a:r>
              <a:rPr sz="1898" spc="7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requisitos</a:t>
            </a:r>
            <a:r>
              <a:rPr sz="1898" spc="8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em</a:t>
            </a:r>
            <a:r>
              <a:rPr sz="1898" spc="75" dirty="0">
                <a:latin typeface="Times New Roman"/>
                <a:cs typeface="Times New Roman"/>
              </a:rPr>
              <a:t>  </a:t>
            </a:r>
            <a:r>
              <a:rPr sz="1898" spc="-10" dirty="0">
                <a:latin typeface="Century Schoolbook"/>
                <a:cs typeface="Century Schoolbook"/>
              </a:rPr>
              <a:t>constante</a:t>
            </a:r>
            <a:r>
              <a:rPr sz="1898" spc="-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mudança</a:t>
            </a:r>
            <a:r>
              <a:rPr sz="1898" spc="-1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sem</a:t>
            </a:r>
            <a:r>
              <a:rPr sz="1898" spc="-3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retrabalho</a:t>
            </a:r>
            <a:r>
              <a:rPr sz="1898" spc="-5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excessivo.</a:t>
            </a:r>
            <a:endParaRPr sz="1898">
              <a:latin typeface="Century Schoolbook"/>
              <a:cs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2758573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3676" y="454488"/>
            <a:ext cx="3099105" cy="1365776"/>
          </a:xfrm>
          <a:prstGeom prst="rect">
            <a:avLst/>
          </a:prstGeom>
        </p:spPr>
        <p:txBody>
          <a:bodyPr vert="horz" wrap="square" lIns="0" tIns="12688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100"/>
              </a:spcBef>
            </a:pPr>
            <a:r>
              <a:rPr cap="small" spc="-5" dirty="0"/>
              <a:t>M</a:t>
            </a:r>
            <a:r>
              <a:rPr cap="small" dirty="0"/>
              <a:t>ani</a:t>
            </a:r>
            <a:r>
              <a:rPr cap="small" spc="-10" dirty="0"/>
              <a:t>f</a:t>
            </a:r>
            <a:r>
              <a:rPr cap="small" dirty="0"/>
              <a:t>e</a:t>
            </a:r>
            <a:r>
              <a:rPr cap="small" spc="-5" dirty="0"/>
              <a:t>s</a:t>
            </a:r>
            <a:r>
              <a:rPr cap="small" spc="-10" dirty="0"/>
              <a:t>t</a:t>
            </a:r>
            <a:r>
              <a:rPr cap="small" dirty="0"/>
              <a:t>o</a:t>
            </a:r>
            <a:r>
              <a:rPr sz="2398" spc="275" dirty="0">
                <a:latin typeface="Times New Roman"/>
                <a:cs typeface="Times New Roman"/>
              </a:rPr>
              <a:t> </a:t>
            </a:r>
            <a:r>
              <a:rPr cap="small" dirty="0"/>
              <a:t>ágil</a:t>
            </a:r>
            <a:endParaRPr sz="239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3676" y="1586646"/>
            <a:ext cx="7302722" cy="4636287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286762" marR="5075" indent="-274073" algn="just">
              <a:lnSpc>
                <a:spcPct val="130000"/>
              </a:lnSpc>
              <a:spcBef>
                <a:spcPts val="100"/>
              </a:spcBef>
              <a:buClr>
                <a:srgbClr val="94C600"/>
              </a:buClr>
              <a:buSzPct val="70000"/>
              <a:buFont typeface="Wingdings"/>
              <a:buChar char=""/>
              <a:tabLst>
                <a:tab pos="286762" algn="l"/>
              </a:tabLst>
            </a:pPr>
            <a:r>
              <a:rPr sz="1998" dirty="0">
                <a:latin typeface="Century Schoolbook"/>
                <a:cs typeface="Century Schoolbook"/>
              </a:rPr>
              <a:t>Estamos</a:t>
            </a:r>
            <a:r>
              <a:rPr sz="1998" spc="31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descobrindo</a:t>
            </a:r>
            <a:r>
              <a:rPr sz="1998" spc="32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melhores</a:t>
            </a:r>
            <a:r>
              <a:rPr sz="1998" spc="31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formas</a:t>
            </a:r>
            <a:r>
              <a:rPr sz="1998" spc="32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de</a:t>
            </a:r>
            <a:r>
              <a:rPr sz="1998" spc="320" dirty="0">
                <a:latin typeface="Times New Roman"/>
                <a:cs typeface="Times New Roman"/>
              </a:rPr>
              <a:t>  </a:t>
            </a:r>
            <a:r>
              <a:rPr sz="1998" spc="-10" dirty="0">
                <a:latin typeface="Century Schoolbook"/>
                <a:cs typeface="Century Schoolbook"/>
              </a:rPr>
              <a:t>desenvolver</a:t>
            </a:r>
            <a:r>
              <a:rPr sz="1998" spc="-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softwares</a:t>
            </a:r>
            <a:r>
              <a:rPr sz="1998" spc="22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</a:t>
            </a:r>
            <a:r>
              <a:rPr sz="1998" spc="23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ajudar</a:t>
            </a:r>
            <a:r>
              <a:rPr sz="1998" spc="229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outros</a:t>
            </a:r>
            <a:r>
              <a:rPr sz="1998" spc="23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a</a:t>
            </a:r>
            <a:r>
              <a:rPr sz="1998" spc="229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fazê-</a:t>
            </a:r>
            <a:r>
              <a:rPr sz="1998" dirty="0">
                <a:latin typeface="Century Schoolbook"/>
                <a:cs typeface="Century Schoolbook"/>
              </a:rPr>
              <a:t>lo</a:t>
            </a:r>
            <a:r>
              <a:rPr sz="1998" spc="24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também.</a:t>
            </a:r>
            <a:r>
              <a:rPr sz="1998" spc="22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Através</a:t>
            </a:r>
            <a:r>
              <a:rPr sz="1998" spc="240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desse</a:t>
            </a:r>
            <a:r>
              <a:rPr sz="1998" spc="-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trabalho,</a:t>
            </a:r>
            <a:r>
              <a:rPr sz="1998" spc="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valorizamos</a:t>
            </a:r>
            <a:r>
              <a:rPr sz="1998" spc="5" dirty="0">
                <a:latin typeface="Times New Roman"/>
                <a:cs typeface="Times New Roman"/>
              </a:rPr>
              <a:t> </a:t>
            </a:r>
            <a:r>
              <a:rPr sz="1998" spc="-20" dirty="0">
                <a:latin typeface="Century Schoolbook"/>
                <a:cs typeface="Century Schoolbook"/>
              </a:rPr>
              <a:t>mais:</a:t>
            </a:r>
            <a:endParaRPr sz="1998">
              <a:latin typeface="Century Schoolbook"/>
              <a:cs typeface="Century Schoolbook"/>
            </a:endParaRPr>
          </a:p>
          <a:p>
            <a:pPr marL="651558" marR="246793" lvl="1" indent="-274073">
              <a:spcBef>
                <a:spcPts val="784"/>
              </a:spcBef>
              <a:buClr>
                <a:srgbClr val="94C600"/>
              </a:buClr>
              <a:buSzPct val="80555"/>
              <a:buFont typeface="Wingdings 2"/>
              <a:buChar char=""/>
              <a:tabLst>
                <a:tab pos="651558" algn="l"/>
                <a:tab pos="652192" algn="l"/>
              </a:tabLst>
            </a:pPr>
            <a:r>
              <a:rPr sz="1798" dirty="0">
                <a:latin typeface="Century Schoolbook"/>
                <a:cs typeface="Century Schoolbook"/>
              </a:rPr>
              <a:t>Indivíduos</a:t>
            </a:r>
            <a:r>
              <a:rPr sz="1798" spc="25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e</a:t>
            </a:r>
            <a:r>
              <a:rPr sz="1798" spc="4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interações,</a:t>
            </a:r>
            <a:r>
              <a:rPr sz="1798" spc="4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ao</a:t>
            </a:r>
            <a:r>
              <a:rPr sz="1798" spc="4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invés</a:t>
            </a:r>
            <a:r>
              <a:rPr sz="1798" spc="35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de</a:t>
            </a:r>
            <a:r>
              <a:rPr sz="1798" spc="45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processos</a:t>
            </a:r>
            <a:r>
              <a:rPr sz="1798" spc="6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e</a:t>
            </a:r>
            <a:r>
              <a:rPr sz="1798" spc="35" dirty="0">
                <a:latin typeface="Times New Roman"/>
                <a:cs typeface="Times New Roman"/>
              </a:rPr>
              <a:t> </a:t>
            </a:r>
            <a:r>
              <a:rPr sz="1798" spc="-10" dirty="0">
                <a:latin typeface="Century Schoolbook"/>
                <a:cs typeface="Century Schoolbook"/>
              </a:rPr>
              <a:t>ferramentas.</a:t>
            </a:r>
            <a:r>
              <a:rPr sz="1798" spc="-1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Softwares</a:t>
            </a:r>
            <a:r>
              <a:rPr sz="1798" spc="4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que</a:t>
            </a:r>
            <a:r>
              <a:rPr sz="1798" spc="4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já</a:t>
            </a:r>
            <a:r>
              <a:rPr sz="1798" spc="5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funcionam</a:t>
            </a:r>
            <a:r>
              <a:rPr sz="1798" spc="3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ao</a:t>
            </a:r>
            <a:r>
              <a:rPr sz="1798" spc="4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invés</a:t>
            </a:r>
            <a:r>
              <a:rPr sz="1798" spc="25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de</a:t>
            </a:r>
            <a:r>
              <a:rPr sz="1798" spc="45" dirty="0">
                <a:latin typeface="Times New Roman"/>
                <a:cs typeface="Times New Roman"/>
              </a:rPr>
              <a:t> </a:t>
            </a:r>
            <a:r>
              <a:rPr sz="1798" spc="-10" dirty="0">
                <a:latin typeface="Century Schoolbook"/>
                <a:cs typeface="Century Schoolbook"/>
              </a:rPr>
              <a:t>documentação</a:t>
            </a:r>
            <a:r>
              <a:rPr sz="1798" spc="-10" dirty="0">
                <a:latin typeface="Times New Roman"/>
                <a:cs typeface="Times New Roman"/>
              </a:rPr>
              <a:t> </a:t>
            </a:r>
            <a:r>
              <a:rPr sz="1798" spc="-10" dirty="0">
                <a:latin typeface="Century Schoolbook"/>
                <a:cs typeface="Century Schoolbook"/>
              </a:rPr>
              <a:t>abrangente.</a:t>
            </a:r>
            <a:endParaRPr sz="1798">
              <a:latin typeface="Century Schoolbook"/>
              <a:cs typeface="Century Schoolbook"/>
            </a:endParaRPr>
          </a:p>
          <a:p>
            <a:pPr lvl="1">
              <a:spcBef>
                <a:spcPts val="5"/>
              </a:spcBef>
              <a:buClr>
                <a:srgbClr val="94C600"/>
              </a:buClr>
              <a:buFont typeface="Wingdings 2"/>
              <a:buChar char=""/>
            </a:pPr>
            <a:endParaRPr sz="2148">
              <a:latin typeface="Century Schoolbook"/>
              <a:cs typeface="Century Schoolbook"/>
            </a:endParaRPr>
          </a:p>
          <a:p>
            <a:pPr marL="652192" lvl="1" indent="-274708">
              <a:spcBef>
                <a:spcPts val="5"/>
              </a:spcBef>
              <a:buClr>
                <a:srgbClr val="94C600"/>
              </a:buClr>
              <a:buSzPct val="80555"/>
              <a:buFont typeface="Wingdings 2"/>
              <a:buChar char=""/>
              <a:tabLst>
                <a:tab pos="651558" algn="l"/>
                <a:tab pos="652192" algn="l"/>
              </a:tabLst>
            </a:pPr>
            <a:r>
              <a:rPr sz="1798" dirty="0">
                <a:latin typeface="Century Schoolbook"/>
                <a:cs typeface="Century Schoolbook"/>
              </a:rPr>
              <a:t>Colaboração</a:t>
            </a:r>
            <a:r>
              <a:rPr sz="1798" spc="4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do</a:t>
            </a:r>
            <a:r>
              <a:rPr sz="1798" spc="4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cliente</a:t>
            </a:r>
            <a:r>
              <a:rPr sz="1798" spc="3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ao</a:t>
            </a:r>
            <a:r>
              <a:rPr sz="1798" spc="35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invés</a:t>
            </a:r>
            <a:r>
              <a:rPr sz="1798" spc="25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de</a:t>
            </a:r>
            <a:r>
              <a:rPr sz="1798" spc="4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negociação</a:t>
            </a:r>
            <a:r>
              <a:rPr sz="1798" spc="30" dirty="0">
                <a:latin typeface="Times New Roman"/>
                <a:cs typeface="Times New Roman"/>
              </a:rPr>
              <a:t> </a:t>
            </a:r>
            <a:r>
              <a:rPr sz="1798" spc="-10" dirty="0">
                <a:latin typeface="Century Schoolbook"/>
                <a:cs typeface="Century Schoolbook"/>
              </a:rPr>
              <a:t>contratual.</a:t>
            </a:r>
            <a:endParaRPr sz="1798">
              <a:latin typeface="Century Schoolbook"/>
              <a:cs typeface="Century Schoolbook"/>
            </a:endParaRPr>
          </a:p>
          <a:p>
            <a:pPr lvl="1">
              <a:spcBef>
                <a:spcPts val="5"/>
              </a:spcBef>
              <a:buClr>
                <a:srgbClr val="94C600"/>
              </a:buClr>
              <a:buFont typeface="Wingdings 2"/>
              <a:buChar char=""/>
            </a:pPr>
            <a:endParaRPr sz="2148">
              <a:latin typeface="Century Schoolbook"/>
              <a:cs typeface="Century Schoolbook"/>
            </a:endParaRPr>
          </a:p>
          <a:p>
            <a:pPr marL="652192" lvl="1" indent="-274708">
              <a:buClr>
                <a:srgbClr val="94C600"/>
              </a:buClr>
              <a:buSzPct val="80555"/>
              <a:buFont typeface="Wingdings 2"/>
              <a:buChar char=""/>
              <a:tabLst>
                <a:tab pos="651558" algn="l"/>
                <a:tab pos="652192" algn="l"/>
              </a:tabLst>
            </a:pPr>
            <a:r>
              <a:rPr sz="1798" dirty="0">
                <a:latin typeface="Century Schoolbook"/>
                <a:cs typeface="Century Schoolbook"/>
              </a:rPr>
              <a:t>Resposta</a:t>
            </a:r>
            <a:r>
              <a:rPr sz="1798" spc="6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a</a:t>
            </a:r>
            <a:r>
              <a:rPr sz="1798" spc="35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mudanças</a:t>
            </a:r>
            <a:r>
              <a:rPr sz="1798" spc="5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ao</a:t>
            </a:r>
            <a:r>
              <a:rPr sz="1798" spc="4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invés</a:t>
            </a:r>
            <a:r>
              <a:rPr sz="1798" spc="25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de</a:t>
            </a:r>
            <a:r>
              <a:rPr sz="1798" spc="4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seguir</a:t>
            </a:r>
            <a:r>
              <a:rPr sz="1798" spc="35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um</a:t>
            </a:r>
            <a:r>
              <a:rPr sz="1798" spc="40" dirty="0">
                <a:latin typeface="Times New Roman"/>
                <a:cs typeface="Times New Roman"/>
              </a:rPr>
              <a:t> </a:t>
            </a:r>
            <a:r>
              <a:rPr sz="1798" spc="-10" dirty="0">
                <a:latin typeface="Century Schoolbook"/>
                <a:cs typeface="Century Schoolbook"/>
              </a:rPr>
              <a:t>plano.</a:t>
            </a:r>
            <a:endParaRPr sz="1798">
              <a:latin typeface="Century Schoolbook"/>
              <a:cs typeface="Century Schoolbook"/>
            </a:endParaRPr>
          </a:p>
          <a:p>
            <a:pPr lvl="1">
              <a:lnSpc>
                <a:spcPct val="100000"/>
              </a:lnSpc>
              <a:buClr>
                <a:srgbClr val="94C600"/>
              </a:buClr>
              <a:buFont typeface="Wingdings 2"/>
              <a:buChar char=""/>
            </a:pPr>
            <a:endParaRPr sz="2098">
              <a:latin typeface="Century Schoolbook"/>
              <a:cs typeface="Century Schoolbook"/>
            </a:endParaRPr>
          </a:p>
          <a:p>
            <a:pPr marL="286762" marR="5075" indent="-274073" algn="just">
              <a:lnSpc>
                <a:spcPct val="130000"/>
              </a:lnSpc>
              <a:spcBef>
                <a:spcPts val="1439"/>
              </a:spcBef>
              <a:buClr>
                <a:srgbClr val="94C600"/>
              </a:buClr>
              <a:buSzPct val="70000"/>
              <a:buFont typeface="Wingdings"/>
              <a:buChar char=""/>
              <a:tabLst>
                <a:tab pos="286762" algn="l"/>
              </a:tabLst>
            </a:pPr>
            <a:r>
              <a:rPr sz="1998" dirty="0">
                <a:latin typeface="Century Schoolbook"/>
                <a:cs typeface="Century Schoolbook"/>
              </a:rPr>
              <a:t>O</a:t>
            </a:r>
            <a:r>
              <a:rPr sz="1998" spc="5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que</a:t>
            </a:r>
            <a:r>
              <a:rPr sz="1998" spc="6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significa</a:t>
            </a:r>
            <a:r>
              <a:rPr sz="1998" spc="7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que</a:t>
            </a:r>
            <a:r>
              <a:rPr sz="1998" spc="6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existe</a:t>
            </a:r>
            <a:r>
              <a:rPr sz="1998" spc="6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valor</a:t>
            </a:r>
            <a:r>
              <a:rPr sz="1998" spc="7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nos</a:t>
            </a:r>
            <a:r>
              <a:rPr sz="1998" spc="5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itens</a:t>
            </a:r>
            <a:r>
              <a:rPr sz="1998" spc="6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a</a:t>
            </a:r>
            <a:r>
              <a:rPr sz="1998" spc="7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direita,</a:t>
            </a:r>
            <a:r>
              <a:rPr sz="1998" spc="4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mas</a:t>
            </a:r>
            <a:r>
              <a:rPr sz="1998" spc="65" dirty="0">
                <a:latin typeface="Times New Roman"/>
                <a:cs typeface="Times New Roman"/>
              </a:rPr>
              <a:t> </a:t>
            </a:r>
            <a:r>
              <a:rPr sz="1998" spc="-25" dirty="0">
                <a:latin typeface="Century Schoolbook"/>
                <a:cs typeface="Century Schoolbook"/>
              </a:rPr>
              <a:t>que</a:t>
            </a:r>
            <a:r>
              <a:rPr sz="1998" spc="-2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valorizamos</a:t>
            </a:r>
            <a:r>
              <a:rPr sz="1998" spc="-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mais</a:t>
            </a:r>
            <a:r>
              <a:rPr sz="1998" spc="2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os</a:t>
            </a:r>
            <a:r>
              <a:rPr sz="1998" spc="4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itens</a:t>
            </a:r>
            <a:r>
              <a:rPr sz="1998" spc="2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a</a:t>
            </a:r>
            <a:r>
              <a:rPr sz="1998" spc="40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esquerda.</a:t>
            </a:r>
            <a:endParaRPr sz="1998">
              <a:latin typeface="Century Schoolbook"/>
              <a:cs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4108178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3675" y="896298"/>
            <a:ext cx="6526837" cy="482154"/>
          </a:xfrm>
          <a:prstGeom prst="rect">
            <a:avLst/>
          </a:prstGeom>
        </p:spPr>
        <p:txBody>
          <a:bodyPr vert="horz" wrap="square" lIns="0" tIns="12688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100"/>
              </a:spcBef>
            </a:pPr>
            <a:r>
              <a:rPr cap="small" spc="-5" dirty="0"/>
              <a:t>O</a:t>
            </a:r>
            <a:r>
              <a:rPr cap="small" dirty="0"/>
              <a:t>s</a:t>
            </a:r>
            <a:r>
              <a:rPr sz="2398" b="0" spc="270" dirty="0">
                <a:latin typeface="Times New Roman"/>
                <a:cs typeface="Times New Roman"/>
              </a:rPr>
              <a:t> </a:t>
            </a:r>
            <a:r>
              <a:rPr cap="small" dirty="0"/>
              <a:t>prin</a:t>
            </a:r>
            <a:r>
              <a:rPr cap="small" spc="5" dirty="0"/>
              <a:t>c</a:t>
            </a:r>
            <a:r>
              <a:rPr cap="small" dirty="0"/>
              <a:t>ípi</a:t>
            </a:r>
            <a:r>
              <a:rPr cap="small" spc="-10" dirty="0"/>
              <a:t>o</a:t>
            </a:r>
            <a:r>
              <a:rPr cap="small" dirty="0"/>
              <a:t>s</a:t>
            </a:r>
            <a:r>
              <a:rPr sz="2398" b="0" spc="235" dirty="0">
                <a:latin typeface="Times New Roman"/>
                <a:cs typeface="Times New Roman"/>
              </a:rPr>
              <a:t> </a:t>
            </a:r>
            <a:r>
              <a:rPr cap="small" dirty="0"/>
              <a:t>dos</a:t>
            </a:r>
            <a:r>
              <a:rPr sz="2398" b="0" spc="245" dirty="0">
                <a:latin typeface="Times New Roman"/>
                <a:cs typeface="Times New Roman"/>
              </a:rPr>
              <a:t> </a:t>
            </a:r>
            <a:r>
              <a:rPr cap="small" spc="-5" dirty="0"/>
              <a:t>m</a:t>
            </a:r>
            <a:r>
              <a:rPr cap="small" dirty="0"/>
              <a:t>é</a:t>
            </a:r>
            <a:r>
              <a:rPr cap="small" spc="-10" dirty="0"/>
              <a:t>t</a:t>
            </a:r>
            <a:r>
              <a:rPr cap="small" dirty="0"/>
              <a:t>odos</a:t>
            </a:r>
            <a:r>
              <a:rPr sz="2398" b="0" spc="254" dirty="0">
                <a:latin typeface="Times New Roman"/>
                <a:cs typeface="Times New Roman"/>
              </a:rPr>
              <a:t> </a:t>
            </a:r>
            <a:r>
              <a:rPr cap="small" dirty="0"/>
              <a:t>ágeis</a:t>
            </a:r>
            <a:endParaRPr sz="2398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79453" y="1775340"/>
            <a:ext cx="8512802" cy="467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057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3676" y="454488"/>
            <a:ext cx="6875129" cy="1365776"/>
          </a:xfrm>
          <a:prstGeom prst="rect">
            <a:avLst/>
          </a:prstGeom>
        </p:spPr>
        <p:txBody>
          <a:bodyPr vert="horz" wrap="square" lIns="0" tIns="12688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100"/>
              </a:spcBef>
            </a:pPr>
            <a:r>
              <a:rPr cap="small" dirty="0"/>
              <a:t>Ap</a:t>
            </a:r>
            <a:r>
              <a:rPr cap="small" spc="-10" dirty="0"/>
              <a:t>l</a:t>
            </a:r>
            <a:r>
              <a:rPr cap="small" dirty="0"/>
              <a:t>ica</a:t>
            </a:r>
            <a:r>
              <a:rPr cap="small" spc="5" dirty="0"/>
              <a:t>b</a:t>
            </a:r>
            <a:r>
              <a:rPr cap="small" dirty="0"/>
              <a:t>i</a:t>
            </a:r>
            <a:r>
              <a:rPr cap="small" spc="-10" dirty="0"/>
              <a:t>l</a:t>
            </a:r>
            <a:r>
              <a:rPr cap="small" dirty="0"/>
              <a:t>idade</a:t>
            </a:r>
            <a:r>
              <a:rPr sz="2398" spc="240" dirty="0">
                <a:latin typeface="Times New Roman"/>
                <a:cs typeface="Times New Roman"/>
              </a:rPr>
              <a:t> </a:t>
            </a:r>
            <a:r>
              <a:rPr cap="small" dirty="0"/>
              <a:t>dos</a:t>
            </a:r>
            <a:r>
              <a:rPr sz="2398" spc="245" dirty="0">
                <a:latin typeface="Times New Roman"/>
                <a:cs typeface="Times New Roman"/>
              </a:rPr>
              <a:t> </a:t>
            </a:r>
            <a:r>
              <a:rPr cap="small" spc="-5" dirty="0"/>
              <a:t>m</a:t>
            </a:r>
            <a:r>
              <a:rPr cap="small" dirty="0"/>
              <a:t>é</a:t>
            </a:r>
            <a:r>
              <a:rPr cap="small" spc="-10" dirty="0"/>
              <a:t>t</a:t>
            </a:r>
            <a:r>
              <a:rPr cap="small" dirty="0"/>
              <a:t>odos</a:t>
            </a:r>
            <a:r>
              <a:rPr sz="2398" spc="254" dirty="0">
                <a:latin typeface="Times New Roman"/>
                <a:cs typeface="Times New Roman"/>
              </a:rPr>
              <a:t> </a:t>
            </a:r>
            <a:r>
              <a:rPr cap="small" dirty="0"/>
              <a:t>ágeis</a:t>
            </a:r>
            <a:endParaRPr sz="239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3675" y="1586646"/>
            <a:ext cx="7303358" cy="4532243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286762" marR="5075" indent="-274073" algn="just">
              <a:lnSpc>
                <a:spcPct val="130000"/>
              </a:lnSpc>
              <a:spcBef>
                <a:spcPts val="100"/>
              </a:spcBef>
              <a:buClr>
                <a:srgbClr val="94C600"/>
              </a:buClr>
              <a:buSzPct val="70000"/>
              <a:buFont typeface="Wingdings"/>
              <a:buChar char=""/>
              <a:tabLst>
                <a:tab pos="286762" algn="l"/>
              </a:tabLst>
            </a:pPr>
            <a:r>
              <a:rPr sz="1998" dirty="0">
                <a:latin typeface="Century Schoolbook"/>
                <a:cs typeface="Century Schoolbook"/>
              </a:rPr>
              <a:t>Desenvolvimento</a:t>
            </a:r>
            <a:r>
              <a:rPr sz="1998" spc="45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de</a:t>
            </a:r>
            <a:r>
              <a:rPr sz="1998" spc="44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produto,</a:t>
            </a:r>
            <a:r>
              <a:rPr sz="1998" spc="44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quando</a:t>
            </a:r>
            <a:r>
              <a:rPr sz="1998" spc="45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a</a:t>
            </a:r>
            <a:r>
              <a:rPr sz="1998" spc="44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empresa</a:t>
            </a:r>
            <a:r>
              <a:rPr sz="1998" spc="440" dirty="0">
                <a:latin typeface="Times New Roman"/>
                <a:cs typeface="Times New Roman"/>
              </a:rPr>
              <a:t>  </a:t>
            </a:r>
            <a:r>
              <a:rPr sz="1998" spc="-25" dirty="0">
                <a:latin typeface="Century Schoolbook"/>
                <a:cs typeface="Century Schoolbook"/>
              </a:rPr>
              <a:t>de</a:t>
            </a:r>
            <a:r>
              <a:rPr sz="1998" spc="-2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software</a:t>
            </a:r>
            <a:r>
              <a:rPr sz="1998" spc="9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está</a:t>
            </a:r>
            <a:r>
              <a:rPr sz="1998" spc="10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desenvolvendo</a:t>
            </a:r>
            <a:r>
              <a:rPr sz="1998" spc="1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um</a:t>
            </a:r>
            <a:r>
              <a:rPr sz="1998" spc="8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produto</a:t>
            </a:r>
            <a:r>
              <a:rPr sz="1998" spc="9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pequeno</a:t>
            </a:r>
            <a:r>
              <a:rPr sz="1998" spc="9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ou</a:t>
            </a:r>
            <a:r>
              <a:rPr sz="1998" spc="105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médio</a:t>
            </a:r>
            <a:r>
              <a:rPr sz="1998" spc="-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para</a:t>
            </a:r>
            <a:r>
              <a:rPr sz="1998" spc="35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venda.</a:t>
            </a:r>
            <a:endParaRPr sz="1998">
              <a:latin typeface="Century Schoolbook"/>
              <a:cs typeface="Century Schoolbook"/>
            </a:endParaRPr>
          </a:p>
          <a:p>
            <a:pPr marL="286762" marR="5075" indent="-274073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70000"/>
              <a:buFont typeface="Wingdings"/>
              <a:buChar char=""/>
              <a:tabLst>
                <a:tab pos="286762" algn="l"/>
              </a:tabLst>
            </a:pPr>
            <a:r>
              <a:rPr sz="1998" dirty="0">
                <a:latin typeface="Century Schoolbook"/>
                <a:cs typeface="Century Schoolbook"/>
              </a:rPr>
              <a:t>Desenvolvimento</a:t>
            </a:r>
            <a:r>
              <a:rPr sz="1998" spc="29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de</a:t>
            </a:r>
            <a:r>
              <a:rPr sz="1998" spc="29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sistema</a:t>
            </a:r>
            <a:r>
              <a:rPr sz="1998" spc="29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personalizado</a:t>
            </a:r>
            <a:r>
              <a:rPr sz="1998" spc="29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dentro</a:t>
            </a:r>
            <a:r>
              <a:rPr sz="1998" spc="28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de</a:t>
            </a:r>
            <a:r>
              <a:rPr sz="1998" spc="295" dirty="0">
                <a:latin typeface="Times New Roman"/>
                <a:cs typeface="Times New Roman"/>
              </a:rPr>
              <a:t> </a:t>
            </a:r>
            <a:r>
              <a:rPr sz="1998" spc="-25" dirty="0">
                <a:latin typeface="Century Schoolbook"/>
                <a:cs typeface="Century Schoolbook"/>
              </a:rPr>
              <a:t>uma</a:t>
            </a:r>
            <a:r>
              <a:rPr sz="1998" spc="-2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organização,</a:t>
            </a:r>
            <a:r>
              <a:rPr sz="1998" spc="18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quando</a:t>
            </a:r>
            <a:r>
              <a:rPr sz="1998" spc="18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existe</a:t>
            </a:r>
            <a:r>
              <a:rPr sz="1998" spc="420" dirty="0">
                <a:latin typeface="Times New Roman"/>
                <a:cs typeface="Times New Roman"/>
              </a:rPr>
              <a:t>   </a:t>
            </a:r>
            <a:r>
              <a:rPr sz="1998" dirty="0">
                <a:latin typeface="Century Schoolbook"/>
                <a:cs typeface="Century Schoolbook"/>
              </a:rPr>
              <a:t>um</a:t>
            </a:r>
            <a:r>
              <a:rPr sz="1998" spc="18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compromisso</a:t>
            </a:r>
            <a:r>
              <a:rPr sz="1998" spc="19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claro</a:t>
            </a:r>
            <a:r>
              <a:rPr sz="1998" spc="185" dirty="0">
                <a:latin typeface="Times New Roman"/>
                <a:cs typeface="Times New Roman"/>
              </a:rPr>
              <a:t>  </a:t>
            </a:r>
            <a:r>
              <a:rPr sz="1998" spc="-25" dirty="0">
                <a:latin typeface="Century Schoolbook"/>
                <a:cs typeface="Century Schoolbook"/>
              </a:rPr>
              <a:t>do</a:t>
            </a:r>
            <a:r>
              <a:rPr sz="1998" spc="-2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cliente</a:t>
            </a:r>
            <a:r>
              <a:rPr sz="1998" spc="44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em</a:t>
            </a:r>
            <a:r>
              <a:rPr sz="1998" spc="45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se</a:t>
            </a:r>
            <a:r>
              <a:rPr sz="1998" spc="45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envolver</a:t>
            </a:r>
            <a:r>
              <a:rPr sz="1998" spc="45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no</a:t>
            </a:r>
            <a:r>
              <a:rPr sz="1998" spc="459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processo</a:t>
            </a:r>
            <a:r>
              <a:rPr sz="1998" spc="45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de</a:t>
            </a:r>
            <a:r>
              <a:rPr sz="1998" spc="46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desenvolvimento</a:t>
            </a:r>
            <a:r>
              <a:rPr sz="1998" spc="450" dirty="0">
                <a:latin typeface="Times New Roman"/>
                <a:cs typeface="Times New Roman"/>
              </a:rPr>
              <a:t> </a:t>
            </a:r>
            <a:r>
              <a:rPr sz="1998" spc="-50" dirty="0">
                <a:latin typeface="Century Schoolbook"/>
                <a:cs typeface="Century Schoolbook"/>
              </a:rPr>
              <a:t>e</a:t>
            </a:r>
            <a:r>
              <a:rPr sz="1998" spc="-5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quando</a:t>
            </a:r>
            <a:r>
              <a:rPr sz="1998" spc="5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não</a:t>
            </a:r>
            <a:r>
              <a:rPr sz="1998" spc="3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existem</a:t>
            </a:r>
            <a:r>
              <a:rPr sz="1998" spc="5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muitas</a:t>
            </a:r>
            <a:r>
              <a:rPr sz="1998" spc="5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regras</a:t>
            </a:r>
            <a:r>
              <a:rPr sz="1998" spc="4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</a:t>
            </a:r>
            <a:r>
              <a:rPr sz="1998" spc="6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regulamentos</a:t>
            </a:r>
            <a:r>
              <a:rPr sz="1998" spc="40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externos</a:t>
            </a:r>
            <a:r>
              <a:rPr sz="1998" spc="-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que</a:t>
            </a:r>
            <a:r>
              <a:rPr sz="1998" spc="4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afetam</a:t>
            </a:r>
            <a:r>
              <a:rPr sz="1998" spc="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o</a:t>
            </a:r>
            <a:r>
              <a:rPr sz="1998" spc="45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software.</a:t>
            </a:r>
            <a:endParaRPr sz="1998">
              <a:latin typeface="Century Schoolbook"/>
              <a:cs typeface="Century Schoolbook"/>
            </a:endParaRPr>
          </a:p>
          <a:p>
            <a:pPr marL="286762" marR="5075" indent="-274073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70000"/>
              <a:buFont typeface="Wingdings"/>
              <a:buChar char=""/>
              <a:tabLst>
                <a:tab pos="286762" algn="l"/>
              </a:tabLst>
            </a:pPr>
            <a:r>
              <a:rPr sz="1998" dirty="0">
                <a:latin typeface="Century Schoolbook"/>
                <a:cs typeface="Century Schoolbook"/>
              </a:rPr>
              <a:t>Devido</a:t>
            </a:r>
            <a:r>
              <a:rPr sz="1998" spc="45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ao</a:t>
            </a:r>
            <a:r>
              <a:rPr sz="1998" spc="45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foco</a:t>
            </a:r>
            <a:r>
              <a:rPr sz="1998" spc="459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em</a:t>
            </a:r>
            <a:r>
              <a:rPr sz="1998" spc="44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equipes</a:t>
            </a:r>
            <a:r>
              <a:rPr sz="1998" spc="45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pequenas</a:t>
            </a:r>
            <a:r>
              <a:rPr sz="1998" spc="45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e</a:t>
            </a:r>
            <a:r>
              <a:rPr sz="1998" spc="450" dirty="0">
                <a:latin typeface="Times New Roman"/>
                <a:cs typeface="Times New Roman"/>
              </a:rPr>
              <a:t>  </a:t>
            </a:r>
            <a:r>
              <a:rPr sz="1998" spc="-10" dirty="0">
                <a:latin typeface="Century Schoolbook"/>
                <a:cs typeface="Century Schoolbook"/>
              </a:rPr>
              <a:t>fortemente</a:t>
            </a:r>
            <a:r>
              <a:rPr sz="1998" spc="-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integradas,</a:t>
            </a:r>
            <a:r>
              <a:rPr sz="1998" spc="180" dirty="0">
                <a:latin typeface="Times New Roman"/>
                <a:cs typeface="Times New Roman"/>
              </a:rPr>
              <a:t>   </a:t>
            </a:r>
            <a:r>
              <a:rPr sz="1998" dirty="0">
                <a:latin typeface="Century Schoolbook"/>
                <a:cs typeface="Century Schoolbook"/>
              </a:rPr>
              <a:t>existem</a:t>
            </a:r>
            <a:r>
              <a:rPr sz="1998" spc="180" dirty="0">
                <a:latin typeface="Times New Roman"/>
                <a:cs typeface="Times New Roman"/>
              </a:rPr>
              <a:t>   </a:t>
            </a:r>
            <a:r>
              <a:rPr sz="1998" dirty="0">
                <a:latin typeface="Century Schoolbook"/>
                <a:cs typeface="Century Schoolbook"/>
              </a:rPr>
              <a:t>problemas</a:t>
            </a:r>
            <a:r>
              <a:rPr sz="1998" spc="180" dirty="0">
                <a:latin typeface="Times New Roman"/>
                <a:cs typeface="Times New Roman"/>
              </a:rPr>
              <a:t>   </a:t>
            </a:r>
            <a:r>
              <a:rPr sz="1998" dirty="0">
                <a:latin typeface="Century Schoolbook"/>
                <a:cs typeface="Century Schoolbook"/>
              </a:rPr>
              <a:t>na</a:t>
            </a:r>
            <a:r>
              <a:rPr sz="1998" spc="185" dirty="0">
                <a:latin typeface="Times New Roman"/>
                <a:cs typeface="Times New Roman"/>
              </a:rPr>
              <a:t>   </a:t>
            </a:r>
            <a:r>
              <a:rPr sz="1998" dirty="0">
                <a:latin typeface="Century Schoolbook"/>
                <a:cs typeface="Century Schoolbook"/>
              </a:rPr>
              <a:t>escalabilidade</a:t>
            </a:r>
            <a:r>
              <a:rPr sz="1998" spc="185" dirty="0">
                <a:latin typeface="Times New Roman"/>
                <a:cs typeface="Times New Roman"/>
              </a:rPr>
              <a:t>   </a:t>
            </a:r>
            <a:r>
              <a:rPr sz="1998" spc="-25" dirty="0">
                <a:latin typeface="Century Schoolbook"/>
                <a:cs typeface="Century Schoolbook"/>
              </a:rPr>
              <a:t>de</a:t>
            </a:r>
            <a:r>
              <a:rPr sz="1998" spc="-2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métodos</a:t>
            </a:r>
            <a:r>
              <a:rPr sz="1998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ágeis</a:t>
            </a:r>
            <a:r>
              <a:rPr sz="1998" spc="2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em</a:t>
            </a:r>
            <a:r>
              <a:rPr sz="1998" spc="3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sistemas</a:t>
            </a:r>
            <a:r>
              <a:rPr sz="1998" spc="20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grandes.</a:t>
            </a:r>
            <a:endParaRPr sz="1998">
              <a:latin typeface="Century Schoolbook"/>
              <a:cs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1391178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3676" y="454488"/>
            <a:ext cx="6122716" cy="1365776"/>
          </a:xfrm>
          <a:prstGeom prst="rect">
            <a:avLst/>
          </a:prstGeom>
        </p:spPr>
        <p:txBody>
          <a:bodyPr vert="horz" wrap="square" lIns="0" tIns="12688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100"/>
              </a:spcBef>
            </a:pPr>
            <a:r>
              <a:rPr cap="small" dirty="0"/>
              <a:t>Pro</a:t>
            </a:r>
            <a:r>
              <a:rPr cap="small" spc="5" dirty="0"/>
              <a:t>b</a:t>
            </a:r>
            <a:r>
              <a:rPr cap="small" spc="-10" dirty="0"/>
              <a:t>l</a:t>
            </a:r>
            <a:r>
              <a:rPr cap="small" dirty="0"/>
              <a:t>e</a:t>
            </a:r>
            <a:r>
              <a:rPr cap="small" spc="-5" dirty="0"/>
              <a:t>m</a:t>
            </a:r>
            <a:r>
              <a:rPr cap="small" dirty="0"/>
              <a:t>as</a:t>
            </a:r>
            <a:r>
              <a:rPr sz="2398" spc="245" dirty="0">
                <a:latin typeface="Times New Roman"/>
                <a:cs typeface="Times New Roman"/>
              </a:rPr>
              <a:t> </a:t>
            </a:r>
            <a:r>
              <a:rPr cap="small" spc="5" dirty="0"/>
              <a:t>c</a:t>
            </a:r>
            <a:r>
              <a:rPr cap="small" dirty="0"/>
              <a:t>om</a:t>
            </a:r>
            <a:r>
              <a:rPr sz="2398" spc="245" dirty="0">
                <a:latin typeface="Times New Roman"/>
                <a:cs typeface="Times New Roman"/>
              </a:rPr>
              <a:t> </a:t>
            </a:r>
            <a:r>
              <a:rPr cap="small" spc="-5" dirty="0"/>
              <a:t>m</a:t>
            </a:r>
            <a:r>
              <a:rPr cap="small" dirty="0"/>
              <a:t>é</a:t>
            </a:r>
            <a:r>
              <a:rPr cap="small" spc="-10" dirty="0"/>
              <a:t>t</a:t>
            </a:r>
            <a:r>
              <a:rPr cap="small" dirty="0"/>
              <a:t>odos</a:t>
            </a:r>
            <a:r>
              <a:rPr sz="2398" spc="245" dirty="0">
                <a:latin typeface="Times New Roman"/>
                <a:cs typeface="Times New Roman"/>
              </a:rPr>
              <a:t> </a:t>
            </a:r>
            <a:r>
              <a:rPr cap="small" dirty="0"/>
              <a:t>ágeis</a:t>
            </a:r>
            <a:endParaRPr sz="239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3676" y="1579027"/>
            <a:ext cx="7303992" cy="4166821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286762" marR="5710" indent="-274073">
              <a:lnSpc>
                <a:spcPct val="140000"/>
              </a:lnSpc>
              <a:spcBef>
                <a:spcPts val="100"/>
              </a:spcBef>
              <a:buClr>
                <a:srgbClr val="94C600"/>
              </a:buClr>
              <a:buSzPct val="70000"/>
              <a:buFont typeface="Wingdings"/>
              <a:buChar char=""/>
              <a:tabLst>
                <a:tab pos="286762" algn="l"/>
              </a:tabLst>
            </a:pPr>
            <a:r>
              <a:rPr sz="1998" dirty="0">
                <a:latin typeface="Century Schoolbook"/>
                <a:cs typeface="Century Schoolbook"/>
              </a:rPr>
              <a:t>Pode</a:t>
            </a:r>
            <a:r>
              <a:rPr sz="1998" spc="39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ser</a:t>
            </a:r>
            <a:r>
              <a:rPr sz="1998" spc="39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difícil</a:t>
            </a:r>
            <a:r>
              <a:rPr sz="1998" spc="40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manter</a:t>
            </a:r>
            <a:r>
              <a:rPr sz="1998" spc="39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o</a:t>
            </a:r>
            <a:r>
              <a:rPr sz="1998" spc="39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interesse</a:t>
            </a:r>
            <a:r>
              <a:rPr sz="1998" spc="409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dos</a:t>
            </a:r>
            <a:r>
              <a:rPr sz="1998" spc="40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clientes</a:t>
            </a:r>
            <a:r>
              <a:rPr sz="1998" spc="40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que</a:t>
            </a:r>
            <a:r>
              <a:rPr sz="1998" spc="395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estão</a:t>
            </a:r>
            <a:r>
              <a:rPr sz="1998" spc="-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envolvidos</a:t>
            </a:r>
            <a:r>
              <a:rPr sz="1998" spc="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no</a:t>
            </a:r>
            <a:r>
              <a:rPr sz="1998" spc="45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processo.</a:t>
            </a:r>
            <a:endParaRPr sz="1998">
              <a:latin typeface="Century Schoolbook"/>
              <a:cs typeface="Century Schoolbook"/>
            </a:endParaRPr>
          </a:p>
          <a:p>
            <a:pPr marL="286762" marR="6344" indent="-274073">
              <a:lnSpc>
                <a:spcPct val="140000"/>
              </a:lnSpc>
              <a:spcBef>
                <a:spcPts val="599"/>
              </a:spcBef>
              <a:buClr>
                <a:srgbClr val="94C600"/>
              </a:buClr>
              <a:buSzPct val="70000"/>
              <a:buFont typeface="Wingdings"/>
              <a:buChar char=""/>
              <a:tabLst>
                <a:tab pos="286762" algn="l"/>
                <a:tab pos="1632385" algn="l"/>
                <a:tab pos="2174186" algn="l"/>
                <a:tab pos="3205133" algn="l"/>
                <a:tab pos="4232907" algn="l"/>
                <a:tab pos="4910477" algn="l"/>
                <a:tab pos="5524603" algn="l"/>
                <a:tab pos="7022489" algn="l"/>
              </a:tabLst>
            </a:pPr>
            <a:r>
              <a:rPr sz="1998" spc="-10" dirty="0">
                <a:latin typeface="Century Schoolbook"/>
                <a:cs typeface="Century Schoolbook"/>
              </a:rPr>
              <a:t>Membros</a:t>
            </a:r>
            <a:r>
              <a:rPr sz="1998" dirty="0">
                <a:latin typeface="Times New Roman"/>
                <a:cs typeface="Times New Roman"/>
              </a:rPr>
              <a:t>	</a:t>
            </a:r>
            <a:r>
              <a:rPr sz="1998" spc="-25" dirty="0">
                <a:latin typeface="Century Schoolbook"/>
                <a:cs typeface="Century Schoolbook"/>
              </a:rPr>
              <a:t>da</a:t>
            </a:r>
            <a:r>
              <a:rPr sz="1998" dirty="0">
                <a:latin typeface="Times New Roman"/>
                <a:cs typeface="Times New Roman"/>
              </a:rPr>
              <a:t>	</a:t>
            </a:r>
            <a:r>
              <a:rPr sz="1998" spc="-10" dirty="0">
                <a:latin typeface="Century Schoolbook"/>
                <a:cs typeface="Century Schoolbook"/>
              </a:rPr>
              <a:t>equipe</a:t>
            </a:r>
            <a:r>
              <a:rPr sz="1998" dirty="0">
                <a:latin typeface="Times New Roman"/>
                <a:cs typeface="Times New Roman"/>
              </a:rPr>
              <a:t>	</a:t>
            </a:r>
            <a:r>
              <a:rPr sz="1998" spc="-10" dirty="0">
                <a:latin typeface="Century Schoolbook"/>
                <a:cs typeface="Century Schoolbook"/>
              </a:rPr>
              <a:t>podem</a:t>
            </a:r>
            <a:r>
              <a:rPr sz="1998" dirty="0">
                <a:latin typeface="Times New Roman"/>
                <a:cs typeface="Times New Roman"/>
              </a:rPr>
              <a:t>	</a:t>
            </a:r>
            <a:r>
              <a:rPr sz="1998" spc="-25" dirty="0">
                <a:latin typeface="Century Schoolbook"/>
                <a:cs typeface="Century Schoolbook"/>
              </a:rPr>
              <a:t>não</a:t>
            </a:r>
            <a:r>
              <a:rPr sz="1998" dirty="0">
                <a:latin typeface="Times New Roman"/>
                <a:cs typeface="Times New Roman"/>
              </a:rPr>
              <a:t>	</a:t>
            </a:r>
            <a:r>
              <a:rPr sz="1998" spc="-25" dirty="0">
                <a:latin typeface="Century Schoolbook"/>
                <a:cs typeface="Century Schoolbook"/>
              </a:rPr>
              <a:t>ser</a:t>
            </a:r>
            <a:r>
              <a:rPr sz="1998" dirty="0">
                <a:latin typeface="Times New Roman"/>
                <a:cs typeface="Times New Roman"/>
              </a:rPr>
              <a:t>	</a:t>
            </a:r>
            <a:r>
              <a:rPr sz="1998" spc="-10" dirty="0">
                <a:latin typeface="Century Schoolbook"/>
                <a:cs typeface="Century Schoolbook"/>
              </a:rPr>
              <a:t>adequados</a:t>
            </a:r>
            <a:r>
              <a:rPr sz="1998" dirty="0">
                <a:latin typeface="Times New Roman"/>
                <a:cs typeface="Times New Roman"/>
              </a:rPr>
              <a:t>	</a:t>
            </a:r>
            <a:r>
              <a:rPr sz="1998" spc="-25" dirty="0">
                <a:latin typeface="Century Schoolbook"/>
                <a:cs typeface="Century Schoolbook"/>
              </a:rPr>
              <a:t>ao</a:t>
            </a:r>
            <a:r>
              <a:rPr sz="1998" spc="-2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envolvimento</a:t>
            </a:r>
            <a:r>
              <a:rPr sz="1998" spc="-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intenso</a:t>
            </a:r>
            <a:r>
              <a:rPr sz="1998" spc="2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que</a:t>
            </a:r>
            <a:r>
              <a:rPr sz="1998" spc="4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caracteriza</a:t>
            </a:r>
            <a:r>
              <a:rPr sz="1998" spc="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os</a:t>
            </a:r>
            <a:r>
              <a:rPr sz="1998" spc="3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métodos</a:t>
            </a:r>
            <a:r>
              <a:rPr sz="1998" spc="5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ágeis.</a:t>
            </a:r>
            <a:endParaRPr sz="1998">
              <a:latin typeface="Century Schoolbook"/>
              <a:cs typeface="Century Schoolbook"/>
            </a:endParaRPr>
          </a:p>
          <a:p>
            <a:pPr marL="286762" marR="5075" indent="-274073">
              <a:lnSpc>
                <a:spcPct val="140000"/>
              </a:lnSpc>
              <a:spcBef>
                <a:spcPts val="599"/>
              </a:spcBef>
              <a:buClr>
                <a:srgbClr val="94C600"/>
              </a:buClr>
              <a:buSzPct val="70000"/>
              <a:buFont typeface="Wingdings"/>
              <a:buChar char=""/>
              <a:tabLst>
                <a:tab pos="286762" algn="l"/>
              </a:tabLst>
            </a:pPr>
            <a:r>
              <a:rPr sz="1998" dirty="0">
                <a:latin typeface="Century Schoolbook"/>
                <a:cs typeface="Century Schoolbook"/>
              </a:rPr>
              <a:t>Priorizar</a:t>
            </a:r>
            <a:r>
              <a:rPr sz="1998" spc="16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mudanças</a:t>
            </a:r>
            <a:r>
              <a:rPr sz="1998" spc="17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pode</a:t>
            </a:r>
            <a:r>
              <a:rPr sz="1998" spc="17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ser</a:t>
            </a:r>
            <a:r>
              <a:rPr sz="1998" spc="17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difícil</a:t>
            </a:r>
            <a:r>
              <a:rPr sz="1998" spc="17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onde</a:t>
            </a:r>
            <a:r>
              <a:rPr sz="1998" spc="17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existem</a:t>
            </a:r>
            <a:r>
              <a:rPr sz="1998" spc="160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múltiplos</a:t>
            </a:r>
            <a:r>
              <a:rPr sz="1998" spc="-10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stakeholders.</a:t>
            </a:r>
            <a:endParaRPr sz="1998">
              <a:latin typeface="Century Schoolbook"/>
              <a:cs typeface="Century Schoolbook"/>
            </a:endParaRPr>
          </a:p>
          <a:p>
            <a:pPr marL="286762" indent="-274073">
              <a:spcBef>
                <a:spcPts val="1559"/>
              </a:spcBef>
              <a:buClr>
                <a:srgbClr val="94C600"/>
              </a:buClr>
              <a:buSzPct val="70000"/>
              <a:buFont typeface="Wingdings"/>
              <a:buChar char=""/>
              <a:tabLst>
                <a:tab pos="286762" algn="l"/>
              </a:tabLst>
            </a:pPr>
            <a:r>
              <a:rPr sz="1998" dirty="0">
                <a:latin typeface="Century Schoolbook"/>
                <a:cs typeface="Century Schoolbook"/>
              </a:rPr>
              <a:t>Manter</a:t>
            </a:r>
            <a:r>
              <a:rPr sz="1998" spc="2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a</a:t>
            </a:r>
            <a:r>
              <a:rPr sz="1998" spc="3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simplicidade</a:t>
            </a:r>
            <a:r>
              <a:rPr sz="1998" spc="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requer</a:t>
            </a:r>
            <a:r>
              <a:rPr sz="1998" spc="2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trabalho</a:t>
            </a:r>
            <a:r>
              <a:rPr sz="1998" spc="20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extra.</a:t>
            </a:r>
            <a:endParaRPr sz="1998">
              <a:latin typeface="Century Schoolbook"/>
              <a:cs typeface="Century Schoolbook"/>
            </a:endParaRPr>
          </a:p>
          <a:p>
            <a:pPr marL="286762" marR="5710" indent="-274073">
              <a:lnSpc>
                <a:spcPct val="140000"/>
              </a:lnSpc>
              <a:spcBef>
                <a:spcPts val="599"/>
              </a:spcBef>
              <a:buClr>
                <a:srgbClr val="94C600"/>
              </a:buClr>
              <a:buSzPct val="70000"/>
              <a:buFont typeface="Wingdings"/>
              <a:buChar char=""/>
              <a:tabLst>
                <a:tab pos="286762" algn="l"/>
                <a:tab pos="772099" algn="l"/>
                <a:tab pos="2031440" algn="l"/>
                <a:tab pos="2975470" algn="l"/>
                <a:tab pos="3500775" algn="l"/>
                <a:tab pos="4052095" algn="l"/>
                <a:tab pos="5322855" algn="l"/>
                <a:tab pos="6172989" algn="l"/>
                <a:tab pos="6935572" algn="l"/>
              </a:tabLst>
            </a:pPr>
            <a:r>
              <a:rPr sz="1998" spc="-25" dirty="0">
                <a:latin typeface="Century Schoolbook"/>
                <a:cs typeface="Century Schoolbook"/>
              </a:rPr>
              <a:t>Os</a:t>
            </a:r>
            <a:r>
              <a:rPr sz="1998" dirty="0">
                <a:latin typeface="Times New Roman"/>
                <a:cs typeface="Times New Roman"/>
              </a:rPr>
              <a:t>	</a:t>
            </a:r>
            <a:r>
              <a:rPr sz="1998" spc="-10" dirty="0">
                <a:latin typeface="Century Schoolbook"/>
                <a:cs typeface="Century Schoolbook"/>
              </a:rPr>
              <a:t>contratos</a:t>
            </a:r>
            <a:r>
              <a:rPr sz="1998" dirty="0">
                <a:latin typeface="Times New Roman"/>
                <a:cs typeface="Times New Roman"/>
              </a:rPr>
              <a:t>	</a:t>
            </a:r>
            <a:r>
              <a:rPr sz="1998" spc="-20" dirty="0">
                <a:latin typeface="Century Schoolbook"/>
                <a:cs typeface="Century Schoolbook"/>
              </a:rPr>
              <a:t>podem</a:t>
            </a:r>
            <a:r>
              <a:rPr sz="1998" dirty="0">
                <a:latin typeface="Times New Roman"/>
                <a:cs typeface="Times New Roman"/>
              </a:rPr>
              <a:t>	</a:t>
            </a:r>
            <a:r>
              <a:rPr sz="1998" spc="-25" dirty="0">
                <a:latin typeface="Century Schoolbook"/>
                <a:cs typeface="Century Schoolbook"/>
              </a:rPr>
              <a:t>ser</a:t>
            </a:r>
            <a:r>
              <a:rPr sz="1998" dirty="0">
                <a:latin typeface="Times New Roman"/>
                <a:cs typeface="Times New Roman"/>
              </a:rPr>
              <a:t>	</a:t>
            </a:r>
            <a:r>
              <a:rPr sz="1998" spc="-25" dirty="0">
                <a:latin typeface="Century Schoolbook"/>
                <a:cs typeface="Century Schoolbook"/>
              </a:rPr>
              <a:t>um</a:t>
            </a:r>
            <a:r>
              <a:rPr sz="1998" dirty="0">
                <a:latin typeface="Times New Roman"/>
                <a:cs typeface="Times New Roman"/>
              </a:rPr>
              <a:t>	</a:t>
            </a:r>
            <a:r>
              <a:rPr sz="1998" spc="-10" dirty="0">
                <a:latin typeface="Century Schoolbook"/>
                <a:cs typeface="Century Schoolbook"/>
              </a:rPr>
              <a:t>problema</a:t>
            </a:r>
            <a:r>
              <a:rPr sz="1998" dirty="0">
                <a:latin typeface="Times New Roman"/>
                <a:cs typeface="Times New Roman"/>
              </a:rPr>
              <a:t>	</a:t>
            </a:r>
            <a:r>
              <a:rPr sz="1998" spc="-10" dirty="0">
                <a:latin typeface="Century Schoolbook"/>
                <a:cs typeface="Century Schoolbook"/>
              </a:rPr>
              <a:t>assim</a:t>
            </a:r>
            <a:r>
              <a:rPr sz="1998" dirty="0">
                <a:latin typeface="Times New Roman"/>
                <a:cs typeface="Times New Roman"/>
              </a:rPr>
              <a:t>	</a:t>
            </a:r>
            <a:r>
              <a:rPr sz="1998" spc="-20" dirty="0">
                <a:latin typeface="Century Schoolbook"/>
                <a:cs typeface="Century Schoolbook"/>
              </a:rPr>
              <a:t>como</a:t>
            </a:r>
            <a:r>
              <a:rPr sz="1998" dirty="0">
                <a:latin typeface="Times New Roman"/>
                <a:cs typeface="Times New Roman"/>
              </a:rPr>
              <a:t>	</a:t>
            </a:r>
            <a:r>
              <a:rPr sz="1998" spc="-25" dirty="0">
                <a:latin typeface="Century Schoolbook"/>
                <a:cs typeface="Century Schoolbook"/>
              </a:rPr>
              <a:t>em</a:t>
            </a:r>
            <a:r>
              <a:rPr sz="1998" spc="-2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outras</a:t>
            </a:r>
            <a:r>
              <a:rPr sz="1998" spc="1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abordagens</a:t>
            </a:r>
            <a:r>
              <a:rPr sz="1998" spc="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que</a:t>
            </a:r>
            <a:r>
              <a:rPr sz="1998" spc="4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usam</a:t>
            </a:r>
            <a:r>
              <a:rPr sz="1998" spc="2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o</a:t>
            </a:r>
            <a:r>
              <a:rPr sz="1998" spc="5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desenvolvimento</a:t>
            </a:r>
            <a:r>
              <a:rPr sz="1998" spc="5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iterativo.</a:t>
            </a:r>
            <a:endParaRPr sz="1998">
              <a:latin typeface="Century Schoolbook"/>
              <a:cs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1895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365654" y="615526"/>
            <a:ext cx="10505872" cy="822861"/>
          </a:xfrm>
          <a:prstGeom prst="rect">
            <a:avLst/>
          </a:prstGeom>
        </p:spPr>
        <p:txBody>
          <a:bodyPr vert="horz" wrap="square" lIns="0" tIns="31086" rIns="0" bIns="0" rtlCol="0" anchor="ctr">
            <a:spAutoFit/>
          </a:bodyPr>
          <a:lstStyle/>
          <a:p>
            <a:pPr marL="12689" marR="5075">
              <a:lnSpc>
                <a:spcPct val="116700"/>
              </a:lnSpc>
              <a:spcBef>
                <a:spcPts val="245"/>
              </a:spcBef>
            </a:pPr>
            <a:r>
              <a:rPr cap="small" spc="-5" dirty="0"/>
              <a:t>M</a:t>
            </a:r>
            <a:r>
              <a:rPr cap="small" dirty="0"/>
              <a:t>é</a:t>
            </a:r>
            <a:r>
              <a:rPr cap="small" spc="-10" dirty="0"/>
              <a:t>t</a:t>
            </a:r>
            <a:r>
              <a:rPr cap="small" dirty="0"/>
              <a:t>odos</a:t>
            </a:r>
            <a:r>
              <a:rPr sz="2398" spc="254" dirty="0">
                <a:latin typeface="Times New Roman"/>
                <a:cs typeface="Times New Roman"/>
              </a:rPr>
              <a:t> </a:t>
            </a:r>
            <a:r>
              <a:rPr cap="small" dirty="0"/>
              <a:t>ágeis</a:t>
            </a:r>
            <a:r>
              <a:rPr sz="2398" spc="245" dirty="0">
                <a:latin typeface="Times New Roman"/>
                <a:cs typeface="Times New Roman"/>
              </a:rPr>
              <a:t> </a:t>
            </a:r>
            <a:r>
              <a:rPr cap="small" dirty="0"/>
              <a:t>e</a:t>
            </a:r>
            <a:r>
              <a:rPr sz="2398" spc="265" dirty="0">
                <a:latin typeface="Times New Roman"/>
                <a:cs typeface="Times New Roman"/>
              </a:rPr>
              <a:t> </a:t>
            </a:r>
            <a:r>
              <a:rPr cap="small" spc="-5" dirty="0"/>
              <a:t>m</a:t>
            </a:r>
            <a:r>
              <a:rPr cap="small" dirty="0"/>
              <a:t>anu</a:t>
            </a:r>
            <a:r>
              <a:rPr cap="small" spc="-10" dirty="0"/>
              <a:t>t</a:t>
            </a:r>
            <a:r>
              <a:rPr cap="small" dirty="0"/>
              <a:t>enção</a:t>
            </a:r>
            <a:r>
              <a:rPr sz="2398" spc="250" dirty="0">
                <a:latin typeface="Times New Roman"/>
                <a:cs typeface="Times New Roman"/>
              </a:rPr>
              <a:t> </a:t>
            </a:r>
            <a:r>
              <a:rPr cap="small" dirty="0"/>
              <a:t>de</a:t>
            </a:r>
            <a:r>
              <a:rPr sz="2398" dirty="0">
                <a:latin typeface="Times New Roman"/>
                <a:cs typeface="Times New Roman"/>
              </a:rPr>
              <a:t> </a:t>
            </a:r>
            <a:r>
              <a:rPr cap="small" spc="-5" dirty="0"/>
              <a:t>s</a:t>
            </a:r>
            <a:r>
              <a:rPr cap="small" dirty="0"/>
              <a:t>o</a:t>
            </a:r>
            <a:r>
              <a:rPr cap="small" spc="-10" dirty="0"/>
              <a:t>ft</a:t>
            </a:r>
            <a:r>
              <a:rPr cap="small" spc="-5" dirty="0"/>
              <a:t>w</a:t>
            </a:r>
            <a:r>
              <a:rPr cap="small" dirty="0"/>
              <a:t>are</a:t>
            </a:r>
            <a:endParaRPr sz="239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3675" y="1594254"/>
            <a:ext cx="7303358" cy="4109090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286762" marR="5075" indent="-274073" algn="just">
              <a:lnSpc>
                <a:spcPct val="130000"/>
              </a:lnSpc>
              <a:spcBef>
                <a:spcPts val="100"/>
              </a:spcBef>
              <a:buClr>
                <a:srgbClr val="94C600"/>
              </a:buClr>
              <a:buSzPct val="67647"/>
              <a:buFont typeface="Wingdings"/>
              <a:buChar char=""/>
              <a:tabLst>
                <a:tab pos="286762" algn="l"/>
              </a:tabLst>
            </a:pPr>
            <a:r>
              <a:rPr sz="1698" dirty="0">
                <a:latin typeface="Century Schoolbook"/>
                <a:cs typeface="Century Schoolbook"/>
              </a:rPr>
              <a:t>A</a:t>
            </a:r>
            <a:r>
              <a:rPr sz="1698" spc="22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maioria</a:t>
            </a:r>
            <a:r>
              <a:rPr sz="1698" spc="23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das</a:t>
            </a:r>
            <a:r>
              <a:rPr sz="1698" spc="24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organizações</a:t>
            </a:r>
            <a:r>
              <a:rPr sz="1698" spc="24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gasta</a:t>
            </a:r>
            <a:r>
              <a:rPr sz="1698" spc="229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mais</a:t>
            </a:r>
            <a:r>
              <a:rPr sz="1698" spc="24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na</a:t>
            </a:r>
            <a:r>
              <a:rPr sz="1698" spc="24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manutenção</a:t>
            </a:r>
            <a:r>
              <a:rPr sz="1698" spc="23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</a:t>
            </a:r>
            <a:r>
              <a:rPr sz="1698" spc="225" dirty="0">
                <a:latin typeface="Times New Roman"/>
                <a:cs typeface="Times New Roman"/>
              </a:rPr>
              <a:t> </a:t>
            </a:r>
            <a:r>
              <a:rPr sz="1698" spc="-10" dirty="0">
                <a:latin typeface="Century Schoolbook"/>
                <a:cs typeface="Century Schoolbook"/>
              </a:rPr>
              <a:t>softwares</a:t>
            </a:r>
            <a:r>
              <a:rPr sz="1698" spc="-1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existentes</a:t>
            </a:r>
            <a:r>
              <a:rPr sz="1698" spc="30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do</a:t>
            </a:r>
            <a:r>
              <a:rPr sz="1698" spc="32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que</a:t>
            </a:r>
            <a:r>
              <a:rPr sz="1698" spc="31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no</a:t>
            </a:r>
            <a:r>
              <a:rPr sz="1698" spc="32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desenvolvimento</a:t>
            </a:r>
            <a:r>
              <a:rPr sz="1698" spc="31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</a:t>
            </a:r>
            <a:r>
              <a:rPr sz="1698" spc="32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softwares</a:t>
            </a:r>
            <a:r>
              <a:rPr sz="1698" spc="31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novos.</a:t>
            </a:r>
            <a:r>
              <a:rPr sz="1698" spc="32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Devido</a:t>
            </a:r>
            <a:r>
              <a:rPr sz="1698" spc="320" dirty="0">
                <a:latin typeface="Times New Roman"/>
                <a:cs typeface="Times New Roman"/>
              </a:rPr>
              <a:t> </a:t>
            </a:r>
            <a:r>
              <a:rPr sz="1698" spc="-50" dirty="0">
                <a:latin typeface="Century Schoolbook"/>
                <a:cs typeface="Century Schoolbook"/>
              </a:rPr>
              <a:t>a</a:t>
            </a:r>
            <a:r>
              <a:rPr sz="1698" spc="-5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isso,</a:t>
            </a:r>
            <a:r>
              <a:rPr sz="1698" spc="105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para</a:t>
            </a:r>
            <a:r>
              <a:rPr sz="1698" spc="114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que</a:t>
            </a:r>
            <a:r>
              <a:rPr sz="1698" spc="105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os</a:t>
            </a:r>
            <a:r>
              <a:rPr sz="1698" spc="11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métodos</a:t>
            </a:r>
            <a:r>
              <a:rPr sz="1698" spc="114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ágeis</a:t>
            </a:r>
            <a:r>
              <a:rPr sz="1698" spc="11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obtenham</a:t>
            </a:r>
            <a:r>
              <a:rPr sz="1698" spc="11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sucesso,</a:t>
            </a:r>
            <a:r>
              <a:rPr sz="1698" spc="11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os</a:t>
            </a:r>
            <a:r>
              <a:rPr sz="1698" spc="110" dirty="0">
                <a:latin typeface="Times New Roman"/>
                <a:cs typeface="Times New Roman"/>
              </a:rPr>
              <a:t>  </a:t>
            </a:r>
            <a:r>
              <a:rPr sz="1698" spc="-10" dirty="0">
                <a:latin typeface="Century Schoolbook"/>
                <a:cs typeface="Century Schoolbook"/>
              </a:rPr>
              <a:t>softwares</a:t>
            </a:r>
            <a:r>
              <a:rPr sz="1698" spc="-1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devem</a:t>
            </a:r>
            <a:r>
              <a:rPr sz="1698" spc="1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receber</a:t>
            </a:r>
            <a:r>
              <a:rPr sz="1698" spc="1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tanta</a:t>
            </a:r>
            <a:r>
              <a:rPr sz="1698" spc="45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manutenção</a:t>
            </a:r>
            <a:r>
              <a:rPr sz="1698" spc="1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quanto</a:t>
            </a:r>
            <a:r>
              <a:rPr sz="1698" spc="3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o</a:t>
            </a:r>
            <a:r>
              <a:rPr sz="1698" spc="5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desenvolvimento</a:t>
            </a:r>
            <a:r>
              <a:rPr sz="1698" dirty="0">
                <a:latin typeface="Times New Roman"/>
                <a:cs typeface="Times New Roman"/>
              </a:rPr>
              <a:t> </a:t>
            </a:r>
            <a:r>
              <a:rPr sz="1698" spc="-10" dirty="0">
                <a:latin typeface="Century Schoolbook"/>
                <a:cs typeface="Century Schoolbook"/>
              </a:rPr>
              <a:t>original.</a:t>
            </a:r>
            <a:endParaRPr sz="1698">
              <a:latin typeface="Century Schoolbook"/>
              <a:cs typeface="Century Schoolbook"/>
            </a:endParaRPr>
          </a:p>
          <a:p>
            <a:pPr marL="286762" indent="-274073" algn="just">
              <a:spcBef>
                <a:spcPts val="1209"/>
              </a:spcBef>
              <a:buClr>
                <a:srgbClr val="94C600"/>
              </a:buClr>
              <a:buSzPct val="67647"/>
              <a:buFont typeface="Wingdings"/>
              <a:buChar char=""/>
              <a:tabLst>
                <a:tab pos="286762" algn="l"/>
              </a:tabLst>
            </a:pPr>
            <a:r>
              <a:rPr sz="1698" dirty="0">
                <a:latin typeface="Century Schoolbook"/>
                <a:cs typeface="Century Schoolbook"/>
              </a:rPr>
              <a:t>Duas</a:t>
            </a:r>
            <a:r>
              <a:rPr sz="1698" spc="3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questões</a:t>
            </a:r>
            <a:r>
              <a:rPr sz="1698" spc="2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muito</a:t>
            </a:r>
            <a:r>
              <a:rPr sz="1698" spc="35" dirty="0">
                <a:latin typeface="Times New Roman"/>
                <a:cs typeface="Times New Roman"/>
              </a:rPr>
              <a:t> </a:t>
            </a:r>
            <a:r>
              <a:rPr sz="1698" spc="-10" dirty="0">
                <a:latin typeface="Century Schoolbook"/>
                <a:cs typeface="Century Schoolbook"/>
              </a:rPr>
              <a:t>importantes:</a:t>
            </a:r>
            <a:endParaRPr sz="1698">
              <a:latin typeface="Century Schoolbook"/>
              <a:cs typeface="Century Schoolbook"/>
            </a:endParaRPr>
          </a:p>
          <a:p>
            <a:pPr marL="651558" marR="5710" lvl="1" indent="-274073" algn="just">
              <a:lnSpc>
                <a:spcPct val="130000"/>
              </a:lnSpc>
              <a:spcBef>
                <a:spcPts val="390"/>
              </a:spcBef>
              <a:buClr>
                <a:srgbClr val="94C600"/>
              </a:buClr>
              <a:buSzPct val="80000"/>
              <a:buFont typeface="Wingdings 2"/>
              <a:buChar char=""/>
              <a:tabLst>
                <a:tab pos="652192" algn="l"/>
              </a:tabLst>
            </a:pPr>
            <a:r>
              <a:rPr sz="1499" dirty="0">
                <a:latin typeface="Century Schoolbook"/>
                <a:cs typeface="Century Schoolbook"/>
              </a:rPr>
              <a:t>É</a:t>
            </a:r>
            <a:r>
              <a:rPr sz="1499" spc="355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possível</a:t>
            </a:r>
            <a:r>
              <a:rPr sz="1499" spc="350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dar</a:t>
            </a:r>
            <a:r>
              <a:rPr sz="1499" spc="350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suporte</a:t>
            </a:r>
            <a:r>
              <a:rPr sz="1499" spc="350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aos</a:t>
            </a:r>
            <a:r>
              <a:rPr sz="1499" spc="360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sistemas</a:t>
            </a:r>
            <a:r>
              <a:rPr sz="1499" spc="360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que</a:t>
            </a:r>
            <a:r>
              <a:rPr sz="1499" spc="350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são</a:t>
            </a:r>
            <a:r>
              <a:rPr sz="1499" spc="350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desenvolvidos</a:t>
            </a:r>
            <a:r>
              <a:rPr sz="1499" spc="345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usando</a:t>
            </a:r>
            <a:r>
              <a:rPr sz="1499" spc="355" dirty="0">
                <a:latin typeface="Times New Roman"/>
                <a:cs typeface="Times New Roman"/>
              </a:rPr>
              <a:t> </a:t>
            </a:r>
            <a:r>
              <a:rPr sz="1499" spc="-25" dirty="0">
                <a:latin typeface="Century Schoolbook"/>
                <a:cs typeface="Century Schoolbook"/>
              </a:rPr>
              <a:t>uma</a:t>
            </a:r>
            <a:r>
              <a:rPr sz="1499" spc="-25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abordagem</a:t>
            </a:r>
            <a:r>
              <a:rPr sz="1499" spc="215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ágil,</a:t>
            </a:r>
            <a:r>
              <a:rPr sz="1499" spc="235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tendo</a:t>
            </a:r>
            <a:r>
              <a:rPr sz="1499" spc="225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em</a:t>
            </a:r>
            <a:r>
              <a:rPr sz="1499" spc="240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vista</a:t>
            </a:r>
            <a:r>
              <a:rPr sz="1499" spc="229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a</a:t>
            </a:r>
            <a:r>
              <a:rPr sz="1499" spc="235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ênfase</a:t>
            </a:r>
            <a:r>
              <a:rPr sz="1499" spc="235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no</a:t>
            </a:r>
            <a:r>
              <a:rPr sz="1499" spc="235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processo</a:t>
            </a:r>
            <a:r>
              <a:rPr sz="1499" spc="235" dirty="0">
                <a:latin typeface="Times New Roman"/>
                <a:cs typeface="Times New Roman"/>
              </a:rPr>
              <a:t>  </a:t>
            </a:r>
            <a:r>
              <a:rPr sz="1499" dirty="0">
                <a:latin typeface="Century Schoolbook"/>
                <a:cs typeface="Century Schoolbook"/>
              </a:rPr>
              <a:t>de</a:t>
            </a:r>
            <a:r>
              <a:rPr sz="1499" spc="240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minimização</a:t>
            </a:r>
            <a:r>
              <a:rPr sz="1499" spc="235" dirty="0">
                <a:latin typeface="Times New Roman"/>
                <a:cs typeface="Times New Roman"/>
              </a:rPr>
              <a:t> </a:t>
            </a:r>
            <a:r>
              <a:rPr sz="1499" spc="-25" dirty="0">
                <a:latin typeface="Century Schoolbook"/>
                <a:cs typeface="Century Schoolbook"/>
              </a:rPr>
              <a:t>da</a:t>
            </a:r>
            <a:r>
              <a:rPr sz="1499" spc="-25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documentação</a:t>
            </a:r>
            <a:r>
              <a:rPr sz="1499" spc="10" dirty="0">
                <a:latin typeface="Times New Roman"/>
                <a:cs typeface="Times New Roman"/>
              </a:rPr>
              <a:t> </a:t>
            </a:r>
            <a:r>
              <a:rPr sz="1499" spc="-10" dirty="0">
                <a:latin typeface="Century Schoolbook"/>
                <a:cs typeface="Century Schoolbook"/>
              </a:rPr>
              <a:t>formal?</a:t>
            </a:r>
            <a:endParaRPr sz="1499">
              <a:latin typeface="Century Schoolbook"/>
              <a:cs typeface="Century Schoolbook"/>
            </a:endParaRPr>
          </a:p>
          <a:p>
            <a:pPr marL="651558" marR="6979" lvl="1" indent="-274073" algn="just">
              <a:lnSpc>
                <a:spcPct val="130000"/>
              </a:lnSpc>
              <a:spcBef>
                <a:spcPts val="360"/>
              </a:spcBef>
              <a:buClr>
                <a:srgbClr val="94C600"/>
              </a:buClr>
              <a:buSzPct val="80000"/>
              <a:buFont typeface="Wingdings 2"/>
              <a:buChar char=""/>
              <a:tabLst>
                <a:tab pos="652192" algn="l"/>
              </a:tabLst>
            </a:pPr>
            <a:r>
              <a:rPr sz="1499" dirty="0">
                <a:latin typeface="Century Schoolbook"/>
                <a:cs typeface="Century Schoolbook"/>
              </a:rPr>
              <a:t>Os</a:t>
            </a:r>
            <a:r>
              <a:rPr sz="1499" spc="70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métodos</a:t>
            </a:r>
            <a:r>
              <a:rPr sz="1499" spc="80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ágeis</a:t>
            </a:r>
            <a:r>
              <a:rPr sz="1499" spc="80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podem</a:t>
            </a:r>
            <a:r>
              <a:rPr sz="1499" spc="80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ser</a:t>
            </a:r>
            <a:r>
              <a:rPr sz="1499" spc="70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usados</a:t>
            </a:r>
            <a:r>
              <a:rPr sz="1499" spc="80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efetivamente,</a:t>
            </a:r>
            <a:r>
              <a:rPr sz="1499" spc="70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para</a:t>
            </a:r>
            <a:r>
              <a:rPr sz="1499" spc="85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evoluir</a:t>
            </a:r>
            <a:r>
              <a:rPr sz="1499" spc="75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um</a:t>
            </a:r>
            <a:r>
              <a:rPr sz="1499" spc="85" dirty="0">
                <a:latin typeface="Times New Roman"/>
                <a:cs typeface="Times New Roman"/>
              </a:rPr>
              <a:t> </a:t>
            </a:r>
            <a:r>
              <a:rPr sz="1499" spc="-10" dirty="0">
                <a:latin typeface="Century Schoolbook"/>
                <a:cs typeface="Century Schoolbook"/>
              </a:rPr>
              <a:t>sistema</a:t>
            </a:r>
            <a:r>
              <a:rPr sz="1499" spc="-10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em</a:t>
            </a:r>
            <a:r>
              <a:rPr sz="1499" spc="15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resposta</a:t>
            </a:r>
            <a:r>
              <a:rPr sz="1499" spc="35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a</a:t>
            </a:r>
            <a:r>
              <a:rPr sz="1499" spc="30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mudanças</a:t>
            </a:r>
            <a:r>
              <a:rPr sz="1499" spc="45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nos</a:t>
            </a:r>
            <a:r>
              <a:rPr sz="1499" spc="40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requisitos</a:t>
            </a:r>
            <a:r>
              <a:rPr sz="1499" spc="445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do</a:t>
            </a:r>
            <a:r>
              <a:rPr sz="1499" spc="35" dirty="0">
                <a:latin typeface="Times New Roman"/>
                <a:cs typeface="Times New Roman"/>
              </a:rPr>
              <a:t> </a:t>
            </a:r>
            <a:r>
              <a:rPr sz="1499" spc="-10" dirty="0">
                <a:latin typeface="Century Schoolbook"/>
                <a:cs typeface="Century Schoolbook"/>
              </a:rPr>
              <a:t>cliente?</a:t>
            </a:r>
            <a:endParaRPr sz="1499">
              <a:latin typeface="Century Schoolbook"/>
              <a:cs typeface="Century Schoolbook"/>
            </a:endParaRPr>
          </a:p>
          <a:p>
            <a:pPr marL="286762" marR="6344" indent="-274073" algn="just">
              <a:lnSpc>
                <a:spcPct val="130000"/>
              </a:lnSpc>
              <a:spcBef>
                <a:spcPts val="569"/>
              </a:spcBef>
              <a:buClr>
                <a:srgbClr val="94C600"/>
              </a:buClr>
              <a:buSzPct val="67647"/>
              <a:buFont typeface="Wingdings"/>
              <a:buChar char=""/>
              <a:tabLst>
                <a:tab pos="286762" algn="l"/>
              </a:tabLst>
            </a:pPr>
            <a:r>
              <a:rPr sz="1698" dirty="0">
                <a:latin typeface="Century Schoolbook"/>
                <a:cs typeface="Century Schoolbook"/>
              </a:rPr>
              <a:t>Podem</a:t>
            </a:r>
            <a:r>
              <a:rPr sz="1698" spc="465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ocorrer</a:t>
            </a:r>
            <a:r>
              <a:rPr sz="1698" spc="47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problemas</a:t>
            </a:r>
            <a:r>
              <a:rPr sz="1698" spc="47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no</a:t>
            </a:r>
            <a:r>
              <a:rPr sz="1698" spc="47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caso</a:t>
            </a:r>
            <a:r>
              <a:rPr sz="1698" spc="475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do</a:t>
            </a:r>
            <a:r>
              <a:rPr sz="1698" spc="475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tempo</a:t>
            </a:r>
            <a:r>
              <a:rPr sz="1698" spc="47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original</a:t>
            </a:r>
            <a:r>
              <a:rPr sz="1698" spc="470" dirty="0">
                <a:latin typeface="Times New Roman"/>
                <a:cs typeface="Times New Roman"/>
              </a:rPr>
              <a:t>    </a:t>
            </a:r>
            <a:r>
              <a:rPr sz="1698" spc="-25" dirty="0">
                <a:latin typeface="Century Schoolbook"/>
                <a:cs typeface="Century Schoolbook"/>
              </a:rPr>
              <a:t>de</a:t>
            </a:r>
            <a:r>
              <a:rPr sz="1698" spc="-2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desenvolvimento</a:t>
            </a:r>
            <a:r>
              <a:rPr sz="1698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não</a:t>
            </a:r>
            <a:r>
              <a:rPr sz="1698" spc="5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puder</a:t>
            </a:r>
            <a:r>
              <a:rPr sz="1698" spc="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ser</a:t>
            </a:r>
            <a:r>
              <a:rPr sz="1698" spc="40" dirty="0">
                <a:latin typeface="Times New Roman"/>
                <a:cs typeface="Times New Roman"/>
              </a:rPr>
              <a:t> </a:t>
            </a:r>
            <a:r>
              <a:rPr sz="1698" spc="-10" dirty="0">
                <a:latin typeface="Century Schoolbook"/>
                <a:cs typeface="Century Schoolbook"/>
              </a:rPr>
              <a:t>mantido.</a:t>
            </a:r>
            <a:endParaRPr sz="1698">
              <a:latin typeface="Century Schoolbook"/>
              <a:cs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1552759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365654" y="615526"/>
            <a:ext cx="10505872" cy="822861"/>
          </a:xfrm>
          <a:prstGeom prst="rect">
            <a:avLst/>
          </a:prstGeom>
        </p:spPr>
        <p:txBody>
          <a:bodyPr vert="horz" wrap="square" lIns="0" tIns="31086" rIns="0" bIns="0" rtlCol="0" anchor="ctr">
            <a:spAutoFit/>
          </a:bodyPr>
          <a:lstStyle/>
          <a:p>
            <a:pPr marL="12689" marR="5075">
              <a:lnSpc>
                <a:spcPct val="116700"/>
              </a:lnSpc>
              <a:spcBef>
                <a:spcPts val="245"/>
              </a:spcBef>
            </a:pPr>
            <a:r>
              <a:rPr cap="small" spc="-5" dirty="0"/>
              <a:t>D</a:t>
            </a:r>
            <a:r>
              <a:rPr cap="small" dirty="0"/>
              <a:t>e</a:t>
            </a:r>
            <a:r>
              <a:rPr cap="small" spc="-5" dirty="0"/>
              <a:t>s</a:t>
            </a:r>
            <a:r>
              <a:rPr cap="small" dirty="0"/>
              <a:t>envo</a:t>
            </a:r>
            <a:r>
              <a:rPr cap="small" spc="-10" dirty="0"/>
              <a:t>l</a:t>
            </a:r>
            <a:r>
              <a:rPr cap="small" dirty="0"/>
              <a:t>vi</a:t>
            </a:r>
            <a:r>
              <a:rPr cap="small" spc="-5" dirty="0"/>
              <a:t>m</a:t>
            </a:r>
            <a:r>
              <a:rPr cap="small" dirty="0"/>
              <a:t>en</a:t>
            </a:r>
            <a:r>
              <a:rPr cap="small" spc="-10" dirty="0"/>
              <a:t>t</a:t>
            </a:r>
            <a:r>
              <a:rPr cap="small" dirty="0"/>
              <a:t>o</a:t>
            </a:r>
            <a:r>
              <a:rPr sz="2398" spc="275" dirty="0">
                <a:latin typeface="Times New Roman"/>
                <a:cs typeface="Times New Roman"/>
              </a:rPr>
              <a:t> </a:t>
            </a:r>
            <a:r>
              <a:rPr cap="small" dirty="0"/>
              <a:t>ágil</a:t>
            </a:r>
            <a:r>
              <a:rPr sz="2398" spc="254" dirty="0">
                <a:latin typeface="Times New Roman"/>
                <a:cs typeface="Times New Roman"/>
              </a:rPr>
              <a:t> </a:t>
            </a:r>
            <a:r>
              <a:rPr cap="small" dirty="0"/>
              <a:t>e</a:t>
            </a:r>
            <a:r>
              <a:rPr sz="2398" spc="265" dirty="0">
                <a:latin typeface="Times New Roman"/>
                <a:cs typeface="Times New Roman"/>
              </a:rPr>
              <a:t> </a:t>
            </a:r>
            <a:r>
              <a:rPr cap="small" dirty="0"/>
              <a:t>dirigido</a:t>
            </a:r>
            <a:r>
              <a:rPr sz="2398" spc="215" dirty="0">
                <a:latin typeface="Times New Roman"/>
                <a:cs typeface="Times New Roman"/>
              </a:rPr>
              <a:t> </a:t>
            </a:r>
            <a:r>
              <a:rPr cap="small" dirty="0"/>
              <a:t>a</a:t>
            </a:r>
            <a:r>
              <a:rPr sz="2398" dirty="0">
                <a:latin typeface="Times New Roman"/>
                <a:cs typeface="Times New Roman"/>
              </a:rPr>
              <a:t> </a:t>
            </a:r>
            <a:r>
              <a:rPr cap="small" dirty="0"/>
              <a:t>p</a:t>
            </a:r>
            <a:r>
              <a:rPr cap="small" spc="-10" dirty="0"/>
              <a:t>l</a:t>
            </a:r>
            <a:r>
              <a:rPr cap="small" dirty="0"/>
              <a:t>anos</a:t>
            </a:r>
            <a:endParaRPr sz="239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3676" y="1741336"/>
            <a:ext cx="5141914" cy="390798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286762" indent="-274073">
              <a:spcBef>
                <a:spcPts val="100"/>
              </a:spcBef>
              <a:buClr>
                <a:srgbClr val="94C600"/>
              </a:buClr>
              <a:buSzPct val="68750"/>
              <a:buFont typeface="Wingdings"/>
              <a:buChar char=""/>
              <a:tabLst>
                <a:tab pos="286762" algn="l"/>
              </a:tabLst>
            </a:pPr>
            <a:r>
              <a:rPr sz="2398" dirty="0">
                <a:latin typeface="Century Schoolbook"/>
                <a:cs typeface="Century Schoolbook"/>
              </a:rPr>
              <a:t>Desenvolvimento</a:t>
            </a:r>
            <a:r>
              <a:rPr sz="2398" spc="25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dirigido</a:t>
            </a:r>
            <a:r>
              <a:rPr sz="2398" spc="10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a</a:t>
            </a:r>
            <a:r>
              <a:rPr sz="2398" spc="55" dirty="0">
                <a:latin typeface="Times New Roman"/>
                <a:cs typeface="Times New Roman"/>
              </a:rPr>
              <a:t> </a:t>
            </a:r>
            <a:r>
              <a:rPr sz="2398" spc="-10" dirty="0">
                <a:latin typeface="Century Schoolbook"/>
                <a:cs typeface="Century Schoolbook"/>
              </a:rPr>
              <a:t>planos</a:t>
            </a:r>
            <a:endParaRPr sz="2398">
              <a:latin typeface="Century Schoolbook"/>
              <a:cs typeface="Century Schoolboo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29097" y="2339714"/>
            <a:ext cx="2829480" cy="345120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286762" indent="-274073">
              <a:spcBef>
                <a:spcPts val="100"/>
              </a:spcBef>
              <a:buClr>
                <a:srgbClr val="94C600"/>
              </a:buClr>
              <a:buSzPct val="78571"/>
              <a:buFont typeface="Wingdings 2"/>
              <a:buChar char=""/>
              <a:tabLst>
                <a:tab pos="286127" algn="l"/>
                <a:tab pos="286762" algn="l"/>
                <a:tab pos="1075356" algn="l"/>
                <a:tab pos="1419217" algn="l"/>
              </a:tabLst>
            </a:pPr>
            <a:r>
              <a:rPr sz="2098" spc="-20" dirty="0">
                <a:latin typeface="Century Schoolbook"/>
                <a:cs typeface="Century Schoolbook"/>
              </a:rPr>
              <a:t>Para</a:t>
            </a:r>
            <a:r>
              <a:rPr sz="2098" dirty="0">
                <a:latin typeface="Times New Roman"/>
                <a:cs typeface="Times New Roman"/>
              </a:rPr>
              <a:t>	</a:t>
            </a:r>
            <a:r>
              <a:rPr sz="2098" spc="-50" dirty="0">
                <a:latin typeface="Century Schoolbook"/>
                <a:cs typeface="Century Schoolbook"/>
              </a:rPr>
              <a:t>a</a:t>
            </a:r>
            <a:r>
              <a:rPr sz="2098" dirty="0">
                <a:latin typeface="Times New Roman"/>
                <a:cs typeface="Times New Roman"/>
              </a:rPr>
              <a:t>	</a:t>
            </a:r>
            <a:r>
              <a:rPr sz="2098" spc="-10" dirty="0">
                <a:latin typeface="Century Schoolbook"/>
                <a:cs typeface="Century Schoolbook"/>
              </a:rPr>
              <a:t>engenharia</a:t>
            </a:r>
            <a:endParaRPr sz="2098">
              <a:latin typeface="Century Schoolbook"/>
              <a:cs typeface="Century Schoolbook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03164" y="2819330"/>
            <a:ext cx="2549704" cy="345120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689">
              <a:spcBef>
                <a:spcPts val="100"/>
              </a:spcBef>
              <a:tabLst>
                <a:tab pos="1244114" algn="l"/>
                <a:tab pos="1658395" algn="l"/>
              </a:tabLst>
            </a:pPr>
            <a:r>
              <a:rPr sz="2098" spc="-10" dirty="0">
                <a:latin typeface="Century Schoolbook"/>
                <a:cs typeface="Century Schoolbook"/>
              </a:rPr>
              <a:t>dirigida</a:t>
            </a:r>
            <a:r>
              <a:rPr sz="2098" dirty="0">
                <a:latin typeface="Times New Roman"/>
                <a:cs typeface="Times New Roman"/>
              </a:rPr>
              <a:t>	</a:t>
            </a:r>
            <a:r>
              <a:rPr sz="2098" spc="-50" dirty="0">
                <a:latin typeface="Century Schoolbook"/>
                <a:cs typeface="Century Schoolbook"/>
              </a:rPr>
              <a:t>a</a:t>
            </a:r>
            <a:r>
              <a:rPr sz="2098" dirty="0">
                <a:latin typeface="Times New Roman"/>
                <a:cs typeface="Times New Roman"/>
              </a:rPr>
              <a:t>	</a:t>
            </a:r>
            <a:r>
              <a:rPr sz="2098" spc="-10" dirty="0">
                <a:latin typeface="Century Schoolbook"/>
                <a:cs typeface="Century Schoolbook"/>
              </a:rPr>
              <a:t>planos,</a:t>
            </a:r>
            <a:endParaRPr sz="2098">
              <a:latin typeface="Century Schoolbook"/>
              <a:cs typeface="Century Schoolboo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28601" y="2179842"/>
            <a:ext cx="3937799" cy="984607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78035" marR="5075" indent="-65981">
              <a:lnSpc>
                <a:spcPct val="150000"/>
              </a:lnSpc>
              <a:spcBef>
                <a:spcPts val="100"/>
              </a:spcBef>
              <a:tabLst>
                <a:tab pos="478359" algn="l"/>
                <a:tab pos="1743410" algn="l"/>
                <a:tab pos="1821444" algn="l"/>
                <a:tab pos="2379741" algn="l"/>
                <a:tab pos="2565629" algn="l"/>
                <a:tab pos="3637813" algn="l"/>
              </a:tabLst>
            </a:pPr>
            <a:r>
              <a:rPr sz="2098" spc="-25" dirty="0">
                <a:latin typeface="Century Schoolbook"/>
                <a:cs typeface="Century Schoolbook"/>
              </a:rPr>
              <a:t>de</a:t>
            </a:r>
            <a:r>
              <a:rPr sz="2098" dirty="0">
                <a:latin typeface="Times New Roman"/>
                <a:cs typeface="Times New Roman"/>
              </a:rPr>
              <a:t>	</a:t>
            </a:r>
            <a:r>
              <a:rPr sz="2098" spc="-400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software,</a:t>
            </a:r>
            <a:r>
              <a:rPr sz="2098" dirty="0">
                <a:latin typeface="Times New Roman"/>
                <a:cs typeface="Times New Roman"/>
              </a:rPr>
              <a:t>		</a:t>
            </a:r>
            <a:r>
              <a:rPr sz="2098" spc="-25" dirty="0">
                <a:latin typeface="Century Schoolbook"/>
                <a:cs typeface="Century Schoolbook"/>
              </a:rPr>
              <a:t>uma</a:t>
            </a:r>
            <a:r>
              <a:rPr sz="2098" dirty="0">
                <a:latin typeface="Times New Roman"/>
                <a:cs typeface="Times New Roman"/>
              </a:rPr>
              <a:t>		</a:t>
            </a:r>
            <a:r>
              <a:rPr sz="2098" spc="-10" dirty="0">
                <a:latin typeface="Century Schoolbook"/>
                <a:cs typeface="Century Schoolbook"/>
              </a:rPr>
              <a:t>abordagem</a:t>
            </a:r>
            <a:r>
              <a:rPr sz="2098" spc="-10" dirty="0">
                <a:latin typeface="Times New Roman"/>
                <a:cs typeface="Times New Roman"/>
              </a:rPr>
              <a:t> </a:t>
            </a:r>
            <a:r>
              <a:rPr sz="2098" spc="-50" dirty="0">
                <a:latin typeface="Century Schoolbook"/>
                <a:cs typeface="Century Schoolbook"/>
              </a:rPr>
              <a:t>é</a:t>
            </a:r>
            <a:r>
              <a:rPr sz="2098" dirty="0">
                <a:latin typeface="Times New Roman"/>
                <a:cs typeface="Times New Roman"/>
              </a:rPr>
              <a:t>	</a:t>
            </a:r>
            <a:r>
              <a:rPr sz="2098" spc="-10" dirty="0">
                <a:latin typeface="Century Schoolbook"/>
                <a:cs typeface="Century Schoolbook"/>
              </a:rPr>
              <a:t>baseada</a:t>
            </a:r>
            <a:r>
              <a:rPr sz="2098" dirty="0">
                <a:latin typeface="Times New Roman"/>
                <a:cs typeface="Times New Roman"/>
              </a:rPr>
              <a:t>	</a:t>
            </a:r>
            <a:r>
              <a:rPr sz="2098" spc="-25" dirty="0">
                <a:latin typeface="Century Schoolbook"/>
                <a:cs typeface="Century Schoolbook"/>
              </a:rPr>
              <a:t>em</a:t>
            </a:r>
            <a:r>
              <a:rPr sz="2098" dirty="0">
                <a:latin typeface="Times New Roman"/>
                <a:cs typeface="Times New Roman"/>
              </a:rPr>
              <a:t>	</a:t>
            </a:r>
            <a:r>
              <a:rPr sz="2098" spc="-10" dirty="0">
                <a:latin typeface="Century Schoolbook"/>
                <a:cs typeface="Century Schoolbook"/>
              </a:rPr>
              <a:t>estágios</a:t>
            </a:r>
            <a:r>
              <a:rPr sz="2098" dirty="0">
                <a:latin typeface="Times New Roman"/>
                <a:cs typeface="Times New Roman"/>
              </a:rPr>
              <a:t>	</a:t>
            </a:r>
            <a:r>
              <a:rPr sz="2098" spc="-25" dirty="0">
                <a:latin typeface="Century Schoolbook"/>
                <a:cs typeface="Century Schoolbook"/>
              </a:rPr>
              <a:t>de</a:t>
            </a:r>
            <a:endParaRPr sz="2098">
              <a:latin typeface="Century Schoolbook"/>
              <a:cs typeface="Century Schoolbook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29098" y="3139073"/>
            <a:ext cx="6937935" cy="3031223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286127" marR="5075" algn="just">
              <a:lnSpc>
                <a:spcPct val="150000"/>
              </a:lnSpc>
              <a:spcBef>
                <a:spcPts val="100"/>
              </a:spcBef>
            </a:pPr>
            <a:r>
              <a:rPr sz="2098" dirty="0">
                <a:latin typeface="Century Schoolbook"/>
                <a:cs typeface="Century Schoolbook"/>
              </a:rPr>
              <a:t>desenvolvimento</a:t>
            </a:r>
            <a:r>
              <a:rPr sz="2098" spc="90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separados,</a:t>
            </a:r>
            <a:r>
              <a:rPr sz="2098" spc="85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com</a:t>
            </a:r>
            <a:r>
              <a:rPr sz="2098" spc="75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os</a:t>
            </a:r>
            <a:r>
              <a:rPr sz="2098" spc="70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produtos</a:t>
            </a:r>
            <a:r>
              <a:rPr sz="2098" spc="80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a</a:t>
            </a:r>
            <a:r>
              <a:rPr sz="2098" spc="70" dirty="0">
                <a:latin typeface="Times New Roman"/>
                <a:cs typeface="Times New Roman"/>
              </a:rPr>
              <a:t> </a:t>
            </a:r>
            <a:r>
              <a:rPr sz="2098" spc="-10" dirty="0">
                <a:latin typeface="Century Schoolbook"/>
                <a:cs typeface="Century Schoolbook"/>
              </a:rPr>
              <a:t>serem</a:t>
            </a:r>
            <a:r>
              <a:rPr sz="2098" spc="-10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produzidos</a:t>
            </a:r>
            <a:r>
              <a:rPr sz="2098" spc="35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em</a:t>
            </a:r>
            <a:r>
              <a:rPr sz="2098" spc="35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cada</a:t>
            </a:r>
            <a:r>
              <a:rPr sz="2098" spc="30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um</a:t>
            </a:r>
            <a:r>
              <a:rPr sz="2098" spc="35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desses</a:t>
            </a:r>
            <a:r>
              <a:rPr sz="2098" spc="35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estágios</a:t>
            </a:r>
            <a:r>
              <a:rPr sz="2098" spc="30" dirty="0">
                <a:latin typeface="Times New Roman"/>
                <a:cs typeface="Times New Roman"/>
              </a:rPr>
              <a:t>  </a:t>
            </a:r>
            <a:r>
              <a:rPr sz="2098" spc="-10" dirty="0">
                <a:latin typeface="Century Schoolbook"/>
                <a:cs typeface="Century Schoolbook"/>
              </a:rPr>
              <a:t>planejados</a:t>
            </a:r>
            <a:r>
              <a:rPr sz="2098" spc="-10" dirty="0">
                <a:latin typeface="Times New Roman"/>
                <a:cs typeface="Times New Roman"/>
              </a:rPr>
              <a:t> </a:t>
            </a:r>
            <a:r>
              <a:rPr sz="2098" spc="-10" dirty="0">
                <a:latin typeface="Century Schoolbook"/>
                <a:cs typeface="Century Schoolbook"/>
              </a:rPr>
              <a:t>antecipadamente.</a:t>
            </a:r>
            <a:endParaRPr sz="2098">
              <a:latin typeface="Century Schoolbook"/>
              <a:cs typeface="Century Schoolbook"/>
            </a:endParaRPr>
          </a:p>
          <a:p>
            <a:pPr marL="286127" marR="5075" indent="-274073" algn="just">
              <a:lnSpc>
                <a:spcPct val="150000"/>
              </a:lnSpc>
              <a:spcBef>
                <a:spcPts val="500"/>
              </a:spcBef>
              <a:buClr>
                <a:srgbClr val="94C600"/>
              </a:buClr>
              <a:buSzPct val="78571"/>
              <a:buFont typeface="Wingdings 2"/>
              <a:buChar char=""/>
              <a:tabLst>
                <a:tab pos="286762" algn="l"/>
              </a:tabLst>
            </a:pPr>
            <a:r>
              <a:rPr sz="2098" dirty="0">
                <a:latin typeface="Century Schoolbook"/>
                <a:cs typeface="Century Schoolbook"/>
              </a:rPr>
              <a:t>O</a:t>
            </a:r>
            <a:r>
              <a:rPr sz="2098" spc="240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desenvolvimento</a:t>
            </a:r>
            <a:r>
              <a:rPr sz="2098" spc="260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incremental</a:t>
            </a:r>
            <a:r>
              <a:rPr sz="2098" spc="254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é</a:t>
            </a:r>
            <a:r>
              <a:rPr sz="2098" spc="254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possível</a:t>
            </a:r>
            <a:r>
              <a:rPr sz="2098" spc="254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no</a:t>
            </a:r>
            <a:r>
              <a:rPr sz="2098" spc="250" dirty="0">
                <a:latin typeface="Times New Roman"/>
                <a:cs typeface="Times New Roman"/>
              </a:rPr>
              <a:t> </a:t>
            </a:r>
            <a:r>
              <a:rPr sz="2098" spc="-10" dirty="0">
                <a:latin typeface="Century Schoolbook"/>
                <a:cs typeface="Century Schoolbook"/>
              </a:rPr>
              <a:t>modelo</a:t>
            </a:r>
            <a:r>
              <a:rPr sz="2098" spc="-10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cascata</a:t>
            </a:r>
            <a:r>
              <a:rPr sz="2098" spc="40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-</a:t>
            </a:r>
            <a:r>
              <a:rPr sz="2098" spc="40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dirigido</a:t>
            </a:r>
            <a:r>
              <a:rPr sz="2098" spc="50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a</a:t>
            </a:r>
            <a:r>
              <a:rPr sz="2098" spc="45" dirty="0">
                <a:latin typeface="Times New Roman"/>
                <a:cs typeface="Times New Roman"/>
              </a:rPr>
              <a:t> </a:t>
            </a:r>
            <a:r>
              <a:rPr sz="2098" spc="-10" dirty="0">
                <a:latin typeface="Century Schoolbook"/>
                <a:cs typeface="Century Schoolbook"/>
              </a:rPr>
              <a:t>planos.</a:t>
            </a:r>
            <a:endParaRPr sz="2098">
              <a:latin typeface="Century Schoolbook"/>
              <a:cs typeface="Century Schoolbook"/>
            </a:endParaRPr>
          </a:p>
          <a:p>
            <a:pPr marL="286762" indent="-274073" algn="just">
              <a:spcBef>
                <a:spcPts val="1762"/>
              </a:spcBef>
              <a:buClr>
                <a:srgbClr val="94C600"/>
              </a:buClr>
              <a:buSzPct val="78571"/>
              <a:buFont typeface="Wingdings 2"/>
              <a:buChar char=""/>
              <a:tabLst>
                <a:tab pos="286762" algn="l"/>
              </a:tabLst>
            </a:pPr>
            <a:r>
              <a:rPr sz="2098" dirty="0">
                <a:latin typeface="Century Schoolbook"/>
                <a:cs typeface="Century Schoolbook"/>
              </a:rPr>
              <a:t>Iterações</a:t>
            </a:r>
            <a:r>
              <a:rPr sz="2098" spc="20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ocorrem</a:t>
            </a:r>
            <a:r>
              <a:rPr sz="2098" spc="40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dentro</a:t>
            </a:r>
            <a:r>
              <a:rPr sz="2098" spc="60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das</a:t>
            </a:r>
            <a:r>
              <a:rPr sz="2098" spc="60" dirty="0">
                <a:latin typeface="Times New Roman"/>
                <a:cs typeface="Times New Roman"/>
              </a:rPr>
              <a:t> </a:t>
            </a:r>
            <a:r>
              <a:rPr sz="2098" spc="-10" dirty="0">
                <a:latin typeface="Century Schoolbook"/>
                <a:cs typeface="Century Schoolbook"/>
              </a:rPr>
              <a:t>atividades.</a:t>
            </a:r>
            <a:endParaRPr sz="2098">
              <a:latin typeface="Century Schoolbook"/>
              <a:cs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2856304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365654" y="615526"/>
            <a:ext cx="10505872" cy="822861"/>
          </a:xfrm>
          <a:prstGeom prst="rect">
            <a:avLst/>
          </a:prstGeom>
        </p:spPr>
        <p:txBody>
          <a:bodyPr vert="horz" wrap="square" lIns="0" tIns="31086" rIns="0" bIns="0" rtlCol="0" anchor="ctr">
            <a:spAutoFit/>
          </a:bodyPr>
          <a:lstStyle/>
          <a:p>
            <a:pPr marL="12689" marR="5075">
              <a:lnSpc>
                <a:spcPct val="116700"/>
              </a:lnSpc>
              <a:spcBef>
                <a:spcPts val="245"/>
              </a:spcBef>
            </a:pPr>
            <a:r>
              <a:rPr cap="small" spc="-5" dirty="0"/>
              <a:t>D</a:t>
            </a:r>
            <a:r>
              <a:rPr cap="small" dirty="0"/>
              <a:t>e</a:t>
            </a:r>
            <a:r>
              <a:rPr cap="small" spc="-5" dirty="0"/>
              <a:t>s</a:t>
            </a:r>
            <a:r>
              <a:rPr cap="small" dirty="0"/>
              <a:t>envo</a:t>
            </a:r>
            <a:r>
              <a:rPr cap="small" spc="-10" dirty="0"/>
              <a:t>l</a:t>
            </a:r>
            <a:r>
              <a:rPr cap="small" dirty="0"/>
              <a:t>vi</a:t>
            </a:r>
            <a:r>
              <a:rPr cap="small" spc="-5" dirty="0"/>
              <a:t>m</a:t>
            </a:r>
            <a:r>
              <a:rPr cap="small" dirty="0"/>
              <a:t>en</a:t>
            </a:r>
            <a:r>
              <a:rPr cap="small" spc="-10" dirty="0"/>
              <a:t>t</a:t>
            </a:r>
            <a:r>
              <a:rPr cap="small" dirty="0"/>
              <a:t>o</a:t>
            </a:r>
            <a:r>
              <a:rPr sz="2398" spc="275" dirty="0">
                <a:latin typeface="Times New Roman"/>
                <a:cs typeface="Times New Roman"/>
              </a:rPr>
              <a:t> </a:t>
            </a:r>
            <a:r>
              <a:rPr cap="small" dirty="0"/>
              <a:t>ágil</a:t>
            </a:r>
            <a:r>
              <a:rPr sz="2398" spc="254" dirty="0">
                <a:latin typeface="Times New Roman"/>
                <a:cs typeface="Times New Roman"/>
              </a:rPr>
              <a:t> </a:t>
            </a:r>
            <a:r>
              <a:rPr cap="small" dirty="0"/>
              <a:t>e</a:t>
            </a:r>
            <a:r>
              <a:rPr sz="2398" spc="265" dirty="0">
                <a:latin typeface="Times New Roman"/>
                <a:cs typeface="Times New Roman"/>
              </a:rPr>
              <a:t> </a:t>
            </a:r>
            <a:r>
              <a:rPr cap="small" dirty="0"/>
              <a:t>dirigido</a:t>
            </a:r>
            <a:r>
              <a:rPr sz="2398" spc="215" dirty="0">
                <a:latin typeface="Times New Roman"/>
                <a:cs typeface="Times New Roman"/>
              </a:rPr>
              <a:t> </a:t>
            </a:r>
            <a:r>
              <a:rPr cap="small" dirty="0"/>
              <a:t>a</a:t>
            </a:r>
            <a:r>
              <a:rPr sz="2398" dirty="0">
                <a:latin typeface="Times New Roman"/>
                <a:cs typeface="Times New Roman"/>
              </a:rPr>
              <a:t> </a:t>
            </a:r>
            <a:r>
              <a:rPr cap="small" dirty="0"/>
              <a:t>p</a:t>
            </a:r>
            <a:r>
              <a:rPr cap="small" spc="-10" dirty="0"/>
              <a:t>l</a:t>
            </a:r>
            <a:r>
              <a:rPr cap="small" dirty="0"/>
              <a:t>anos</a:t>
            </a:r>
            <a:endParaRPr sz="239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3676" y="1741336"/>
            <a:ext cx="5577755" cy="944006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286762" indent="-274073">
              <a:spcBef>
                <a:spcPts val="100"/>
              </a:spcBef>
              <a:buClr>
                <a:srgbClr val="94C600"/>
              </a:buClr>
              <a:buSzPct val="68750"/>
              <a:buFont typeface="Wingdings"/>
              <a:buChar char=""/>
              <a:tabLst>
                <a:tab pos="286762" algn="l"/>
              </a:tabLst>
            </a:pPr>
            <a:r>
              <a:rPr sz="2398" dirty="0">
                <a:latin typeface="Century Schoolbook"/>
                <a:cs typeface="Century Schoolbook"/>
              </a:rPr>
              <a:t>Desenvolvimento</a:t>
            </a:r>
            <a:r>
              <a:rPr sz="2398" spc="25" dirty="0">
                <a:latin typeface="Times New Roman"/>
                <a:cs typeface="Times New Roman"/>
              </a:rPr>
              <a:t> </a:t>
            </a:r>
            <a:r>
              <a:rPr sz="2398" spc="-20" dirty="0">
                <a:latin typeface="Century Schoolbook"/>
                <a:cs typeface="Century Schoolbook"/>
              </a:rPr>
              <a:t>ágil</a:t>
            </a:r>
            <a:endParaRPr sz="2398">
              <a:latin typeface="Century Schoolbook"/>
              <a:cs typeface="Century Schoolbook"/>
            </a:endParaRPr>
          </a:p>
          <a:p>
            <a:pPr marL="652192" lvl="1" indent="-274708">
              <a:spcBef>
                <a:spcPts val="1833"/>
              </a:spcBef>
              <a:buClr>
                <a:srgbClr val="94C600"/>
              </a:buClr>
              <a:buSzPct val="78571"/>
              <a:buFont typeface="Wingdings 2"/>
              <a:buChar char=""/>
              <a:tabLst>
                <a:tab pos="651558" algn="l"/>
                <a:tab pos="652192" algn="l"/>
                <a:tab pos="2567532" algn="l"/>
                <a:tab pos="3691104" algn="l"/>
              </a:tabLst>
            </a:pPr>
            <a:r>
              <a:rPr sz="2098" spc="-10" dirty="0">
                <a:latin typeface="Century Schoolbook"/>
                <a:cs typeface="Century Schoolbook"/>
              </a:rPr>
              <a:t>Especificação,</a:t>
            </a:r>
            <a:r>
              <a:rPr sz="2098" dirty="0">
                <a:latin typeface="Times New Roman"/>
                <a:cs typeface="Times New Roman"/>
              </a:rPr>
              <a:t>	</a:t>
            </a:r>
            <a:r>
              <a:rPr sz="2098" spc="-10" dirty="0">
                <a:latin typeface="Century Schoolbook"/>
                <a:cs typeface="Century Schoolbook"/>
              </a:rPr>
              <a:t>projeto,</a:t>
            </a:r>
            <a:r>
              <a:rPr sz="2098" dirty="0">
                <a:latin typeface="Times New Roman"/>
                <a:cs typeface="Times New Roman"/>
              </a:rPr>
              <a:t>	</a:t>
            </a:r>
            <a:r>
              <a:rPr sz="2098" spc="-10" dirty="0">
                <a:latin typeface="Century Schoolbook"/>
                <a:cs typeface="Century Schoolbook"/>
              </a:rPr>
              <a:t>implementação</a:t>
            </a:r>
            <a:endParaRPr sz="2098">
              <a:latin typeface="Century Schoolbook"/>
              <a:cs typeface="Century Schoolboo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03164" y="2659458"/>
            <a:ext cx="2087852" cy="984607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689" marR="5075">
              <a:lnSpc>
                <a:spcPct val="150000"/>
              </a:lnSpc>
              <a:spcBef>
                <a:spcPts val="100"/>
              </a:spcBef>
              <a:tabLst>
                <a:tab pos="1863951" algn="l"/>
              </a:tabLst>
            </a:pPr>
            <a:r>
              <a:rPr sz="2098" spc="-10" dirty="0">
                <a:latin typeface="Century Schoolbook"/>
                <a:cs typeface="Century Schoolbook"/>
              </a:rPr>
              <a:t>intercalados</a:t>
            </a:r>
            <a:r>
              <a:rPr sz="2098" dirty="0">
                <a:latin typeface="Times New Roman"/>
                <a:cs typeface="Times New Roman"/>
              </a:rPr>
              <a:t>	</a:t>
            </a:r>
            <a:r>
              <a:rPr sz="2098" spc="-50" dirty="0">
                <a:latin typeface="Century Schoolbook"/>
                <a:cs typeface="Century Schoolbook"/>
              </a:rPr>
              <a:t>e</a:t>
            </a:r>
            <a:r>
              <a:rPr sz="2098" spc="-50" dirty="0">
                <a:latin typeface="Times New Roman"/>
                <a:cs typeface="Times New Roman"/>
              </a:rPr>
              <a:t> </a:t>
            </a:r>
            <a:r>
              <a:rPr sz="2098" spc="-10" dirty="0">
                <a:latin typeface="Century Schoolbook"/>
                <a:cs typeface="Century Schoolbook"/>
              </a:rPr>
              <a:t>desenvolvimento</a:t>
            </a:r>
            <a:endParaRPr sz="2098">
              <a:latin typeface="Century Schoolbook"/>
              <a:cs typeface="Century Schoolbook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29690" y="2659458"/>
            <a:ext cx="2331466" cy="984607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34894" marR="5075" indent="-22839">
              <a:lnSpc>
                <a:spcPct val="150000"/>
              </a:lnSpc>
              <a:spcBef>
                <a:spcPts val="100"/>
              </a:spcBef>
              <a:tabLst>
                <a:tab pos="610955" algn="l"/>
                <a:tab pos="726421" algn="l"/>
                <a:tab pos="2032708" algn="l"/>
              </a:tabLst>
            </a:pPr>
            <a:r>
              <a:rPr sz="2098" spc="-25" dirty="0">
                <a:latin typeface="Century Schoolbook"/>
                <a:cs typeface="Century Schoolbook"/>
              </a:rPr>
              <a:t>os</a:t>
            </a:r>
            <a:r>
              <a:rPr sz="2098" dirty="0">
                <a:latin typeface="Times New Roman"/>
                <a:cs typeface="Times New Roman"/>
              </a:rPr>
              <a:t>	</a:t>
            </a:r>
            <a:r>
              <a:rPr sz="2098" spc="-10" dirty="0">
                <a:latin typeface="Century Schoolbook"/>
                <a:cs typeface="Century Schoolbook"/>
              </a:rPr>
              <a:t>produtos</a:t>
            </a:r>
            <a:r>
              <a:rPr sz="2098" dirty="0">
                <a:latin typeface="Times New Roman"/>
                <a:cs typeface="Times New Roman"/>
              </a:rPr>
              <a:t>	</a:t>
            </a:r>
            <a:r>
              <a:rPr sz="2098" spc="-25" dirty="0">
                <a:latin typeface="Century Schoolbook"/>
                <a:cs typeface="Century Schoolbook"/>
              </a:rPr>
              <a:t>do</a:t>
            </a:r>
            <a:r>
              <a:rPr sz="2098" spc="-25" dirty="0">
                <a:latin typeface="Times New Roman"/>
                <a:cs typeface="Times New Roman"/>
              </a:rPr>
              <a:t> </a:t>
            </a:r>
            <a:r>
              <a:rPr sz="2098" spc="-25" dirty="0">
                <a:latin typeface="Century Schoolbook"/>
                <a:cs typeface="Century Schoolbook"/>
              </a:rPr>
              <a:t>são</a:t>
            </a:r>
            <a:r>
              <a:rPr sz="2098" dirty="0">
                <a:latin typeface="Times New Roman"/>
                <a:cs typeface="Times New Roman"/>
              </a:rPr>
              <a:t>		</a:t>
            </a:r>
            <a:r>
              <a:rPr sz="2098" spc="-10" dirty="0">
                <a:latin typeface="Century Schoolbook"/>
                <a:cs typeface="Century Schoolbook"/>
              </a:rPr>
              <a:t>decididos</a:t>
            </a:r>
            <a:endParaRPr sz="2098">
              <a:latin typeface="Century Schoolbook"/>
              <a:cs typeface="Century Schoolboo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64217" y="3298946"/>
            <a:ext cx="1515612" cy="345120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689">
              <a:spcBef>
                <a:spcPts val="100"/>
              </a:spcBef>
              <a:tabLst>
                <a:tab pos="1218103" algn="l"/>
              </a:tabLst>
            </a:pPr>
            <a:r>
              <a:rPr sz="2098" spc="-10" dirty="0">
                <a:latin typeface="Century Schoolbook"/>
                <a:cs typeface="Century Schoolbook"/>
              </a:rPr>
              <a:t>através</a:t>
            </a:r>
            <a:r>
              <a:rPr sz="2098" dirty="0">
                <a:latin typeface="Times New Roman"/>
                <a:cs typeface="Times New Roman"/>
              </a:rPr>
              <a:t>	</a:t>
            </a:r>
            <a:r>
              <a:rPr sz="2098" spc="-25" dirty="0">
                <a:latin typeface="Century Schoolbook"/>
                <a:cs typeface="Century Schoolbook"/>
              </a:rPr>
              <a:t>de</a:t>
            </a:r>
            <a:endParaRPr sz="2098">
              <a:latin typeface="Century Schoolbook"/>
              <a:cs typeface="Century Schoolbook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677407" y="2179842"/>
            <a:ext cx="1689441" cy="1943839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689" marR="5075" indent="135133" algn="r">
              <a:lnSpc>
                <a:spcPct val="150000"/>
              </a:lnSpc>
              <a:spcBef>
                <a:spcPts val="100"/>
              </a:spcBef>
              <a:tabLst>
                <a:tab pos="478359" algn="l"/>
                <a:tab pos="1270126" algn="l"/>
                <a:tab pos="1390667" algn="l"/>
              </a:tabLst>
            </a:pPr>
            <a:r>
              <a:rPr sz="2098" spc="-50" dirty="0">
                <a:latin typeface="Century Schoolbook"/>
                <a:cs typeface="Century Schoolbook"/>
              </a:rPr>
              <a:t>e</a:t>
            </a:r>
            <a:r>
              <a:rPr sz="2098" dirty="0">
                <a:latin typeface="Times New Roman"/>
                <a:cs typeface="Times New Roman"/>
              </a:rPr>
              <a:t>	</a:t>
            </a:r>
            <a:r>
              <a:rPr sz="2098" spc="-10" dirty="0">
                <a:latin typeface="Century Schoolbook"/>
                <a:cs typeface="Century Schoolbook"/>
              </a:rPr>
              <a:t>teste</a:t>
            </a:r>
            <a:r>
              <a:rPr sz="2098" dirty="0">
                <a:latin typeface="Times New Roman"/>
                <a:cs typeface="Times New Roman"/>
              </a:rPr>
              <a:t>	</a:t>
            </a:r>
            <a:r>
              <a:rPr sz="2098" spc="-25" dirty="0">
                <a:latin typeface="Century Schoolbook"/>
                <a:cs typeface="Century Schoolbook"/>
              </a:rPr>
              <a:t>são</a:t>
            </a:r>
            <a:r>
              <a:rPr sz="2098" spc="-25" dirty="0">
                <a:latin typeface="Times New Roman"/>
                <a:cs typeface="Times New Roman"/>
              </a:rPr>
              <a:t> </a:t>
            </a:r>
            <a:r>
              <a:rPr sz="2098" spc="-10" dirty="0">
                <a:latin typeface="Century Schoolbook"/>
                <a:cs typeface="Century Schoolbook"/>
              </a:rPr>
              <a:t>processo</a:t>
            </a:r>
            <a:r>
              <a:rPr sz="2098" dirty="0">
                <a:latin typeface="Times New Roman"/>
                <a:cs typeface="Times New Roman"/>
              </a:rPr>
              <a:t>		</a:t>
            </a:r>
            <a:r>
              <a:rPr sz="2098" spc="-25" dirty="0">
                <a:latin typeface="Century Schoolbook"/>
                <a:cs typeface="Century Schoolbook"/>
              </a:rPr>
              <a:t>de</a:t>
            </a:r>
            <a:r>
              <a:rPr sz="2098" spc="-25" dirty="0">
                <a:latin typeface="Times New Roman"/>
                <a:cs typeface="Times New Roman"/>
              </a:rPr>
              <a:t> </a:t>
            </a:r>
            <a:r>
              <a:rPr sz="2098" spc="-25" dirty="0">
                <a:latin typeface="Century Schoolbook"/>
                <a:cs typeface="Century Schoolbook"/>
              </a:rPr>
              <a:t>um</a:t>
            </a:r>
            <a:endParaRPr sz="2098">
              <a:latin typeface="Century Schoolbook"/>
              <a:cs typeface="Century Schoolbook"/>
            </a:endParaRPr>
          </a:p>
          <a:p>
            <a:pPr marR="5075" algn="r">
              <a:spcBef>
                <a:spcPts val="1259"/>
              </a:spcBef>
            </a:pPr>
            <a:r>
              <a:rPr sz="2098" spc="-25" dirty="0">
                <a:latin typeface="Century Schoolbook"/>
                <a:cs typeface="Century Schoolbook"/>
              </a:rPr>
              <a:t>de</a:t>
            </a:r>
            <a:endParaRPr sz="2098">
              <a:latin typeface="Century Schoolbook"/>
              <a:cs typeface="Century Schoolbook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03164" y="3618690"/>
            <a:ext cx="6130963" cy="984607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689" marR="5075">
              <a:lnSpc>
                <a:spcPct val="150000"/>
              </a:lnSpc>
              <a:spcBef>
                <a:spcPts val="100"/>
              </a:spcBef>
              <a:tabLst>
                <a:tab pos="1297406" algn="l"/>
                <a:tab pos="1829057" algn="l"/>
                <a:tab pos="3473496" algn="l"/>
                <a:tab pos="4702384" algn="l"/>
                <a:tab pos="5083041" algn="l"/>
              </a:tabLst>
            </a:pPr>
            <a:r>
              <a:rPr sz="2098" spc="-10" dirty="0">
                <a:latin typeface="Century Schoolbook"/>
                <a:cs typeface="Century Schoolbook"/>
              </a:rPr>
              <a:t>processo</a:t>
            </a:r>
            <a:r>
              <a:rPr sz="2098" dirty="0">
                <a:latin typeface="Times New Roman"/>
                <a:cs typeface="Times New Roman"/>
              </a:rPr>
              <a:t>	</a:t>
            </a:r>
            <a:r>
              <a:rPr sz="2098" spc="-25" dirty="0">
                <a:latin typeface="Century Schoolbook"/>
                <a:cs typeface="Century Schoolbook"/>
              </a:rPr>
              <a:t>de</a:t>
            </a:r>
            <a:r>
              <a:rPr sz="2098" dirty="0">
                <a:latin typeface="Times New Roman"/>
                <a:cs typeface="Times New Roman"/>
              </a:rPr>
              <a:t>	</a:t>
            </a:r>
            <a:r>
              <a:rPr sz="2098" spc="-10" dirty="0">
                <a:latin typeface="Century Schoolbook"/>
                <a:cs typeface="Century Schoolbook"/>
              </a:rPr>
              <a:t>negociação,</a:t>
            </a:r>
            <a:r>
              <a:rPr sz="2098" dirty="0">
                <a:latin typeface="Times New Roman"/>
                <a:cs typeface="Times New Roman"/>
              </a:rPr>
              <a:t>	</a:t>
            </a:r>
            <a:r>
              <a:rPr sz="2098" spc="-10" dirty="0">
                <a:latin typeface="Century Schoolbook"/>
                <a:cs typeface="Century Schoolbook"/>
              </a:rPr>
              <a:t>durante</a:t>
            </a:r>
            <a:r>
              <a:rPr sz="2098" dirty="0">
                <a:latin typeface="Times New Roman"/>
                <a:cs typeface="Times New Roman"/>
              </a:rPr>
              <a:t>	</a:t>
            </a:r>
            <a:r>
              <a:rPr sz="2098" spc="-50" dirty="0">
                <a:latin typeface="Century Schoolbook"/>
                <a:cs typeface="Century Schoolbook"/>
              </a:rPr>
              <a:t>o</a:t>
            </a:r>
            <a:r>
              <a:rPr sz="2098" dirty="0">
                <a:latin typeface="Times New Roman"/>
                <a:cs typeface="Times New Roman"/>
              </a:rPr>
              <a:t>	</a:t>
            </a:r>
            <a:r>
              <a:rPr sz="2098" spc="-10" dirty="0">
                <a:latin typeface="Century Schoolbook"/>
                <a:cs typeface="Century Schoolbook"/>
              </a:rPr>
              <a:t>processo</a:t>
            </a:r>
            <a:r>
              <a:rPr sz="2098" spc="-10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desenvolvimento</a:t>
            </a:r>
            <a:r>
              <a:rPr sz="2098" spc="5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do</a:t>
            </a:r>
            <a:r>
              <a:rPr sz="2098" spc="55" dirty="0">
                <a:latin typeface="Times New Roman"/>
                <a:cs typeface="Times New Roman"/>
              </a:rPr>
              <a:t> </a:t>
            </a:r>
            <a:r>
              <a:rPr sz="2098" spc="-10" dirty="0">
                <a:latin typeface="Century Schoolbook"/>
                <a:cs typeface="Century Schoolbook"/>
              </a:rPr>
              <a:t>software.</a:t>
            </a:r>
            <a:endParaRPr sz="2098">
              <a:latin typeface="Century Schoolbook"/>
              <a:cs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2603918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3527" y="298962"/>
            <a:ext cx="7038808" cy="1109662"/>
          </a:xfrm>
          <a:prstGeom prst="rect">
            <a:avLst/>
          </a:prstGeom>
        </p:spPr>
        <p:txBody>
          <a:bodyPr vert="horz" wrap="square" lIns="0" tIns="31086" rIns="0" bIns="0" rtlCol="0" anchor="ctr">
            <a:spAutoFit/>
          </a:bodyPr>
          <a:lstStyle/>
          <a:p>
            <a:pPr marL="12689" marR="5075">
              <a:lnSpc>
                <a:spcPct val="116700"/>
              </a:lnSpc>
              <a:spcBef>
                <a:spcPts val="245"/>
              </a:spcBef>
            </a:pPr>
            <a:r>
              <a:rPr cap="small" dirty="0"/>
              <a:t>E</a:t>
            </a:r>
            <a:r>
              <a:rPr cap="small" spc="-5" dirty="0"/>
              <a:t>s</a:t>
            </a:r>
            <a:r>
              <a:rPr cap="small" dirty="0"/>
              <a:t>pe</a:t>
            </a:r>
            <a:r>
              <a:rPr cap="small" spc="5" dirty="0"/>
              <a:t>c</a:t>
            </a:r>
            <a:r>
              <a:rPr cap="small" dirty="0"/>
              <a:t>i</a:t>
            </a:r>
            <a:r>
              <a:rPr cap="small" spc="-10" dirty="0"/>
              <a:t>f</a:t>
            </a:r>
            <a:r>
              <a:rPr cap="small" dirty="0"/>
              <a:t>ica</a:t>
            </a:r>
            <a:r>
              <a:rPr cap="small" spc="5" dirty="0"/>
              <a:t>ç</a:t>
            </a:r>
            <a:r>
              <a:rPr cap="small" dirty="0"/>
              <a:t>ões</a:t>
            </a:r>
            <a:r>
              <a:rPr sz="2398" b="0" spc="235" dirty="0">
                <a:latin typeface="Times New Roman"/>
                <a:cs typeface="Times New Roman"/>
              </a:rPr>
              <a:t> </a:t>
            </a:r>
            <a:r>
              <a:rPr cap="small" dirty="0"/>
              <a:t>dirigida</a:t>
            </a:r>
            <a:r>
              <a:rPr sz="2398" b="0" spc="225" dirty="0">
                <a:latin typeface="Times New Roman"/>
                <a:cs typeface="Times New Roman"/>
              </a:rPr>
              <a:t> </a:t>
            </a:r>
            <a:r>
              <a:rPr cap="small" dirty="0"/>
              <a:t>a</a:t>
            </a:r>
            <a:r>
              <a:rPr sz="2398" b="0" spc="265" dirty="0">
                <a:latin typeface="Times New Roman"/>
                <a:cs typeface="Times New Roman"/>
              </a:rPr>
              <a:t> </a:t>
            </a:r>
            <a:r>
              <a:rPr cap="small" dirty="0"/>
              <a:t>p</a:t>
            </a:r>
            <a:r>
              <a:rPr cap="small" spc="-10" dirty="0"/>
              <a:t>l</a:t>
            </a:r>
            <a:r>
              <a:rPr cap="small" dirty="0"/>
              <a:t>anos</a:t>
            </a:r>
            <a:r>
              <a:rPr sz="2398" b="0" spc="254" dirty="0">
                <a:latin typeface="Times New Roman"/>
                <a:cs typeface="Times New Roman"/>
              </a:rPr>
              <a:t> </a:t>
            </a:r>
            <a:r>
              <a:rPr cap="small" dirty="0"/>
              <a:t>e</a:t>
            </a:r>
            <a:r>
              <a:rPr sz="2398" b="0" dirty="0">
                <a:latin typeface="Times New Roman"/>
                <a:cs typeface="Times New Roman"/>
              </a:rPr>
              <a:t> </a:t>
            </a:r>
            <a:r>
              <a:rPr cap="small" dirty="0"/>
              <a:t>ágil</a:t>
            </a:r>
            <a:endParaRPr sz="2398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56245" y="1670886"/>
            <a:ext cx="6227213" cy="4754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180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3676" y="46627"/>
            <a:ext cx="6089726" cy="1614332"/>
          </a:xfrm>
          <a:prstGeom prst="rect">
            <a:avLst/>
          </a:prstGeom>
        </p:spPr>
        <p:txBody>
          <a:bodyPr vert="horz" wrap="square" lIns="0" tIns="31086" rIns="0" bIns="0" rtlCol="0" anchor="ctr">
            <a:spAutoFit/>
          </a:bodyPr>
          <a:lstStyle/>
          <a:p>
            <a:pPr marL="12689" marR="5075">
              <a:lnSpc>
                <a:spcPct val="116700"/>
              </a:lnSpc>
              <a:spcBef>
                <a:spcPts val="245"/>
              </a:spcBef>
            </a:pPr>
            <a:r>
              <a:rPr cap="small" spc="-5" dirty="0"/>
              <a:t>Q</a:t>
            </a:r>
            <a:r>
              <a:rPr cap="small" dirty="0"/>
              <a:t>ue</a:t>
            </a:r>
            <a:r>
              <a:rPr cap="small" spc="-5" dirty="0"/>
              <a:t>s</a:t>
            </a:r>
            <a:r>
              <a:rPr cap="small" spc="-10" dirty="0"/>
              <a:t>t</a:t>
            </a:r>
            <a:r>
              <a:rPr cap="small" dirty="0"/>
              <a:t>ões</a:t>
            </a:r>
            <a:r>
              <a:rPr sz="2398" spc="270" dirty="0">
                <a:latin typeface="Times New Roman"/>
                <a:cs typeface="Times New Roman"/>
              </a:rPr>
              <a:t> </a:t>
            </a:r>
            <a:r>
              <a:rPr cap="small" spc="-10" dirty="0"/>
              <a:t>t</a:t>
            </a:r>
            <a:r>
              <a:rPr cap="small" dirty="0"/>
              <a:t>é</a:t>
            </a:r>
            <a:r>
              <a:rPr cap="small" spc="5" dirty="0"/>
              <a:t>c</a:t>
            </a:r>
            <a:r>
              <a:rPr cap="small" dirty="0"/>
              <a:t>nica</a:t>
            </a:r>
            <a:r>
              <a:rPr cap="small" spc="-10" dirty="0"/>
              <a:t>s</a:t>
            </a:r>
            <a:r>
              <a:rPr cap="small" dirty="0"/>
              <a:t>,</a:t>
            </a:r>
            <a:r>
              <a:rPr spc="105" dirty="0">
                <a:latin typeface="Times New Roman"/>
                <a:cs typeface="Times New Roman"/>
              </a:rPr>
              <a:t> </a:t>
            </a:r>
            <a:r>
              <a:rPr cap="small" spc="-5" dirty="0"/>
              <a:t>h</a:t>
            </a:r>
            <a:r>
              <a:rPr cap="small" dirty="0"/>
              <a:t>u</a:t>
            </a:r>
            <a:r>
              <a:rPr cap="small" spc="-5" dirty="0"/>
              <a:t>m</a:t>
            </a:r>
            <a:r>
              <a:rPr cap="small" dirty="0"/>
              <a:t>anas</a:t>
            </a:r>
            <a:r>
              <a:rPr sz="2398" spc="245" dirty="0">
                <a:latin typeface="Times New Roman"/>
                <a:cs typeface="Times New Roman"/>
              </a:rPr>
              <a:t> </a:t>
            </a:r>
            <a:r>
              <a:rPr cap="small" dirty="0"/>
              <a:t>e</a:t>
            </a:r>
            <a:r>
              <a:rPr sz="2398" dirty="0">
                <a:latin typeface="Times New Roman"/>
                <a:cs typeface="Times New Roman"/>
              </a:rPr>
              <a:t> </a:t>
            </a:r>
            <a:r>
              <a:rPr cap="small" dirty="0"/>
              <a:t>organi</a:t>
            </a:r>
            <a:r>
              <a:rPr cap="small" spc="-10" dirty="0"/>
              <a:t>z</a:t>
            </a:r>
            <a:r>
              <a:rPr cap="small" dirty="0"/>
              <a:t>a</a:t>
            </a:r>
            <a:r>
              <a:rPr cap="small" spc="5" dirty="0"/>
              <a:t>c</a:t>
            </a:r>
            <a:r>
              <a:rPr cap="small" dirty="0"/>
              <a:t>iona</a:t>
            </a:r>
            <a:r>
              <a:rPr cap="small" spc="-10" dirty="0"/>
              <a:t>i</a:t>
            </a:r>
            <a:r>
              <a:rPr cap="small" dirty="0"/>
              <a:t>s</a:t>
            </a:r>
            <a:endParaRPr sz="239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3676" y="1579027"/>
            <a:ext cx="7303992" cy="4014562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286762" marR="5075" indent="-274073" algn="just">
              <a:lnSpc>
                <a:spcPct val="140000"/>
              </a:lnSpc>
              <a:spcBef>
                <a:spcPts val="100"/>
              </a:spcBef>
              <a:buClr>
                <a:srgbClr val="94C600"/>
              </a:buClr>
              <a:buSzPct val="70000"/>
              <a:buFont typeface="Wingdings"/>
              <a:buChar char=""/>
              <a:tabLst>
                <a:tab pos="286762" algn="l"/>
              </a:tabLst>
            </a:pPr>
            <a:r>
              <a:rPr sz="1998" dirty="0">
                <a:latin typeface="Century Schoolbook"/>
                <a:cs typeface="Century Schoolbook"/>
              </a:rPr>
              <a:t>A</a:t>
            </a:r>
            <a:r>
              <a:rPr sz="1998" spc="11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maioria</a:t>
            </a:r>
            <a:r>
              <a:rPr sz="1998" spc="11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dos</a:t>
            </a:r>
            <a:r>
              <a:rPr sz="1998" spc="10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projetos</a:t>
            </a:r>
            <a:r>
              <a:rPr sz="1998" spc="10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incluem</a:t>
            </a:r>
            <a:r>
              <a:rPr sz="1998" spc="10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elementos</a:t>
            </a:r>
            <a:r>
              <a:rPr sz="1998" spc="11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de</a:t>
            </a:r>
            <a:r>
              <a:rPr sz="1998" spc="105" dirty="0">
                <a:latin typeface="Times New Roman"/>
                <a:cs typeface="Times New Roman"/>
              </a:rPr>
              <a:t>  </a:t>
            </a:r>
            <a:r>
              <a:rPr sz="1998" spc="-10" dirty="0">
                <a:latin typeface="Century Schoolbook"/>
                <a:cs typeface="Century Schoolbook"/>
              </a:rPr>
              <a:t>processos</a:t>
            </a:r>
            <a:r>
              <a:rPr sz="1998" spc="-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dirigidos</a:t>
            </a:r>
            <a:r>
              <a:rPr sz="1998" spc="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a</a:t>
            </a:r>
            <a:r>
              <a:rPr sz="1998" spc="4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planos</a:t>
            </a:r>
            <a:r>
              <a:rPr sz="1998" spc="2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</a:t>
            </a:r>
            <a:r>
              <a:rPr sz="1998" spc="4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ágeis.</a:t>
            </a:r>
            <a:r>
              <a:rPr sz="1998" spc="2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Decidir</a:t>
            </a:r>
            <a:r>
              <a:rPr sz="1998" spc="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no</a:t>
            </a:r>
            <a:r>
              <a:rPr sz="1998" spc="4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equilíbrio</a:t>
            </a:r>
            <a:r>
              <a:rPr sz="1998" spc="2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depende</a:t>
            </a:r>
            <a:r>
              <a:rPr sz="1998" spc="25" dirty="0">
                <a:latin typeface="Times New Roman"/>
                <a:cs typeface="Times New Roman"/>
              </a:rPr>
              <a:t> </a:t>
            </a:r>
            <a:r>
              <a:rPr sz="1998" spc="-25" dirty="0">
                <a:latin typeface="Century Schoolbook"/>
                <a:cs typeface="Century Schoolbook"/>
              </a:rPr>
              <a:t>de:</a:t>
            </a:r>
            <a:endParaRPr sz="1998">
              <a:latin typeface="Century Schoolbook"/>
              <a:cs typeface="Century Schoolbook"/>
            </a:endParaRPr>
          </a:p>
          <a:p>
            <a:pPr marL="469477" marR="5075" indent="-456789" algn="just">
              <a:lnSpc>
                <a:spcPct val="140000"/>
              </a:lnSpc>
              <a:spcBef>
                <a:spcPts val="599"/>
              </a:spcBef>
              <a:buClr>
                <a:srgbClr val="94C600"/>
              </a:buClr>
              <a:buSzPct val="70000"/>
              <a:buAutoNum type="arabicPeriod"/>
              <a:tabLst>
                <a:tab pos="469477" algn="l"/>
              </a:tabLst>
            </a:pPr>
            <a:r>
              <a:rPr sz="1998" dirty="0">
                <a:latin typeface="Century Schoolbook"/>
                <a:cs typeface="Century Schoolbook"/>
              </a:rPr>
              <a:t>É</a:t>
            </a:r>
            <a:r>
              <a:rPr sz="1998" spc="34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importante</a:t>
            </a:r>
            <a:r>
              <a:rPr sz="1998" spc="35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ter</a:t>
            </a:r>
            <a:r>
              <a:rPr sz="1998" spc="34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uma</a:t>
            </a:r>
            <a:r>
              <a:rPr sz="1998" spc="34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especificação</a:t>
            </a:r>
            <a:r>
              <a:rPr sz="1998" spc="35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e</a:t>
            </a:r>
            <a:r>
              <a:rPr sz="1998" spc="35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projeto</a:t>
            </a:r>
            <a:r>
              <a:rPr sz="1998" spc="350" dirty="0">
                <a:latin typeface="Times New Roman"/>
                <a:cs typeface="Times New Roman"/>
              </a:rPr>
              <a:t>  </a:t>
            </a:r>
            <a:r>
              <a:rPr sz="1998" spc="-25" dirty="0">
                <a:latin typeface="Century Schoolbook"/>
                <a:cs typeface="Century Schoolbook"/>
              </a:rPr>
              <a:t>bem</a:t>
            </a:r>
            <a:r>
              <a:rPr sz="1998" spc="-2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detalhados</a:t>
            </a:r>
            <a:r>
              <a:rPr sz="1998" spc="25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antes</a:t>
            </a:r>
            <a:r>
              <a:rPr sz="1998" spc="26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de</a:t>
            </a:r>
            <a:r>
              <a:rPr sz="1998" spc="27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passar</a:t>
            </a:r>
            <a:r>
              <a:rPr sz="1998" spc="26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para</a:t>
            </a:r>
            <a:r>
              <a:rPr sz="1998" spc="27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a</a:t>
            </a:r>
            <a:r>
              <a:rPr sz="1998" spc="254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implementação?</a:t>
            </a:r>
            <a:r>
              <a:rPr sz="1998" spc="270" dirty="0">
                <a:latin typeface="Times New Roman"/>
                <a:cs typeface="Times New Roman"/>
              </a:rPr>
              <a:t> </a:t>
            </a:r>
            <a:r>
              <a:rPr sz="1998" spc="-20" dirty="0">
                <a:latin typeface="Century Schoolbook"/>
                <a:cs typeface="Century Schoolbook"/>
              </a:rPr>
              <a:t>Caso</a:t>
            </a:r>
            <a:r>
              <a:rPr sz="1998" spc="-2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seja,</a:t>
            </a:r>
            <a:r>
              <a:rPr sz="1998" spc="44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provavelmente</a:t>
            </a:r>
            <a:r>
              <a:rPr sz="1998" spc="45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você</a:t>
            </a:r>
            <a:r>
              <a:rPr sz="1998" spc="459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precisa</a:t>
            </a:r>
            <a:r>
              <a:rPr sz="1998" spc="45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usar</a:t>
            </a:r>
            <a:r>
              <a:rPr sz="1998" spc="459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uma</a:t>
            </a:r>
            <a:r>
              <a:rPr sz="1998" spc="455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abordagem</a:t>
            </a:r>
            <a:r>
              <a:rPr sz="1998" spc="-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dirigida</a:t>
            </a:r>
            <a:r>
              <a:rPr sz="1998" spc="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a</a:t>
            </a:r>
            <a:r>
              <a:rPr sz="1998" spc="50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planos.</a:t>
            </a:r>
            <a:endParaRPr sz="1998">
              <a:latin typeface="Century Schoolbook"/>
              <a:cs typeface="Century Schoolbook"/>
            </a:endParaRPr>
          </a:p>
          <a:p>
            <a:pPr marL="469477" marR="5075" indent="-456789" algn="just">
              <a:lnSpc>
                <a:spcPct val="140000"/>
              </a:lnSpc>
              <a:spcBef>
                <a:spcPts val="599"/>
              </a:spcBef>
              <a:buClr>
                <a:srgbClr val="94C600"/>
              </a:buClr>
              <a:buSzPct val="70000"/>
              <a:buAutoNum type="arabicPeriod"/>
              <a:tabLst>
                <a:tab pos="469477" algn="l"/>
              </a:tabLst>
            </a:pPr>
            <a:r>
              <a:rPr sz="1998" dirty="0">
                <a:latin typeface="Century Schoolbook"/>
                <a:cs typeface="Century Schoolbook"/>
              </a:rPr>
              <a:t>Uma</a:t>
            </a:r>
            <a:r>
              <a:rPr sz="1998" spc="5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estratégia</a:t>
            </a:r>
            <a:r>
              <a:rPr sz="1998" spc="7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de</a:t>
            </a:r>
            <a:r>
              <a:rPr sz="1998" spc="6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entrega</a:t>
            </a:r>
            <a:r>
              <a:rPr sz="1998" spc="6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incremental</a:t>
            </a:r>
            <a:r>
              <a:rPr sz="1998" spc="6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onde</a:t>
            </a:r>
            <a:r>
              <a:rPr sz="1998" spc="8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você</a:t>
            </a:r>
            <a:r>
              <a:rPr sz="1998" spc="65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entrega</a:t>
            </a:r>
            <a:r>
              <a:rPr sz="1998" spc="-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o</a:t>
            </a:r>
            <a:r>
              <a:rPr sz="1998" spc="13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software</a:t>
            </a:r>
            <a:r>
              <a:rPr sz="1998" spc="14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para</a:t>
            </a:r>
            <a:r>
              <a:rPr sz="1998" spc="14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os</a:t>
            </a:r>
            <a:r>
              <a:rPr sz="1998" spc="13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clientes</a:t>
            </a:r>
            <a:r>
              <a:rPr sz="1998" spc="13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</a:t>
            </a:r>
            <a:r>
              <a:rPr sz="1998" spc="14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recebe</a:t>
            </a:r>
            <a:r>
              <a:rPr sz="1998" spc="13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feedback</a:t>
            </a:r>
            <a:r>
              <a:rPr sz="1998" spc="14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rápido</a:t>
            </a:r>
            <a:r>
              <a:rPr sz="1998" spc="150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deles</a:t>
            </a:r>
            <a:r>
              <a:rPr sz="1998" spc="-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é</a:t>
            </a:r>
            <a:r>
              <a:rPr sz="1998" spc="3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possível?</a:t>
            </a:r>
            <a:r>
              <a:rPr sz="1998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Caso</a:t>
            </a:r>
            <a:r>
              <a:rPr sz="1998" spc="4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seja,</a:t>
            </a:r>
            <a:r>
              <a:rPr sz="1998" spc="3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considere</a:t>
            </a:r>
            <a:r>
              <a:rPr sz="1998" spc="2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usar</a:t>
            </a:r>
            <a:r>
              <a:rPr sz="1998" spc="3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métodos</a:t>
            </a:r>
            <a:r>
              <a:rPr sz="1998" spc="20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ágeis.</a:t>
            </a:r>
            <a:endParaRPr sz="1998">
              <a:latin typeface="Century Schoolbook"/>
              <a:cs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2628804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3676" y="46627"/>
            <a:ext cx="6089726" cy="1614332"/>
          </a:xfrm>
          <a:prstGeom prst="rect">
            <a:avLst/>
          </a:prstGeom>
        </p:spPr>
        <p:txBody>
          <a:bodyPr vert="horz" wrap="square" lIns="0" tIns="31086" rIns="0" bIns="0" rtlCol="0" anchor="ctr">
            <a:spAutoFit/>
          </a:bodyPr>
          <a:lstStyle/>
          <a:p>
            <a:pPr marL="12689" marR="5075">
              <a:lnSpc>
                <a:spcPct val="116700"/>
              </a:lnSpc>
              <a:spcBef>
                <a:spcPts val="245"/>
              </a:spcBef>
            </a:pPr>
            <a:r>
              <a:rPr cap="small" spc="-5" dirty="0"/>
              <a:t>Q</a:t>
            </a:r>
            <a:r>
              <a:rPr cap="small" dirty="0"/>
              <a:t>ue</a:t>
            </a:r>
            <a:r>
              <a:rPr cap="small" spc="-5" dirty="0"/>
              <a:t>s</a:t>
            </a:r>
            <a:r>
              <a:rPr cap="small" spc="-10" dirty="0"/>
              <a:t>t</a:t>
            </a:r>
            <a:r>
              <a:rPr cap="small" dirty="0"/>
              <a:t>ões</a:t>
            </a:r>
            <a:r>
              <a:rPr sz="2398" spc="270" dirty="0">
                <a:latin typeface="Times New Roman"/>
                <a:cs typeface="Times New Roman"/>
              </a:rPr>
              <a:t> </a:t>
            </a:r>
            <a:r>
              <a:rPr cap="small" spc="-10" dirty="0"/>
              <a:t>t</a:t>
            </a:r>
            <a:r>
              <a:rPr cap="small" dirty="0"/>
              <a:t>é</a:t>
            </a:r>
            <a:r>
              <a:rPr cap="small" spc="5" dirty="0"/>
              <a:t>c</a:t>
            </a:r>
            <a:r>
              <a:rPr cap="small" dirty="0"/>
              <a:t>nica</a:t>
            </a:r>
            <a:r>
              <a:rPr cap="small" spc="-10" dirty="0"/>
              <a:t>s</a:t>
            </a:r>
            <a:r>
              <a:rPr cap="small" dirty="0"/>
              <a:t>,</a:t>
            </a:r>
            <a:r>
              <a:rPr spc="105" dirty="0">
                <a:latin typeface="Times New Roman"/>
                <a:cs typeface="Times New Roman"/>
              </a:rPr>
              <a:t> </a:t>
            </a:r>
            <a:r>
              <a:rPr cap="small" spc="-5" dirty="0"/>
              <a:t>h</a:t>
            </a:r>
            <a:r>
              <a:rPr cap="small" dirty="0"/>
              <a:t>u</a:t>
            </a:r>
            <a:r>
              <a:rPr cap="small" spc="-5" dirty="0"/>
              <a:t>m</a:t>
            </a:r>
            <a:r>
              <a:rPr cap="small" dirty="0"/>
              <a:t>anas</a:t>
            </a:r>
            <a:r>
              <a:rPr sz="2398" spc="245" dirty="0">
                <a:latin typeface="Times New Roman"/>
                <a:cs typeface="Times New Roman"/>
              </a:rPr>
              <a:t> </a:t>
            </a:r>
            <a:r>
              <a:rPr cap="small" dirty="0"/>
              <a:t>e</a:t>
            </a:r>
            <a:r>
              <a:rPr sz="2398" dirty="0">
                <a:latin typeface="Times New Roman"/>
                <a:cs typeface="Times New Roman"/>
              </a:rPr>
              <a:t> </a:t>
            </a:r>
            <a:r>
              <a:rPr cap="small" dirty="0"/>
              <a:t>organi</a:t>
            </a:r>
            <a:r>
              <a:rPr cap="small" spc="-10" dirty="0"/>
              <a:t>z</a:t>
            </a:r>
            <a:r>
              <a:rPr cap="small" dirty="0"/>
              <a:t>a</a:t>
            </a:r>
            <a:r>
              <a:rPr cap="small" spc="5" dirty="0"/>
              <a:t>c</a:t>
            </a:r>
            <a:r>
              <a:rPr cap="small" dirty="0"/>
              <a:t>iona</a:t>
            </a:r>
            <a:r>
              <a:rPr cap="small" spc="-10" dirty="0"/>
              <a:t>i</a:t>
            </a:r>
            <a:r>
              <a:rPr cap="small" dirty="0"/>
              <a:t>s</a:t>
            </a:r>
            <a:endParaRPr sz="239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29683" y="1623183"/>
            <a:ext cx="7696693" cy="4888783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469477" marR="5075" indent="-456789" algn="just">
              <a:lnSpc>
                <a:spcPct val="130000"/>
              </a:lnSpc>
              <a:spcBef>
                <a:spcPts val="100"/>
              </a:spcBef>
              <a:buClr>
                <a:srgbClr val="94C600"/>
              </a:buClr>
              <a:buSzPct val="67647"/>
              <a:buAutoNum type="arabicPeriod" startAt="3"/>
              <a:tabLst>
                <a:tab pos="469477" algn="l"/>
              </a:tabLst>
            </a:pPr>
            <a:r>
              <a:rPr sz="1698" dirty="0">
                <a:latin typeface="Century Schoolbook"/>
                <a:cs typeface="Century Schoolbook"/>
              </a:rPr>
              <a:t>Qual</a:t>
            </a:r>
            <a:r>
              <a:rPr sz="1698" spc="27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o</a:t>
            </a:r>
            <a:r>
              <a:rPr sz="1698" spc="27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tamanho</a:t>
            </a:r>
            <a:r>
              <a:rPr sz="1698" spc="27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do</a:t>
            </a:r>
            <a:r>
              <a:rPr sz="1698" spc="27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sistema</a:t>
            </a:r>
            <a:r>
              <a:rPr sz="1698" spc="27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a</a:t>
            </a:r>
            <a:r>
              <a:rPr sz="1698" spc="26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ser</a:t>
            </a:r>
            <a:r>
              <a:rPr sz="1698" spc="27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desenvolvido?</a:t>
            </a:r>
            <a:r>
              <a:rPr sz="1698" spc="27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Os</a:t>
            </a:r>
            <a:r>
              <a:rPr sz="1698" spc="27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métodos</a:t>
            </a:r>
            <a:r>
              <a:rPr sz="1698" spc="27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ágeis</a:t>
            </a:r>
            <a:r>
              <a:rPr sz="1698" spc="275" dirty="0">
                <a:latin typeface="Times New Roman"/>
                <a:cs typeface="Times New Roman"/>
              </a:rPr>
              <a:t> </a:t>
            </a:r>
            <a:r>
              <a:rPr sz="1698" spc="-25" dirty="0">
                <a:latin typeface="Century Schoolbook"/>
                <a:cs typeface="Century Schoolbook"/>
              </a:rPr>
              <a:t>são</a:t>
            </a:r>
            <a:r>
              <a:rPr sz="1698" spc="-2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mais</a:t>
            </a:r>
            <a:r>
              <a:rPr sz="1698" spc="18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efetivos</a:t>
            </a:r>
            <a:r>
              <a:rPr sz="1698" spc="19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quando</a:t>
            </a:r>
            <a:r>
              <a:rPr sz="1698" spc="19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o</a:t>
            </a:r>
            <a:r>
              <a:rPr sz="1698" spc="20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sistema</a:t>
            </a:r>
            <a:r>
              <a:rPr sz="1698" spc="19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pode</a:t>
            </a:r>
            <a:r>
              <a:rPr sz="1698" spc="19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ser</a:t>
            </a:r>
            <a:r>
              <a:rPr sz="1698" spc="18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desenvolvido</a:t>
            </a:r>
            <a:r>
              <a:rPr sz="1698" spc="19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com</a:t>
            </a:r>
            <a:r>
              <a:rPr sz="1698" spc="19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uma</a:t>
            </a:r>
            <a:r>
              <a:rPr sz="1698" spc="200" dirty="0">
                <a:latin typeface="Times New Roman"/>
                <a:cs typeface="Times New Roman"/>
              </a:rPr>
              <a:t> </a:t>
            </a:r>
            <a:r>
              <a:rPr sz="1698" spc="-10" dirty="0">
                <a:latin typeface="Century Schoolbook"/>
                <a:cs typeface="Century Schoolbook"/>
              </a:rPr>
              <a:t>equipe</a:t>
            </a:r>
            <a:r>
              <a:rPr sz="1698" spc="-1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pequena</a:t>
            </a:r>
            <a:r>
              <a:rPr sz="1698" spc="42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que</a:t>
            </a:r>
            <a:r>
              <a:rPr sz="1698" spc="42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pode</a:t>
            </a:r>
            <a:r>
              <a:rPr sz="1698" spc="42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se</a:t>
            </a:r>
            <a:r>
              <a:rPr sz="1698" spc="42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comunicar</a:t>
            </a:r>
            <a:r>
              <a:rPr sz="1698" spc="42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informalmente.</a:t>
            </a:r>
            <a:r>
              <a:rPr sz="1698" spc="42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O</a:t>
            </a:r>
            <a:r>
              <a:rPr sz="1698" spc="434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que</a:t>
            </a:r>
            <a:r>
              <a:rPr sz="1698" spc="42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pode</a:t>
            </a:r>
            <a:r>
              <a:rPr sz="1698" spc="42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não</a:t>
            </a:r>
            <a:r>
              <a:rPr sz="1698" spc="430" dirty="0">
                <a:latin typeface="Times New Roman"/>
                <a:cs typeface="Times New Roman"/>
              </a:rPr>
              <a:t> </a:t>
            </a:r>
            <a:r>
              <a:rPr sz="1698" spc="-25" dirty="0">
                <a:latin typeface="Century Schoolbook"/>
                <a:cs typeface="Century Schoolbook"/>
              </a:rPr>
              <a:t>ser</a:t>
            </a:r>
            <a:r>
              <a:rPr sz="1698" spc="-2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possível</a:t>
            </a:r>
            <a:r>
              <a:rPr sz="1698" spc="15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para</a:t>
            </a:r>
            <a:r>
              <a:rPr sz="1698" spc="145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sistemas</a:t>
            </a:r>
            <a:r>
              <a:rPr sz="1698" spc="15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grandes</a:t>
            </a:r>
            <a:r>
              <a:rPr sz="1698" spc="155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que</a:t>
            </a:r>
            <a:r>
              <a:rPr sz="1698" spc="145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requerem</a:t>
            </a:r>
            <a:r>
              <a:rPr sz="1698" spc="15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grandes</a:t>
            </a:r>
            <a:r>
              <a:rPr sz="1698" spc="15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equipes</a:t>
            </a:r>
            <a:r>
              <a:rPr sz="1698" spc="150" dirty="0">
                <a:latin typeface="Times New Roman"/>
                <a:cs typeface="Times New Roman"/>
              </a:rPr>
              <a:t>  </a:t>
            </a:r>
            <a:r>
              <a:rPr sz="1698" spc="-25" dirty="0">
                <a:latin typeface="Century Schoolbook"/>
                <a:cs typeface="Century Schoolbook"/>
              </a:rPr>
              <a:t>de</a:t>
            </a:r>
            <a:r>
              <a:rPr sz="1698" spc="-2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desenvolvimento,</a:t>
            </a:r>
            <a:r>
              <a:rPr sz="1698" spc="3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nesses</a:t>
            </a:r>
            <a:r>
              <a:rPr sz="1698" spc="5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casos,</a:t>
            </a:r>
            <a:r>
              <a:rPr sz="1698" spc="45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deve</a:t>
            </a:r>
            <a:r>
              <a:rPr sz="1698" spc="5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ser</a:t>
            </a:r>
            <a:r>
              <a:rPr sz="1698" spc="5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usada</a:t>
            </a:r>
            <a:r>
              <a:rPr sz="1698" spc="5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uma</a:t>
            </a:r>
            <a:r>
              <a:rPr sz="1698" spc="5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abordagem</a:t>
            </a:r>
            <a:r>
              <a:rPr sz="1698" spc="50" dirty="0">
                <a:latin typeface="Times New Roman"/>
                <a:cs typeface="Times New Roman"/>
              </a:rPr>
              <a:t> </a:t>
            </a:r>
            <a:r>
              <a:rPr sz="1698" spc="-10" dirty="0">
                <a:latin typeface="Century Schoolbook"/>
                <a:cs typeface="Century Schoolbook"/>
              </a:rPr>
              <a:t>dirigida</a:t>
            </a:r>
            <a:r>
              <a:rPr sz="1698" spc="-1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a</a:t>
            </a:r>
            <a:r>
              <a:rPr sz="1698" spc="55" dirty="0">
                <a:latin typeface="Times New Roman"/>
                <a:cs typeface="Times New Roman"/>
              </a:rPr>
              <a:t> </a:t>
            </a:r>
            <a:r>
              <a:rPr sz="1698" spc="-10" dirty="0">
                <a:latin typeface="Century Schoolbook"/>
                <a:cs typeface="Century Schoolbook"/>
              </a:rPr>
              <a:t>planos.</a:t>
            </a:r>
            <a:endParaRPr sz="1698">
              <a:latin typeface="Century Schoolbook"/>
              <a:cs typeface="Century Schoolbook"/>
            </a:endParaRPr>
          </a:p>
          <a:p>
            <a:pPr marL="469477" marR="5075" indent="-456789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67647"/>
              <a:buAutoNum type="arabicPeriod" startAt="3"/>
              <a:tabLst>
                <a:tab pos="469477" algn="l"/>
              </a:tabLst>
            </a:pPr>
            <a:r>
              <a:rPr sz="1698" dirty="0">
                <a:latin typeface="Century Schoolbook"/>
                <a:cs typeface="Century Schoolbook"/>
              </a:rPr>
              <a:t>Que</a:t>
            </a:r>
            <a:r>
              <a:rPr sz="1698" spc="31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tipo</a:t>
            </a:r>
            <a:r>
              <a:rPr sz="1698" spc="32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</a:t>
            </a:r>
            <a:r>
              <a:rPr sz="1698" spc="32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sistema</a:t>
            </a:r>
            <a:r>
              <a:rPr sz="1698" spc="32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está</a:t>
            </a:r>
            <a:r>
              <a:rPr sz="1698" spc="33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sendo</a:t>
            </a:r>
            <a:r>
              <a:rPr sz="1698" spc="32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desenvolvido?</a:t>
            </a:r>
            <a:r>
              <a:rPr sz="1698" spc="31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Abordagens</a:t>
            </a:r>
            <a:r>
              <a:rPr sz="1698" spc="31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dirigidas</a:t>
            </a:r>
            <a:r>
              <a:rPr sz="1698" spc="325" dirty="0">
                <a:latin typeface="Times New Roman"/>
                <a:cs typeface="Times New Roman"/>
              </a:rPr>
              <a:t> </a:t>
            </a:r>
            <a:r>
              <a:rPr sz="1698" spc="-50" dirty="0">
                <a:latin typeface="Century Schoolbook"/>
                <a:cs typeface="Century Schoolbook"/>
              </a:rPr>
              <a:t>a</a:t>
            </a:r>
            <a:r>
              <a:rPr sz="1698" spc="-5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planos</a:t>
            </a:r>
            <a:r>
              <a:rPr sz="1698" spc="16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podem</a:t>
            </a:r>
            <a:r>
              <a:rPr sz="1698" spc="155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ser</a:t>
            </a:r>
            <a:r>
              <a:rPr sz="1698" spc="16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necessárias</a:t>
            </a:r>
            <a:r>
              <a:rPr sz="1698" spc="165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para</a:t>
            </a:r>
            <a:r>
              <a:rPr sz="1698" spc="16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sistemas</a:t>
            </a:r>
            <a:r>
              <a:rPr sz="1698" spc="16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que</a:t>
            </a:r>
            <a:r>
              <a:rPr sz="1698" spc="16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requerem</a:t>
            </a:r>
            <a:r>
              <a:rPr sz="1698" spc="160" dirty="0">
                <a:latin typeface="Times New Roman"/>
                <a:cs typeface="Times New Roman"/>
              </a:rPr>
              <a:t>  </a:t>
            </a:r>
            <a:r>
              <a:rPr sz="1698" spc="-10" dirty="0">
                <a:latin typeface="Century Schoolbook"/>
                <a:cs typeface="Century Schoolbook"/>
              </a:rPr>
              <a:t>muita</a:t>
            </a:r>
            <a:r>
              <a:rPr sz="1698" spc="-1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análise</a:t>
            </a:r>
            <a:r>
              <a:rPr sz="1698" spc="21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antes</a:t>
            </a:r>
            <a:r>
              <a:rPr sz="1698" spc="229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da</a:t>
            </a:r>
            <a:r>
              <a:rPr sz="1698" spc="229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implementação</a:t>
            </a:r>
            <a:r>
              <a:rPr sz="1698" spc="22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(ex.</a:t>
            </a:r>
            <a:r>
              <a:rPr sz="1698" spc="23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sistema</a:t>
            </a:r>
            <a:r>
              <a:rPr sz="1698" spc="229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que</a:t>
            </a:r>
            <a:r>
              <a:rPr sz="1698" spc="22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opere</a:t>
            </a:r>
            <a:r>
              <a:rPr sz="1698" spc="229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em</a:t>
            </a:r>
            <a:r>
              <a:rPr sz="1698" spc="23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tempo</a:t>
            </a:r>
            <a:r>
              <a:rPr sz="1698" spc="229" dirty="0">
                <a:latin typeface="Times New Roman"/>
                <a:cs typeface="Times New Roman"/>
              </a:rPr>
              <a:t> </a:t>
            </a:r>
            <a:r>
              <a:rPr sz="1698" spc="-20" dirty="0">
                <a:latin typeface="Century Schoolbook"/>
                <a:cs typeface="Century Schoolbook"/>
              </a:rPr>
              <a:t>real</a:t>
            </a:r>
            <a:r>
              <a:rPr sz="1698" spc="-2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com</a:t>
            </a:r>
            <a:r>
              <a:rPr sz="1698" spc="1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requisitos</a:t>
            </a:r>
            <a:r>
              <a:rPr sz="1698" spc="1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</a:t>
            </a:r>
            <a:r>
              <a:rPr sz="1698" spc="3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temporização</a:t>
            </a:r>
            <a:r>
              <a:rPr sz="1698" spc="10" dirty="0">
                <a:latin typeface="Times New Roman"/>
                <a:cs typeface="Times New Roman"/>
              </a:rPr>
              <a:t> </a:t>
            </a:r>
            <a:r>
              <a:rPr sz="1698" spc="-10" dirty="0">
                <a:latin typeface="Century Schoolbook"/>
                <a:cs typeface="Century Schoolbook"/>
              </a:rPr>
              <a:t>complexos).</a:t>
            </a:r>
            <a:endParaRPr sz="1698">
              <a:latin typeface="Century Schoolbook"/>
              <a:cs typeface="Century Schoolbook"/>
            </a:endParaRPr>
          </a:p>
          <a:p>
            <a:pPr marL="469477" marR="7613" indent="-456789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67647"/>
              <a:buAutoNum type="arabicPeriod" startAt="3"/>
              <a:tabLst>
                <a:tab pos="469477" algn="l"/>
              </a:tabLst>
            </a:pPr>
            <a:r>
              <a:rPr sz="1698" dirty="0">
                <a:latin typeface="Century Schoolbook"/>
                <a:cs typeface="Century Schoolbook"/>
              </a:rPr>
              <a:t>Qual</a:t>
            </a:r>
            <a:r>
              <a:rPr sz="1698" spc="254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é</a:t>
            </a:r>
            <a:r>
              <a:rPr sz="1698" spc="26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o</a:t>
            </a:r>
            <a:r>
              <a:rPr sz="1698" spc="27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tempo</a:t>
            </a:r>
            <a:r>
              <a:rPr sz="1698" spc="26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</a:t>
            </a:r>
            <a:r>
              <a:rPr sz="1698" spc="26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vida</a:t>
            </a:r>
            <a:r>
              <a:rPr sz="1698" spc="26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esperado</a:t>
            </a:r>
            <a:r>
              <a:rPr sz="1698" spc="26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para</a:t>
            </a:r>
            <a:r>
              <a:rPr sz="1698" spc="26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o</a:t>
            </a:r>
            <a:r>
              <a:rPr sz="1698" spc="26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sistema?</a:t>
            </a:r>
            <a:r>
              <a:rPr sz="1698" spc="26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Sistemas</a:t>
            </a:r>
            <a:r>
              <a:rPr sz="1698" spc="26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com</a:t>
            </a:r>
            <a:r>
              <a:rPr sz="1698" spc="265" dirty="0">
                <a:latin typeface="Times New Roman"/>
                <a:cs typeface="Times New Roman"/>
              </a:rPr>
              <a:t> </a:t>
            </a:r>
            <a:r>
              <a:rPr sz="1698" spc="-10" dirty="0">
                <a:latin typeface="Century Schoolbook"/>
                <a:cs typeface="Century Schoolbook"/>
              </a:rPr>
              <a:t>longo</a:t>
            </a:r>
            <a:r>
              <a:rPr sz="1698" spc="-1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tempo</a:t>
            </a:r>
            <a:r>
              <a:rPr sz="1698" spc="30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</a:t>
            </a:r>
            <a:r>
              <a:rPr sz="1698" spc="32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vida</a:t>
            </a:r>
            <a:r>
              <a:rPr sz="1698" spc="30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podem</a:t>
            </a:r>
            <a:r>
              <a:rPr sz="1698" spc="31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precisar</a:t>
            </a:r>
            <a:r>
              <a:rPr sz="1698" spc="32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</a:t>
            </a:r>
            <a:r>
              <a:rPr sz="1698" spc="32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mais</a:t>
            </a:r>
            <a:r>
              <a:rPr sz="1698" spc="32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documentação</a:t>
            </a:r>
            <a:r>
              <a:rPr sz="1698" spc="30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</a:t>
            </a:r>
            <a:r>
              <a:rPr sz="1698" spc="30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projeto</a:t>
            </a:r>
            <a:r>
              <a:rPr sz="1698" spc="320" dirty="0">
                <a:latin typeface="Times New Roman"/>
                <a:cs typeface="Times New Roman"/>
              </a:rPr>
              <a:t> </a:t>
            </a:r>
            <a:r>
              <a:rPr sz="1698" spc="-20" dirty="0">
                <a:latin typeface="Century Schoolbook"/>
                <a:cs typeface="Century Schoolbook"/>
              </a:rPr>
              <a:t>para</a:t>
            </a:r>
            <a:r>
              <a:rPr sz="1698" spc="-2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comunicar</a:t>
            </a:r>
            <a:r>
              <a:rPr sz="1698" spc="8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as</a:t>
            </a:r>
            <a:r>
              <a:rPr sz="1698" spc="8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intenções</a:t>
            </a:r>
            <a:r>
              <a:rPr sz="1698" spc="8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originais</a:t>
            </a:r>
            <a:r>
              <a:rPr sz="1698" spc="8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dos</a:t>
            </a:r>
            <a:r>
              <a:rPr sz="1698" spc="7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desenvolvedores</a:t>
            </a:r>
            <a:r>
              <a:rPr sz="1698" spc="7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do</a:t>
            </a:r>
            <a:r>
              <a:rPr sz="1698" spc="8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sistema</a:t>
            </a:r>
            <a:r>
              <a:rPr sz="1698" spc="8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para</a:t>
            </a:r>
            <a:r>
              <a:rPr sz="1698" spc="85" dirty="0">
                <a:latin typeface="Times New Roman"/>
                <a:cs typeface="Times New Roman"/>
              </a:rPr>
              <a:t> </a:t>
            </a:r>
            <a:r>
              <a:rPr sz="1698" spc="-50" dirty="0">
                <a:latin typeface="Century Schoolbook"/>
                <a:cs typeface="Century Schoolbook"/>
              </a:rPr>
              <a:t>a</a:t>
            </a:r>
            <a:r>
              <a:rPr sz="1698" spc="-5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equipe</a:t>
            </a:r>
            <a:r>
              <a:rPr sz="1698" spc="3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</a:t>
            </a:r>
            <a:r>
              <a:rPr sz="1698" spc="50" dirty="0">
                <a:latin typeface="Times New Roman"/>
                <a:cs typeface="Times New Roman"/>
              </a:rPr>
              <a:t> </a:t>
            </a:r>
            <a:r>
              <a:rPr sz="1698" spc="-10" dirty="0">
                <a:latin typeface="Century Schoolbook"/>
                <a:cs typeface="Century Schoolbook"/>
              </a:rPr>
              <a:t>suporte.</a:t>
            </a:r>
            <a:endParaRPr sz="1698">
              <a:latin typeface="Century Schoolbook"/>
              <a:cs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2789794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3676" y="46627"/>
            <a:ext cx="6089726" cy="1614332"/>
          </a:xfrm>
          <a:prstGeom prst="rect">
            <a:avLst/>
          </a:prstGeom>
        </p:spPr>
        <p:txBody>
          <a:bodyPr vert="horz" wrap="square" lIns="0" tIns="31086" rIns="0" bIns="0" rtlCol="0" anchor="ctr">
            <a:spAutoFit/>
          </a:bodyPr>
          <a:lstStyle/>
          <a:p>
            <a:pPr marL="12689" marR="5075">
              <a:lnSpc>
                <a:spcPct val="116700"/>
              </a:lnSpc>
              <a:spcBef>
                <a:spcPts val="245"/>
              </a:spcBef>
            </a:pPr>
            <a:r>
              <a:rPr cap="small" spc="-5" dirty="0"/>
              <a:t>Q</a:t>
            </a:r>
            <a:r>
              <a:rPr cap="small" dirty="0"/>
              <a:t>ue</a:t>
            </a:r>
            <a:r>
              <a:rPr cap="small" spc="-5" dirty="0"/>
              <a:t>s</a:t>
            </a:r>
            <a:r>
              <a:rPr cap="small" spc="-10" dirty="0"/>
              <a:t>t</a:t>
            </a:r>
            <a:r>
              <a:rPr cap="small" dirty="0"/>
              <a:t>ões</a:t>
            </a:r>
            <a:r>
              <a:rPr sz="2398" spc="270" dirty="0">
                <a:latin typeface="Times New Roman"/>
                <a:cs typeface="Times New Roman"/>
              </a:rPr>
              <a:t> </a:t>
            </a:r>
            <a:r>
              <a:rPr cap="small" spc="-10" dirty="0"/>
              <a:t>t</a:t>
            </a:r>
            <a:r>
              <a:rPr cap="small" dirty="0"/>
              <a:t>é</a:t>
            </a:r>
            <a:r>
              <a:rPr cap="small" spc="5" dirty="0"/>
              <a:t>c</a:t>
            </a:r>
            <a:r>
              <a:rPr cap="small" dirty="0"/>
              <a:t>nica</a:t>
            </a:r>
            <a:r>
              <a:rPr cap="small" spc="-10" dirty="0"/>
              <a:t>s</a:t>
            </a:r>
            <a:r>
              <a:rPr cap="small" dirty="0"/>
              <a:t>,</a:t>
            </a:r>
            <a:r>
              <a:rPr spc="105" dirty="0">
                <a:latin typeface="Times New Roman"/>
                <a:cs typeface="Times New Roman"/>
              </a:rPr>
              <a:t> </a:t>
            </a:r>
            <a:r>
              <a:rPr cap="small" spc="-5" dirty="0"/>
              <a:t>h</a:t>
            </a:r>
            <a:r>
              <a:rPr cap="small" dirty="0"/>
              <a:t>u</a:t>
            </a:r>
            <a:r>
              <a:rPr cap="small" spc="-5" dirty="0"/>
              <a:t>m</a:t>
            </a:r>
            <a:r>
              <a:rPr cap="small" dirty="0"/>
              <a:t>anas</a:t>
            </a:r>
            <a:r>
              <a:rPr sz="2398" spc="245" dirty="0">
                <a:latin typeface="Times New Roman"/>
                <a:cs typeface="Times New Roman"/>
              </a:rPr>
              <a:t> </a:t>
            </a:r>
            <a:r>
              <a:rPr cap="small" dirty="0"/>
              <a:t>e</a:t>
            </a:r>
            <a:r>
              <a:rPr sz="2398" dirty="0">
                <a:latin typeface="Times New Roman"/>
                <a:cs typeface="Times New Roman"/>
              </a:rPr>
              <a:t> </a:t>
            </a:r>
            <a:r>
              <a:rPr cap="small" dirty="0"/>
              <a:t>organi</a:t>
            </a:r>
            <a:r>
              <a:rPr cap="small" spc="-10" dirty="0"/>
              <a:t>z</a:t>
            </a:r>
            <a:r>
              <a:rPr cap="small" dirty="0"/>
              <a:t>a</a:t>
            </a:r>
            <a:r>
              <a:rPr cap="small" spc="5" dirty="0"/>
              <a:t>c</a:t>
            </a:r>
            <a:r>
              <a:rPr cap="small" dirty="0"/>
              <a:t>iona</a:t>
            </a:r>
            <a:r>
              <a:rPr cap="small" spc="-10" dirty="0"/>
              <a:t>i</a:t>
            </a:r>
            <a:r>
              <a:rPr cap="small" dirty="0"/>
              <a:t>s</a:t>
            </a:r>
            <a:endParaRPr sz="239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3675" y="1594254"/>
            <a:ext cx="7303358" cy="4215672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469477" marR="5075" indent="-456789" algn="just">
              <a:lnSpc>
                <a:spcPct val="130000"/>
              </a:lnSpc>
              <a:spcBef>
                <a:spcPts val="100"/>
              </a:spcBef>
              <a:buClr>
                <a:srgbClr val="94C600"/>
              </a:buClr>
              <a:buSzPct val="67647"/>
              <a:buAutoNum type="arabicPeriod" startAt="6"/>
              <a:tabLst>
                <a:tab pos="469477" algn="l"/>
              </a:tabLst>
            </a:pPr>
            <a:r>
              <a:rPr sz="1698" dirty="0">
                <a:latin typeface="Century Schoolbook"/>
                <a:cs typeface="Century Schoolbook"/>
              </a:rPr>
              <a:t>Quais</a:t>
            </a:r>
            <a:r>
              <a:rPr sz="1698" spc="12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tecnologias</a:t>
            </a:r>
            <a:r>
              <a:rPr sz="1698" spc="14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estão</a:t>
            </a:r>
            <a:r>
              <a:rPr sz="1698" spc="14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disponíveis</a:t>
            </a:r>
            <a:r>
              <a:rPr sz="1698" spc="13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para</a:t>
            </a:r>
            <a:r>
              <a:rPr sz="1698" spc="14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manter</a:t>
            </a:r>
            <a:r>
              <a:rPr sz="1698" spc="14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o</a:t>
            </a:r>
            <a:r>
              <a:rPr sz="1698" spc="140" dirty="0">
                <a:latin typeface="Times New Roman"/>
                <a:cs typeface="Times New Roman"/>
              </a:rPr>
              <a:t> </a:t>
            </a:r>
            <a:r>
              <a:rPr sz="1698" spc="-10" dirty="0">
                <a:latin typeface="Century Schoolbook"/>
                <a:cs typeface="Century Schoolbook"/>
              </a:rPr>
              <a:t>desenvolvimento</a:t>
            </a:r>
            <a:r>
              <a:rPr sz="1698" spc="-1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do</a:t>
            </a:r>
            <a:r>
              <a:rPr sz="1698" spc="5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sistema?</a:t>
            </a:r>
            <a:r>
              <a:rPr sz="1698" spc="5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Métodos</a:t>
            </a:r>
            <a:r>
              <a:rPr sz="1698" spc="55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ágeis</a:t>
            </a:r>
            <a:r>
              <a:rPr sz="1698" spc="55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dependem</a:t>
            </a:r>
            <a:r>
              <a:rPr sz="1698" spc="45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de</a:t>
            </a:r>
            <a:r>
              <a:rPr sz="1698" spc="55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boas</a:t>
            </a:r>
            <a:r>
              <a:rPr sz="1698" spc="5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ferramentas</a:t>
            </a:r>
            <a:r>
              <a:rPr sz="1698" spc="55" dirty="0">
                <a:latin typeface="Times New Roman"/>
                <a:cs typeface="Times New Roman"/>
              </a:rPr>
              <a:t>  </a:t>
            </a:r>
            <a:r>
              <a:rPr sz="1698" spc="-20" dirty="0">
                <a:latin typeface="Century Schoolbook"/>
                <a:cs typeface="Century Schoolbook"/>
              </a:rPr>
              <a:t>para</a:t>
            </a:r>
            <a:r>
              <a:rPr sz="1698" spc="-2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acompanhar</a:t>
            </a:r>
            <a:r>
              <a:rPr sz="1698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um</a:t>
            </a:r>
            <a:r>
              <a:rPr sz="1698" spc="3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sistema</a:t>
            </a:r>
            <a:r>
              <a:rPr sz="1698" spc="3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em</a:t>
            </a:r>
            <a:r>
              <a:rPr sz="1698" spc="50" dirty="0">
                <a:latin typeface="Times New Roman"/>
                <a:cs typeface="Times New Roman"/>
              </a:rPr>
              <a:t> </a:t>
            </a:r>
            <a:r>
              <a:rPr sz="1698" spc="-10" dirty="0">
                <a:latin typeface="Century Schoolbook"/>
                <a:cs typeface="Century Schoolbook"/>
              </a:rPr>
              <a:t>evolução.</a:t>
            </a:r>
            <a:endParaRPr sz="1698">
              <a:latin typeface="Century Schoolbook"/>
              <a:cs typeface="Century Schoolbook"/>
            </a:endParaRPr>
          </a:p>
          <a:p>
            <a:pPr marL="469477" marR="5075" indent="-456789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67647"/>
              <a:buAutoNum type="arabicPeriod" startAt="6"/>
              <a:tabLst>
                <a:tab pos="469477" algn="l"/>
              </a:tabLst>
            </a:pPr>
            <a:r>
              <a:rPr sz="1698" dirty="0">
                <a:latin typeface="Century Schoolbook"/>
                <a:cs typeface="Century Schoolbook"/>
              </a:rPr>
              <a:t>Como</a:t>
            </a:r>
            <a:r>
              <a:rPr sz="1698" spc="11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está</a:t>
            </a:r>
            <a:r>
              <a:rPr sz="1698" spc="114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organizada</a:t>
            </a:r>
            <a:r>
              <a:rPr sz="1698" spc="11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a</a:t>
            </a:r>
            <a:r>
              <a:rPr sz="1698" spc="114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equipe</a:t>
            </a:r>
            <a:r>
              <a:rPr sz="1698" spc="114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</a:t>
            </a:r>
            <a:r>
              <a:rPr sz="1698" spc="11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desenvolvimento?</a:t>
            </a:r>
            <a:r>
              <a:rPr sz="1698" spc="114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Se</a:t>
            </a:r>
            <a:r>
              <a:rPr sz="1698" spc="11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a</a:t>
            </a:r>
            <a:r>
              <a:rPr sz="1698" spc="114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equipe</a:t>
            </a:r>
            <a:r>
              <a:rPr sz="1698" spc="114" dirty="0">
                <a:latin typeface="Times New Roman"/>
                <a:cs typeface="Times New Roman"/>
              </a:rPr>
              <a:t> </a:t>
            </a:r>
            <a:r>
              <a:rPr sz="1698" spc="-25" dirty="0">
                <a:latin typeface="Century Schoolbook"/>
                <a:cs typeface="Century Schoolbook"/>
              </a:rPr>
              <a:t>de</a:t>
            </a:r>
            <a:r>
              <a:rPr sz="1698" spc="-2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desenvolvimento</a:t>
            </a:r>
            <a:r>
              <a:rPr sz="1698" spc="39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está</a:t>
            </a:r>
            <a:r>
              <a:rPr sz="1698" spc="40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distribuída</a:t>
            </a:r>
            <a:r>
              <a:rPr sz="1698" spc="40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ou</a:t>
            </a:r>
            <a:r>
              <a:rPr sz="1698" spc="40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se</a:t>
            </a:r>
            <a:r>
              <a:rPr sz="1698" spc="40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parte</a:t>
            </a:r>
            <a:r>
              <a:rPr sz="1698" spc="40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do</a:t>
            </a:r>
            <a:r>
              <a:rPr sz="1698" spc="405" dirty="0">
                <a:latin typeface="Times New Roman"/>
                <a:cs typeface="Times New Roman"/>
              </a:rPr>
              <a:t> </a:t>
            </a:r>
            <a:r>
              <a:rPr sz="1698" spc="-10" dirty="0">
                <a:latin typeface="Century Schoolbook"/>
                <a:cs typeface="Century Schoolbook"/>
              </a:rPr>
              <a:t>desenvolvimento</a:t>
            </a:r>
            <a:r>
              <a:rPr sz="1698" spc="-1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está</a:t>
            </a:r>
            <a:r>
              <a:rPr sz="1698" spc="21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sendo</a:t>
            </a:r>
            <a:r>
              <a:rPr sz="1698" spc="22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terceirizado</a:t>
            </a:r>
            <a:r>
              <a:rPr sz="1698" spc="22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você</a:t>
            </a:r>
            <a:r>
              <a:rPr sz="1698" spc="22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pode</a:t>
            </a:r>
            <a:r>
              <a:rPr sz="1698" spc="22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precisar</a:t>
            </a:r>
            <a:r>
              <a:rPr sz="1698" spc="22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desenvolver</a:t>
            </a:r>
            <a:r>
              <a:rPr sz="1698" spc="225" dirty="0">
                <a:latin typeface="Times New Roman"/>
                <a:cs typeface="Times New Roman"/>
              </a:rPr>
              <a:t> </a:t>
            </a:r>
            <a:r>
              <a:rPr sz="1698" spc="-10" dirty="0">
                <a:latin typeface="Century Schoolbook"/>
                <a:cs typeface="Century Schoolbook"/>
              </a:rPr>
              <a:t>documentos</a:t>
            </a:r>
            <a:r>
              <a:rPr sz="1698" spc="-1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</a:t>
            </a:r>
            <a:r>
              <a:rPr sz="1698" spc="27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projeto</a:t>
            </a:r>
            <a:r>
              <a:rPr sz="1698" spc="28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para</a:t>
            </a:r>
            <a:r>
              <a:rPr sz="1698" spc="28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que</a:t>
            </a:r>
            <a:r>
              <a:rPr sz="1698" spc="28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haja</a:t>
            </a:r>
            <a:r>
              <a:rPr sz="1698" spc="285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comunicação</a:t>
            </a:r>
            <a:r>
              <a:rPr sz="1698" spc="28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entre</a:t>
            </a:r>
            <a:r>
              <a:rPr sz="1698" spc="28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as</a:t>
            </a:r>
            <a:r>
              <a:rPr sz="1698" spc="285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equipes</a:t>
            </a:r>
            <a:r>
              <a:rPr sz="1698" spc="285" dirty="0">
                <a:latin typeface="Times New Roman"/>
                <a:cs typeface="Times New Roman"/>
              </a:rPr>
              <a:t>  </a:t>
            </a:r>
            <a:r>
              <a:rPr sz="1698" spc="-25" dirty="0">
                <a:latin typeface="Century Schoolbook"/>
                <a:cs typeface="Century Schoolbook"/>
              </a:rPr>
              <a:t>de</a:t>
            </a:r>
            <a:r>
              <a:rPr sz="1698" spc="-25" dirty="0">
                <a:latin typeface="Times New Roman"/>
                <a:cs typeface="Times New Roman"/>
              </a:rPr>
              <a:t> </a:t>
            </a:r>
            <a:r>
              <a:rPr sz="1698" spc="-10" dirty="0">
                <a:latin typeface="Century Schoolbook"/>
                <a:cs typeface="Century Schoolbook"/>
              </a:rPr>
              <a:t>desenvolvimento.</a:t>
            </a:r>
            <a:endParaRPr sz="1698">
              <a:latin typeface="Century Schoolbook"/>
              <a:cs typeface="Century Schoolbook"/>
            </a:endParaRPr>
          </a:p>
          <a:p>
            <a:pPr marL="469477" marR="5075" indent="-456789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67647"/>
              <a:buAutoNum type="arabicPeriod" startAt="6"/>
              <a:tabLst>
                <a:tab pos="469477" algn="l"/>
              </a:tabLst>
            </a:pPr>
            <a:r>
              <a:rPr sz="1698" dirty="0">
                <a:latin typeface="Century Schoolbook"/>
                <a:cs typeface="Century Schoolbook"/>
              </a:rPr>
              <a:t>Existem</a:t>
            </a:r>
            <a:r>
              <a:rPr sz="1698" spc="24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questões</a:t>
            </a:r>
            <a:r>
              <a:rPr sz="1698" spc="27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culturais</a:t>
            </a:r>
            <a:r>
              <a:rPr sz="1698" spc="26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ou</a:t>
            </a:r>
            <a:r>
              <a:rPr sz="1698" spc="26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organizacionais</a:t>
            </a:r>
            <a:r>
              <a:rPr sz="1698" spc="27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que</a:t>
            </a:r>
            <a:r>
              <a:rPr sz="1698" spc="26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podem</a:t>
            </a:r>
            <a:r>
              <a:rPr sz="1698" spc="25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afetar</a:t>
            </a:r>
            <a:r>
              <a:rPr sz="1698" spc="265" dirty="0">
                <a:latin typeface="Times New Roman"/>
                <a:cs typeface="Times New Roman"/>
              </a:rPr>
              <a:t> </a:t>
            </a:r>
            <a:r>
              <a:rPr sz="1698" spc="-50" dirty="0">
                <a:latin typeface="Century Schoolbook"/>
                <a:cs typeface="Century Schoolbook"/>
              </a:rPr>
              <a:t>o</a:t>
            </a:r>
            <a:r>
              <a:rPr sz="1698" spc="-5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desenvolvimento</a:t>
            </a:r>
            <a:r>
              <a:rPr sz="1698" spc="285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do</a:t>
            </a:r>
            <a:r>
              <a:rPr sz="1698" spc="285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sistema?</a:t>
            </a:r>
            <a:r>
              <a:rPr sz="1698" spc="285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As</a:t>
            </a:r>
            <a:r>
              <a:rPr sz="1698" spc="29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organizações</a:t>
            </a:r>
            <a:r>
              <a:rPr sz="1698" spc="285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tradicionais</a:t>
            </a:r>
            <a:r>
              <a:rPr sz="1698" spc="285" dirty="0">
                <a:latin typeface="Times New Roman"/>
                <a:cs typeface="Times New Roman"/>
              </a:rPr>
              <a:t>  </a:t>
            </a:r>
            <a:r>
              <a:rPr sz="1698" spc="-25" dirty="0">
                <a:latin typeface="Century Schoolbook"/>
                <a:cs typeface="Century Schoolbook"/>
              </a:rPr>
              <a:t>de</a:t>
            </a:r>
            <a:r>
              <a:rPr sz="1698" spc="-2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engenharia</a:t>
            </a:r>
            <a:r>
              <a:rPr sz="1698" spc="17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têm</a:t>
            </a:r>
            <a:r>
              <a:rPr sz="1698" spc="16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uma</a:t>
            </a:r>
            <a:r>
              <a:rPr sz="1698" spc="17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cultura</a:t>
            </a:r>
            <a:r>
              <a:rPr sz="1698" spc="16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</a:t>
            </a:r>
            <a:r>
              <a:rPr sz="1698" spc="17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desenvolvimento</a:t>
            </a:r>
            <a:r>
              <a:rPr sz="1698" spc="17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dirigido</a:t>
            </a:r>
            <a:r>
              <a:rPr sz="1698" spc="17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a</a:t>
            </a:r>
            <a:r>
              <a:rPr sz="1698" spc="175" dirty="0">
                <a:latin typeface="Times New Roman"/>
                <a:cs typeface="Times New Roman"/>
              </a:rPr>
              <a:t> </a:t>
            </a:r>
            <a:r>
              <a:rPr sz="1698" spc="-10" dirty="0">
                <a:latin typeface="Century Schoolbook"/>
                <a:cs typeface="Century Schoolbook"/>
              </a:rPr>
              <a:t>planos,</a:t>
            </a:r>
            <a:r>
              <a:rPr sz="1698" spc="-1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o</a:t>
            </a:r>
            <a:r>
              <a:rPr sz="1698" spc="4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que</a:t>
            </a:r>
            <a:r>
              <a:rPr sz="1698" spc="4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é</a:t>
            </a:r>
            <a:r>
              <a:rPr sz="1698" spc="5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padrão</a:t>
            </a:r>
            <a:r>
              <a:rPr sz="1698" spc="3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em</a:t>
            </a:r>
            <a:r>
              <a:rPr sz="1698" spc="40" dirty="0">
                <a:latin typeface="Times New Roman"/>
                <a:cs typeface="Times New Roman"/>
              </a:rPr>
              <a:t> </a:t>
            </a:r>
            <a:r>
              <a:rPr sz="1698" spc="-10" dirty="0">
                <a:latin typeface="Century Schoolbook"/>
                <a:cs typeface="Century Schoolbook"/>
              </a:rPr>
              <a:t>engenharia.</a:t>
            </a:r>
            <a:endParaRPr sz="1698">
              <a:latin typeface="Century Schoolbook"/>
              <a:cs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754978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3676" y="46627"/>
            <a:ext cx="6089726" cy="1614332"/>
          </a:xfrm>
          <a:prstGeom prst="rect">
            <a:avLst/>
          </a:prstGeom>
        </p:spPr>
        <p:txBody>
          <a:bodyPr vert="horz" wrap="square" lIns="0" tIns="31086" rIns="0" bIns="0" rtlCol="0" anchor="ctr">
            <a:spAutoFit/>
          </a:bodyPr>
          <a:lstStyle/>
          <a:p>
            <a:pPr marL="12689" marR="5075">
              <a:lnSpc>
                <a:spcPct val="116700"/>
              </a:lnSpc>
              <a:spcBef>
                <a:spcPts val="245"/>
              </a:spcBef>
            </a:pPr>
            <a:r>
              <a:rPr cap="small" spc="-5" dirty="0"/>
              <a:t>Q</a:t>
            </a:r>
            <a:r>
              <a:rPr cap="small" dirty="0"/>
              <a:t>ue</a:t>
            </a:r>
            <a:r>
              <a:rPr cap="small" spc="-5" dirty="0"/>
              <a:t>s</a:t>
            </a:r>
            <a:r>
              <a:rPr cap="small" spc="-10" dirty="0"/>
              <a:t>t</a:t>
            </a:r>
            <a:r>
              <a:rPr cap="small" dirty="0"/>
              <a:t>ões</a:t>
            </a:r>
            <a:r>
              <a:rPr sz="2398" spc="270" dirty="0">
                <a:latin typeface="Times New Roman"/>
                <a:cs typeface="Times New Roman"/>
              </a:rPr>
              <a:t> </a:t>
            </a:r>
            <a:r>
              <a:rPr cap="small" spc="-10" dirty="0"/>
              <a:t>t</a:t>
            </a:r>
            <a:r>
              <a:rPr cap="small" dirty="0"/>
              <a:t>é</a:t>
            </a:r>
            <a:r>
              <a:rPr cap="small" spc="5" dirty="0"/>
              <a:t>c</a:t>
            </a:r>
            <a:r>
              <a:rPr cap="small" dirty="0"/>
              <a:t>nica</a:t>
            </a:r>
            <a:r>
              <a:rPr cap="small" spc="-10" dirty="0"/>
              <a:t>s</a:t>
            </a:r>
            <a:r>
              <a:rPr cap="small" dirty="0"/>
              <a:t>,</a:t>
            </a:r>
            <a:r>
              <a:rPr spc="105" dirty="0">
                <a:latin typeface="Times New Roman"/>
                <a:cs typeface="Times New Roman"/>
              </a:rPr>
              <a:t> </a:t>
            </a:r>
            <a:r>
              <a:rPr cap="small" spc="-5" dirty="0"/>
              <a:t>h</a:t>
            </a:r>
            <a:r>
              <a:rPr cap="small" dirty="0"/>
              <a:t>u</a:t>
            </a:r>
            <a:r>
              <a:rPr cap="small" spc="-5" dirty="0"/>
              <a:t>m</a:t>
            </a:r>
            <a:r>
              <a:rPr cap="small" dirty="0"/>
              <a:t>anas</a:t>
            </a:r>
            <a:r>
              <a:rPr sz="2398" spc="245" dirty="0">
                <a:latin typeface="Times New Roman"/>
                <a:cs typeface="Times New Roman"/>
              </a:rPr>
              <a:t> </a:t>
            </a:r>
            <a:r>
              <a:rPr cap="small" dirty="0"/>
              <a:t>e</a:t>
            </a:r>
            <a:r>
              <a:rPr sz="2398" dirty="0">
                <a:latin typeface="Times New Roman"/>
                <a:cs typeface="Times New Roman"/>
              </a:rPr>
              <a:t> </a:t>
            </a:r>
            <a:r>
              <a:rPr cap="small" dirty="0"/>
              <a:t>organi</a:t>
            </a:r>
            <a:r>
              <a:rPr cap="small" spc="-10" dirty="0"/>
              <a:t>z</a:t>
            </a:r>
            <a:r>
              <a:rPr cap="small" dirty="0"/>
              <a:t>a</a:t>
            </a:r>
            <a:r>
              <a:rPr cap="small" spc="5" dirty="0"/>
              <a:t>c</a:t>
            </a:r>
            <a:r>
              <a:rPr cap="small" dirty="0"/>
              <a:t>iona</a:t>
            </a:r>
            <a:r>
              <a:rPr cap="small" spc="-10" dirty="0"/>
              <a:t>i</a:t>
            </a:r>
            <a:r>
              <a:rPr cap="small" dirty="0"/>
              <a:t>s</a:t>
            </a:r>
            <a:endParaRPr sz="239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3675" y="1588471"/>
            <a:ext cx="7303358" cy="4238510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469477" marR="6344" indent="-456789" algn="just">
              <a:lnSpc>
                <a:spcPct val="130000"/>
              </a:lnSpc>
              <a:spcBef>
                <a:spcPts val="100"/>
              </a:spcBef>
              <a:buClr>
                <a:srgbClr val="94C600"/>
              </a:buClr>
              <a:buSzPct val="68421"/>
              <a:buAutoNum type="arabicPeriod" startAt="9"/>
              <a:tabLst>
                <a:tab pos="469477" algn="l"/>
              </a:tabLst>
            </a:pPr>
            <a:r>
              <a:rPr sz="1898" dirty="0">
                <a:latin typeface="Century Schoolbook"/>
                <a:cs typeface="Century Schoolbook"/>
              </a:rPr>
              <a:t>O</a:t>
            </a:r>
            <a:r>
              <a:rPr sz="1898" spc="8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quão</a:t>
            </a:r>
            <a:r>
              <a:rPr sz="1898" spc="8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bons</a:t>
            </a:r>
            <a:r>
              <a:rPr sz="1898" spc="9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são</a:t>
            </a:r>
            <a:r>
              <a:rPr sz="1898" spc="8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os</a:t>
            </a:r>
            <a:r>
              <a:rPr sz="1898" spc="7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projetistas</a:t>
            </a:r>
            <a:r>
              <a:rPr sz="1898" spc="8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e</a:t>
            </a:r>
            <a:r>
              <a:rPr sz="1898" spc="8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os</a:t>
            </a:r>
            <a:r>
              <a:rPr sz="1898" spc="7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programadores</a:t>
            </a:r>
            <a:r>
              <a:rPr sz="1898" spc="7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da</a:t>
            </a:r>
            <a:r>
              <a:rPr sz="1898" spc="90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equipe</a:t>
            </a:r>
            <a:r>
              <a:rPr sz="1898" spc="-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</a:t>
            </a:r>
            <a:r>
              <a:rPr sz="1898" spc="254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desenvolvimento?</a:t>
            </a:r>
            <a:r>
              <a:rPr sz="1898" spc="25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É</a:t>
            </a:r>
            <a:r>
              <a:rPr sz="1898" spc="25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dito</a:t>
            </a:r>
            <a:r>
              <a:rPr sz="1898" spc="254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que</a:t>
            </a:r>
            <a:r>
              <a:rPr sz="1898" spc="26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os</a:t>
            </a:r>
            <a:r>
              <a:rPr sz="1898" spc="25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métodos</a:t>
            </a:r>
            <a:r>
              <a:rPr sz="1898" spc="25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ágeis</a:t>
            </a:r>
            <a:r>
              <a:rPr sz="1898" spc="250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requerem</a:t>
            </a:r>
            <a:r>
              <a:rPr sz="1898" spc="-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um</a:t>
            </a:r>
            <a:r>
              <a:rPr sz="1898" spc="8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nível</a:t>
            </a:r>
            <a:r>
              <a:rPr sz="1898" spc="8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de</a:t>
            </a:r>
            <a:r>
              <a:rPr sz="1898" spc="9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habilidade</a:t>
            </a:r>
            <a:r>
              <a:rPr sz="1898" spc="8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mais</a:t>
            </a:r>
            <a:r>
              <a:rPr sz="1898" spc="9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alto</a:t>
            </a:r>
            <a:r>
              <a:rPr sz="1898" spc="8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do</a:t>
            </a:r>
            <a:r>
              <a:rPr sz="1898" spc="9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que</a:t>
            </a:r>
            <a:r>
              <a:rPr sz="1898" spc="9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as</a:t>
            </a:r>
            <a:r>
              <a:rPr sz="1898" spc="85" dirty="0">
                <a:latin typeface="Times New Roman"/>
                <a:cs typeface="Times New Roman"/>
              </a:rPr>
              <a:t>  </a:t>
            </a:r>
            <a:r>
              <a:rPr sz="1898" spc="-10" dirty="0">
                <a:latin typeface="Century Schoolbook"/>
                <a:cs typeface="Century Schoolbook"/>
              </a:rPr>
              <a:t>abordagens</a:t>
            </a:r>
            <a:r>
              <a:rPr sz="1898" spc="-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dirigidas</a:t>
            </a:r>
            <a:r>
              <a:rPr sz="1898" spc="380" dirty="0">
                <a:latin typeface="Times New Roman"/>
                <a:cs typeface="Times New Roman"/>
              </a:rPr>
              <a:t>   </a:t>
            </a:r>
            <a:r>
              <a:rPr sz="1898" dirty="0">
                <a:latin typeface="Century Schoolbook"/>
                <a:cs typeface="Century Schoolbook"/>
              </a:rPr>
              <a:t>a</a:t>
            </a:r>
            <a:r>
              <a:rPr sz="1898" spc="385" dirty="0">
                <a:latin typeface="Times New Roman"/>
                <a:cs typeface="Times New Roman"/>
              </a:rPr>
              <a:t>   </a:t>
            </a:r>
            <a:r>
              <a:rPr sz="1898" dirty="0">
                <a:latin typeface="Century Schoolbook"/>
                <a:cs typeface="Century Schoolbook"/>
              </a:rPr>
              <a:t>planos,</a:t>
            </a:r>
            <a:r>
              <a:rPr sz="1898" spc="385" dirty="0">
                <a:latin typeface="Times New Roman"/>
                <a:cs typeface="Times New Roman"/>
              </a:rPr>
              <a:t>   </a:t>
            </a:r>
            <a:r>
              <a:rPr sz="1898" dirty="0">
                <a:latin typeface="Century Schoolbook"/>
                <a:cs typeface="Century Schoolbook"/>
              </a:rPr>
              <a:t>nas</a:t>
            </a:r>
            <a:r>
              <a:rPr sz="1898" spc="380" dirty="0">
                <a:latin typeface="Times New Roman"/>
                <a:cs typeface="Times New Roman"/>
              </a:rPr>
              <a:t>   </a:t>
            </a:r>
            <a:r>
              <a:rPr sz="1898" dirty="0">
                <a:latin typeface="Century Schoolbook"/>
                <a:cs typeface="Century Schoolbook"/>
              </a:rPr>
              <a:t>quais</a:t>
            </a:r>
            <a:r>
              <a:rPr sz="1898" spc="385" dirty="0">
                <a:latin typeface="Times New Roman"/>
                <a:cs typeface="Times New Roman"/>
              </a:rPr>
              <a:t>   </a:t>
            </a:r>
            <a:r>
              <a:rPr sz="1898" dirty="0">
                <a:latin typeface="Century Schoolbook"/>
                <a:cs typeface="Century Schoolbook"/>
              </a:rPr>
              <a:t>os</a:t>
            </a:r>
            <a:r>
              <a:rPr sz="1898" spc="385" dirty="0">
                <a:latin typeface="Times New Roman"/>
                <a:cs typeface="Times New Roman"/>
              </a:rPr>
              <a:t>   </a:t>
            </a:r>
            <a:r>
              <a:rPr sz="1898" spc="-10" dirty="0">
                <a:latin typeface="Century Schoolbook"/>
                <a:cs typeface="Century Schoolbook"/>
              </a:rPr>
              <a:t>programadores</a:t>
            </a:r>
            <a:r>
              <a:rPr sz="1898" spc="-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simplesmente</a:t>
            </a:r>
            <a:r>
              <a:rPr sz="1898" spc="-2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traduzem</a:t>
            </a:r>
            <a:r>
              <a:rPr sz="1898" spc="-1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um</a:t>
            </a:r>
            <a:r>
              <a:rPr sz="1898" spc="-3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projeto</a:t>
            </a:r>
            <a:r>
              <a:rPr sz="1898" spc="-2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detalhado</a:t>
            </a:r>
            <a:r>
              <a:rPr sz="1898" spc="-1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em</a:t>
            </a:r>
            <a:r>
              <a:rPr sz="1898" spc="-20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código.</a:t>
            </a:r>
            <a:endParaRPr sz="1898">
              <a:latin typeface="Century Schoolbook"/>
              <a:cs typeface="Century Schoolbook"/>
            </a:endParaRPr>
          </a:p>
          <a:p>
            <a:pPr marL="469477" marR="5075" indent="-456789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68421"/>
              <a:buAutoNum type="arabicPeriod" startAt="9"/>
              <a:tabLst>
                <a:tab pos="469477" algn="l"/>
              </a:tabLst>
            </a:pPr>
            <a:r>
              <a:rPr sz="1898" dirty="0">
                <a:latin typeface="Century Schoolbook"/>
                <a:cs typeface="Century Schoolbook"/>
              </a:rPr>
              <a:t>O</a:t>
            </a:r>
            <a:r>
              <a:rPr sz="1898" spc="13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sistema</a:t>
            </a:r>
            <a:r>
              <a:rPr sz="1898" spc="14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está</a:t>
            </a:r>
            <a:r>
              <a:rPr sz="1898" spc="14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sujeito</a:t>
            </a:r>
            <a:r>
              <a:rPr sz="1898" spc="13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a</a:t>
            </a:r>
            <a:r>
              <a:rPr sz="1898" spc="14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regulamentação</a:t>
            </a:r>
            <a:r>
              <a:rPr sz="1898" spc="14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externa?</a:t>
            </a:r>
            <a:r>
              <a:rPr sz="1898" spc="13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Se</a:t>
            </a:r>
            <a:r>
              <a:rPr sz="1898" spc="135" dirty="0">
                <a:latin typeface="Times New Roman"/>
                <a:cs typeface="Times New Roman"/>
              </a:rPr>
              <a:t>  </a:t>
            </a:r>
            <a:r>
              <a:rPr sz="1898" spc="-50" dirty="0">
                <a:latin typeface="Century Schoolbook"/>
                <a:cs typeface="Century Schoolbook"/>
              </a:rPr>
              <a:t>o</a:t>
            </a:r>
            <a:r>
              <a:rPr sz="1898" spc="-5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sistema</a:t>
            </a:r>
            <a:r>
              <a:rPr sz="1898" spc="21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precisa</a:t>
            </a:r>
            <a:r>
              <a:rPr sz="1898" spc="21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ser</a:t>
            </a:r>
            <a:r>
              <a:rPr sz="1898" spc="21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aprovado</a:t>
            </a:r>
            <a:r>
              <a:rPr sz="1898" spc="21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por</a:t>
            </a:r>
            <a:r>
              <a:rPr sz="1898" spc="204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um</a:t>
            </a:r>
            <a:r>
              <a:rPr sz="1898" spc="2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regulador</a:t>
            </a:r>
            <a:r>
              <a:rPr sz="1898" spc="21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externo</a:t>
            </a:r>
            <a:r>
              <a:rPr sz="1898" spc="215" dirty="0">
                <a:latin typeface="Times New Roman"/>
                <a:cs typeface="Times New Roman"/>
              </a:rPr>
              <a:t> </a:t>
            </a:r>
            <a:r>
              <a:rPr sz="1898" spc="-20" dirty="0">
                <a:latin typeface="Century Schoolbook"/>
                <a:cs typeface="Century Schoolbook"/>
              </a:rPr>
              <a:t>(ex.</a:t>
            </a:r>
            <a:r>
              <a:rPr sz="1898" spc="-2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O</a:t>
            </a:r>
            <a:r>
              <a:rPr sz="1898" spc="459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FAA</a:t>
            </a:r>
            <a:r>
              <a:rPr sz="1898" spc="47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aprova</a:t>
            </a:r>
            <a:r>
              <a:rPr sz="1898" spc="46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softwares</a:t>
            </a:r>
            <a:r>
              <a:rPr sz="1898" spc="459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críticos</a:t>
            </a:r>
            <a:r>
              <a:rPr sz="1898" spc="46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para</a:t>
            </a:r>
            <a:r>
              <a:rPr sz="1898" spc="459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a</a:t>
            </a:r>
            <a:r>
              <a:rPr sz="1898" spc="46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operação</a:t>
            </a:r>
            <a:r>
              <a:rPr sz="1898" spc="47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</a:t>
            </a:r>
            <a:r>
              <a:rPr sz="1898" spc="455" dirty="0">
                <a:latin typeface="Times New Roman"/>
                <a:cs typeface="Times New Roman"/>
              </a:rPr>
              <a:t> </a:t>
            </a:r>
            <a:r>
              <a:rPr sz="1898" spc="-25" dirty="0">
                <a:latin typeface="Century Schoolbook"/>
                <a:cs typeface="Century Schoolbook"/>
              </a:rPr>
              <a:t>um</a:t>
            </a:r>
            <a:r>
              <a:rPr sz="1898" spc="-2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avião)</a:t>
            </a:r>
            <a:r>
              <a:rPr sz="1898" spc="21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então</a:t>
            </a:r>
            <a:r>
              <a:rPr sz="1898" spc="2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provavelmente</a:t>
            </a:r>
            <a:r>
              <a:rPr sz="1898" spc="2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requisitaram</a:t>
            </a:r>
            <a:r>
              <a:rPr sz="1898" spc="2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a</a:t>
            </a:r>
            <a:r>
              <a:rPr sz="1898" spc="21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você</a:t>
            </a:r>
            <a:r>
              <a:rPr sz="1898" spc="2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a</a:t>
            </a:r>
            <a:r>
              <a:rPr sz="1898" spc="215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produção</a:t>
            </a:r>
            <a:r>
              <a:rPr sz="1898" spc="-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</a:t>
            </a:r>
            <a:r>
              <a:rPr sz="1898" spc="114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documentação</a:t>
            </a:r>
            <a:r>
              <a:rPr sz="1898" spc="12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detalhada</a:t>
            </a:r>
            <a:r>
              <a:rPr sz="1898" spc="12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como</a:t>
            </a:r>
            <a:r>
              <a:rPr sz="1898" spc="114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parte</a:t>
            </a:r>
            <a:r>
              <a:rPr sz="1898" spc="12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da</a:t>
            </a:r>
            <a:r>
              <a:rPr sz="1898" spc="12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documentação</a:t>
            </a:r>
            <a:r>
              <a:rPr sz="1898" spc="125" dirty="0">
                <a:latin typeface="Times New Roman"/>
                <a:cs typeface="Times New Roman"/>
              </a:rPr>
              <a:t> </a:t>
            </a:r>
            <a:r>
              <a:rPr sz="1898" spc="-25" dirty="0">
                <a:latin typeface="Century Schoolbook"/>
                <a:cs typeface="Century Schoolbook"/>
              </a:rPr>
              <a:t>de</a:t>
            </a:r>
            <a:r>
              <a:rPr sz="1898" spc="-2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segurança</a:t>
            </a:r>
            <a:r>
              <a:rPr sz="1898" spc="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do</a:t>
            </a:r>
            <a:r>
              <a:rPr sz="1898" spc="-20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sistema.</a:t>
            </a:r>
            <a:endParaRPr sz="1898">
              <a:latin typeface="Century Schoolbook"/>
              <a:cs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2121027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3676" y="454488"/>
            <a:ext cx="4638825" cy="1365776"/>
          </a:xfrm>
          <a:prstGeom prst="rect">
            <a:avLst/>
          </a:prstGeom>
        </p:spPr>
        <p:txBody>
          <a:bodyPr vert="horz" wrap="square" lIns="0" tIns="12688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100"/>
              </a:spcBef>
            </a:pPr>
            <a:r>
              <a:rPr cap="small" dirty="0"/>
              <a:t>E</a:t>
            </a:r>
            <a:r>
              <a:rPr cap="small" spc="-5" dirty="0"/>
              <a:t>x</a:t>
            </a:r>
            <a:r>
              <a:rPr cap="small" spc="-10" dirty="0"/>
              <a:t>t</a:t>
            </a:r>
            <a:r>
              <a:rPr cap="small" dirty="0"/>
              <a:t>re</a:t>
            </a:r>
            <a:r>
              <a:rPr cap="small" spc="-5" dirty="0"/>
              <a:t>m</a:t>
            </a:r>
            <a:r>
              <a:rPr cap="small" dirty="0"/>
              <a:t>e</a:t>
            </a:r>
            <a:r>
              <a:rPr sz="2398" spc="275" dirty="0">
                <a:latin typeface="Times New Roman"/>
                <a:cs typeface="Times New Roman"/>
              </a:rPr>
              <a:t> </a:t>
            </a:r>
            <a:r>
              <a:rPr cap="small" dirty="0"/>
              <a:t>Prog</a:t>
            </a:r>
            <a:r>
              <a:rPr cap="small" spc="-5" dirty="0"/>
              <a:t>r</a:t>
            </a:r>
            <a:r>
              <a:rPr cap="small" dirty="0"/>
              <a:t>a</a:t>
            </a:r>
            <a:r>
              <a:rPr cap="small" spc="-5" dirty="0"/>
              <a:t>mm</a:t>
            </a:r>
            <a:r>
              <a:rPr cap="small" dirty="0"/>
              <a:t>i</a:t>
            </a:r>
            <a:r>
              <a:rPr cap="small" spc="-10" dirty="0"/>
              <a:t>n</a:t>
            </a:r>
            <a:r>
              <a:rPr cap="small" dirty="0"/>
              <a:t>g</a:t>
            </a:r>
            <a:endParaRPr sz="239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3676" y="1565628"/>
            <a:ext cx="7302722" cy="4463727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286762" marR="5075" indent="-274073">
              <a:lnSpc>
                <a:spcPct val="150000"/>
              </a:lnSpc>
              <a:spcBef>
                <a:spcPts val="100"/>
              </a:spcBef>
              <a:buClr>
                <a:srgbClr val="94C600"/>
              </a:buClr>
              <a:buSzPct val="68181"/>
              <a:buFont typeface="Wingdings"/>
              <a:buChar char=""/>
              <a:tabLst>
                <a:tab pos="286762" algn="l"/>
                <a:tab pos="1435712" algn="l"/>
                <a:tab pos="2238264" algn="l"/>
                <a:tab pos="2675385" algn="l"/>
                <a:tab pos="3905542" algn="l"/>
                <a:tab pos="4682082" algn="l"/>
                <a:tab pos="5598832" algn="l"/>
                <a:tab pos="7150009" algn="l"/>
              </a:tabLst>
            </a:pPr>
            <a:r>
              <a:rPr sz="2198" spc="-10" dirty="0">
                <a:latin typeface="Century Schoolbook"/>
                <a:cs typeface="Century Schoolbook"/>
              </a:rPr>
              <a:t>Talvez</a:t>
            </a:r>
            <a:r>
              <a:rPr sz="2198" dirty="0">
                <a:latin typeface="Times New Roman"/>
                <a:cs typeface="Times New Roman"/>
              </a:rPr>
              <a:t>	</a:t>
            </a:r>
            <a:r>
              <a:rPr sz="2198" spc="-20" dirty="0">
                <a:latin typeface="Century Schoolbook"/>
                <a:cs typeface="Century Schoolbook"/>
              </a:rPr>
              <a:t>seja</a:t>
            </a:r>
            <a:r>
              <a:rPr sz="2198" dirty="0">
                <a:latin typeface="Times New Roman"/>
                <a:cs typeface="Times New Roman"/>
              </a:rPr>
              <a:t>	</a:t>
            </a:r>
            <a:r>
              <a:rPr sz="2198" spc="-50" dirty="0">
                <a:latin typeface="Century Schoolbook"/>
                <a:cs typeface="Century Schoolbook"/>
              </a:rPr>
              <a:t>o</a:t>
            </a:r>
            <a:r>
              <a:rPr sz="2198" dirty="0">
                <a:latin typeface="Times New Roman"/>
                <a:cs typeface="Times New Roman"/>
              </a:rPr>
              <a:t>	</a:t>
            </a:r>
            <a:r>
              <a:rPr sz="2198" spc="-10" dirty="0">
                <a:latin typeface="Century Schoolbook"/>
                <a:cs typeface="Century Schoolbook"/>
              </a:rPr>
              <a:t>método</a:t>
            </a:r>
            <a:r>
              <a:rPr sz="2198" dirty="0">
                <a:latin typeface="Times New Roman"/>
                <a:cs typeface="Times New Roman"/>
              </a:rPr>
              <a:t>	</a:t>
            </a:r>
            <a:r>
              <a:rPr sz="2198" spc="-20" dirty="0">
                <a:latin typeface="Century Schoolbook"/>
                <a:cs typeface="Century Schoolbook"/>
              </a:rPr>
              <a:t>ágil</a:t>
            </a:r>
            <a:r>
              <a:rPr sz="2198" dirty="0">
                <a:latin typeface="Times New Roman"/>
                <a:cs typeface="Times New Roman"/>
              </a:rPr>
              <a:t>	</a:t>
            </a:r>
            <a:r>
              <a:rPr sz="2198" spc="-20" dirty="0">
                <a:latin typeface="Century Schoolbook"/>
                <a:cs typeface="Century Schoolbook"/>
              </a:rPr>
              <a:t>mais</a:t>
            </a:r>
            <a:r>
              <a:rPr sz="2198" dirty="0">
                <a:latin typeface="Times New Roman"/>
                <a:cs typeface="Times New Roman"/>
              </a:rPr>
              <a:t>	</a:t>
            </a:r>
            <a:r>
              <a:rPr sz="2198" spc="-10" dirty="0">
                <a:latin typeface="Century Schoolbook"/>
                <a:cs typeface="Century Schoolbook"/>
              </a:rPr>
              <a:t>conhecido</a:t>
            </a:r>
            <a:r>
              <a:rPr sz="2198" dirty="0">
                <a:latin typeface="Times New Roman"/>
                <a:cs typeface="Times New Roman"/>
              </a:rPr>
              <a:t>	</a:t>
            </a:r>
            <a:r>
              <a:rPr sz="2198" spc="-50" dirty="0">
                <a:latin typeface="Century Schoolbook"/>
                <a:cs typeface="Century Schoolbook"/>
              </a:rPr>
              <a:t>e</a:t>
            </a:r>
            <a:r>
              <a:rPr sz="2198" spc="-5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amplamente</a:t>
            </a:r>
            <a:r>
              <a:rPr sz="2198" spc="-95" dirty="0">
                <a:latin typeface="Times New Roman"/>
                <a:cs typeface="Times New Roman"/>
              </a:rPr>
              <a:t> </a:t>
            </a:r>
            <a:r>
              <a:rPr sz="2198" spc="-10" dirty="0">
                <a:latin typeface="Century Schoolbook"/>
                <a:cs typeface="Century Schoolbook"/>
              </a:rPr>
              <a:t>usado.</a:t>
            </a:r>
            <a:endParaRPr sz="2198">
              <a:latin typeface="Century Schoolbook"/>
              <a:cs typeface="Century Schoolbook"/>
            </a:endParaRPr>
          </a:p>
          <a:p>
            <a:pPr marL="286762" marR="6344" indent="-274073">
              <a:lnSpc>
                <a:spcPct val="150000"/>
              </a:lnSpc>
              <a:spcBef>
                <a:spcPts val="599"/>
              </a:spcBef>
              <a:buClr>
                <a:srgbClr val="94C600"/>
              </a:buClr>
              <a:buSzPct val="68181"/>
              <a:buFont typeface="Wingdings"/>
              <a:buChar char=""/>
              <a:tabLst>
                <a:tab pos="286762" algn="l"/>
                <a:tab pos="647117" algn="l"/>
                <a:tab pos="1903286" algn="l"/>
                <a:tab pos="3829410" algn="l"/>
                <a:tab pos="4543777" algn="l"/>
                <a:tab pos="5145215" algn="l"/>
                <a:tab pos="5863388" algn="l"/>
              </a:tabLst>
            </a:pPr>
            <a:r>
              <a:rPr sz="2198" spc="-50" dirty="0">
                <a:latin typeface="Century Schoolbook"/>
                <a:cs typeface="Century Schoolbook"/>
              </a:rPr>
              <a:t>O</a:t>
            </a:r>
            <a:r>
              <a:rPr sz="2198" dirty="0">
                <a:latin typeface="Times New Roman"/>
                <a:cs typeface="Times New Roman"/>
              </a:rPr>
              <a:t>	</a:t>
            </a:r>
            <a:r>
              <a:rPr sz="2198" spc="-10" dirty="0">
                <a:latin typeface="Century Schoolbook"/>
                <a:cs typeface="Century Schoolbook"/>
              </a:rPr>
              <a:t>Extreme</a:t>
            </a:r>
            <a:r>
              <a:rPr sz="2198" dirty="0">
                <a:latin typeface="Times New Roman"/>
                <a:cs typeface="Times New Roman"/>
              </a:rPr>
              <a:t>	</a:t>
            </a:r>
            <a:r>
              <a:rPr sz="2198" spc="-10" dirty="0">
                <a:latin typeface="Century Schoolbook"/>
                <a:cs typeface="Century Schoolbook"/>
              </a:rPr>
              <a:t>Programming</a:t>
            </a:r>
            <a:r>
              <a:rPr sz="2198" dirty="0">
                <a:latin typeface="Times New Roman"/>
                <a:cs typeface="Times New Roman"/>
              </a:rPr>
              <a:t>	</a:t>
            </a:r>
            <a:r>
              <a:rPr sz="2198" spc="-20" dirty="0">
                <a:latin typeface="Century Schoolbook"/>
                <a:cs typeface="Century Schoolbook"/>
              </a:rPr>
              <a:t>(XP)</a:t>
            </a:r>
            <a:r>
              <a:rPr sz="2198" dirty="0">
                <a:latin typeface="Times New Roman"/>
                <a:cs typeface="Times New Roman"/>
              </a:rPr>
              <a:t>	</a:t>
            </a:r>
            <a:r>
              <a:rPr sz="2198" spc="-25" dirty="0">
                <a:latin typeface="Century Schoolbook"/>
                <a:cs typeface="Century Schoolbook"/>
              </a:rPr>
              <a:t>usa</a:t>
            </a:r>
            <a:r>
              <a:rPr sz="2198" dirty="0">
                <a:latin typeface="Times New Roman"/>
                <a:cs typeface="Times New Roman"/>
              </a:rPr>
              <a:t>	</a:t>
            </a:r>
            <a:r>
              <a:rPr sz="2198" spc="-25" dirty="0">
                <a:latin typeface="Century Schoolbook"/>
                <a:cs typeface="Century Schoolbook"/>
              </a:rPr>
              <a:t>uma</a:t>
            </a:r>
            <a:r>
              <a:rPr sz="2198" dirty="0">
                <a:latin typeface="Times New Roman"/>
                <a:cs typeface="Times New Roman"/>
              </a:rPr>
              <a:t>	</a:t>
            </a:r>
            <a:r>
              <a:rPr sz="2198" spc="-10" dirty="0">
                <a:latin typeface="Century Schoolbook"/>
                <a:cs typeface="Century Schoolbook"/>
              </a:rPr>
              <a:t>abordagem</a:t>
            </a:r>
            <a:r>
              <a:rPr sz="2198" spc="-1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'extrema'</a:t>
            </a:r>
            <a:r>
              <a:rPr sz="2198" spc="-3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ao</a:t>
            </a:r>
            <a:r>
              <a:rPr sz="2198" spc="-3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desenvolvimento</a:t>
            </a:r>
            <a:r>
              <a:rPr sz="2198" spc="-45" dirty="0">
                <a:latin typeface="Times New Roman"/>
                <a:cs typeface="Times New Roman"/>
              </a:rPr>
              <a:t> </a:t>
            </a:r>
            <a:r>
              <a:rPr sz="2198" spc="-10" dirty="0">
                <a:latin typeface="Century Schoolbook"/>
                <a:cs typeface="Century Schoolbook"/>
              </a:rPr>
              <a:t>iterativo.</a:t>
            </a:r>
            <a:endParaRPr sz="2198">
              <a:latin typeface="Century Schoolbook"/>
              <a:cs typeface="Century Schoolbook"/>
            </a:endParaRPr>
          </a:p>
          <a:p>
            <a:pPr marL="652192" lvl="1" indent="-274708">
              <a:spcBef>
                <a:spcPts val="1663"/>
              </a:spcBef>
              <a:buClr>
                <a:srgbClr val="94C600"/>
              </a:buClr>
              <a:buSzPct val="78947"/>
              <a:buFont typeface="Wingdings 2"/>
              <a:buChar char=""/>
              <a:tabLst>
                <a:tab pos="651558" algn="l"/>
                <a:tab pos="652192" algn="l"/>
              </a:tabLst>
            </a:pPr>
            <a:r>
              <a:rPr sz="1898" dirty="0">
                <a:latin typeface="Century Schoolbook"/>
                <a:cs typeface="Century Schoolbook"/>
              </a:rPr>
              <a:t>Novas</a:t>
            </a:r>
            <a:r>
              <a:rPr sz="1898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versões</a:t>
            </a:r>
            <a:r>
              <a:rPr sz="1898" spc="-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podem</a:t>
            </a:r>
            <a:r>
              <a:rPr sz="1898" spc="-1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ser</a:t>
            </a:r>
            <a:r>
              <a:rPr sz="1898" spc="-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construídas</a:t>
            </a:r>
            <a:r>
              <a:rPr sz="1898" spc="-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várias</a:t>
            </a:r>
            <a:r>
              <a:rPr sz="1898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vezes</a:t>
            </a:r>
            <a:r>
              <a:rPr sz="1898" spc="-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por</a:t>
            </a:r>
            <a:r>
              <a:rPr sz="1898" spc="-25" dirty="0">
                <a:latin typeface="Times New Roman"/>
                <a:cs typeface="Times New Roman"/>
              </a:rPr>
              <a:t> </a:t>
            </a:r>
            <a:r>
              <a:rPr sz="1898" spc="-20" dirty="0">
                <a:latin typeface="Century Schoolbook"/>
                <a:cs typeface="Century Schoolbook"/>
              </a:rPr>
              <a:t>dia;</a:t>
            </a:r>
            <a:endParaRPr sz="1898">
              <a:latin typeface="Century Schoolbook"/>
              <a:cs typeface="Century Schoolbook"/>
            </a:endParaRPr>
          </a:p>
          <a:p>
            <a:pPr marL="652192" lvl="1" indent="-274708" algn="just">
              <a:spcBef>
                <a:spcPts val="1599"/>
              </a:spcBef>
              <a:buClr>
                <a:srgbClr val="94C600"/>
              </a:buClr>
              <a:buSzPct val="78947"/>
              <a:buFont typeface="Wingdings 2"/>
              <a:buChar char=""/>
              <a:tabLst>
                <a:tab pos="652192" algn="l"/>
              </a:tabLst>
            </a:pPr>
            <a:r>
              <a:rPr sz="1898" dirty="0">
                <a:latin typeface="Century Schoolbook"/>
                <a:cs typeface="Century Schoolbook"/>
              </a:rPr>
              <a:t>Incrementos</a:t>
            </a:r>
            <a:r>
              <a:rPr sz="1898" spc="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são</a:t>
            </a:r>
            <a:r>
              <a:rPr sz="1898" spc="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entregues</a:t>
            </a:r>
            <a:r>
              <a:rPr sz="1898" spc="-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aos</a:t>
            </a:r>
            <a:r>
              <a:rPr sz="1898" spc="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clientes</a:t>
            </a:r>
            <a:r>
              <a:rPr sz="1898" spc="-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a</a:t>
            </a:r>
            <a:r>
              <a:rPr sz="1898" spc="-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cada</a:t>
            </a:r>
            <a:r>
              <a:rPr sz="1898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2</a:t>
            </a:r>
            <a:r>
              <a:rPr sz="1898" spc="-5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semanas;</a:t>
            </a:r>
            <a:endParaRPr sz="1898">
              <a:latin typeface="Century Schoolbook"/>
              <a:cs typeface="Century Schoolbook"/>
            </a:endParaRPr>
          </a:p>
          <a:p>
            <a:pPr marL="651558" marR="5710" lvl="1" indent="-274073" algn="just">
              <a:lnSpc>
                <a:spcPct val="150000"/>
              </a:lnSpc>
              <a:spcBef>
                <a:spcPts val="455"/>
              </a:spcBef>
              <a:buClr>
                <a:srgbClr val="94C600"/>
              </a:buClr>
              <a:buSzPct val="78947"/>
              <a:buFont typeface="Wingdings 2"/>
              <a:buChar char=""/>
              <a:tabLst>
                <a:tab pos="652192" algn="l"/>
              </a:tabLst>
            </a:pPr>
            <a:r>
              <a:rPr sz="1898" dirty="0">
                <a:latin typeface="Century Schoolbook"/>
                <a:cs typeface="Century Schoolbook"/>
              </a:rPr>
              <a:t>Todos</a:t>
            </a:r>
            <a:r>
              <a:rPr sz="1898" spc="9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os</a:t>
            </a:r>
            <a:r>
              <a:rPr sz="1898" spc="9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testes</a:t>
            </a:r>
            <a:r>
              <a:rPr sz="1898" spc="10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devem</a:t>
            </a:r>
            <a:r>
              <a:rPr sz="1898" spc="9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ser</a:t>
            </a:r>
            <a:r>
              <a:rPr sz="1898" spc="10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realizados</a:t>
            </a:r>
            <a:r>
              <a:rPr sz="1898" spc="9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em</a:t>
            </a:r>
            <a:r>
              <a:rPr sz="1898" spc="10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todas</a:t>
            </a:r>
            <a:r>
              <a:rPr sz="1898" spc="9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as</a:t>
            </a:r>
            <a:r>
              <a:rPr sz="1898" spc="10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versões</a:t>
            </a:r>
            <a:r>
              <a:rPr sz="1898" spc="95" dirty="0">
                <a:latin typeface="Times New Roman"/>
                <a:cs typeface="Times New Roman"/>
              </a:rPr>
              <a:t> </a:t>
            </a:r>
            <a:r>
              <a:rPr sz="1898" spc="-50" dirty="0">
                <a:latin typeface="Century Schoolbook"/>
                <a:cs typeface="Century Schoolbook"/>
              </a:rPr>
              <a:t>e</a:t>
            </a:r>
            <a:r>
              <a:rPr sz="1898" spc="-5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cada</a:t>
            </a:r>
            <a:r>
              <a:rPr sz="1898" spc="29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versão</a:t>
            </a:r>
            <a:r>
              <a:rPr sz="1898" spc="29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só</a:t>
            </a:r>
            <a:r>
              <a:rPr sz="1898" spc="29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é</a:t>
            </a:r>
            <a:r>
              <a:rPr sz="1898" spc="29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aceita</a:t>
            </a:r>
            <a:r>
              <a:rPr sz="1898" spc="30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se</a:t>
            </a:r>
            <a:r>
              <a:rPr sz="1898" spc="30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os</a:t>
            </a:r>
            <a:r>
              <a:rPr sz="1898" spc="29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testes</a:t>
            </a:r>
            <a:r>
              <a:rPr sz="1898" spc="29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forem</a:t>
            </a:r>
            <a:r>
              <a:rPr sz="1898" spc="29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concluídos</a:t>
            </a:r>
            <a:r>
              <a:rPr sz="1898" spc="290" dirty="0">
                <a:latin typeface="Times New Roman"/>
                <a:cs typeface="Times New Roman"/>
              </a:rPr>
              <a:t> </a:t>
            </a:r>
            <a:r>
              <a:rPr sz="1898" spc="-25" dirty="0">
                <a:latin typeface="Century Schoolbook"/>
                <a:cs typeface="Century Schoolbook"/>
              </a:rPr>
              <a:t>com</a:t>
            </a:r>
            <a:r>
              <a:rPr sz="1898" spc="-25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sucesso.</a:t>
            </a:r>
            <a:endParaRPr sz="1898">
              <a:latin typeface="Century Schoolbook"/>
              <a:cs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3551173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3676" y="454488"/>
            <a:ext cx="7330637" cy="1365776"/>
          </a:xfrm>
          <a:prstGeom prst="rect">
            <a:avLst/>
          </a:prstGeom>
        </p:spPr>
        <p:txBody>
          <a:bodyPr vert="horz" wrap="square" lIns="0" tIns="12688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100"/>
              </a:spcBef>
            </a:pPr>
            <a:r>
              <a:rPr cap="small" dirty="0"/>
              <a:t>Prin</a:t>
            </a:r>
            <a:r>
              <a:rPr cap="small" spc="5" dirty="0"/>
              <a:t>c</a:t>
            </a:r>
            <a:r>
              <a:rPr cap="small" dirty="0"/>
              <a:t>ípi</a:t>
            </a:r>
            <a:r>
              <a:rPr cap="small" spc="-10" dirty="0"/>
              <a:t>o</a:t>
            </a:r>
            <a:r>
              <a:rPr cap="small" dirty="0"/>
              <a:t>s</a:t>
            </a:r>
            <a:r>
              <a:rPr sz="2398" spc="235" dirty="0">
                <a:latin typeface="Times New Roman"/>
                <a:cs typeface="Times New Roman"/>
              </a:rPr>
              <a:t> </a:t>
            </a:r>
            <a:r>
              <a:rPr cap="small" dirty="0"/>
              <a:t>os</a:t>
            </a:r>
            <a:r>
              <a:rPr sz="2398" spc="245" dirty="0">
                <a:latin typeface="Times New Roman"/>
                <a:cs typeface="Times New Roman"/>
              </a:rPr>
              <a:t> </a:t>
            </a:r>
            <a:r>
              <a:rPr cap="small" spc="-5" dirty="0"/>
              <a:t>m</a:t>
            </a:r>
            <a:r>
              <a:rPr cap="small" dirty="0"/>
              <a:t>é</a:t>
            </a:r>
            <a:r>
              <a:rPr cap="small" spc="-10" dirty="0"/>
              <a:t>t</a:t>
            </a:r>
            <a:r>
              <a:rPr cap="small" dirty="0"/>
              <a:t>odos</a:t>
            </a:r>
            <a:r>
              <a:rPr sz="2398" spc="254" dirty="0">
                <a:latin typeface="Times New Roman"/>
                <a:cs typeface="Times New Roman"/>
              </a:rPr>
              <a:t> </a:t>
            </a:r>
            <a:r>
              <a:rPr cap="small" dirty="0"/>
              <a:t>ágeis</a:t>
            </a:r>
            <a:r>
              <a:rPr sz="2398" spc="254" dirty="0">
                <a:latin typeface="Times New Roman"/>
                <a:cs typeface="Times New Roman"/>
              </a:rPr>
              <a:t> </a:t>
            </a:r>
            <a:r>
              <a:rPr cap="small" dirty="0"/>
              <a:t>e</a:t>
            </a:r>
            <a:r>
              <a:rPr sz="2398" spc="265" dirty="0">
                <a:latin typeface="Times New Roman"/>
                <a:cs typeface="Times New Roman"/>
              </a:rPr>
              <a:t> </a:t>
            </a:r>
            <a:r>
              <a:rPr cap="small" dirty="0"/>
              <a:t>do</a:t>
            </a:r>
            <a:r>
              <a:rPr sz="2398" spc="250" dirty="0">
                <a:latin typeface="Times New Roman"/>
                <a:cs typeface="Times New Roman"/>
              </a:rPr>
              <a:t> </a:t>
            </a:r>
            <a:r>
              <a:rPr cap="small" spc="5" dirty="0"/>
              <a:t>X</a:t>
            </a:r>
            <a:r>
              <a:rPr cap="small" dirty="0"/>
              <a:t>P</a:t>
            </a:r>
            <a:endParaRPr sz="239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3676" y="1586646"/>
            <a:ext cx="7302722" cy="4684502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286762" marR="6344" indent="-274073" algn="just">
              <a:lnSpc>
                <a:spcPct val="130000"/>
              </a:lnSpc>
              <a:spcBef>
                <a:spcPts val="100"/>
              </a:spcBef>
              <a:buClr>
                <a:srgbClr val="94C600"/>
              </a:buClr>
              <a:buSzPct val="70000"/>
              <a:buFont typeface="Wingdings"/>
              <a:buChar char=""/>
              <a:tabLst>
                <a:tab pos="286762" algn="l"/>
              </a:tabLst>
            </a:pPr>
            <a:r>
              <a:rPr sz="1998" dirty="0">
                <a:latin typeface="Century Schoolbook"/>
                <a:cs typeface="Century Schoolbook"/>
              </a:rPr>
              <a:t>O</a:t>
            </a:r>
            <a:r>
              <a:rPr sz="1998" spc="26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desenvolvimento</a:t>
            </a:r>
            <a:r>
              <a:rPr sz="1998" spc="26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incremental</a:t>
            </a:r>
            <a:r>
              <a:rPr sz="1998" spc="26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é</a:t>
            </a:r>
            <a:r>
              <a:rPr sz="1998" spc="254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mantido</a:t>
            </a:r>
            <a:r>
              <a:rPr sz="1998" spc="26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através</a:t>
            </a:r>
            <a:r>
              <a:rPr sz="1998" spc="254" dirty="0">
                <a:latin typeface="Times New Roman"/>
                <a:cs typeface="Times New Roman"/>
              </a:rPr>
              <a:t>  </a:t>
            </a:r>
            <a:r>
              <a:rPr sz="1998" spc="-25" dirty="0">
                <a:latin typeface="Century Schoolbook"/>
                <a:cs typeface="Century Schoolbook"/>
              </a:rPr>
              <a:t>de</a:t>
            </a:r>
            <a:r>
              <a:rPr sz="1998" spc="-2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releases</a:t>
            </a:r>
            <a:r>
              <a:rPr sz="1998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de</a:t>
            </a:r>
            <a:r>
              <a:rPr sz="1998" spc="4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sistema</a:t>
            </a:r>
            <a:r>
              <a:rPr sz="1998" spc="3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pequenos</a:t>
            </a:r>
            <a:r>
              <a:rPr sz="1998" spc="2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</a:t>
            </a:r>
            <a:r>
              <a:rPr sz="1998" spc="50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frequentes.</a:t>
            </a:r>
            <a:endParaRPr sz="1998">
              <a:latin typeface="Century Schoolbook"/>
              <a:cs typeface="Century Schoolbook"/>
            </a:endParaRPr>
          </a:p>
          <a:p>
            <a:pPr marL="286762" marR="6344" indent="-274073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70000"/>
              <a:buFont typeface="Wingdings"/>
              <a:buChar char=""/>
              <a:tabLst>
                <a:tab pos="286762" algn="l"/>
              </a:tabLst>
            </a:pPr>
            <a:r>
              <a:rPr sz="1998" dirty="0">
                <a:latin typeface="Century Schoolbook"/>
                <a:cs typeface="Century Schoolbook"/>
              </a:rPr>
              <a:t>O</a:t>
            </a:r>
            <a:r>
              <a:rPr sz="1998" spc="16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envolvimento</a:t>
            </a:r>
            <a:r>
              <a:rPr sz="1998" spc="17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do</a:t>
            </a:r>
            <a:r>
              <a:rPr sz="1998" spc="17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cliente</a:t>
            </a:r>
            <a:r>
              <a:rPr sz="1998" spc="18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significa</a:t>
            </a:r>
            <a:r>
              <a:rPr sz="1998" spc="17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compromisso</a:t>
            </a:r>
            <a:r>
              <a:rPr sz="1998" spc="16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do</a:t>
            </a:r>
            <a:r>
              <a:rPr sz="1998" spc="180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cliente</a:t>
            </a:r>
            <a:r>
              <a:rPr sz="1998" spc="-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com</a:t>
            </a:r>
            <a:r>
              <a:rPr sz="1998" spc="3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a</a:t>
            </a:r>
            <a:r>
              <a:rPr sz="1998" spc="5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equipe</a:t>
            </a:r>
            <a:r>
              <a:rPr sz="1998" spc="2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em</a:t>
            </a:r>
            <a:r>
              <a:rPr sz="1998" spc="3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tempo</a:t>
            </a:r>
            <a:r>
              <a:rPr sz="1998" spc="35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integral.</a:t>
            </a:r>
            <a:endParaRPr sz="1998">
              <a:latin typeface="Century Schoolbook"/>
              <a:cs typeface="Century Schoolbook"/>
            </a:endParaRPr>
          </a:p>
          <a:p>
            <a:pPr marL="286762" marR="5075" indent="-274073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70000"/>
              <a:buFont typeface="Wingdings"/>
              <a:buChar char=""/>
              <a:tabLst>
                <a:tab pos="286762" algn="l"/>
              </a:tabLst>
            </a:pPr>
            <a:r>
              <a:rPr sz="1998" dirty="0">
                <a:latin typeface="Century Schoolbook"/>
                <a:cs typeface="Century Schoolbook"/>
              </a:rPr>
              <a:t>'Pessoas</a:t>
            </a:r>
            <a:r>
              <a:rPr sz="1998" spc="2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e</a:t>
            </a:r>
            <a:r>
              <a:rPr sz="1998" spc="3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não</a:t>
            </a:r>
            <a:r>
              <a:rPr sz="1998" spc="3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processos’</a:t>
            </a:r>
            <a:r>
              <a:rPr sz="1998" spc="210" dirty="0">
                <a:latin typeface="Times New Roman"/>
                <a:cs typeface="Times New Roman"/>
              </a:rPr>
              <a:t>   </a:t>
            </a:r>
            <a:r>
              <a:rPr sz="1998" dirty="0">
                <a:latin typeface="Century Schoolbook"/>
                <a:cs typeface="Century Schoolbook"/>
              </a:rPr>
              <a:t>por</a:t>
            </a:r>
            <a:r>
              <a:rPr sz="1998" spc="3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meio</a:t>
            </a:r>
            <a:r>
              <a:rPr sz="1998" spc="2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de</a:t>
            </a:r>
            <a:r>
              <a:rPr sz="1998" spc="3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programação</a:t>
            </a:r>
            <a:r>
              <a:rPr sz="1998" spc="30" dirty="0">
                <a:latin typeface="Times New Roman"/>
                <a:cs typeface="Times New Roman"/>
              </a:rPr>
              <a:t>  </a:t>
            </a:r>
            <a:r>
              <a:rPr sz="1998" spc="-25" dirty="0">
                <a:latin typeface="Century Schoolbook"/>
                <a:cs typeface="Century Schoolbook"/>
              </a:rPr>
              <a:t>em</a:t>
            </a:r>
            <a:r>
              <a:rPr sz="1998" spc="-2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pares,</a:t>
            </a:r>
            <a:r>
              <a:rPr sz="1998" spc="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propriedade</a:t>
            </a:r>
            <a:r>
              <a:rPr sz="1998" spc="1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coletiva</a:t>
            </a:r>
            <a:r>
              <a:rPr sz="1998" spc="1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do</a:t>
            </a:r>
            <a:r>
              <a:rPr sz="1998" spc="1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código</a:t>
            </a:r>
            <a:r>
              <a:rPr sz="1998" spc="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e</a:t>
            </a:r>
            <a:r>
              <a:rPr sz="1998" spc="1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um</a:t>
            </a:r>
            <a:r>
              <a:rPr sz="1998" spc="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processo</a:t>
            </a:r>
            <a:r>
              <a:rPr sz="1998" spc="15" dirty="0">
                <a:latin typeface="Times New Roman"/>
                <a:cs typeface="Times New Roman"/>
              </a:rPr>
              <a:t>  </a:t>
            </a:r>
            <a:r>
              <a:rPr sz="1998" spc="-25" dirty="0">
                <a:latin typeface="Century Schoolbook"/>
                <a:cs typeface="Century Schoolbook"/>
              </a:rPr>
              <a:t>que</a:t>
            </a:r>
            <a:r>
              <a:rPr sz="1998" spc="-2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evita</a:t>
            </a:r>
            <a:r>
              <a:rPr sz="1998" spc="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longas</a:t>
            </a:r>
            <a:r>
              <a:rPr sz="1998" spc="2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horas</a:t>
            </a:r>
            <a:r>
              <a:rPr sz="1998" spc="4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de</a:t>
            </a:r>
            <a:r>
              <a:rPr sz="1998" spc="50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trabalho.</a:t>
            </a:r>
            <a:endParaRPr sz="1998">
              <a:latin typeface="Century Schoolbook"/>
              <a:cs typeface="Century Schoolbook"/>
            </a:endParaRPr>
          </a:p>
          <a:p>
            <a:pPr marL="286762" marR="5075" indent="-274073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70000"/>
              <a:buFont typeface="Wingdings"/>
              <a:buChar char=""/>
              <a:tabLst>
                <a:tab pos="286762" algn="l"/>
              </a:tabLst>
            </a:pPr>
            <a:r>
              <a:rPr sz="1998" dirty="0">
                <a:latin typeface="Century Schoolbook"/>
                <a:cs typeface="Century Schoolbook"/>
              </a:rPr>
              <a:t>Mudanças</a:t>
            </a:r>
            <a:r>
              <a:rPr sz="1998" spc="15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suportadas</a:t>
            </a:r>
            <a:r>
              <a:rPr sz="1998" spc="15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através</a:t>
            </a:r>
            <a:r>
              <a:rPr sz="1998" spc="15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de</a:t>
            </a:r>
            <a:r>
              <a:rPr sz="1998" spc="15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releases</a:t>
            </a:r>
            <a:r>
              <a:rPr sz="1998" spc="15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regulares</a:t>
            </a:r>
            <a:r>
              <a:rPr sz="1998" spc="155" dirty="0">
                <a:latin typeface="Times New Roman"/>
                <a:cs typeface="Times New Roman"/>
              </a:rPr>
              <a:t>  </a:t>
            </a:r>
            <a:r>
              <a:rPr sz="1998" spc="-25" dirty="0">
                <a:latin typeface="Century Schoolbook"/>
                <a:cs typeface="Century Schoolbook"/>
              </a:rPr>
              <a:t>de</a:t>
            </a:r>
            <a:r>
              <a:rPr sz="1998" spc="-25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sistema.</a:t>
            </a:r>
            <a:endParaRPr sz="1998">
              <a:latin typeface="Century Schoolbook"/>
              <a:cs typeface="Century Schoolbook"/>
            </a:endParaRPr>
          </a:p>
          <a:p>
            <a:pPr marL="286762" marR="5075" indent="-274073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70000"/>
              <a:buFont typeface="Wingdings"/>
              <a:buChar char=""/>
              <a:tabLst>
                <a:tab pos="286762" algn="l"/>
              </a:tabLst>
            </a:pPr>
            <a:r>
              <a:rPr sz="1998" dirty="0">
                <a:latin typeface="Century Schoolbook"/>
                <a:cs typeface="Century Schoolbook"/>
              </a:rPr>
              <a:t>Manter</a:t>
            </a:r>
            <a:r>
              <a:rPr sz="1998" spc="17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a</a:t>
            </a:r>
            <a:r>
              <a:rPr sz="1998" spc="17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simplicidade</a:t>
            </a:r>
            <a:r>
              <a:rPr sz="1998" spc="18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através</a:t>
            </a:r>
            <a:r>
              <a:rPr sz="1998" spc="17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de</a:t>
            </a:r>
            <a:r>
              <a:rPr sz="1998" spc="18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constante</a:t>
            </a:r>
            <a:r>
              <a:rPr sz="1998" spc="19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refatoração</a:t>
            </a:r>
            <a:r>
              <a:rPr sz="1998" spc="175" dirty="0">
                <a:latin typeface="Times New Roman"/>
                <a:cs typeface="Times New Roman"/>
              </a:rPr>
              <a:t> </a:t>
            </a:r>
            <a:r>
              <a:rPr sz="1998" spc="-25" dirty="0">
                <a:latin typeface="Century Schoolbook"/>
                <a:cs typeface="Century Schoolbook"/>
              </a:rPr>
              <a:t>de</a:t>
            </a:r>
            <a:r>
              <a:rPr sz="1998" spc="-25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código.</a:t>
            </a:r>
            <a:endParaRPr sz="1998">
              <a:latin typeface="Century Schoolbook"/>
              <a:cs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425467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3676" y="439521"/>
            <a:ext cx="6981710" cy="938931"/>
          </a:xfrm>
          <a:prstGeom prst="rect">
            <a:avLst/>
          </a:prstGeom>
        </p:spPr>
        <p:txBody>
          <a:bodyPr vert="horz" wrap="square" lIns="0" tIns="12688" rIns="0" bIns="0" rtlCol="0" anchor="ctr">
            <a:spAutoFit/>
          </a:bodyPr>
          <a:lstStyle/>
          <a:p>
            <a:pPr marL="12689" marR="5075">
              <a:lnSpc>
                <a:spcPct val="100000"/>
              </a:lnSpc>
              <a:spcBef>
                <a:spcPts val="100"/>
              </a:spcBef>
            </a:pPr>
            <a:r>
              <a:rPr cap="small" dirty="0"/>
              <a:t>O</a:t>
            </a:r>
            <a:r>
              <a:rPr b="0" spc="110" dirty="0">
                <a:latin typeface="Times New Roman"/>
                <a:cs typeface="Times New Roman"/>
              </a:rPr>
              <a:t> </a:t>
            </a:r>
            <a:r>
              <a:rPr cap="small" spc="5" dirty="0"/>
              <a:t>c</a:t>
            </a:r>
            <a:r>
              <a:rPr cap="small" dirty="0"/>
              <a:t>i</a:t>
            </a:r>
            <a:r>
              <a:rPr cap="small" spc="5" dirty="0"/>
              <a:t>c</a:t>
            </a:r>
            <a:r>
              <a:rPr cap="small" spc="-10" dirty="0"/>
              <a:t>l</a:t>
            </a:r>
            <a:r>
              <a:rPr cap="small" dirty="0"/>
              <a:t>o</a:t>
            </a:r>
            <a:r>
              <a:rPr sz="2398" b="0" spc="254" dirty="0">
                <a:latin typeface="Times New Roman"/>
                <a:cs typeface="Times New Roman"/>
              </a:rPr>
              <a:t> </a:t>
            </a:r>
            <a:r>
              <a:rPr cap="small" dirty="0"/>
              <a:t>de</a:t>
            </a:r>
            <a:r>
              <a:rPr sz="2398" b="0" spc="250" dirty="0">
                <a:latin typeface="Times New Roman"/>
                <a:cs typeface="Times New Roman"/>
              </a:rPr>
              <a:t> </a:t>
            </a:r>
            <a:r>
              <a:rPr cap="small" dirty="0"/>
              <a:t>um</a:t>
            </a:r>
            <a:r>
              <a:rPr sz="2398" b="0" spc="260" dirty="0">
                <a:latin typeface="Times New Roman"/>
                <a:cs typeface="Times New Roman"/>
              </a:rPr>
              <a:t> </a:t>
            </a:r>
            <a:r>
              <a:rPr cap="small" dirty="0"/>
              <a:t>re</a:t>
            </a:r>
            <a:r>
              <a:rPr cap="small" spc="-10" dirty="0"/>
              <a:t>l</a:t>
            </a:r>
            <a:r>
              <a:rPr cap="small" dirty="0"/>
              <a:t>ea</a:t>
            </a:r>
            <a:r>
              <a:rPr cap="small" spc="-5" dirty="0"/>
              <a:t>s</a:t>
            </a:r>
            <a:r>
              <a:rPr cap="small" dirty="0"/>
              <a:t>e</a:t>
            </a:r>
            <a:r>
              <a:rPr sz="2398" b="0" spc="265" dirty="0">
                <a:latin typeface="Times New Roman"/>
                <a:cs typeface="Times New Roman"/>
              </a:rPr>
              <a:t> </a:t>
            </a:r>
            <a:r>
              <a:rPr cap="small" dirty="0"/>
              <a:t>em</a:t>
            </a:r>
            <a:r>
              <a:rPr sz="2398" b="0" spc="260" dirty="0">
                <a:latin typeface="Times New Roman"/>
                <a:cs typeface="Times New Roman"/>
              </a:rPr>
              <a:t> </a:t>
            </a:r>
            <a:r>
              <a:rPr cap="small" dirty="0"/>
              <a:t>E</a:t>
            </a:r>
            <a:r>
              <a:rPr cap="small" spc="-5" dirty="0"/>
              <a:t>x</a:t>
            </a:r>
            <a:r>
              <a:rPr cap="small" spc="-10" dirty="0"/>
              <a:t>t</a:t>
            </a:r>
            <a:r>
              <a:rPr cap="small" dirty="0"/>
              <a:t>re</a:t>
            </a:r>
            <a:r>
              <a:rPr cap="small" spc="-5" dirty="0"/>
              <a:t>m</a:t>
            </a:r>
            <a:r>
              <a:rPr cap="small" dirty="0"/>
              <a:t>e</a:t>
            </a:r>
            <a:r>
              <a:rPr sz="2398" b="0" dirty="0">
                <a:latin typeface="Times New Roman"/>
                <a:cs typeface="Times New Roman"/>
              </a:rPr>
              <a:t> </a:t>
            </a:r>
            <a:r>
              <a:rPr cap="small" dirty="0"/>
              <a:t>Prog</a:t>
            </a:r>
            <a:r>
              <a:rPr cap="small" spc="-5" dirty="0"/>
              <a:t>r</a:t>
            </a:r>
            <a:r>
              <a:rPr cap="small" dirty="0"/>
              <a:t>a</a:t>
            </a:r>
            <a:r>
              <a:rPr cap="small" spc="-5" dirty="0"/>
              <a:t>mm</a:t>
            </a:r>
            <a:r>
              <a:rPr cap="small" dirty="0"/>
              <a:t>ing</a:t>
            </a:r>
            <a:endParaRPr sz="2398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61218" y="2609431"/>
            <a:ext cx="7333665" cy="284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321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3676" y="896298"/>
            <a:ext cx="7791220" cy="482154"/>
          </a:xfrm>
          <a:prstGeom prst="rect">
            <a:avLst/>
          </a:prstGeom>
        </p:spPr>
        <p:txBody>
          <a:bodyPr vert="horz" wrap="square" lIns="0" tIns="12688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100"/>
              </a:spcBef>
            </a:pPr>
            <a:r>
              <a:rPr cap="small" dirty="0"/>
              <a:t>P</a:t>
            </a:r>
            <a:r>
              <a:rPr cap="small" spc="-5" dirty="0"/>
              <a:t>r</a:t>
            </a:r>
            <a:r>
              <a:rPr cap="small" dirty="0"/>
              <a:t>á</a:t>
            </a:r>
            <a:r>
              <a:rPr cap="small" spc="-10" dirty="0"/>
              <a:t>t</a:t>
            </a:r>
            <a:r>
              <a:rPr cap="small" dirty="0"/>
              <a:t>icas</a:t>
            </a:r>
            <a:r>
              <a:rPr sz="2398" b="0" spc="245" dirty="0">
                <a:latin typeface="Times New Roman"/>
                <a:cs typeface="Times New Roman"/>
              </a:rPr>
              <a:t> </a:t>
            </a:r>
            <a:r>
              <a:rPr cap="small" dirty="0"/>
              <a:t>do</a:t>
            </a:r>
            <a:r>
              <a:rPr sz="2398" b="0" spc="254" dirty="0">
                <a:latin typeface="Times New Roman"/>
                <a:cs typeface="Times New Roman"/>
              </a:rPr>
              <a:t> </a:t>
            </a:r>
            <a:r>
              <a:rPr cap="small" dirty="0"/>
              <a:t>E</a:t>
            </a:r>
            <a:r>
              <a:rPr cap="small" spc="-5" dirty="0"/>
              <a:t>x</a:t>
            </a:r>
            <a:r>
              <a:rPr cap="small" spc="-10" dirty="0"/>
              <a:t>t</a:t>
            </a:r>
            <a:r>
              <a:rPr cap="small" dirty="0"/>
              <a:t>re</a:t>
            </a:r>
            <a:r>
              <a:rPr cap="small" spc="-5" dirty="0"/>
              <a:t>m</a:t>
            </a:r>
            <a:r>
              <a:rPr cap="small" dirty="0"/>
              <a:t>e</a:t>
            </a:r>
            <a:r>
              <a:rPr sz="2398" b="0" spc="275" dirty="0">
                <a:latin typeface="Times New Roman"/>
                <a:cs typeface="Times New Roman"/>
              </a:rPr>
              <a:t> </a:t>
            </a:r>
            <a:r>
              <a:rPr cap="small" dirty="0"/>
              <a:t>Prog</a:t>
            </a:r>
            <a:r>
              <a:rPr cap="small" spc="-5" dirty="0"/>
              <a:t>r</a:t>
            </a:r>
            <a:r>
              <a:rPr cap="small" dirty="0"/>
              <a:t>a</a:t>
            </a:r>
            <a:r>
              <a:rPr cap="small" spc="-5" dirty="0"/>
              <a:t>mm</a:t>
            </a:r>
            <a:r>
              <a:rPr cap="small" dirty="0"/>
              <a:t>ing</a:t>
            </a:r>
            <a:r>
              <a:rPr sz="2398" b="0" spc="215" dirty="0">
                <a:latin typeface="Times New Roman"/>
                <a:cs typeface="Times New Roman"/>
              </a:rPr>
              <a:t> </a:t>
            </a:r>
            <a:r>
              <a:rPr cap="small" spc="-5" dirty="0"/>
              <a:t>(</a:t>
            </a:r>
            <a:r>
              <a:rPr cap="small" dirty="0"/>
              <a:t>a)</a:t>
            </a:r>
            <a:endParaRPr sz="2398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80975" y="1702256"/>
            <a:ext cx="8066683" cy="3957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623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3676" y="896298"/>
            <a:ext cx="7791220" cy="482154"/>
          </a:xfrm>
          <a:prstGeom prst="rect">
            <a:avLst/>
          </a:prstGeom>
        </p:spPr>
        <p:txBody>
          <a:bodyPr vert="horz" wrap="square" lIns="0" tIns="12688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100"/>
              </a:spcBef>
            </a:pPr>
            <a:r>
              <a:rPr cap="small" dirty="0"/>
              <a:t>P</a:t>
            </a:r>
            <a:r>
              <a:rPr cap="small" spc="-5" dirty="0"/>
              <a:t>r</a:t>
            </a:r>
            <a:r>
              <a:rPr cap="small" dirty="0"/>
              <a:t>á</a:t>
            </a:r>
            <a:r>
              <a:rPr cap="small" spc="-10" dirty="0"/>
              <a:t>t</a:t>
            </a:r>
            <a:r>
              <a:rPr cap="small" dirty="0"/>
              <a:t>icas</a:t>
            </a:r>
            <a:r>
              <a:rPr sz="2398" b="0" spc="245" dirty="0">
                <a:latin typeface="Times New Roman"/>
                <a:cs typeface="Times New Roman"/>
              </a:rPr>
              <a:t> </a:t>
            </a:r>
            <a:r>
              <a:rPr cap="small" dirty="0"/>
              <a:t>do</a:t>
            </a:r>
            <a:r>
              <a:rPr sz="2398" b="0" spc="254" dirty="0">
                <a:latin typeface="Times New Roman"/>
                <a:cs typeface="Times New Roman"/>
              </a:rPr>
              <a:t> </a:t>
            </a:r>
            <a:r>
              <a:rPr cap="small" dirty="0"/>
              <a:t>E</a:t>
            </a:r>
            <a:r>
              <a:rPr cap="small" spc="-5" dirty="0"/>
              <a:t>x</a:t>
            </a:r>
            <a:r>
              <a:rPr cap="small" spc="-10" dirty="0"/>
              <a:t>t</a:t>
            </a:r>
            <a:r>
              <a:rPr cap="small" dirty="0"/>
              <a:t>re</a:t>
            </a:r>
            <a:r>
              <a:rPr cap="small" spc="-5" dirty="0"/>
              <a:t>m</a:t>
            </a:r>
            <a:r>
              <a:rPr cap="small" dirty="0"/>
              <a:t>e</a:t>
            </a:r>
            <a:r>
              <a:rPr sz="2398" b="0" spc="275" dirty="0">
                <a:latin typeface="Times New Roman"/>
                <a:cs typeface="Times New Roman"/>
              </a:rPr>
              <a:t> </a:t>
            </a:r>
            <a:r>
              <a:rPr cap="small" dirty="0"/>
              <a:t>Prog</a:t>
            </a:r>
            <a:r>
              <a:rPr cap="small" spc="-5" dirty="0"/>
              <a:t>r</a:t>
            </a:r>
            <a:r>
              <a:rPr cap="small" dirty="0"/>
              <a:t>a</a:t>
            </a:r>
            <a:r>
              <a:rPr cap="small" spc="-5" dirty="0"/>
              <a:t>mm</a:t>
            </a:r>
            <a:r>
              <a:rPr cap="small" dirty="0"/>
              <a:t>ing</a:t>
            </a:r>
            <a:r>
              <a:rPr sz="2398" b="0" spc="215" dirty="0">
                <a:latin typeface="Times New Roman"/>
                <a:cs typeface="Times New Roman"/>
              </a:rPr>
              <a:t> </a:t>
            </a:r>
            <a:r>
              <a:rPr cap="small" spc="-5" dirty="0"/>
              <a:t>(</a:t>
            </a:r>
            <a:r>
              <a:rPr cap="small" dirty="0"/>
              <a:t>a)</a:t>
            </a:r>
            <a:endParaRPr sz="2398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80975" y="1918464"/>
            <a:ext cx="8272233" cy="340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313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3676" y="454488"/>
            <a:ext cx="4720664" cy="1365776"/>
          </a:xfrm>
          <a:prstGeom prst="rect">
            <a:avLst/>
          </a:prstGeom>
        </p:spPr>
        <p:txBody>
          <a:bodyPr vert="horz" wrap="square" lIns="0" tIns="12688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100"/>
              </a:spcBef>
            </a:pPr>
            <a:r>
              <a:rPr cap="small" spc="-10" dirty="0"/>
              <a:t>C</a:t>
            </a:r>
            <a:r>
              <a:rPr cap="small" dirty="0"/>
              <a:t>enários</a:t>
            </a:r>
            <a:r>
              <a:rPr sz="2398" spc="254" dirty="0">
                <a:latin typeface="Times New Roman"/>
                <a:cs typeface="Times New Roman"/>
              </a:rPr>
              <a:t> </a:t>
            </a:r>
            <a:r>
              <a:rPr cap="small" dirty="0"/>
              <a:t>de</a:t>
            </a:r>
            <a:r>
              <a:rPr sz="2398" spc="250" dirty="0">
                <a:latin typeface="Times New Roman"/>
                <a:cs typeface="Times New Roman"/>
              </a:rPr>
              <a:t> </a:t>
            </a:r>
            <a:r>
              <a:rPr cap="small" dirty="0"/>
              <a:t>requi</a:t>
            </a:r>
            <a:r>
              <a:rPr cap="small" spc="-5" dirty="0"/>
              <a:t>s</a:t>
            </a:r>
            <a:r>
              <a:rPr cap="small" dirty="0"/>
              <a:t>i</a:t>
            </a:r>
            <a:r>
              <a:rPr cap="small" spc="-10" dirty="0"/>
              <a:t>t</a:t>
            </a:r>
            <a:r>
              <a:rPr cap="small" dirty="0"/>
              <a:t>os</a:t>
            </a:r>
            <a:endParaRPr sz="239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3676" y="1586646"/>
            <a:ext cx="7303992" cy="4608373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286762" marR="5710" indent="-274073" algn="just">
              <a:lnSpc>
                <a:spcPct val="130000"/>
              </a:lnSpc>
              <a:spcBef>
                <a:spcPts val="100"/>
              </a:spcBef>
              <a:buClr>
                <a:srgbClr val="94C600"/>
              </a:buClr>
              <a:buSzPct val="70000"/>
              <a:buFont typeface="Wingdings"/>
              <a:buChar char=""/>
              <a:tabLst>
                <a:tab pos="286762" algn="l"/>
              </a:tabLst>
            </a:pPr>
            <a:r>
              <a:rPr sz="1998" dirty="0">
                <a:latin typeface="Century Schoolbook"/>
                <a:cs typeface="Century Schoolbook"/>
              </a:rPr>
              <a:t>Em</a:t>
            </a:r>
            <a:r>
              <a:rPr sz="1998" spc="34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XP,</a:t>
            </a:r>
            <a:r>
              <a:rPr sz="1998" spc="34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um</a:t>
            </a:r>
            <a:r>
              <a:rPr sz="1998" spc="32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cliente</a:t>
            </a:r>
            <a:r>
              <a:rPr sz="1998" spc="34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ou</a:t>
            </a:r>
            <a:r>
              <a:rPr sz="1998" spc="35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usuário</a:t>
            </a:r>
            <a:r>
              <a:rPr sz="1998" spc="34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é</a:t>
            </a:r>
            <a:r>
              <a:rPr sz="1998" spc="34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parte</a:t>
            </a:r>
            <a:r>
              <a:rPr sz="1998" spc="36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do</a:t>
            </a:r>
            <a:r>
              <a:rPr sz="1998" spc="34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time</a:t>
            </a:r>
            <a:r>
              <a:rPr sz="1998" spc="35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de</a:t>
            </a:r>
            <a:r>
              <a:rPr sz="1998" spc="34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XP</a:t>
            </a:r>
            <a:r>
              <a:rPr sz="1998" spc="33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</a:t>
            </a:r>
            <a:r>
              <a:rPr sz="1998" spc="345" dirty="0">
                <a:latin typeface="Times New Roman"/>
                <a:cs typeface="Times New Roman"/>
              </a:rPr>
              <a:t> </a:t>
            </a:r>
            <a:r>
              <a:rPr sz="1998" spc="-50" dirty="0">
                <a:latin typeface="Century Schoolbook"/>
                <a:cs typeface="Century Schoolbook"/>
              </a:rPr>
              <a:t>é</a:t>
            </a:r>
            <a:r>
              <a:rPr sz="1998" spc="-5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responsável</a:t>
            </a:r>
            <a:r>
              <a:rPr sz="1998" spc="-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na</a:t>
            </a:r>
            <a:r>
              <a:rPr sz="1998" spc="5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tomada</a:t>
            </a:r>
            <a:r>
              <a:rPr sz="1998" spc="2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de</a:t>
            </a:r>
            <a:r>
              <a:rPr sz="1998" spc="4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decisões</a:t>
            </a:r>
            <a:r>
              <a:rPr sz="1998" spc="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sobre</a:t>
            </a:r>
            <a:r>
              <a:rPr sz="1998" spc="30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requisitos.</a:t>
            </a:r>
            <a:endParaRPr sz="1998">
              <a:latin typeface="Century Schoolbook"/>
              <a:cs typeface="Century Schoolbook"/>
            </a:endParaRPr>
          </a:p>
          <a:p>
            <a:pPr marL="286762" marR="5075" indent="-274073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70000"/>
              <a:buFont typeface="Wingdings"/>
              <a:buChar char=""/>
              <a:tabLst>
                <a:tab pos="286762" algn="l"/>
              </a:tabLst>
            </a:pPr>
            <a:r>
              <a:rPr sz="1998" dirty="0">
                <a:latin typeface="Century Schoolbook"/>
                <a:cs typeface="Century Schoolbook"/>
              </a:rPr>
              <a:t>Requisitos</a:t>
            </a:r>
            <a:r>
              <a:rPr sz="1998" spc="19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do</a:t>
            </a:r>
            <a:r>
              <a:rPr sz="1998" spc="20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usuário</a:t>
            </a:r>
            <a:r>
              <a:rPr sz="1998" spc="19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são</a:t>
            </a:r>
            <a:r>
              <a:rPr sz="1998" spc="19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expressos</a:t>
            </a:r>
            <a:r>
              <a:rPr sz="1998" spc="19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como</a:t>
            </a:r>
            <a:r>
              <a:rPr sz="1998" spc="20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cenários</a:t>
            </a:r>
            <a:r>
              <a:rPr sz="1998" spc="190" dirty="0">
                <a:latin typeface="Times New Roman"/>
                <a:cs typeface="Times New Roman"/>
              </a:rPr>
              <a:t>  </a:t>
            </a:r>
            <a:r>
              <a:rPr sz="1998" spc="-25" dirty="0">
                <a:latin typeface="Century Schoolbook"/>
                <a:cs typeface="Century Schoolbook"/>
              </a:rPr>
              <a:t>ou</a:t>
            </a:r>
            <a:r>
              <a:rPr sz="1998" spc="-2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estórias</a:t>
            </a:r>
            <a:r>
              <a:rPr sz="1998" spc="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dos</a:t>
            </a:r>
            <a:r>
              <a:rPr sz="1998" spc="40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usuários.</a:t>
            </a:r>
            <a:endParaRPr sz="1998">
              <a:latin typeface="Century Schoolbook"/>
              <a:cs typeface="Century Schoolbook"/>
            </a:endParaRPr>
          </a:p>
          <a:p>
            <a:pPr marL="286762" marR="5710" indent="-274073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70000"/>
              <a:buFont typeface="Wingdings"/>
              <a:buChar char=""/>
              <a:tabLst>
                <a:tab pos="286762" algn="l"/>
              </a:tabLst>
            </a:pPr>
            <a:r>
              <a:rPr sz="1998" dirty="0">
                <a:latin typeface="Century Schoolbook"/>
                <a:cs typeface="Century Schoolbook"/>
              </a:rPr>
              <a:t>Esses</a:t>
            </a:r>
            <a:r>
              <a:rPr sz="1998" spc="335" dirty="0">
                <a:latin typeface="Times New Roman"/>
                <a:cs typeface="Times New Roman"/>
              </a:rPr>
              <a:t>   </a:t>
            </a:r>
            <a:r>
              <a:rPr sz="1998" dirty="0">
                <a:latin typeface="Century Schoolbook"/>
                <a:cs typeface="Century Schoolbook"/>
              </a:rPr>
              <a:t>são</a:t>
            </a:r>
            <a:r>
              <a:rPr sz="1998" spc="330" dirty="0">
                <a:latin typeface="Times New Roman"/>
                <a:cs typeface="Times New Roman"/>
              </a:rPr>
              <a:t>   </a:t>
            </a:r>
            <a:r>
              <a:rPr sz="1998" dirty="0">
                <a:latin typeface="Century Schoolbook"/>
                <a:cs typeface="Century Schoolbook"/>
              </a:rPr>
              <a:t>escritos</a:t>
            </a:r>
            <a:r>
              <a:rPr sz="1998" spc="335" dirty="0">
                <a:latin typeface="Times New Roman"/>
                <a:cs typeface="Times New Roman"/>
              </a:rPr>
              <a:t>   </a:t>
            </a:r>
            <a:r>
              <a:rPr sz="1998" dirty="0">
                <a:latin typeface="Century Schoolbook"/>
                <a:cs typeface="Century Schoolbook"/>
              </a:rPr>
              <a:t>em</a:t>
            </a:r>
            <a:r>
              <a:rPr sz="1998" spc="335" dirty="0">
                <a:latin typeface="Times New Roman"/>
                <a:cs typeface="Times New Roman"/>
              </a:rPr>
              <a:t>   </a:t>
            </a:r>
            <a:r>
              <a:rPr sz="1998" dirty="0">
                <a:latin typeface="Century Schoolbook"/>
                <a:cs typeface="Century Schoolbook"/>
              </a:rPr>
              <a:t>cartões</a:t>
            </a:r>
            <a:r>
              <a:rPr sz="1998" spc="330" dirty="0">
                <a:latin typeface="Times New Roman"/>
                <a:cs typeface="Times New Roman"/>
              </a:rPr>
              <a:t>   </a:t>
            </a:r>
            <a:r>
              <a:rPr sz="1998" dirty="0">
                <a:latin typeface="Century Schoolbook"/>
                <a:cs typeface="Century Schoolbook"/>
              </a:rPr>
              <a:t>e</a:t>
            </a:r>
            <a:r>
              <a:rPr sz="1998" spc="340" dirty="0">
                <a:latin typeface="Times New Roman"/>
                <a:cs typeface="Times New Roman"/>
              </a:rPr>
              <a:t>   </a:t>
            </a:r>
            <a:r>
              <a:rPr sz="1998" dirty="0">
                <a:latin typeface="Century Schoolbook"/>
                <a:cs typeface="Century Schoolbook"/>
              </a:rPr>
              <a:t>a</a:t>
            </a:r>
            <a:r>
              <a:rPr sz="1998" spc="330" dirty="0">
                <a:latin typeface="Times New Roman"/>
                <a:cs typeface="Times New Roman"/>
              </a:rPr>
              <a:t>   </a:t>
            </a:r>
            <a:r>
              <a:rPr sz="1998" dirty="0">
                <a:latin typeface="Century Schoolbook"/>
                <a:cs typeface="Century Schoolbook"/>
              </a:rPr>
              <a:t>equipe</a:t>
            </a:r>
            <a:r>
              <a:rPr sz="1998" spc="340" dirty="0">
                <a:latin typeface="Times New Roman"/>
                <a:cs typeface="Times New Roman"/>
              </a:rPr>
              <a:t>   </a:t>
            </a:r>
            <a:r>
              <a:rPr sz="1998" spc="-25" dirty="0">
                <a:latin typeface="Century Schoolbook"/>
                <a:cs typeface="Century Schoolbook"/>
              </a:rPr>
              <a:t>de</a:t>
            </a:r>
            <a:r>
              <a:rPr sz="1998" spc="-2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desenvolvimento</a:t>
            </a:r>
            <a:r>
              <a:rPr sz="1998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os</a:t>
            </a:r>
            <a:r>
              <a:rPr sz="1998" spc="49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divide</a:t>
            </a:r>
            <a:r>
              <a:rPr sz="1998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em</a:t>
            </a:r>
            <a:r>
              <a:rPr sz="1998" spc="49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tarefas</a:t>
            </a:r>
            <a:r>
              <a:rPr sz="1998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de</a:t>
            </a:r>
            <a:r>
              <a:rPr sz="1998" dirty="0">
                <a:latin typeface="Times New Roman"/>
                <a:cs typeface="Times New Roman"/>
              </a:rPr>
              <a:t>  </a:t>
            </a:r>
            <a:r>
              <a:rPr sz="1998" spc="-10" dirty="0">
                <a:latin typeface="Century Schoolbook"/>
                <a:cs typeface="Century Schoolbook"/>
              </a:rPr>
              <a:t>implementação.</a:t>
            </a:r>
            <a:r>
              <a:rPr sz="1998" spc="-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Essas</a:t>
            </a:r>
            <a:r>
              <a:rPr sz="1998" spc="254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tarefas</a:t>
            </a:r>
            <a:r>
              <a:rPr sz="1998" spc="26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são</a:t>
            </a:r>
            <a:r>
              <a:rPr sz="1998" spc="26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a</a:t>
            </a:r>
            <a:r>
              <a:rPr sz="1998" spc="26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base</a:t>
            </a:r>
            <a:r>
              <a:rPr sz="1998" spc="254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das</a:t>
            </a:r>
            <a:r>
              <a:rPr sz="1998" spc="254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estimativas</a:t>
            </a:r>
            <a:r>
              <a:rPr sz="1998" spc="26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de</a:t>
            </a:r>
            <a:r>
              <a:rPr sz="1998" spc="27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cronograma</a:t>
            </a:r>
            <a:r>
              <a:rPr sz="1998" spc="250" dirty="0">
                <a:latin typeface="Times New Roman"/>
                <a:cs typeface="Times New Roman"/>
              </a:rPr>
              <a:t> </a:t>
            </a:r>
            <a:r>
              <a:rPr sz="1998" spc="-50" dirty="0">
                <a:latin typeface="Century Schoolbook"/>
                <a:cs typeface="Century Schoolbook"/>
              </a:rPr>
              <a:t>e</a:t>
            </a:r>
            <a:r>
              <a:rPr sz="1998" spc="-50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custo.</a:t>
            </a:r>
            <a:endParaRPr sz="1998">
              <a:latin typeface="Century Schoolbook"/>
              <a:cs typeface="Century Schoolbook"/>
            </a:endParaRPr>
          </a:p>
          <a:p>
            <a:pPr marL="286762" marR="5075" indent="-274073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70000"/>
              <a:buFont typeface="Wingdings"/>
              <a:buChar char=""/>
              <a:tabLst>
                <a:tab pos="286762" algn="l"/>
              </a:tabLst>
            </a:pPr>
            <a:r>
              <a:rPr sz="1998" dirty="0">
                <a:latin typeface="Century Schoolbook"/>
                <a:cs typeface="Century Schoolbook"/>
              </a:rPr>
              <a:t>O</a:t>
            </a:r>
            <a:r>
              <a:rPr sz="1998" spc="5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cliente</a:t>
            </a:r>
            <a:r>
              <a:rPr sz="1998" spc="5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escolhe</a:t>
            </a:r>
            <a:r>
              <a:rPr sz="1998" spc="5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as</a:t>
            </a:r>
            <a:r>
              <a:rPr sz="1998" spc="4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estórias</a:t>
            </a:r>
            <a:r>
              <a:rPr sz="1998" spc="5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que</a:t>
            </a:r>
            <a:r>
              <a:rPr sz="1998" spc="5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serão</a:t>
            </a:r>
            <a:r>
              <a:rPr sz="1998" spc="4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incluídas</a:t>
            </a:r>
            <a:r>
              <a:rPr sz="1998" spc="5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no</a:t>
            </a:r>
            <a:r>
              <a:rPr sz="1998" spc="55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próximo</a:t>
            </a:r>
            <a:r>
              <a:rPr sz="1998" spc="-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release</a:t>
            </a:r>
            <a:r>
              <a:rPr sz="1998" spc="125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baseando-</a:t>
            </a:r>
            <a:r>
              <a:rPr sz="1998" dirty="0">
                <a:latin typeface="Century Schoolbook"/>
                <a:cs typeface="Century Schoolbook"/>
              </a:rPr>
              <a:t>se</a:t>
            </a:r>
            <a:r>
              <a:rPr sz="1998" spc="13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nas</a:t>
            </a:r>
            <a:r>
              <a:rPr sz="1998" spc="12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suas</a:t>
            </a:r>
            <a:r>
              <a:rPr sz="1998" spc="12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prioridades</a:t>
            </a:r>
            <a:r>
              <a:rPr sz="1998" spc="12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</a:t>
            </a:r>
            <a:r>
              <a:rPr sz="1998" spc="13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nas</a:t>
            </a:r>
            <a:r>
              <a:rPr sz="1998" spc="120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estimativas</a:t>
            </a:r>
            <a:r>
              <a:rPr sz="1998" spc="-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de</a:t>
            </a:r>
            <a:r>
              <a:rPr sz="1998" spc="45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cronograma.</a:t>
            </a:r>
            <a:endParaRPr sz="1998">
              <a:latin typeface="Century Schoolbook"/>
              <a:cs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222653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3487" y="792728"/>
            <a:ext cx="3005212" cy="689294"/>
          </a:xfrm>
          <a:prstGeom prst="rect">
            <a:avLst/>
          </a:prstGeom>
        </p:spPr>
        <p:txBody>
          <a:bodyPr vert="horz" wrap="square" lIns="0" tIns="12688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100"/>
              </a:spcBef>
            </a:pPr>
            <a:r>
              <a:rPr dirty="0"/>
              <a:t>XP</a:t>
            </a:r>
            <a:r>
              <a:rPr spc="105" dirty="0">
                <a:latin typeface="Times New Roman"/>
                <a:cs typeface="Times New Roman"/>
              </a:rPr>
              <a:t> </a:t>
            </a:r>
            <a:r>
              <a:rPr sz="2398" dirty="0"/>
              <a:t>E</a:t>
            </a:r>
            <a:r>
              <a:rPr sz="2398" spc="270" dirty="0">
                <a:latin typeface="Times New Roman"/>
                <a:cs typeface="Times New Roman"/>
              </a:rPr>
              <a:t> </a:t>
            </a:r>
            <a:r>
              <a:rPr sz="2398" spc="-10" dirty="0"/>
              <a:t>MUDANÇAS</a:t>
            </a:r>
            <a:endParaRPr sz="239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3676" y="1579027"/>
            <a:ext cx="7304626" cy="4517018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286762" marR="6344" indent="-274073" algn="just">
              <a:lnSpc>
                <a:spcPct val="140000"/>
              </a:lnSpc>
              <a:spcBef>
                <a:spcPts val="100"/>
              </a:spcBef>
              <a:buClr>
                <a:srgbClr val="94C600"/>
              </a:buClr>
              <a:buSzPct val="70000"/>
              <a:buFont typeface="Wingdings"/>
              <a:buChar char=""/>
              <a:tabLst>
                <a:tab pos="286762" algn="l"/>
              </a:tabLst>
            </a:pPr>
            <a:r>
              <a:rPr sz="1998" dirty="0">
                <a:latin typeface="Century Schoolbook"/>
                <a:cs typeface="Century Schoolbook"/>
              </a:rPr>
              <a:t>O</a:t>
            </a:r>
            <a:r>
              <a:rPr sz="1998" spc="17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senso</a:t>
            </a:r>
            <a:r>
              <a:rPr sz="1998" spc="17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comum</a:t>
            </a:r>
            <a:r>
              <a:rPr sz="1998" spc="16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da</a:t>
            </a:r>
            <a:r>
              <a:rPr sz="1998" spc="17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engenharia</a:t>
            </a:r>
            <a:r>
              <a:rPr sz="1998" spc="17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de</a:t>
            </a:r>
            <a:r>
              <a:rPr sz="1998" spc="17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software</a:t>
            </a:r>
            <a:r>
              <a:rPr sz="1998" spc="17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diz</a:t>
            </a:r>
            <a:r>
              <a:rPr sz="1998" spc="16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que</a:t>
            </a:r>
            <a:r>
              <a:rPr sz="1998" spc="16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se</a:t>
            </a:r>
            <a:r>
              <a:rPr sz="1998" spc="180" dirty="0">
                <a:latin typeface="Times New Roman"/>
                <a:cs typeface="Times New Roman"/>
              </a:rPr>
              <a:t> </a:t>
            </a:r>
            <a:r>
              <a:rPr sz="1998" spc="-20" dirty="0">
                <a:latin typeface="Century Schoolbook"/>
                <a:cs typeface="Century Schoolbook"/>
              </a:rPr>
              <a:t>deve</a:t>
            </a:r>
            <a:r>
              <a:rPr sz="1998" spc="-2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projetar</a:t>
            </a:r>
            <a:r>
              <a:rPr sz="1998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pensando</a:t>
            </a:r>
            <a:r>
              <a:rPr sz="1998" spc="4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em</a:t>
            </a:r>
            <a:r>
              <a:rPr sz="1998" spc="30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mudanças.</a:t>
            </a:r>
            <a:endParaRPr sz="1998">
              <a:latin typeface="Century Schoolbook"/>
              <a:cs typeface="Century Schoolbook"/>
            </a:endParaRPr>
          </a:p>
          <a:p>
            <a:pPr marL="286127" marR="5075" indent="-274073" algn="just">
              <a:lnSpc>
                <a:spcPct val="140000"/>
              </a:lnSpc>
              <a:spcBef>
                <a:spcPts val="599"/>
              </a:spcBef>
              <a:buClr>
                <a:srgbClr val="94C600"/>
              </a:buClr>
              <a:buSzPct val="70000"/>
              <a:buFont typeface="Wingdings"/>
              <a:buChar char=""/>
              <a:tabLst>
                <a:tab pos="286762" algn="l"/>
              </a:tabLst>
            </a:pPr>
            <a:r>
              <a:rPr sz="1998" dirty="0">
                <a:latin typeface="Century Schoolbook"/>
                <a:cs typeface="Century Schoolbook"/>
              </a:rPr>
              <a:t>Vale</a:t>
            </a:r>
            <a:r>
              <a:rPr sz="1998" spc="31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a</a:t>
            </a:r>
            <a:r>
              <a:rPr sz="1998" spc="31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pena</a:t>
            </a:r>
            <a:r>
              <a:rPr sz="1998" spc="31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gastar</a:t>
            </a:r>
            <a:r>
              <a:rPr sz="1998" spc="31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tempo</a:t>
            </a:r>
            <a:r>
              <a:rPr sz="1998" spc="31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e</a:t>
            </a:r>
            <a:r>
              <a:rPr sz="1998" spc="31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esforço</a:t>
            </a:r>
            <a:r>
              <a:rPr sz="1998" spc="31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antecipando</a:t>
            </a:r>
            <a:r>
              <a:rPr sz="1998" spc="315" dirty="0">
                <a:latin typeface="Times New Roman"/>
                <a:cs typeface="Times New Roman"/>
              </a:rPr>
              <a:t>  </a:t>
            </a:r>
            <a:r>
              <a:rPr sz="1998" spc="-25" dirty="0">
                <a:latin typeface="Century Schoolbook"/>
                <a:cs typeface="Century Schoolbook"/>
              </a:rPr>
              <a:t>as</a:t>
            </a:r>
            <a:r>
              <a:rPr sz="1998" spc="-2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mudanças</a:t>
            </a:r>
            <a:r>
              <a:rPr sz="1998" spc="10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já</a:t>
            </a:r>
            <a:r>
              <a:rPr sz="1998" spc="10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que,</a:t>
            </a:r>
            <a:r>
              <a:rPr sz="1998" spc="9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posteriormente,</a:t>
            </a:r>
            <a:r>
              <a:rPr sz="1998" spc="10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esse</a:t>
            </a:r>
            <a:r>
              <a:rPr sz="1998" spc="114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esforço</a:t>
            </a:r>
            <a:r>
              <a:rPr sz="1998" spc="114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reduz</a:t>
            </a:r>
            <a:r>
              <a:rPr sz="1998" spc="105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custos</a:t>
            </a:r>
            <a:r>
              <a:rPr sz="1998" spc="-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no</a:t>
            </a:r>
            <a:r>
              <a:rPr sz="1998" spc="4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ciclo</a:t>
            </a:r>
            <a:r>
              <a:rPr sz="1998" spc="2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de</a:t>
            </a:r>
            <a:r>
              <a:rPr sz="1998" spc="45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vida.</a:t>
            </a:r>
            <a:endParaRPr sz="1998">
              <a:latin typeface="Century Schoolbook"/>
              <a:cs typeface="Century Schoolbook"/>
            </a:endParaRPr>
          </a:p>
          <a:p>
            <a:pPr marL="286762" marR="6979" indent="-274073" algn="just">
              <a:lnSpc>
                <a:spcPct val="140000"/>
              </a:lnSpc>
              <a:spcBef>
                <a:spcPts val="599"/>
              </a:spcBef>
              <a:buClr>
                <a:srgbClr val="94C600"/>
              </a:buClr>
              <a:buSzPct val="70000"/>
              <a:buFont typeface="Wingdings"/>
              <a:buChar char=""/>
              <a:tabLst>
                <a:tab pos="286762" algn="l"/>
              </a:tabLst>
            </a:pPr>
            <a:r>
              <a:rPr sz="1998" dirty="0">
                <a:latin typeface="Century Schoolbook"/>
                <a:cs typeface="Century Schoolbook"/>
              </a:rPr>
              <a:t>No</a:t>
            </a:r>
            <a:r>
              <a:rPr sz="1998" spc="12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entanto,</a:t>
            </a:r>
            <a:r>
              <a:rPr sz="1998" spc="10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o</a:t>
            </a:r>
            <a:r>
              <a:rPr sz="1998" spc="12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XP</a:t>
            </a:r>
            <a:r>
              <a:rPr sz="1998" spc="13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afirma</a:t>
            </a:r>
            <a:r>
              <a:rPr sz="1998" spc="114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que</a:t>
            </a:r>
            <a:r>
              <a:rPr sz="1998" spc="12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isso</a:t>
            </a:r>
            <a:r>
              <a:rPr sz="1998" spc="14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não</a:t>
            </a:r>
            <a:r>
              <a:rPr sz="1998" spc="12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vale</a:t>
            </a:r>
            <a:r>
              <a:rPr sz="1998" spc="12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a</a:t>
            </a:r>
            <a:r>
              <a:rPr sz="1998" spc="12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pena</a:t>
            </a:r>
            <a:r>
              <a:rPr sz="1998" spc="13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já</a:t>
            </a:r>
            <a:r>
              <a:rPr sz="1998" spc="13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que</a:t>
            </a:r>
            <a:r>
              <a:rPr sz="1998" spc="130" dirty="0">
                <a:latin typeface="Times New Roman"/>
                <a:cs typeface="Times New Roman"/>
              </a:rPr>
              <a:t> </a:t>
            </a:r>
            <a:r>
              <a:rPr sz="1998" spc="-25" dirty="0">
                <a:latin typeface="Century Schoolbook"/>
                <a:cs typeface="Century Schoolbook"/>
              </a:rPr>
              <a:t>as</a:t>
            </a:r>
            <a:r>
              <a:rPr sz="1998" spc="-2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mudanças</a:t>
            </a:r>
            <a:r>
              <a:rPr sz="1998" spc="2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não</a:t>
            </a:r>
            <a:r>
              <a:rPr sz="1998" spc="4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podem</a:t>
            </a:r>
            <a:r>
              <a:rPr sz="1998" spc="1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ser</a:t>
            </a:r>
            <a:r>
              <a:rPr sz="1998" spc="3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antecipadas</a:t>
            </a:r>
            <a:r>
              <a:rPr sz="1998" spc="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de</a:t>
            </a:r>
            <a:r>
              <a:rPr sz="1998" spc="4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forma</a:t>
            </a:r>
            <a:r>
              <a:rPr sz="1998" spc="25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confiável.</a:t>
            </a:r>
            <a:endParaRPr sz="1998">
              <a:latin typeface="Century Schoolbook"/>
              <a:cs typeface="Century Schoolbook"/>
            </a:endParaRPr>
          </a:p>
          <a:p>
            <a:pPr marL="286127" marR="7613" indent="-274073" algn="just">
              <a:lnSpc>
                <a:spcPct val="140000"/>
              </a:lnSpc>
              <a:spcBef>
                <a:spcPts val="599"/>
              </a:spcBef>
              <a:buClr>
                <a:srgbClr val="94C600"/>
              </a:buClr>
              <a:buSzPct val="70000"/>
              <a:buFont typeface="Wingdings"/>
              <a:buChar char=""/>
              <a:tabLst>
                <a:tab pos="286762" algn="l"/>
              </a:tabLst>
            </a:pPr>
            <a:r>
              <a:rPr sz="1998" dirty="0">
                <a:latin typeface="Century Schoolbook"/>
                <a:cs typeface="Century Schoolbook"/>
              </a:rPr>
              <a:t>Ao</a:t>
            </a:r>
            <a:r>
              <a:rPr sz="1998" spc="17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invés</a:t>
            </a:r>
            <a:r>
              <a:rPr sz="1998" spc="17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disso,</a:t>
            </a:r>
            <a:r>
              <a:rPr sz="1998" spc="18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propõe</a:t>
            </a:r>
            <a:r>
              <a:rPr sz="1998" spc="17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melhorias</a:t>
            </a:r>
            <a:r>
              <a:rPr sz="1998" spc="16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constantes</a:t>
            </a:r>
            <a:r>
              <a:rPr sz="1998" spc="16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do</a:t>
            </a:r>
            <a:r>
              <a:rPr sz="1998" spc="185" dirty="0">
                <a:latin typeface="Times New Roman"/>
                <a:cs typeface="Times New Roman"/>
              </a:rPr>
              <a:t>  </a:t>
            </a:r>
            <a:r>
              <a:rPr sz="1998" spc="-10" dirty="0">
                <a:latin typeface="Century Schoolbook"/>
                <a:cs typeface="Century Schoolbook"/>
              </a:rPr>
              <a:t>código</a:t>
            </a:r>
            <a:r>
              <a:rPr sz="1998" spc="-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(refatoração)</a:t>
            </a:r>
            <a:r>
              <a:rPr sz="1998" spc="22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para</a:t>
            </a:r>
            <a:r>
              <a:rPr sz="1998" spc="229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tornar</a:t>
            </a:r>
            <a:r>
              <a:rPr sz="1998" spc="22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as</a:t>
            </a:r>
            <a:r>
              <a:rPr sz="1998" spc="23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mudanças</a:t>
            </a:r>
            <a:r>
              <a:rPr sz="1998" spc="23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mais</a:t>
            </a:r>
            <a:r>
              <a:rPr sz="1998" spc="23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fáceis</a:t>
            </a:r>
            <a:r>
              <a:rPr sz="1998" spc="229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quando</a:t>
            </a:r>
            <a:r>
              <a:rPr sz="1998" spc="-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essas</a:t>
            </a:r>
            <a:r>
              <a:rPr sz="1998" spc="2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precisam</a:t>
            </a:r>
            <a:r>
              <a:rPr sz="1998" spc="1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ser</a:t>
            </a:r>
            <a:r>
              <a:rPr sz="1998" spc="35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implementadas.</a:t>
            </a:r>
            <a:endParaRPr sz="1998">
              <a:latin typeface="Century Schoolbook"/>
              <a:cs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2680883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3676" y="792728"/>
            <a:ext cx="2694350" cy="689294"/>
          </a:xfrm>
          <a:prstGeom prst="rect">
            <a:avLst/>
          </a:prstGeom>
        </p:spPr>
        <p:txBody>
          <a:bodyPr vert="horz" wrap="square" lIns="0" tIns="12688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100"/>
              </a:spcBef>
            </a:pPr>
            <a:r>
              <a:rPr cap="small" dirty="0"/>
              <a:t>Re</a:t>
            </a:r>
            <a:r>
              <a:rPr cap="small" spc="-10" dirty="0"/>
              <a:t>f</a:t>
            </a:r>
            <a:r>
              <a:rPr cap="small" dirty="0"/>
              <a:t>a</a:t>
            </a:r>
            <a:r>
              <a:rPr cap="small" spc="-10" dirty="0"/>
              <a:t>t</a:t>
            </a:r>
            <a:r>
              <a:rPr cap="small" dirty="0"/>
              <a:t>o</a:t>
            </a:r>
            <a:r>
              <a:rPr cap="small" spc="-5" dirty="0"/>
              <a:t>r</a:t>
            </a:r>
            <a:r>
              <a:rPr cap="small" dirty="0"/>
              <a:t>ação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63676" y="1565628"/>
            <a:ext cx="7302722" cy="4775858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286762" marR="6344" indent="-274073" algn="just">
              <a:lnSpc>
                <a:spcPct val="150000"/>
              </a:lnSpc>
              <a:spcBef>
                <a:spcPts val="100"/>
              </a:spcBef>
              <a:buClr>
                <a:srgbClr val="94C600"/>
              </a:buClr>
              <a:buSzPct val="68181"/>
              <a:buFont typeface="Wingdings"/>
              <a:buChar char=""/>
              <a:tabLst>
                <a:tab pos="286762" algn="l"/>
              </a:tabLst>
            </a:pPr>
            <a:r>
              <a:rPr sz="2198" dirty="0">
                <a:latin typeface="Century Schoolbook"/>
                <a:cs typeface="Century Schoolbook"/>
              </a:rPr>
              <a:t>A</a:t>
            </a:r>
            <a:r>
              <a:rPr sz="2198" spc="42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equipe</a:t>
            </a:r>
            <a:r>
              <a:rPr sz="2198" spc="44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de</a:t>
            </a:r>
            <a:r>
              <a:rPr sz="2198" spc="45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programação</a:t>
            </a:r>
            <a:r>
              <a:rPr sz="2198" spc="44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busca</a:t>
            </a:r>
            <a:r>
              <a:rPr sz="2198" spc="434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possíveis</a:t>
            </a:r>
            <a:r>
              <a:rPr sz="2198" spc="430" dirty="0">
                <a:latin typeface="Times New Roman"/>
                <a:cs typeface="Times New Roman"/>
              </a:rPr>
              <a:t> </a:t>
            </a:r>
            <a:r>
              <a:rPr sz="2198" spc="-10" dirty="0">
                <a:latin typeface="Century Schoolbook"/>
                <a:cs typeface="Century Schoolbook"/>
              </a:rPr>
              <a:t>melhorias</a:t>
            </a:r>
            <a:r>
              <a:rPr sz="2198" spc="-1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de</a:t>
            </a:r>
            <a:r>
              <a:rPr sz="2198" spc="484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software</a:t>
            </a:r>
            <a:r>
              <a:rPr sz="2198" spc="484" dirty="0">
                <a:latin typeface="Times New Roman"/>
                <a:cs typeface="Times New Roman"/>
              </a:rPr>
              <a:t>  </a:t>
            </a:r>
            <a:r>
              <a:rPr sz="2198" dirty="0">
                <a:latin typeface="Century Schoolbook"/>
                <a:cs typeface="Century Schoolbook"/>
              </a:rPr>
              <a:t>e</a:t>
            </a:r>
            <a:r>
              <a:rPr sz="2198" spc="48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as</a:t>
            </a:r>
            <a:r>
              <a:rPr sz="2198" spc="47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faz</a:t>
            </a:r>
            <a:r>
              <a:rPr sz="2198" spc="48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mesmo</a:t>
            </a:r>
            <a:r>
              <a:rPr sz="2198" spc="47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quando</a:t>
            </a:r>
            <a:r>
              <a:rPr sz="2198" spc="49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essas</a:t>
            </a:r>
            <a:r>
              <a:rPr sz="2198" spc="459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não</a:t>
            </a:r>
            <a:r>
              <a:rPr sz="2198" spc="490" dirty="0">
                <a:latin typeface="Times New Roman"/>
                <a:cs typeface="Times New Roman"/>
              </a:rPr>
              <a:t> </a:t>
            </a:r>
            <a:r>
              <a:rPr sz="2198" spc="-25" dirty="0">
                <a:latin typeface="Century Schoolbook"/>
                <a:cs typeface="Century Schoolbook"/>
              </a:rPr>
              <a:t>são</a:t>
            </a:r>
            <a:r>
              <a:rPr sz="2198" spc="-2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uma</a:t>
            </a:r>
            <a:r>
              <a:rPr sz="2198" spc="-3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necessidade</a:t>
            </a:r>
            <a:r>
              <a:rPr sz="2198" spc="-45" dirty="0">
                <a:latin typeface="Times New Roman"/>
                <a:cs typeface="Times New Roman"/>
              </a:rPr>
              <a:t> </a:t>
            </a:r>
            <a:r>
              <a:rPr sz="2198" spc="-10" dirty="0">
                <a:latin typeface="Century Schoolbook"/>
                <a:cs typeface="Century Schoolbook"/>
              </a:rPr>
              <a:t>imediata.</a:t>
            </a:r>
            <a:endParaRPr sz="2198">
              <a:latin typeface="Century Schoolbook"/>
              <a:cs typeface="Century Schoolbook"/>
            </a:endParaRPr>
          </a:p>
          <a:p>
            <a:pPr marL="286762" marR="7613" indent="-274073" algn="just">
              <a:lnSpc>
                <a:spcPct val="150000"/>
              </a:lnSpc>
              <a:spcBef>
                <a:spcPts val="599"/>
              </a:spcBef>
              <a:buClr>
                <a:srgbClr val="94C600"/>
              </a:buClr>
              <a:buSzPct val="68181"/>
              <a:buFont typeface="Wingdings"/>
              <a:buChar char=""/>
              <a:tabLst>
                <a:tab pos="286762" algn="l"/>
              </a:tabLst>
            </a:pPr>
            <a:r>
              <a:rPr sz="2198" dirty="0">
                <a:latin typeface="Century Schoolbook"/>
                <a:cs typeface="Century Schoolbook"/>
              </a:rPr>
              <a:t>O</a:t>
            </a:r>
            <a:r>
              <a:rPr sz="2198" spc="1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que</a:t>
            </a:r>
            <a:r>
              <a:rPr sz="2198" spc="2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melhora</a:t>
            </a:r>
            <a:r>
              <a:rPr sz="2198" spc="2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a</a:t>
            </a:r>
            <a:r>
              <a:rPr sz="2198" spc="1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inteligibilidade</a:t>
            </a:r>
            <a:r>
              <a:rPr sz="2198" spc="2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do</a:t>
            </a:r>
            <a:r>
              <a:rPr sz="2198" spc="2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software</a:t>
            </a:r>
            <a:r>
              <a:rPr sz="2198" spc="2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e</a:t>
            </a:r>
            <a:r>
              <a:rPr sz="2198" spc="2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reduz</a:t>
            </a:r>
            <a:r>
              <a:rPr sz="2198" spc="15" dirty="0">
                <a:latin typeface="Times New Roman"/>
                <a:cs typeface="Times New Roman"/>
              </a:rPr>
              <a:t> </a:t>
            </a:r>
            <a:r>
              <a:rPr sz="2198" spc="-50" dirty="0">
                <a:latin typeface="Century Schoolbook"/>
                <a:cs typeface="Century Schoolbook"/>
              </a:rPr>
              <a:t>a</a:t>
            </a:r>
            <a:r>
              <a:rPr sz="2198" spc="-5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necessidade</a:t>
            </a:r>
            <a:r>
              <a:rPr sz="2198" spc="-4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de</a:t>
            </a:r>
            <a:r>
              <a:rPr sz="2198" spc="-10" dirty="0">
                <a:latin typeface="Times New Roman"/>
                <a:cs typeface="Times New Roman"/>
              </a:rPr>
              <a:t> </a:t>
            </a:r>
            <a:r>
              <a:rPr sz="2198" spc="-10" dirty="0">
                <a:latin typeface="Century Schoolbook"/>
                <a:cs typeface="Century Schoolbook"/>
              </a:rPr>
              <a:t>documentação.</a:t>
            </a:r>
            <a:endParaRPr sz="2198">
              <a:latin typeface="Century Schoolbook"/>
              <a:cs typeface="Century Schoolbook"/>
            </a:endParaRPr>
          </a:p>
          <a:p>
            <a:pPr marL="286762" marR="5075" indent="-274073" algn="just">
              <a:lnSpc>
                <a:spcPct val="150000"/>
              </a:lnSpc>
              <a:spcBef>
                <a:spcPts val="599"/>
              </a:spcBef>
              <a:buClr>
                <a:srgbClr val="94C600"/>
              </a:buClr>
              <a:buSzPct val="68181"/>
              <a:buFont typeface="Wingdings"/>
              <a:buChar char=""/>
              <a:tabLst>
                <a:tab pos="286762" algn="l"/>
              </a:tabLst>
            </a:pPr>
            <a:r>
              <a:rPr sz="2198" spc="-20" dirty="0">
                <a:latin typeface="Century Schoolbook"/>
                <a:cs typeface="Century Schoolbook"/>
              </a:rPr>
              <a:t>Torna-</a:t>
            </a:r>
            <a:r>
              <a:rPr sz="2198" dirty="0">
                <a:latin typeface="Century Schoolbook"/>
                <a:cs typeface="Century Schoolbook"/>
              </a:rPr>
              <a:t>se</a:t>
            </a:r>
            <a:r>
              <a:rPr sz="2198" spc="16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mais</a:t>
            </a:r>
            <a:r>
              <a:rPr sz="2198" spc="15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fácil</a:t>
            </a:r>
            <a:r>
              <a:rPr sz="2198" spc="16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fazer</a:t>
            </a:r>
            <a:r>
              <a:rPr sz="2198" spc="15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mudanças</a:t>
            </a:r>
            <a:r>
              <a:rPr sz="2198" spc="15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porque</a:t>
            </a:r>
            <a:r>
              <a:rPr sz="2198" spc="16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o</a:t>
            </a:r>
            <a:r>
              <a:rPr sz="2198" spc="16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código</a:t>
            </a:r>
            <a:r>
              <a:rPr sz="2198" spc="160" dirty="0">
                <a:latin typeface="Times New Roman"/>
                <a:cs typeface="Times New Roman"/>
              </a:rPr>
              <a:t> </a:t>
            </a:r>
            <a:r>
              <a:rPr sz="2198" spc="-50" dirty="0">
                <a:latin typeface="Century Schoolbook"/>
                <a:cs typeface="Century Schoolbook"/>
              </a:rPr>
              <a:t>é</a:t>
            </a:r>
            <a:r>
              <a:rPr sz="2198" spc="-5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bem</a:t>
            </a:r>
            <a:r>
              <a:rPr sz="2198" spc="-1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construído</a:t>
            </a:r>
            <a:r>
              <a:rPr sz="2198" spc="1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e</a:t>
            </a:r>
            <a:r>
              <a:rPr sz="2198" spc="5" dirty="0">
                <a:latin typeface="Times New Roman"/>
                <a:cs typeface="Times New Roman"/>
              </a:rPr>
              <a:t> </a:t>
            </a:r>
            <a:r>
              <a:rPr sz="2198" spc="-10" dirty="0">
                <a:latin typeface="Century Schoolbook"/>
                <a:cs typeface="Century Schoolbook"/>
              </a:rPr>
              <a:t>limpo.</a:t>
            </a:r>
            <a:endParaRPr sz="2198">
              <a:latin typeface="Century Schoolbook"/>
              <a:cs typeface="Century Schoolbook"/>
            </a:endParaRPr>
          </a:p>
          <a:p>
            <a:pPr marL="286762" marR="6344" indent="-274073" algn="just">
              <a:lnSpc>
                <a:spcPct val="150000"/>
              </a:lnSpc>
              <a:spcBef>
                <a:spcPts val="599"/>
              </a:spcBef>
              <a:buClr>
                <a:srgbClr val="94C600"/>
              </a:buClr>
              <a:buSzPct val="68181"/>
              <a:buFont typeface="Wingdings"/>
              <a:buChar char=""/>
              <a:tabLst>
                <a:tab pos="286762" algn="l"/>
              </a:tabLst>
            </a:pPr>
            <a:r>
              <a:rPr sz="2198" dirty="0">
                <a:latin typeface="Century Schoolbook"/>
                <a:cs typeface="Century Schoolbook"/>
              </a:rPr>
              <a:t>No</a:t>
            </a:r>
            <a:r>
              <a:rPr sz="2198" spc="9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entanto,</a:t>
            </a:r>
            <a:r>
              <a:rPr sz="2198" spc="9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algumas</a:t>
            </a:r>
            <a:r>
              <a:rPr sz="2198" spc="9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mudanças</a:t>
            </a:r>
            <a:r>
              <a:rPr sz="2198" spc="9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requerem</a:t>
            </a:r>
            <a:r>
              <a:rPr sz="2198" spc="90" dirty="0">
                <a:latin typeface="Times New Roman"/>
                <a:cs typeface="Times New Roman"/>
              </a:rPr>
              <a:t> </a:t>
            </a:r>
            <a:r>
              <a:rPr sz="2198" spc="-10" dirty="0">
                <a:latin typeface="Century Schoolbook"/>
                <a:cs typeface="Century Schoolbook"/>
              </a:rPr>
              <a:t>refatoração</a:t>
            </a:r>
            <a:r>
              <a:rPr sz="2198" spc="-1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da</a:t>
            </a:r>
            <a:r>
              <a:rPr sz="2198" spc="1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arquitetura,</a:t>
            </a:r>
            <a:r>
              <a:rPr sz="2198" spc="2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o</a:t>
            </a:r>
            <a:r>
              <a:rPr sz="2198" spc="1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que</a:t>
            </a:r>
            <a:r>
              <a:rPr sz="2198" spc="1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é</a:t>
            </a:r>
            <a:r>
              <a:rPr sz="2198" spc="1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muito</a:t>
            </a:r>
            <a:r>
              <a:rPr sz="2198" spc="-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mais</a:t>
            </a:r>
            <a:r>
              <a:rPr sz="2198" dirty="0">
                <a:latin typeface="Times New Roman"/>
                <a:cs typeface="Times New Roman"/>
              </a:rPr>
              <a:t> </a:t>
            </a:r>
            <a:r>
              <a:rPr sz="2198" spc="-10" dirty="0">
                <a:latin typeface="Century Schoolbook"/>
                <a:cs typeface="Century Schoolbook"/>
              </a:rPr>
              <a:t>caro.</a:t>
            </a:r>
            <a:endParaRPr sz="2198">
              <a:latin typeface="Century Schoolbook"/>
              <a:cs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1017741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3676" y="454488"/>
            <a:ext cx="5284022" cy="1365776"/>
          </a:xfrm>
          <a:prstGeom prst="rect">
            <a:avLst/>
          </a:prstGeom>
        </p:spPr>
        <p:txBody>
          <a:bodyPr vert="horz" wrap="square" lIns="0" tIns="12688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100"/>
              </a:spcBef>
            </a:pPr>
            <a:r>
              <a:rPr cap="small" dirty="0"/>
              <a:t>E</a:t>
            </a:r>
            <a:r>
              <a:rPr cap="small" spc="-5" dirty="0"/>
              <a:t>x</a:t>
            </a:r>
            <a:r>
              <a:rPr cap="small" dirty="0"/>
              <a:t>e</a:t>
            </a:r>
            <a:r>
              <a:rPr cap="small" spc="-5" dirty="0"/>
              <a:t>m</a:t>
            </a:r>
            <a:r>
              <a:rPr cap="small" dirty="0"/>
              <a:t>p</a:t>
            </a:r>
            <a:r>
              <a:rPr cap="small" spc="-10" dirty="0"/>
              <a:t>l</a:t>
            </a:r>
            <a:r>
              <a:rPr cap="small" dirty="0"/>
              <a:t>os</a:t>
            </a:r>
            <a:r>
              <a:rPr sz="2398" spc="270" dirty="0">
                <a:latin typeface="Times New Roman"/>
                <a:cs typeface="Times New Roman"/>
              </a:rPr>
              <a:t> </a:t>
            </a:r>
            <a:r>
              <a:rPr cap="small" dirty="0"/>
              <a:t>de</a:t>
            </a:r>
            <a:r>
              <a:rPr sz="2398" spc="265" dirty="0">
                <a:latin typeface="Times New Roman"/>
                <a:cs typeface="Times New Roman"/>
              </a:rPr>
              <a:t> </a:t>
            </a:r>
            <a:r>
              <a:rPr cap="small" dirty="0"/>
              <a:t>re</a:t>
            </a:r>
            <a:r>
              <a:rPr cap="small" spc="-10" dirty="0"/>
              <a:t>f</a:t>
            </a:r>
            <a:r>
              <a:rPr cap="small" dirty="0"/>
              <a:t>a</a:t>
            </a:r>
            <a:r>
              <a:rPr cap="small" spc="-10" dirty="0"/>
              <a:t>t</a:t>
            </a:r>
            <a:r>
              <a:rPr cap="small" dirty="0"/>
              <a:t>o</a:t>
            </a:r>
            <a:r>
              <a:rPr cap="small" spc="-5" dirty="0"/>
              <a:t>r</a:t>
            </a:r>
            <a:r>
              <a:rPr cap="small" dirty="0"/>
              <a:t>ação</a:t>
            </a:r>
            <a:endParaRPr sz="239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3676" y="1558630"/>
            <a:ext cx="7303992" cy="4014562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286762" marR="6344" indent="-274073" algn="just">
              <a:lnSpc>
                <a:spcPct val="150000"/>
              </a:lnSpc>
              <a:spcBef>
                <a:spcPts val="100"/>
              </a:spcBef>
              <a:buClr>
                <a:srgbClr val="94C600"/>
              </a:buClr>
              <a:buSzPct val="68750"/>
              <a:buFont typeface="Wingdings"/>
              <a:buChar char=""/>
              <a:tabLst>
                <a:tab pos="286762" algn="l"/>
              </a:tabLst>
            </a:pPr>
            <a:r>
              <a:rPr sz="2398" dirty="0">
                <a:latin typeface="Century Schoolbook"/>
                <a:cs typeface="Century Schoolbook"/>
              </a:rPr>
              <a:t>Reorganização</a:t>
            </a:r>
            <a:r>
              <a:rPr sz="2398" spc="110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de</a:t>
            </a:r>
            <a:r>
              <a:rPr sz="2398" spc="114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uma</a:t>
            </a:r>
            <a:r>
              <a:rPr sz="2398" spc="120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hierarquia</a:t>
            </a:r>
            <a:r>
              <a:rPr sz="2398" spc="125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de</a:t>
            </a:r>
            <a:r>
              <a:rPr sz="2398" spc="114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classes</a:t>
            </a:r>
            <a:r>
              <a:rPr sz="2398" spc="120" dirty="0">
                <a:latin typeface="Times New Roman"/>
                <a:cs typeface="Times New Roman"/>
              </a:rPr>
              <a:t> </a:t>
            </a:r>
            <a:r>
              <a:rPr sz="2398" spc="-20" dirty="0">
                <a:latin typeface="Century Schoolbook"/>
                <a:cs typeface="Century Schoolbook"/>
              </a:rPr>
              <a:t>para</a:t>
            </a:r>
            <a:r>
              <a:rPr sz="2398" spc="-20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remover</a:t>
            </a:r>
            <a:r>
              <a:rPr sz="2398" spc="40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código</a:t>
            </a:r>
            <a:r>
              <a:rPr sz="2398" spc="40" dirty="0">
                <a:latin typeface="Times New Roman"/>
                <a:cs typeface="Times New Roman"/>
              </a:rPr>
              <a:t> </a:t>
            </a:r>
            <a:r>
              <a:rPr sz="2398" spc="-10" dirty="0">
                <a:latin typeface="Century Schoolbook"/>
                <a:cs typeface="Century Schoolbook"/>
              </a:rPr>
              <a:t>duplicado.</a:t>
            </a:r>
            <a:endParaRPr sz="2398">
              <a:latin typeface="Century Schoolbook"/>
              <a:cs typeface="Century Schoolbook"/>
            </a:endParaRPr>
          </a:p>
          <a:p>
            <a:pPr marL="286762" marR="6344" indent="-274073" algn="just">
              <a:lnSpc>
                <a:spcPct val="150000"/>
              </a:lnSpc>
              <a:spcBef>
                <a:spcPts val="599"/>
              </a:spcBef>
              <a:buClr>
                <a:srgbClr val="94C600"/>
              </a:buClr>
              <a:buSzPct val="68750"/>
              <a:buFont typeface="Wingdings"/>
              <a:buChar char=""/>
              <a:tabLst>
                <a:tab pos="370506" algn="l"/>
              </a:tabLst>
            </a:pPr>
            <a:r>
              <a:rPr sz="1798" dirty="0"/>
              <a:t>	</a:t>
            </a:r>
            <a:r>
              <a:rPr sz="2398" dirty="0">
                <a:latin typeface="Century Schoolbook"/>
                <a:cs typeface="Century Schoolbook"/>
              </a:rPr>
              <a:t>Organização</a:t>
            </a:r>
            <a:r>
              <a:rPr sz="2398" spc="215" dirty="0">
                <a:latin typeface="Times New Roman"/>
                <a:cs typeface="Times New Roman"/>
              </a:rPr>
              <a:t>   </a:t>
            </a:r>
            <a:r>
              <a:rPr sz="2398" dirty="0">
                <a:latin typeface="Century Schoolbook"/>
                <a:cs typeface="Century Schoolbook"/>
              </a:rPr>
              <a:t>e</a:t>
            </a:r>
            <a:r>
              <a:rPr sz="2398" spc="220" dirty="0">
                <a:latin typeface="Times New Roman"/>
                <a:cs typeface="Times New Roman"/>
              </a:rPr>
              <a:t>   </a:t>
            </a:r>
            <a:r>
              <a:rPr sz="2398" dirty="0">
                <a:latin typeface="Century Schoolbook"/>
                <a:cs typeface="Century Schoolbook"/>
              </a:rPr>
              <a:t>renomeação</a:t>
            </a:r>
            <a:r>
              <a:rPr sz="2398" spc="215" dirty="0">
                <a:latin typeface="Times New Roman"/>
                <a:cs typeface="Times New Roman"/>
              </a:rPr>
              <a:t>   </a:t>
            </a:r>
            <a:r>
              <a:rPr sz="2398" dirty="0">
                <a:latin typeface="Century Schoolbook"/>
                <a:cs typeface="Century Schoolbook"/>
              </a:rPr>
              <a:t>de</a:t>
            </a:r>
            <a:r>
              <a:rPr sz="2398" spc="220" dirty="0">
                <a:latin typeface="Times New Roman"/>
                <a:cs typeface="Times New Roman"/>
              </a:rPr>
              <a:t>   </a:t>
            </a:r>
            <a:r>
              <a:rPr sz="2398" dirty="0">
                <a:latin typeface="Century Schoolbook"/>
                <a:cs typeface="Century Schoolbook"/>
              </a:rPr>
              <a:t>atributos</a:t>
            </a:r>
            <a:r>
              <a:rPr sz="2398" spc="220" dirty="0">
                <a:latin typeface="Times New Roman"/>
                <a:cs typeface="Times New Roman"/>
              </a:rPr>
              <a:t>   </a:t>
            </a:r>
            <a:r>
              <a:rPr sz="2398" spc="-50" dirty="0">
                <a:latin typeface="Century Schoolbook"/>
                <a:cs typeface="Century Schoolbook"/>
              </a:rPr>
              <a:t>e</a:t>
            </a:r>
            <a:r>
              <a:rPr sz="2398" spc="-50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métodos</a:t>
            </a:r>
            <a:r>
              <a:rPr sz="2398" spc="70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para</a:t>
            </a:r>
            <a:r>
              <a:rPr sz="2398" spc="60" dirty="0">
                <a:latin typeface="Times New Roman"/>
                <a:cs typeface="Times New Roman"/>
              </a:rPr>
              <a:t> </a:t>
            </a:r>
            <a:r>
              <a:rPr sz="2398" spc="-10" dirty="0">
                <a:latin typeface="Century Schoolbook"/>
                <a:cs typeface="Century Schoolbook"/>
              </a:rPr>
              <a:t>torná-</a:t>
            </a:r>
            <a:r>
              <a:rPr sz="2398" dirty="0">
                <a:latin typeface="Century Schoolbook"/>
                <a:cs typeface="Century Schoolbook"/>
              </a:rPr>
              <a:t>los</a:t>
            </a:r>
            <a:r>
              <a:rPr sz="2398" spc="55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mais</a:t>
            </a:r>
            <a:r>
              <a:rPr sz="2398" spc="70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fáceis</a:t>
            </a:r>
            <a:r>
              <a:rPr sz="2398" spc="55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de</a:t>
            </a:r>
            <a:r>
              <a:rPr sz="2398" spc="70" dirty="0">
                <a:latin typeface="Times New Roman"/>
                <a:cs typeface="Times New Roman"/>
              </a:rPr>
              <a:t> </a:t>
            </a:r>
            <a:r>
              <a:rPr sz="2398" spc="-10" dirty="0">
                <a:latin typeface="Century Schoolbook"/>
                <a:cs typeface="Century Schoolbook"/>
              </a:rPr>
              <a:t>entender.</a:t>
            </a:r>
            <a:endParaRPr sz="2398">
              <a:latin typeface="Century Schoolbook"/>
              <a:cs typeface="Century Schoolbook"/>
            </a:endParaRPr>
          </a:p>
          <a:p>
            <a:pPr marL="286762" marR="5075" indent="-274073" algn="just">
              <a:lnSpc>
                <a:spcPct val="150000"/>
              </a:lnSpc>
              <a:spcBef>
                <a:spcPts val="599"/>
              </a:spcBef>
              <a:buClr>
                <a:srgbClr val="94C600"/>
              </a:buClr>
              <a:buSzPct val="68750"/>
              <a:buFont typeface="Wingdings"/>
              <a:buChar char=""/>
              <a:tabLst>
                <a:tab pos="372410" algn="l"/>
              </a:tabLst>
            </a:pPr>
            <a:r>
              <a:rPr sz="1798" dirty="0"/>
              <a:t>	</a:t>
            </a:r>
            <a:r>
              <a:rPr sz="2398" dirty="0">
                <a:latin typeface="Century Schoolbook"/>
                <a:cs typeface="Century Schoolbook"/>
              </a:rPr>
              <a:t>A</a:t>
            </a:r>
            <a:r>
              <a:rPr sz="2398" spc="355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substituição</a:t>
            </a:r>
            <a:r>
              <a:rPr sz="2398" spc="350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do</a:t>
            </a:r>
            <a:r>
              <a:rPr sz="2398" spc="350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código</a:t>
            </a:r>
            <a:r>
              <a:rPr sz="2398" spc="350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com</a:t>
            </a:r>
            <a:r>
              <a:rPr sz="2398" spc="350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as</a:t>
            </a:r>
            <a:r>
              <a:rPr sz="2398" spc="365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chamadas</a:t>
            </a:r>
            <a:r>
              <a:rPr sz="2398" spc="365" dirty="0">
                <a:latin typeface="Times New Roman"/>
                <a:cs typeface="Times New Roman"/>
              </a:rPr>
              <a:t> </a:t>
            </a:r>
            <a:r>
              <a:rPr sz="2398" spc="-20" dirty="0">
                <a:latin typeface="Century Schoolbook"/>
                <a:cs typeface="Century Schoolbook"/>
              </a:rPr>
              <a:t>para</a:t>
            </a:r>
            <a:r>
              <a:rPr sz="2398" spc="-20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métodos</a:t>
            </a:r>
            <a:r>
              <a:rPr sz="2398" spc="360" dirty="0">
                <a:latin typeface="Times New Roman"/>
                <a:cs typeface="Times New Roman"/>
              </a:rPr>
              <a:t>   </a:t>
            </a:r>
            <a:r>
              <a:rPr sz="2398" dirty="0">
                <a:latin typeface="Century Schoolbook"/>
                <a:cs typeface="Century Schoolbook"/>
              </a:rPr>
              <a:t>definidos</a:t>
            </a:r>
            <a:r>
              <a:rPr sz="2398" spc="360" dirty="0">
                <a:latin typeface="Times New Roman"/>
                <a:cs typeface="Times New Roman"/>
              </a:rPr>
              <a:t>   </a:t>
            </a:r>
            <a:r>
              <a:rPr sz="2398" dirty="0">
                <a:latin typeface="Century Schoolbook"/>
                <a:cs typeface="Century Schoolbook"/>
              </a:rPr>
              <a:t>em</a:t>
            </a:r>
            <a:r>
              <a:rPr sz="2398" spc="360" dirty="0">
                <a:latin typeface="Times New Roman"/>
                <a:cs typeface="Times New Roman"/>
              </a:rPr>
              <a:t>   </a:t>
            </a:r>
            <a:r>
              <a:rPr sz="2398" dirty="0">
                <a:latin typeface="Century Schoolbook"/>
                <a:cs typeface="Century Schoolbook"/>
              </a:rPr>
              <a:t>uma</a:t>
            </a:r>
            <a:r>
              <a:rPr sz="2398" spc="365" dirty="0">
                <a:latin typeface="Times New Roman"/>
                <a:cs typeface="Times New Roman"/>
              </a:rPr>
              <a:t>   </a:t>
            </a:r>
            <a:r>
              <a:rPr sz="2398" dirty="0">
                <a:latin typeface="Century Schoolbook"/>
                <a:cs typeface="Century Schoolbook"/>
              </a:rPr>
              <a:t>biblioteca</a:t>
            </a:r>
            <a:r>
              <a:rPr sz="2398" spc="360" dirty="0">
                <a:latin typeface="Times New Roman"/>
                <a:cs typeface="Times New Roman"/>
              </a:rPr>
              <a:t>   </a:t>
            </a:r>
            <a:r>
              <a:rPr sz="2398" spc="-25" dirty="0">
                <a:latin typeface="Century Schoolbook"/>
                <a:cs typeface="Century Schoolbook"/>
              </a:rPr>
              <a:t>de</a:t>
            </a:r>
            <a:r>
              <a:rPr sz="2398" spc="-25" dirty="0">
                <a:latin typeface="Times New Roman"/>
                <a:cs typeface="Times New Roman"/>
              </a:rPr>
              <a:t> </a:t>
            </a:r>
            <a:r>
              <a:rPr sz="2398" spc="-10" dirty="0">
                <a:latin typeface="Century Schoolbook"/>
                <a:cs typeface="Century Schoolbook"/>
              </a:rPr>
              <a:t>programas.</a:t>
            </a:r>
            <a:endParaRPr sz="2398">
              <a:latin typeface="Century Schoolbook"/>
              <a:cs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4032053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3676" y="454488"/>
            <a:ext cx="4169359" cy="1365776"/>
          </a:xfrm>
          <a:prstGeom prst="rect">
            <a:avLst/>
          </a:prstGeom>
        </p:spPr>
        <p:txBody>
          <a:bodyPr vert="horz" wrap="square" lIns="0" tIns="12688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100"/>
              </a:spcBef>
            </a:pPr>
            <a:r>
              <a:rPr cap="small" dirty="0"/>
              <a:t>Pon</a:t>
            </a:r>
            <a:r>
              <a:rPr cap="small" spc="-10" dirty="0"/>
              <a:t>t</a:t>
            </a:r>
            <a:r>
              <a:rPr cap="small" dirty="0"/>
              <a:t>os</a:t>
            </a:r>
            <a:r>
              <a:rPr sz="2398" spc="254" dirty="0">
                <a:latin typeface="Times New Roman"/>
                <a:cs typeface="Times New Roman"/>
              </a:rPr>
              <a:t> </a:t>
            </a:r>
            <a:r>
              <a:rPr cap="small" dirty="0"/>
              <a:t>I</a:t>
            </a:r>
            <a:r>
              <a:rPr cap="small" spc="-5" dirty="0"/>
              <a:t>m</a:t>
            </a:r>
            <a:r>
              <a:rPr cap="small" dirty="0"/>
              <a:t>por</a:t>
            </a:r>
            <a:r>
              <a:rPr cap="small" spc="-10" dirty="0"/>
              <a:t>t</a:t>
            </a:r>
            <a:r>
              <a:rPr cap="small" dirty="0"/>
              <a:t>an</a:t>
            </a:r>
            <a:r>
              <a:rPr cap="small" spc="-10" dirty="0"/>
              <a:t>t</a:t>
            </a:r>
            <a:r>
              <a:rPr cap="small" dirty="0"/>
              <a:t>es</a:t>
            </a:r>
            <a:endParaRPr sz="239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3676" y="1671297"/>
            <a:ext cx="4102746" cy="284851"/>
          </a:xfrm>
          <a:prstGeom prst="rect">
            <a:avLst/>
          </a:prstGeom>
        </p:spPr>
        <p:txBody>
          <a:bodyPr vert="horz" wrap="square" lIns="0" tIns="13323" rIns="0" bIns="0" rtlCol="0">
            <a:spAutoFit/>
          </a:bodyPr>
          <a:lstStyle/>
          <a:p>
            <a:pPr marL="286762" indent="-274073">
              <a:spcBef>
                <a:spcPts val="105"/>
              </a:spcBef>
              <a:buClr>
                <a:srgbClr val="94C600"/>
              </a:buClr>
              <a:buSzPct val="67647"/>
              <a:buFont typeface="Wingdings"/>
              <a:buChar char=""/>
              <a:tabLst>
                <a:tab pos="286127" algn="l"/>
                <a:tab pos="286762" algn="l"/>
                <a:tab pos="717539" algn="l"/>
                <a:tab pos="1705344" algn="l"/>
                <a:tab pos="2379741" algn="l"/>
                <a:tab pos="2872058" algn="l"/>
                <a:tab pos="3856691" algn="l"/>
              </a:tabLst>
            </a:pPr>
            <a:r>
              <a:rPr sz="1698" spc="-25" dirty="0">
                <a:latin typeface="Century Schoolbook"/>
                <a:cs typeface="Century Schoolbook"/>
              </a:rPr>
              <a:t>Os</a:t>
            </a:r>
            <a:r>
              <a:rPr sz="1698" dirty="0">
                <a:latin typeface="Times New Roman"/>
                <a:cs typeface="Times New Roman"/>
              </a:rPr>
              <a:t>	</a:t>
            </a:r>
            <a:r>
              <a:rPr sz="1698" spc="-10" dirty="0">
                <a:latin typeface="Century Schoolbook"/>
                <a:cs typeface="Century Schoolbook"/>
              </a:rPr>
              <a:t>métodos</a:t>
            </a:r>
            <a:r>
              <a:rPr sz="1698" dirty="0">
                <a:latin typeface="Times New Roman"/>
                <a:cs typeface="Times New Roman"/>
              </a:rPr>
              <a:t>	</a:t>
            </a:r>
            <a:r>
              <a:rPr sz="1698" spc="-10" dirty="0">
                <a:latin typeface="Century Schoolbook"/>
                <a:cs typeface="Century Schoolbook"/>
              </a:rPr>
              <a:t>ágeis</a:t>
            </a:r>
            <a:r>
              <a:rPr sz="1698" dirty="0">
                <a:latin typeface="Times New Roman"/>
                <a:cs typeface="Times New Roman"/>
              </a:rPr>
              <a:t>	</a:t>
            </a:r>
            <a:r>
              <a:rPr sz="1698" spc="-25" dirty="0">
                <a:latin typeface="Century Schoolbook"/>
                <a:cs typeface="Century Schoolbook"/>
              </a:rPr>
              <a:t>são</a:t>
            </a:r>
            <a:r>
              <a:rPr sz="1698" dirty="0">
                <a:latin typeface="Times New Roman"/>
                <a:cs typeface="Times New Roman"/>
              </a:rPr>
              <a:t>	</a:t>
            </a:r>
            <a:r>
              <a:rPr sz="1698" spc="-10" dirty="0">
                <a:latin typeface="Century Schoolbook"/>
                <a:cs typeface="Century Schoolbook"/>
              </a:rPr>
              <a:t>métodos</a:t>
            </a:r>
            <a:r>
              <a:rPr sz="1698" dirty="0">
                <a:latin typeface="Times New Roman"/>
                <a:cs typeface="Times New Roman"/>
              </a:rPr>
              <a:t>	</a:t>
            </a:r>
            <a:r>
              <a:rPr sz="1698" spc="-25" dirty="0">
                <a:latin typeface="Century Schoolbook"/>
                <a:cs typeface="Century Schoolbook"/>
              </a:rPr>
              <a:t>de</a:t>
            </a:r>
            <a:endParaRPr sz="1698">
              <a:latin typeface="Century Schoolbook"/>
              <a:cs typeface="Century Schoolboo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03939" y="1671297"/>
            <a:ext cx="3061041" cy="284851"/>
          </a:xfrm>
          <a:prstGeom prst="rect">
            <a:avLst/>
          </a:prstGeom>
        </p:spPr>
        <p:txBody>
          <a:bodyPr vert="horz" wrap="square" lIns="0" tIns="13323" rIns="0" bIns="0" rtlCol="0">
            <a:spAutoFit/>
          </a:bodyPr>
          <a:lstStyle/>
          <a:p>
            <a:pPr marL="12689">
              <a:spcBef>
                <a:spcPts val="105"/>
              </a:spcBef>
              <a:tabLst>
                <a:tab pos="1845552" algn="l"/>
              </a:tabLst>
            </a:pPr>
            <a:r>
              <a:rPr sz="1698" spc="-10" dirty="0">
                <a:latin typeface="Century Schoolbook"/>
                <a:cs typeface="Century Schoolbook"/>
              </a:rPr>
              <a:t>desenvolvimento</a:t>
            </a:r>
            <a:r>
              <a:rPr sz="1698" dirty="0">
                <a:latin typeface="Times New Roman"/>
                <a:cs typeface="Times New Roman"/>
              </a:rPr>
              <a:t>	</a:t>
            </a:r>
            <a:r>
              <a:rPr sz="1698" spc="-10" dirty="0">
                <a:latin typeface="Century Schoolbook"/>
                <a:cs typeface="Century Schoolbook"/>
              </a:rPr>
              <a:t>incremental</a:t>
            </a:r>
            <a:endParaRPr sz="1698">
              <a:latin typeface="Century Schoolbook"/>
              <a:cs typeface="Century Schoolbook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63675" y="1930746"/>
            <a:ext cx="7303358" cy="4215672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286762" marR="6344" algn="just">
              <a:lnSpc>
                <a:spcPct val="130000"/>
              </a:lnSpc>
              <a:spcBef>
                <a:spcPts val="100"/>
              </a:spcBef>
            </a:pPr>
            <a:r>
              <a:rPr sz="1698" dirty="0">
                <a:latin typeface="Century Schoolbook"/>
                <a:cs typeface="Century Schoolbook"/>
              </a:rPr>
              <a:t>centrados</a:t>
            </a:r>
            <a:r>
              <a:rPr sz="1698" spc="43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no</a:t>
            </a:r>
            <a:r>
              <a:rPr sz="1698" spc="425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desenvolvimento</a:t>
            </a:r>
            <a:r>
              <a:rPr sz="1698" spc="434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rápido,</a:t>
            </a:r>
            <a:r>
              <a:rPr sz="1698" spc="425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frequentes</a:t>
            </a:r>
            <a:r>
              <a:rPr sz="1698" spc="43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releases</a:t>
            </a:r>
            <a:r>
              <a:rPr sz="1698" spc="434" dirty="0">
                <a:latin typeface="Times New Roman"/>
                <a:cs typeface="Times New Roman"/>
              </a:rPr>
              <a:t>  </a:t>
            </a:r>
            <a:r>
              <a:rPr sz="1698" spc="-25" dirty="0">
                <a:latin typeface="Century Schoolbook"/>
                <a:cs typeface="Century Schoolbook"/>
              </a:rPr>
              <a:t>de</a:t>
            </a:r>
            <a:r>
              <a:rPr sz="1698" spc="-2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software,</a:t>
            </a:r>
            <a:r>
              <a:rPr sz="1698" spc="254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redução</a:t>
            </a:r>
            <a:r>
              <a:rPr sz="1698" spc="26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</a:t>
            </a:r>
            <a:r>
              <a:rPr sz="1698" spc="26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overheads</a:t>
            </a:r>
            <a:r>
              <a:rPr sz="1698" spc="26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</a:t>
            </a:r>
            <a:r>
              <a:rPr sz="1698" spc="26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processo</a:t>
            </a:r>
            <a:r>
              <a:rPr sz="1698" spc="24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e</a:t>
            </a:r>
            <a:r>
              <a:rPr sz="1698" spc="27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produção</a:t>
            </a:r>
            <a:r>
              <a:rPr sz="1698" spc="26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</a:t>
            </a:r>
            <a:r>
              <a:rPr sz="1698" spc="24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código</a:t>
            </a:r>
            <a:r>
              <a:rPr sz="1698" spc="265" dirty="0">
                <a:latin typeface="Times New Roman"/>
                <a:cs typeface="Times New Roman"/>
              </a:rPr>
              <a:t> </a:t>
            </a:r>
            <a:r>
              <a:rPr sz="1698" spc="-25" dirty="0">
                <a:latin typeface="Century Schoolbook"/>
                <a:cs typeface="Century Schoolbook"/>
              </a:rPr>
              <a:t>de</a:t>
            </a:r>
            <a:r>
              <a:rPr sz="1698" spc="-2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alta</a:t>
            </a:r>
            <a:r>
              <a:rPr sz="1698" spc="31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qualidade.</a:t>
            </a:r>
            <a:r>
              <a:rPr sz="1698" spc="31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Eles</a:t>
            </a:r>
            <a:r>
              <a:rPr sz="1698" spc="33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envolvem</a:t>
            </a:r>
            <a:r>
              <a:rPr sz="1698" spc="32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o</a:t>
            </a:r>
            <a:r>
              <a:rPr sz="1698" spc="32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cliente</a:t>
            </a:r>
            <a:r>
              <a:rPr sz="1698" spc="33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diretamente</a:t>
            </a:r>
            <a:r>
              <a:rPr sz="1698" spc="32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no</a:t>
            </a:r>
            <a:r>
              <a:rPr sz="1698" spc="33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processo</a:t>
            </a:r>
            <a:r>
              <a:rPr sz="1698" spc="320" dirty="0">
                <a:latin typeface="Times New Roman"/>
                <a:cs typeface="Times New Roman"/>
              </a:rPr>
              <a:t> </a:t>
            </a:r>
            <a:r>
              <a:rPr sz="1698" spc="-25" dirty="0">
                <a:latin typeface="Century Schoolbook"/>
                <a:cs typeface="Century Schoolbook"/>
              </a:rPr>
              <a:t>de</a:t>
            </a:r>
            <a:r>
              <a:rPr sz="1698" spc="-25" dirty="0">
                <a:latin typeface="Times New Roman"/>
                <a:cs typeface="Times New Roman"/>
              </a:rPr>
              <a:t> </a:t>
            </a:r>
            <a:r>
              <a:rPr sz="1698" spc="-10" dirty="0">
                <a:latin typeface="Century Schoolbook"/>
                <a:cs typeface="Century Schoolbook"/>
              </a:rPr>
              <a:t>desenvolvimento.</a:t>
            </a:r>
            <a:endParaRPr sz="1698">
              <a:latin typeface="Century Schoolbook"/>
              <a:cs typeface="Century Schoolbook"/>
            </a:endParaRPr>
          </a:p>
          <a:p>
            <a:pPr marL="286762" marR="5075" indent="-274073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67647"/>
              <a:buFont typeface="Wingdings"/>
              <a:buChar char=""/>
              <a:tabLst>
                <a:tab pos="286762" algn="l"/>
              </a:tabLst>
            </a:pPr>
            <a:r>
              <a:rPr sz="1698" dirty="0">
                <a:latin typeface="Century Schoolbook"/>
                <a:cs typeface="Century Schoolbook"/>
              </a:rPr>
              <a:t>A</a:t>
            </a:r>
            <a:r>
              <a:rPr sz="1698" spc="7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decisão</a:t>
            </a:r>
            <a:r>
              <a:rPr sz="1698" spc="6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</a:t>
            </a:r>
            <a:r>
              <a:rPr sz="1698" spc="6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quando</a:t>
            </a:r>
            <a:r>
              <a:rPr sz="1698" spc="6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usar</a:t>
            </a:r>
            <a:r>
              <a:rPr sz="1698" spc="6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uma</a:t>
            </a:r>
            <a:r>
              <a:rPr sz="1698" spc="6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abordagem</a:t>
            </a:r>
            <a:r>
              <a:rPr sz="1698" spc="6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ao</a:t>
            </a:r>
            <a:r>
              <a:rPr sz="1698" spc="8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desenvolvimento</a:t>
            </a:r>
            <a:r>
              <a:rPr sz="1698" spc="6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ágil</a:t>
            </a:r>
            <a:r>
              <a:rPr sz="1698" spc="75" dirty="0">
                <a:latin typeface="Times New Roman"/>
                <a:cs typeface="Times New Roman"/>
              </a:rPr>
              <a:t> </a:t>
            </a:r>
            <a:r>
              <a:rPr sz="1698" spc="-25" dirty="0">
                <a:latin typeface="Century Schoolbook"/>
                <a:cs typeface="Century Schoolbook"/>
              </a:rPr>
              <a:t>ou</a:t>
            </a:r>
            <a:r>
              <a:rPr sz="1698" spc="-2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dirigida</a:t>
            </a:r>
            <a:r>
              <a:rPr sz="1698" spc="28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a</a:t>
            </a:r>
            <a:r>
              <a:rPr sz="1698" spc="29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planos</a:t>
            </a:r>
            <a:r>
              <a:rPr sz="1698" spc="29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deve</a:t>
            </a:r>
            <a:r>
              <a:rPr sz="1698" spc="29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depender</a:t>
            </a:r>
            <a:r>
              <a:rPr sz="1698" spc="28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do</a:t>
            </a:r>
            <a:r>
              <a:rPr sz="1698" spc="29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tipo</a:t>
            </a:r>
            <a:r>
              <a:rPr sz="1698" spc="29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</a:t>
            </a:r>
            <a:r>
              <a:rPr sz="1698" spc="29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software</a:t>
            </a:r>
            <a:r>
              <a:rPr sz="1698" spc="29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que</a:t>
            </a:r>
            <a:r>
              <a:rPr sz="1698" spc="29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está</a:t>
            </a:r>
            <a:r>
              <a:rPr sz="1698" spc="295" dirty="0">
                <a:latin typeface="Times New Roman"/>
                <a:cs typeface="Times New Roman"/>
              </a:rPr>
              <a:t> </a:t>
            </a:r>
            <a:r>
              <a:rPr sz="1698" spc="-10" dirty="0">
                <a:latin typeface="Century Schoolbook"/>
                <a:cs typeface="Century Schoolbook"/>
              </a:rPr>
              <a:t>sendo</a:t>
            </a:r>
            <a:r>
              <a:rPr sz="1698" spc="-1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desenvolvido,</a:t>
            </a:r>
            <a:r>
              <a:rPr sz="1698" spc="8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da</a:t>
            </a:r>
            <a:r>
              <a:rPr sz="1698" spc="85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capacidades</a:t>
            </a:r>
            <a:r>
              <a:rPr sz="1698" spc="9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da</a:t>
            </a:r>
            <a:r>
              <a:rPr sz="1698" spc="9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equipe</a:t>
            </a:r>
            <a:r>
              <a:rPr sz="1698" spc="8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de</a:t>
            </a:r>
            <a:r>
              <a:rPr sz="1698" spc="9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desenvolvimento</a:t>
            </a:r>
            <a:r>
              <a:rPr sz="1698" spc="85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e</a:t>
            </a:r>
            <a:r>
              <a:rPr sz="1698" spc="90" dirty="0">
                <a:latin typeface="Times New Roman"/>
                <a:cs typeface="Times New Roman"/>
              </a:rPr>
              <a:t>  </a:t>
            </a:r>
            <a:r>
              <a:rPr sz="1698" spc="-25" dirty="0">
                <a:latin typeface="Century Schoolbook"/>
                <a:cs typeface="Century Schoolbook"/>
              </a:rPr>
              <a:t>da</a:t>
            </a:r>
            <a:r>
              <a:rPr sz="1698" spc="-2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cultura</a:t>
            </a:r>
            <a:r>
              <a:rPr sz="1698" spc="2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da</a:t>
            </a:r>
            <a:r>
              <a:rPr sz="1698" spc="3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companhia</a:t>
            </a:r>
            <a:r>
              <a:rPr sz="1698" spc="1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desenvolvedora</a:t>
            </a:r>
            <a:r>
              <a:rPr sz="1698" spc="1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do</a:t>
            </a:r>
            <a:r>
              <a:rPr sz="1698" spc="25" dirty="0">
                <a:latin typeface="Times New Roman"/>
                <a:cs typeface="Times New Roman"/>
              </a:rPr>
              <a:t> </a:t>
            </a:r>
            <a:r>
              <a:rPr sz="1698" spc="-10" dirty="0">
                <a:latin typeface="Century Schoolbook"/>
                <a:cs typeface="Century Schoolbook"/>
              </a:rPr>
              <a:t>sistema.</a:t>
            </a:r>
            <a:endParaRPr sz="1698">
              <a:latin typeface="Century Schoolbook"/>
              <a:cs typeface="Century Schoolbook"/>
            </a:endParaRPr>
          </a:p>
          <a:p>
            <a:pPr marL="286762" marR="5075" indent="-274073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67647"/>
              <a:buFont typeface="Wingdings"/>
              <a:buChar char=""/>
              <a:tabLst>
                <a:tab pos="286762" algn="l"/>
              </a:tabLst>
            </a:pPr>
            <a:r>
              <a:rPr sz="1698" dirty="0">
                <a:latin typeface="Century Schoolbook"/>
                <a:cs typeface="Century Schoolbook"/>
              </a:rPr>
              <a:t>O</a:t>
            </a:r>
            <a:r>
              <a:rPr sz="1698" spc="13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Extreme</a:t>
            </a:r>
            <a:r>
              <a:rPr sz="1698" spc="145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Programming</a:t>
            </a:r>
            <a:r>
              <a:rPr sz="1698" spc="145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é</a:t>
            </a:r>
            <a:r>
              <a:rPr sz="1698" spc="145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um</a:t>
            </a:r>
            <a:r>
              <a:rPr sz="1698" spc="14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método</a:t>
            </a:r>
            <a:r>
              <a:rPr sz="1698" spc="145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ágil</a:t>
            </a:r>
            <a:r>
              <a:rPr sz="1698" spc="15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bem</a:t>
            </a:r>
            <a:r>
              <a:rPr sz="1698" spc="14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conhecido</a:t>
            </a:r>
            <a:r>
              <a:rPr sz="1698" spc="150" dirty="0">
                <a:latin typeface="Times New Roman"/>
                <a:cs typeface="Times New Roman"/>
              </a:rPr>
              <a:t>  </a:t>
            </a:r>
            <a:r>
              <a:rPr sz="1698" spc="-25" dirty="0">
                <a:latin typeface="Century Schoolbook"/>
                <a:cs typeface="Century Schoolbook"/>
              </a:rPr>
              <a:t>que</a:t>
            </a:r>
            <a:r>
              <a:rPr sz="1698" spc="-2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integra</a:t>
            </a:r>
            <a:r>
              <a:rPr sz="1698" spc="9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uma</a:t>
            </a:r>
            <a:r>
              <a:rPr sz="1698" spc="10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série</a:t>
            </a:r>
            <a:r>
              <a:rPr sz="1698" spc="10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</a:t>
            </a:r>
            <a:r>
              <a:rPr sz="1698" spc="10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boas</a:t>
            </a:r>
            <a:r>
              <a:rPr sz="1698" spc="9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práticas</a:t>
            </a:r>
            <a:r>
              <a:rPr sz="1698" spc="10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</a:t>
            </a:r>
            <a:r>
              <a:rPr sz="1698" spc="9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programação</a:t>
            </a:r>
            <a:r>
              <a:rPr sz="1698" spc="10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como</a:t>
            </a:r>
            <a:r>
              <a:rPr sz="1698" spc="10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por</a:t>
            </a:r>
            <a:r>
              <a:rPr sz="1698" spc="100" dirty="0">
                <a:latin typeface="Times New Roman"/>
                <a:cs typeface="Times New Roman"/>
              </a:rPr>
              <a:t> </a:t>
            </a:r>
            <a:r>
              <a:rPr sz="1698" spc="-10" dirty="0">
                <a:latin typeface="Century Schoolbook"/>
                <a:cs typeface="Century Schoolbook"/>
              </a:rPr>
              <a:t>exemplo</a:t>
            </a:r>
            <a:r>
              <a:rPr sz="1698" spc="-1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releases</a:t>
            </a:r>
            <a:r>
              <a:rPr sz="1698" spc="20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</a:t>
            </a:r>
            <a:r>
              <a:rPr sz="1698" spc="204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software</a:t>
            </a:r>
            <a:r>
              <a:rPr sz="1698" spc="204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frequentes,</a:t>
            </a:r>
            <a:r>
              <a:rPr sz="1698" spc="20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melhorias</a:t>
            </a:r>
            <a:r>
              <a:rPr sz="1698" spc="21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contínuas</a:t>
            </a:r>
            <a:r>
              <a:rPr sz="1698" spc="204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de</a:t>
            </a:r>
            <a:r>
              <a:rPr sz="1698" spc="21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software</a:t>
            </a:r>
            <a:r>
              <a:rPr sz="1698" spc="210" dirty="0">
                <a:latin typeface="Times New Roman"/>
                <a:cs typeface="Times New Roman"/>
              </a:rPr>
              <a:t>  </a:t>
            </a:r>
            <a:r>
              <a:rPr sz="1698" spc="-50" dirty="0">
                <a:latin typeface="Century Schoolbook"/>
                <a:cs typeface="Century Schoolbook"/>
              </a:rPr>
              <a:t>e</a:t>
            </a:r>
            <a:r>
              <a:rPr sz="1698" spc="-5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participação</a:t>
            </a:r>
            <a:r>
              <a:rPr sz="1698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do</a:t>
            </a:r>
            <a:r>
              <a:rPr sz="1698" spc="3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cliente</a:t>
            </a:r>
            <a:r>
              <a:rPr sz="1698" spc="3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na</a:t>
            </a:r>
            <a:r>
              <a:rPr sz="1698" spc="5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equipe</a:t>
            </a:r>
            <a:r>
              <a:rPr sz="1698" spc="3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</a:t>
            </a:r>
            <a:r>
              <a:rPr sz="1698" spc="30" dirty="0">
                <a:latin typeface="Times New Roman"/>
                <a:cs typeface="Times New Roman"/>
              </a:rPr>
              <a:t> </a:t>
            </a:r>
            <a:r>
              <a:rPr sz="1698" spc="-10" dirty="0">
                <a:latin typeface="Century Schoolbook"/>
                <a:cs typeface="Century Schoolbook"/>
              </a:rPr>
              <a:t>desenvolvimento.</a:t>
            </a:r>
            <a:endParaRPr sz="1698">
              <a:latin typeface="Century Schoolbook"/>
              <a:cs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29443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3676" y="454488"/>
            <a:ext cx="2703232" cy="1365776"/>
          </a:xfrm>
          <a:prstGeom prst="rect">
            <a:avLst/>
          </a:prstGeom>
        </p:spPr>
        <p:txBody>
          <a:bodyPr vert="horz" wrap="square" lIns="0" tIns="12688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100"/>
              </a:spcBef>
            </a:pPr>
            <a:r>
              <a:rPr cap="small" spc="5" dirty="0"/>
              <a:t>T</a:t>
            </a:r>
            <a:r>
              <a:rPr cap="small" dirty="0"/>
              <a:t>e</a:t>
            </a:r>
            <a:r>
              <a:rPr cap="small" spc="-5" dirty="0"/>
              <a:t>s</a:t>
            </a:r>
            <a:r>
              <a:rPr cap="small" spc="-10" dirty="0"/>
              <a:t>t</a:t>
            </a:r>
            <a:r>
              <a:rPr cap="small" dirty="0"/>
              <a:t>es</a:t>
            </a:r>
            <a:r>
              <a:rPr sz="2398" spc="270" dirty="0">
                <a:latin typeface="Times New Roman"/>
                <a:cs typeface="Times New Roman"/>
              </a:rPr>
              <a:t> </a:t>
            </a:r>
            <a:r>
              <a:rPr cap="small" dirty="0"/>
              <a:t>em</a:t>
            </a:r>
            <a:r>
              <a:rPr sz="2398" spc="254" dirty="0">
                <a:latin typeface="Times New Roman"/>
                <a:cs typeface="Times New Roman"/>
              </a:rPr>
              <a:t> </a:t>
            </a:r>
            <a:r>
              <a:rPr cap="small" spc="5" dirty="0"/>
              <a:t>X</a:t>
            </a:r>
            <a:r>
              <a:rPr cap="small" dirty="0"/>
              <a:t>P</a:t>
            </a:r>
            <a:endParaRPr sz="239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3675" y="1579027"/>
            <a:ext cx="7303358" cy="4717492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286762" marR="5075" indent="-274073" algn="just">
              <a:lnSpc>
                <a:spcPct val="140000"/>
              </a:lnSpc>
              <a:spcBef>
                <a:spcPts val="100"/>
              </a:spcBef>
              <a:buClr>
                <a:srgbClr val="94C600"/>
              </a:buClr>
              <a:buSzPct val="70000"/>
              <a:buFont typeface="Wingdings"/>
              <a:buChar char=""/>
              <a:tabLst>
                <a:tab pos="286762" algn="l"/>
              </a:tabLst>
            </a:pPr>
            <a:r>
              <a:rPr sz="1998" dirty="0">
                <a:latin typeface="Century Schoolbook"/>
                <a:cs typeface="Century Schoolbook"/>
              </a:rPr>
              <a:t>Em</a:t>
            </a:r>
            <a:r>
              <a:rPr sz="1998" spc="31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XP,</a:t>
            </a:r>
            <a:r>
              <a:rPr sz="1998" spc="32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os</a:t>
            </a:r>
            <a:r>
              <a:rPr sz="1998" spc="32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testes</a:t>
            </a:r>
            <a:r>
              <a:rPr sz="1998" spc="33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são</a:t>
            </a:r>
            <a:r>
              <a:rPr sz="1998" spc="33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fundamentais,</a:t>
            </a:r>
            <a:r>
              <a:rPr sz="1998" spc="32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XP</a:t>
            </a:r>
            <a:r>
              <a:rPr sz="1998" spc="33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desenvolveu</a:t>
            </a:r>
            <a:r>
              <a:rPr sz="1998" spc="335" dirty="0">
                <a:latin typeface="Times New Roman"/>
                <a:cs typeface="Times New Roman"/>
              </a:rPr>
              <a:t> </a:t>
            </a:r>
            <a:r>
              <a:rPr sz="1998" spc="-25" dirty="0">
                <a:latin typeface="Century Schoolbook"/>
                <a:cs typeface="Century Schoolbook"/>
              </a:rPr>
              <a:t>uma</a:t>
            </a:r>
            <a:r>
              <a:rPr sz="1998" spc="-2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abordagem</a:t>
            </a:r>
            <a:r>
              <a:rPr sz="1998" spc="2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em</a:t>
            </a:r>
            <a:r>
              <a:rPr sz="1998" spc="3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que</a:t>
            </a:r>
            <a:r>
              <a:rPr sz="1998" spc="3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o</a:t>
            </a:r>
            <a:r>
              <a:rPr sz="1998" spc="4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programa</a:t>
            </a:r>
            <a:r>
              <a:rPr sz="1998" spc="4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é</a:t>
            </a:r>
            <a:r>
              <a:rPr sz="1998" spc="3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testado</a:t>
            </a:r>
            <a:r>
              <a:rPr sz="1998" spc="4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depois</a:t>
            </a:r>
            <a:r>
              <a:rPr sz="1998" spc="2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de</a:t>
            </a:r>
            <a:r>
              <a:rPr sz="1998" spc="3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que</a:t>
            </a:r>
            <a:r>
              <a:rPr sz="1998" spc="45" dirty="0">
                <a:latin typeface="Times New Roman"/>
                <a:cs typeface="Times New Roman"/>
              </a:rPr>
              <a:t> </a:t>
            </a:r>
            <a:r>
              <a:rPr sz="1998" spc="-20" dirty="0">
                <a:latin typeface="Century Schoolbook"/>
                <a:cs typeface="Century Schoolbook"/>
              </a:rPr>
              <a:t>cada</a:t>
            </a:r>
            <a:r>
              <a:rPr sz="1998" spc="-2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alteração</a:t>
            </a:r>
            <a:r>
              <a:rPr sz="1998" spc="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é</a:t>
            </a:r>
            <a:r>
              <a:rPr sz="1998" spc="45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feita.</a:t>
            </a:r>
            <a:endParaRPr sz="1998">
              <a:latin typeface="Century Schoolbook"/>
              <a:cs typeface="Century Schoolbook"/>
            </a:endParaRPr>
          </a:p>
          <a:p>
            <a:pPr marL="286762" indent="-274073" algn="just">
              <a:spcBef>
                <a:spcPts val="1559"/>
              </a:spcBef>
              <a:buClr>
                <a:srgbClr val="94C600"/>
              </a:buClr>
              <a:buSzPct val="70000"/>
              <a:buFont typeface="Wingdings"/>
              <a:buChar char=""/>
              <a:tabLst>
                <a:tab pos="286762" algn="l"/>
              </a:tabLst>
            </a:pPr>
            <a:r>
              <a:rPr sz="1998" dirty="0">
                <a:latin typeface="Century Schoolbook"/>
                <a:cs typeface="Century Schoolbook"/>
              </a:rPr>
              <a:t>Características</a:t>
            </a:r>
            <a:r>
              <a:rPr sz="1998" spc="-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de</a:t>
            </a:r>
            <a:r>
              <a:rPr sz="1998" spc="3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testes</a:t>
            </a:r>
            <a:r>
              <a:rPr sz="1998" spc="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em</a:t>
            </a:r>
            <a:r>
              <a:rPr sz="1998" spc="25" dirty="0">
                <a:latin typeface="Times New Roman"/>
                <a:cs typeface="Times New Roman"/>
              </a:rPr>
              <a:t> </a:t>
            </a:r>
            <a:r>
              <a:rPr sz="1998" spc="-25" dirty="0">
                <a:latin typeface="Century Schoolbook"/>
                <a:cs typeface="Century Schoolbook"/>
              </a:rPr>
              <a:t>XP:</a:t>
            </a:r>
            <a:endParaRPr sz="1998">
              <a:latin typeface="Century Schoolbook"/>
              <a:cs typeface="Century Schoolbook"/>
            </a:endParaRPr>
          </a:p>
          <a:p>
            <a:pPr marL="834908" lvl="1" indent="-457422" algn="just">
              <a:spcBef>
                <a:spcPts val="1339"/>
              </a:spcBef>
              <a:buClr>
                <a:srgbClr val="94C600"/>
              </a:buClr>
              <a:buSzPct val="80555"/>
              <a:buAutoNum type="arabicPeriod"/>
              <a:tabLst>
                <a:tab pos="834908" algn="l"/>
              </a:tabLst>
            </a:pPr>
            <a:r>
              <a:rPr sz="1798" dirty="0">
                <a:latin typeface="Century Schoolbook"/>
                <a:cs typeface="Century Schoolbook"/>
              </a:rPr>
              <a:t>Desenvolvimento</a:t>
            </a:r>
            <a:r>
              <a:rPr sz="1798" spc="40" dirty="0">
                <a:latin typeface="Times New Roman"/>
                <a:cs typeface="Times New Roman"/>
              </a:rPr>
              <a:t> </a:t>
            </a:r>
            <a:r>
              <a:rPr sz="1798" spc="-10" dirty="0">
                <a:latin typeface="Century Schoolbook"/>
                <a:cs typeface="Century Schoolbook"/>
              </a:rPr>
              <a:t>test-first.</a:t>
            </a:r>
            <a:endParaRPr sz="1798">
              <a:latin typeface="Century Schoolbook"/>
              <a:cs typeface="Century Schoolbook"/>
            </a:endParaRPr>
          </a:p>
          <a:p>
            <a:pPr marL="834908" lvl="1" indent="-457422" algn="just">
              <a:spcBef>
                <a:spcPts val="1294"/>
              </a:spcBef>
              <a:buClr>
                <a:srgbClr val="94C600"/>
              </a:buClr>
              <a:buSzPct val="80555"/>
              <a:buAutoNum type="arabicPeriod"/>
              <a:tabLst>
                <a:tab pos="834908" algn="l"/>
              </a:tabLst>
            </a:pPr>
            <a:r>
              <a:rPr sz="1798" dirty="0">
                <a:latin typeface="Century Schoolbook"/>
                <a:cs typeface="Century Schoolbook"/>
              </a:rPr>
              <a:t>Desenvolvimento</a:t>
            </a:r>
            <a:r>
              <a:rPr sz="1798" spc="5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de</a:t>
            </a:r>
            <a:r>
              <a:rPr sz="1798" spc="35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testes</a:t>
            </a:r>
            <a:r>
              <a:rPr sz="1798" spc="6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incrementais</a:t>
            </a:r>
            <a:r>
              <a:rPr sz="1798" spc="3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a</a:t>
            </a:r>
            <a:r>
              <a:rPr sz="1798" spc="35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partir</a:t>
            </a:r>
            <a:r>
              <a:rPr sz="1798" spc="4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de</a:t>
            </a:r>
            <a:r>
              <a:rPr sz="1798" spc="40" dirty="0">
                <a:latin typeface="Times New Roman"/>
                <a:cs typeface="Times New Roman"/>
              </a:rPr>
              <a:t> </a:t>
            </a:r>
            <a:r>
              <a:rPr sz="1798" spc="-10" dirty="0">
                <a:latin typeface="Century Schoolbook"/>
                <a:cs typeface="Century Schoolbook"/>
              </a:rPr>
              <a:t>cenários.</a:t>
            </a:r>
            <a:endParaRPr sz="1798">
              <a:latin typeface="Century Schoolbook"/>
              <a:cs typeface="Century Schoolbook"/>
            </a:endParaRPr>
          </a:p>
          <a:p>
            <a:pPr marL="834908" marR="7613" lvl="1" indent="-456789" algn="just">
              <a:lnSpc>
                <a:spcPct val="140000"/>
              </a:lnSpc>
              <a:spcBef>
                <a:spcPts val="430"/>
              </a:spcBef>
              <a:buClr>
                <a:srgbClr val="94C600"/>
              </a:buClr>
              <a:buSzPct val="80555"/>
              <a:buAutoNum type="arabicPeriod"/>
              <a:tabLst>
                <a:tab pos="834908" algn="l"/>
              </a:tabLst>
            </a:pPr>
            <a:r>
              <a:rPr sz="1798" dirty="0">
                <a:latin typeface="Century Schoolbook"/>
                <a:cs typeface="Century Schoolbook"/>
              </a:rPr>
              <a:t>Envolvimento</a:t>
            </a:r>
            <a:r>
              <a:rPr sz="1798" spc="60" dirty="0">
                <a:latin typeface="Times New Roman"/>
                <a:cs typeface="Times New Roman"/>
              </a:rPr>
              <a:t>  </a:t>
            </a:r>
            <a:r>
              <a:rPr sz="1798" dirty="0">
                <a:latin typeface="Century Schoolbook"/>
                <a:cs typeface="Century Schoolbook"/>
              </a:rPr>
              <a:t>do</a:t>
            </a:r>
            <a:r>
              <a:rPr sz="1798" spc="75" dirty="0">
                <a:latin typeface="Times New Roman"/>
                <a:cs typeface="Times New Roman"/>
              </a:rPr>
              <a:t>  </a:t>
            </a:r>
            <a:r>
              <a:rPr sz="1798" dirty="0">
                <a:latin typeface="Century Schoolbook"/>
                <a:cs typeface="Century Schoolbook"/>
              </a:rPr>
              <a:t>usuário</a:t>
            </a:r>
            <a:r>
              <a:rPr sz="1798" spc="70" dirty="0">
                <a:latin typeface="Times New Roman"/>
                <a:cs typeface="Times New Roman"/>
              </a:rPr>
              <a:t>  </a:t>
            </a:r>
            <a:r>
              <a:rPr sz="1798" dirty="0">
                <a:latin typeface="Century Schoolbook"/>
                <a:cs typeface="Century Schoolbook"/>
              </a:rPr>
              <a:t>no</a:t>
            </a:r>
            <a:r>
              <a:rPr sz="1798" spc="75" dirty="0">
                <a:latin typeface="Times New Roman"/>
                <a:cs typeface="Times New Roman"/>
              </a:rPr>
              <a:t>  </a:t>
            </a:r>
            <a:r>
              <a:rPr sz="1798" dirty="0">
                <a:latin typeface="Century Schoolbook"/>
                <a:cs typeface="Century Schoolbook"/>
              </a:rPr>
              <a:t>desenvolvimento</a:t>
            </a:r>
            <a:r>
              <a:rPr sz="1798" spc="75" dirty="0">
                <a:latin typeface="Times New Roman"/>
                <a:cs typeface="Times New Roman"/>
              </a:rPr>
              <a:t>  </a:t>
            </a:r>
            <a:r>
              <a:rPr sz="1798" dirty="0">
                <a:latin typeface="Century Schoolbook"/>
                <a:cs typeface="Century Schoolbook"/>
              </a:rPr>
              <a:t>de</a:t>
            </a:r>
            <a:r>
              <a:rPr sz="1798" spc="75" dirty="0">
                <a:latin typeface="Times New Roman"/>
                <a:cs typeface="Times New Roman"/>
              </a:rPr>
              <a:t>  </a:t>
            </a:r>
            <a:r>
              <a:rPr sz="1798" dirty="0">
                <a:latin typeface="Century Schoolbook"/>
                <a:cs typeface="Century Schoolbook"/>
              </a:rPr>
              <a:t>testes</a:t>
            </a:r>
            <a:r>
              <a:rPr sz="1798" spc="80" dirty="0">
                <a:latin typeface="Times New Roman"/>
                <a:cs typeface="Times New Roman"/>
              </a:rPr>
              <a:t>  </a:t>
            </a:r>
            <a:r>
              <a:rPr sz="1798" spc="-60" dirty="0">
                <a:latin typeface="Century Schoolbook"/>
                <a:cs typeface="Century Schoolbook"/>
              </a:rPr>
              <a:t>e</a:t>
            </a:r>
            <a:r>
              <a:rPr sz="1798" spc="-60" dirty="0">
                <a:latin typeface="Times New Roman"/>
                <a:cs typeface="Times New Roman"/>
              </a:rPr>
              <a:t> </a:t>
            </a:r>
            <a:r>
              <a:rPr sz="1798" spc="-10" dirty="0">
                <a:latin typeface="Century Schoolbook"/>
                <a:cs typeface="Century Schoolbook"/>
              </a:rPr>
              <a:t>validação.</a:t>
            </a:r>
            <a:endParaRPr sz="1798">
              <a:latin typeface="Century Schoolbook"/>
              <a:cs typeface="Century Schoolbook"/>
            </a:endParaRPr>
          </a:p>
          <a:p>
            <a:pPr marL="834908" marR="6344" lvl="1" indent="-456789" algn="just">
              <a:lnSpc>
                <a:spcPct val="140000"/>
              </a:lnSpc>
              <a:spcBef>
                <a:spcPts val="434"/>
              </a:spcBef>
              <a:buClr>
                <a:srgbClr val="94C600"/>
              </a:buClr>
              <a:buSzPct val="80555"/>
              <a:buAutoNum type="arabicPeriod"/>
              <a:tabLst>
                <a:tab pos="834908" algn="l"/>
              </a:tabLst>
            </a:pPr>
            <a:r>
              <a:rPr sz="1798" dirty="0">
                <a:latin typeface="Century Schoolbook"/>
                <a:cs typeface="Century Schoolbook"/>
              </a:rPr>
              <a:t>Cada</a:t>
            </a:r>
            <a:r>
              <a:rPr sz="1798" spc="75" dirty="0">
                <a:latin typeface="Times New Roman"/>
                <a:cs typeface="Times New Roman"/>
              </a:rPr>
              <a:t>  </a:t>
            </a:r>
            <a:r>
              <a:rPr sz="1798" dirty="0">
                <a:latin typeface="Century Schoolbook"/>
                <a:cs typeface="Century Schoolbook"/>
              </a:rPr>
              <a:t>vez</a:t>
            </a:r>
            <a:r>
              <a:rPr sz="1798" spc="90" dirty="0">
                <a:latin typeface="Times New Roman"/>
                <a:cs typeface="Times New Roman"/>
              </a:rPr>
              <a:t>  </a:t>
            </a:r>
            <a:r>
              <a:rPr sz="1798" dirty="0">
                <a:latin typeface="Century Schoolbook"/>
                <a:cs typeface="Century Schoolbook"/>
              </a:rPr>
              <a:t>que</a:t>
            </a:r>
            <a:r>
              <a:rPr sz="1798" spc="85" dirty="0">
                <a:latin typeface="Times New Roman"/>
                <a:cs typeface="Times New Roman"/>
              </a:rPr>
              <a:t>  </a:t>
            </a:r>
            <a:r>
              <a:rPr sz="1798" dirty="0">
                <a:latin typeface="Century Schoolbook"/>
                <a:cs typeface="Century Schoolbook"/>
              </a:rPr>
              <a:t>um</a:t>
            </a:r>
            <a:r>
              <a:rPr sz="1798" spc="85" dirty="0">
                <a:latin typeface="Times New Roman"/>
                <a:cs typeface="Times New Roman"/>
              </a:rPr>
              <a:t>  </a:t>
            </a:r>
            <a:r>
              <a:rPr sz="1798" dirty="0">
                <a:latin typeface="Century Schoolbook"/>
                <a:cs typeface="Century Schoolbook"/>
              </a:rPr>
              <a:t>novo</a:t>
            </a:r>
            <a:r>
              <a:rPr sz="1798" spc="85" dirty="0">
                <a:latin typeface="Times New Roman"/>
                <a:cs typeface="Times New Roman"/>
              </a:rPr>
              <a:t>  </a:t>
            </a:r>
            <a:r>
              <a:rPr sz="1798" dirty="0">
                <a:latin typeface="Century Schoolbook"/>
                <a:cs typeface="Century Schoolbook"/>
              </a:rPr>
              <a:t>release</a:t>
            </a:r>
            <a:r>
              <a:rPr sz="1798" spc="90" dirty="0">
                <a:latin typeface="Times New Roman"/>
                <a:cs typeface="Times New Roman"/>
              </a:rPr>
              <a:t>  </a:t>
            </a:r>
            <a:r>
              <a:rPr sz="1798" dirty="0">
                <a:latin typeface="Century Schoolbook"/>
                <a:cs typeface="Century Schoolbook"/>
              </a:rPr>
              <a:t>é</a:t>
            </a:r>
            <a:r>
              <a:rPr sz="1798" spc="90" dirty="0">
                <a:latin typeface="Times New Roman"/>
                <a:cs typeface="Times New Roman"/>
              </a:rPr>
              <a:t>  </a:t>
            </a:r>
            <a:r>
              <a:rPr sz="1798" dirty="0">
                <a:latin typeface="Century Schoolbook"/>
                <a:cs typeface="Century Schoolbook"/>
              </a:rPr>
              <a:t>construído,</a:t>
            </a:r>
            <a:r>
              <a:rPr sz="1798" spc="90" dirty="0">
                <a:latin typeface="Times New Roman"/>
                <a:cs typeface="Times New Roman"/>
              </a:rPr>
              <a:t>  </a:t>
            </a:r>
            <a:r>
              <a:rPr sz="1798" dirty="0">
                <a:latin typeface="Century Schoolbook"/>
                <a:cs typeface="Century Schoolbook"/>
              </a:rPr>
              <a:t>são</a:t>
            </a:r>
            <a:r>
              <a:rPr sz="1798" spc="95" dirty="0">
                <a:latin typeface="Times New Roman"/>
                <a:cs typeface="Times New Roman"/>
              </a:rPr>
              <a:t>  </a:t>
            </a:r>
            <a:r>
              <a:rPr sz="1798" spc="-10" dirty="0">
                <a:latin typeface="Century Schoolbook"/>
                <a:cs typeface="Century Schoolbook"/>
              </a:rPr>
              <a:t>usados</a:t>
            </a:r>
            <a:r>
              <a:rPr sz="1798" spc="-1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frameworks</a:t>
            </a:r>
            <a:r>
              <a:rPr sz="1798" spc="204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de</a:t>
            </a:r>
            <a:r>
              <a:rPr sz="1798" spc="22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testes</a:t>
            </a:r>
            <a:r>
              <a:rPr sz="1798" spc="215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automatizados</a:t>
            </a:r>
            <a:r>
              <a:rPr sz="1798" spc="22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para</a:t>
            </a:r>
            <a:r>
              <a:rPr sz="1798" spc="215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executarem</a:t>
            </a:r>
            <a:r>
              <a:rPr sz="1798" spc="210" dirty="0">
                <a:latin typeface="Times New Roman"/>
                <a:cs typeface="Times New Roman"/>
              </a:rPr>
              <a:t> </a:t>
            </a:r>
            <a:r>
              <a:rPr sz="1798" spc="-10" dirty="0">
                <a:latin typeface="Century Schoolbook"/>
                <a:cs typeface="Century Schoolbook"/>
              </a:rPr>
              <a:t>todos</a:t>
            </a:r>
            <a:r>
              <a:rPr sz="1798" spc="-1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os</a:t>
            </a:r>
            <a:r>
              <a:rPr sz="1798" spc="35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testes</a:t>
            </a:r>
            <a:r>
              <a:rPr sz="1798" spc="6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de</a:t>
            </a:r>
            <a:r>
              <a:rPr sz="1798" spc="45" dirty="0">
                <a:latin typeface="Times New Roman"/>
                <a:cs typeface="Times New Roman"/>
              </a:rPr>
              <a:t> </a:t>
            </a:r>
            <a:r>
              <a:rPr sz="1798" spc="-10" dirty="0">
                <a:latin typeface="Century Schoolbook"/>
                <a:cs typeface="Century Schoolbook"/>
              </a:rPr>
              <a:t>componentes.</a:t>
            </a:r>
            <a:endParaRPr sz="1798">
              <a:latin typeface="Century Schoolbook"/>
              <a:cs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1416341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3676" y="454488"/>
            <a:ext cx="5726842" cy="1365776"/>
          </a:xfrm>
          <a:prstGeom prst="rect">
            <a:avLst/>
          </a:prstGeom>
        </p:spPr>
        <p:txBody>
          <a:bodyPr vert="horz" wrap="square" lIns="0" tIns="12688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100"/>
              </a:spcBef>
            </a:pPr>
            <a:r>
              <a:rPr cap="small" spc="-5" dirty="0"/>
              <a:t>D</a:t>
            </a:r>
            <a:r>
              <a:rPr cap="small" dirty="0"/>
              <a:t>e</a:t>
            </a:r>
            <a:r>
              <a:rPr cap="small" spc="-5" dirty="0"/>
              <a:t>s</a:t>
            </a:r>
            <a:r>
              <a:rPr cap="small" dirty="0"/>
              <a:t>envo</a:t>
            </a:r>
            <a:r>
              <a:rPr cap="small" spc="-10" dirty="0"/>
              <a:t>l</a:t>
            </a:r>
            <a:r>
              <a:rPr cap="small" dirty="0"/>
              <a:t>vi</a:t>
            </a:r>
            <a:r>
              <a:rPr cap="small" spc="-5" dirty="0"/>
              <a:t>m</a:t>
            </a:r>
            <a:r>
              <a:rPr cap="small" dirty="0"/>
              <a:t>en</a:t>
            </a:r>
            <a:r>
              <a:rPr cap="small" spc="-10" dirty="0"/>
              <a:t>t</a:t>
            </a:r>
            <a:r>
              <a:rPr cap="small" dirty="0"/>
              <a:t>o</a:t>
            </a:r>
            <a:r>
              <a:rPr sz="2398" spc="275" dirty="0">
                <a:latin typeface="Times New Roman"/>
                <a:cs typeface="Times New Roman"/>
              </a:rPr>
              <a:t> </a:t>
            </a:r>
            <a:r>
              <a:rPr cap="small" spc="-10" dirty="0"/>
              <a:t>t</a:t>
            </a:r>
            <a:r>
              <a:rPr cap="small" dirty="0"/>
              <a:t>e</a:t>
            </a:r>
            <a:r>
              <a:rPr cap="small" spc="-5" dirty="0"/>
              <a:t>s</a:t>
            </a:r>
            <a:r>
              <a:rPr cap="small" spc="-10" dirty="0"/>
              <a:t>t</a:t>
            </a:r>
            <a:r>
              <a:rPr cap="small" spc="-5" dirty="0"/>
              <a:t>-</a:t>
            </a:r>
            <a:r>
              <a:rPr cap="small" spc="-10" dirty="0"/>
              <a:t>f</a:t>
            </a:r>
            <a:r>
              <a:rPr cap="small" dirty="0"/>
              <a:t>ir</a:t>
            </a:r>
            <a:r>
              <a:rPr cap="small" spc="-5" dirty="0"/>
              <a:t>s</a:t>
            </a:r>
            <a:r>
              <a:rPr cap="small" dirty="0"/>
              <a:t>t</a:t>
            </a:r>
            <a:endParaRPr sz="239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3676" y="1588471"/>
            <a:ext cx="7303992" cy="4466899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286762" marR="7613" indent="-274073">
              <a:lnSpc>
                <a:spcPct val="130000"/>
              </a:lnSpc>
              <a:spcBef>
                <a:spcPts val="100"/>
              </a:spcBef>
              <a:buClr>
                <a:srgbClr val="94C600"/>
              </a:buClr>
              <a:buSzPct val="68421"/>
              <a:buFont typeface="Wingdings"/>
              <a:buChar char=""/>
              <a:tabLst>
                <a:tab pos="286762" algn="l"/>
                <a:tab pos="1396377" algn="l"/>
                <a:tab pos="2183703" algn="l"/>
                <a:tab pos="2925350" algn="l"/>
                <a:tab pos="3320599" algn="l"/>
                <a:tab pos="4147893" algn="l"/>
                <a:tab pos="5285424" algn="l"/>
                <a:tab pos="5652124" algn="l"/>
                <a:tab pos="6885453" algn="l"/>
              </a:tabLst>
            </a:pPr>
            <a:r>
              <a:rPr sz="1898" spc="-10" dirty="0">
                <a:latin typeface="Century Schoolbook"/>
                <a:cs typeface="Century Schoolbook"/>
              </a:rPr>
              <a:t>Escrever</a:t>
            </a:r>
            <a:r>
              <a:rPr sz="1898" dirty="0">
                <a:latin typeface="Times New Roman"/>
                <a:cs typeface="Times New Roman"/>
              </a:rPr>
              <a:t>	</a:t>
            </a:r>
            <a:r>
              <a:rPr sz="1898" spc="-10" dirty="0">
                <a:latin typeface="Century Schoolbook"/>
                <a:cs typeface="Century Schoolbook"/>
              </a:rPr>
              <a:t>testes</a:t>
            </a:r>
            <a:r>
              <a:rPr sz="1898" dirty="0">
                <a:latin typeface="Times New Roman"/>
                <a:cs typeface="Times New Roman"/>
              </a:rPr>
              <a:t>	</a:t>
            </a:r>
            <a:r>
              <a:rPr sz="1898" spc="-20" dirty="0">
                <a:latin typeface="Century Schoolbook"/>
                <a:cs typeface="Century Schoolbook"/>
              </a:rPr>
              <a:t>antes</a:t>
            </a:r>
            <a:r>
              <a:rPr sz="1898" dirty="0">
                <a:latin typeface="Times New Roman"/>
                <a:cs typeface="Times New Roman"/>
              </a:rPr>
              <a:t>	</a:t>
            </a:r>
            <a:r>
              <a:rPr sz="1898" spc="-25" dirty="0">
                <a:latin typeface="Century Schoolbook"/>
                <a:cs typeface="Century Schoolbook"/>
              </a:rPr>
              <a:t>do</a:t>
            </a:r>
            <a:r>
              <a:rPr sz="1898" dirty="0">
                <a:latin typeface="Times New Roman"/>
                <a:cs typeface="Times New Roman"/>
              </a:rPr>
              <a:t>	</a:t>
            </a:r>
            <a:r>
              <a:rPr sz="1898" spc="-10" dirty="0">
                <a:latin typeface="Century Schoolbook"/>
                <a:cs typeface="Century Schoolbook"/>
              </a:rPr>
              <a:t>código</a:t>
            </a:r>
            <a:r>
              <a:rPr sz="1898" dirty="0">
                <a:latin typeface="Times New Roman"/>
                <a:cs typeface="Times New Roman"/>
              </a:rPr>
              <a:t>	</a:t>
            </a:r>
            <a:r>
              <a:rPr sz="1898" spc="-10" dirty="0">
                <a:latin typeface="Century Schoolbook"/>
                <a:cs typeface="Century Schoolbook"/>
              </a:rPr>
              <a:t>esclarece</a:t>
            </a:r>
            <a:r>
              <a:rPr sz="1898" dirty="0">
                <a:latin typeface="Times New Roman"/>
                <a:cs typeface="Times New Roman"/>
              </a:rPr>
              <a:t>	</a:t>
            </a:r>
            <a:r>
              <a:rPr sz="1898" spc="-25" dirty="0">
                <a:latin typeface="Century Schoolbook"/>
                <a:cs typeface="Century Schoolbook"/>
              </a:rPr>
              <a:t>os</a:t>
            </a:r>
            <a:r>
              <a:rPr sz="1898" dirty="0">
                <a:latin typeface="Times New Roman"/>
                <a:cs typeface="Times New Roman"/>
              </a:rPr>
              <a:t>	</a:t>
            </a:r>
            <a:r>
              <a:rPr sz="1898" spc="-10" dirty="0">
                <a:latin typeface="Century Schoolbook"/>
                <a:cs typeface="Century Schoolbook"/>
              </a:rPr>
              <a:t>requisitos</a:t>
            </a:r>
            <a:r>
              <a:rPr sz="1898" dirty="0">
                <a:latin typeface="Times New Roman"/>
                <a:cs typeface="Times New Roman"/>
              </a:rPr>
              <a:t>	</a:t>
            </a:r>
            <a:r>
              <a:rPr sz="1898" spc="-25" dirty="0">
                <a:latin typeface="Century Schoolbook"/>
                <a:cs typeface="Century Schoolbook"/>
              </a:rPr>
              <a:t>que</a:t>
            </a:r>
            <a:r>
              <a:rPr sz="1898" spc="-2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devem</a:t>
            </a:r>
            <a:r>
              <a:rPr sz="1898" spc="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ser</a:t>
            </a:r>
            <a:r>
              <a:rPr sz="1898" spc="-5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implementados.</a:t>
            </a:r>
            <a:endParaRPr sz="1898">
              <a:latin typeface="Century Schoolbook"/>
              <a:cs typeface="Century Schoolbook"/>
            </a:endParaRPr>
          </a:p>
          <a:p>
            <a:pPr marL="286762" marR="5075" indent="-274073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68421"/>
              <a:buFont typeface="Wingdings"/>
              <a:buChar char=""/>
              <a:tabLst>
                <a:tab pos="286762" algn="l"/>
                <a:tab pos="720711" algn="l"/>
                <a:tab pos="1504230" algn="l"/>
                <a:tab pos="2006697" algn="l"/>
                <a:tab pos="2987524" algn="l"/>
                <a:tab pos="3404978" algn="l"/>
                <a:tab pos="4194841" algn="l"/>
                <a:tab pos="4589456" algn="l"/>
                <a:tab pos="5919852" algn="l"/>
                <a:tab pos="6311295" algn="l"/>
                <a:tab pos="7031371" algn="l"/>
              </a:tabLst>
            </a:pPr>
            <a:r>
              <a:rPr sz="1898" spc="-25" dirty="0">
                <a:latin typeface="Century Schoolbook"/>
                <a:cs typeface="Century Schoolbook"/>
              </a:rPr>
              <a:t>Os</a:t>
            </a:r>
            <a:r>
              <a:rPr sz="1898" dirty="0">
                <a:latin typeface="Times New Roman"/>
                <a:cs typeface="Times New Roman"/>
              </a:rPr>
              <a:t>	</a:t>
            </a:r>
            <a:r>
              <a:rPr sz="1898" spc="-10" dirty="0">
                <a:latin typeface="Century Schoolbook"/>
                <a:cs typeface="Century Schoolbook"/>
              </a:rPr>
              <a:t>testes</a:t>
            </a:r>
            <a:r>
              <a:rPr sz="1898" dirty="0">
                <a:latin typeface="Times New Roman"/>
                <a:cs typeface="Times New Roman"/>
              </a:rPr>
              <a:t>	</a:t>
            </a:r>
            <a:r>
              <a:rPr sz="1898" spc="-25" dirty="0">
                <a:latin typeface="Century Schoolbook"/>
                <a:cs typeface="Century Schoolbook"/>
              </a:rPr>
              <a:t>são</a:t>
            </a:r>
            <a:r>
              <a:rPr sz="1898" dirty="0">
                <a:latin typeface="Times New Roman"/>
                <a:cs typeface="Times New Roman"/>
              </a:rPr>
              <a:t>	</a:t>
            </a:r>
            <a:r>
              <a:rPr sz="1898" spc="-10" dirty="0">
                <a:latin typeface="Century Schoolbook"/>
                <a:cs typeface="Century Schoolbook"/>
              </a:rPr>
              <a:t>escritos</a:t>
            </a:r>
            <a:r>
              <a:rPr sz="1898" dirty="0">
                <a:latin typeface="Times New Roman"/>
                <a:cs typeface="Times New Roman"/>
              </a:rPr>
              <a:t>	</a:t>
            </a:r>
            <a:r>
              <a:rPr sz="1898" spc="-25" dirty="0">
                <a:latin typeface="Century Schoolbook"/>
                <a:cs typeface="Century Schoolbook"/>
              </a:rPr>
              <a:t>na</a:t>
            </a:r>
            <a:r>
              <a:rPr sz="1898" dirty="0">
                <a:latin typeface="Times New Roman"/>
                <a:cs typeface="Times New Roman"/>
              </a:rPr>
              <a:t>	</a:t>
            </a:r>
            <a:r>
              <a:rPr sz="1898" spc="-10" dirty="0">
                <a:latin typeface="Century Schoolbook"/>
                <a:cs typeface="Century Schoolbook"/>
              </a:rPr>
              <a:t>forma</a:t>
            </a:r>
            <a:r>
              <a:rPr sz="1898" dirty="0">
                <a:latin typeface="Times New Roman"/>
                <a:cs typeface="Times New Roman"/>
              </a:rPr>
              <a:t>	</a:t>
            </a:r>
            <a:r>
              <a:rPr sz="1898" spc="-25" dirty="0">
                <a:latin typeface="Century Schoolbook"/>
                <a:cs typeface="Century Schoolbook"/>
              </a:rPr>
              <a:t>de</a:t>
            </a:r>
            <a:r>
              <a:rPr sz="1898" dirty="0">
                <a:latin typeface="Times New Roman"/>
                <a:cs typeface="Times New Roman"/>
              </a:rPr>
              <a:t>	</a:t>
            </a:r>
            <a:r>
              <a:rPr sz="1898" spc="-10" dirty="0">
                <a:latin typeface="Century Schoolbook"/>
                <a:cs typeface="Century Schoolbook"/>
              </a:rPr>
              <a:t>programas</a:t>
            </a:r>
            <a:r>
              <a:rPr sz="1898" dirty="0">
                <a:latin typeface="Times New Roman"/>
                <a:cs typeface="Times New Roman"/>
              </a:rPr>
              <a:t>	</a:t>
            </a:r>
            <a:r>
              <a:rPr sz="1898" spc="-25" dirty="0">
                <a:latin typeface="Century Schoolbook"/>
                <a:cs typeface="Century Schoolbook"/>
              </a:rPr>
              <a:t>ao</a:t>
            </a:r>
            <a:r>
              <a:rPr sz="1898" dirty="0">
                <a:latin typeface="Times New Roman"/>
                <a:cs typeface="Times New Roman"/>
              </a:rPr>
              <a:t>	</a:t>
            </a:r>
            <a:r>
              <a:rPr sz="1898" spc="-10" dirty="0">
                <a:latin typeface="Century Schoolbook"/>
                <a:cs typeface="Century Schoolbook"/>
              </a:rPr>
              <a:t>invés</a:t>
            </a:r>
            <a:r>
              <a:rPr sz="1898" dirty="0">
                <a:latin typeface="Times New Roman"/>
                <a:cs typeface="Times New Roman"/>
              </a:rPr>
              <a:t>	</a:t>
            </a:r>
            <a:r>
              <a:rPr sz="1898" spc="-25" dirty="0">
                <a:latin typeface="Century Schoolbook"/>
                <a:cs typeface="Century Schoolbook"/>
              </a:rPr>
              <a:t>de</a:t>
            </a:r>
            <a:r>
              <a:rPr sz="1898" spc="-2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dados</a:t>
            </a:r>
            <a:r>
              <a:rPr sz="1898" spc="-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para</a:t>
            </a:r>
            <a:r>
              <a:rPr sz="1898" spc="-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que</a:t>
            </a:r>
            <a:r>
              <a:rPr sz="1898" spc="-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possam</a:t>
            </a:r>
            <a:r>
              <a:rPr sz="1898" spc="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ser</a:t>
            </a:r>
            <a:r>
              <a:rPr sz="1898" spc="-2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executados</a:t>
            </a:r>
            <a:r>
              <a:rPr sz="1898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automaticamente.</a:t>
            </a:r>
            <a:endParaRPr sz="1898">
              <a:latin typeface="Century Schoolbook"/>
              <a:cs typeface="Century Schoolbook"/>
            </a:endParaRPr>
          </a:p>
          <a:p>
            <a:pPr marL="286762" marR="7613" indent="-274073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68421"/>
              <a:buFont typeface="Wingdings"/>
              <a:buChar char=""/>
              <a:tabLst>
                <a:tab pos="286762" algn="l"/>
                <a:tab pos="778444" algn="l"/>
                <a:tab pos="1620330" algn="l"/>
                <a:tab pos="2896166" algn="l"/>
                <a:tab pos="4168830" algn="l"/>
                <a:tab pos="4621177" algn="l"/>
                <a:tab pos="5216271" algn="l"/>
                <a:tab pos="6066405" algn="l"/>
              </a:tabLst>
            </a:pPr>
            <a:r>
              <a:rPr sz="1898" spc="-25" dirty="0">
                <a:latin typeface="Century Schoolbook"/>
                <a:cs typeface="Century Schoolbook"/>
              </a:rPr>
              <a:t>Os</a:t>
            </a:r>
            <a:r>
              <a:rPr sz="1898" dirty="0">
                <a:latin typeface="Times New Roman"/>
                <a:cs typeface="Times New Roman"/>
              </a:rPr>
              <a:t>	</a:t>
            </a:r>
            <a:r>
              <a:rPr sz="1898" spc="-10" dirty="0">
                <a:latin typeface="Century Schoolbook"/>
                <a:cs typeface="Century Schoolbook"/>
              </a:rPr>
              <a:t>testes</a:t>
            </a:r>
            <a:r>
              <a:rPr sz="1898" dirty="0">
                <a:latin typeface="Times New Roman"/>
                <a:cs typeface="Times New Roman"/>
              </a:rPr>
              <a:t>	</a:t>
            </a:r>
            <a:r>
              <a:rPr sz="1898" spc="-10" dirty="0">
                <a:latin typeface="Century Schoolbook"/>
                <a:cs typeface="Century Schoolbook"/>
              </a:rPr>
              <a:t>incluem</a:t>
            </a:r>
            <a:r>
              <a:rPr sz="1898" dirty="0">
                <a:latin typeface="Times New Roman"/>
                <a:cs typeface="Times New Roman"/>
              </a:rPr>
              <a:t>	</a:t>
            </a:r>
            <a:r>
              <a:rPr sz="1898" spc="-10" dirty="0">
                <a:latin typeface="Century Schoolbook"/>
                <a:cs typeface="Century Schoolbook"/>
              </a:rPr>
              <a:t>checagem</a:t>
            </a:r>
            <a:r>
              <a:rPr sz="1898" dirty="0">
                <a:latin typeface="Times New Roman"/>
                <a:cs typeface="Times New Roman"/>
              </a:rPr>
              <a:t>	</a:t>
            </a:r>
            <a:r>
              <a:rPr sz="1898" spc="-25" dirty="0">
                <a:latin typeface="Century Schoolbook"/>
                <a:cs typeface="Century Schoolbook"/>
              </a:rPr>
              <a:t>de</a:t>
            </a:r>
            <a:r>
              <a:rPr sz="1898" dirty="0">
                <a:latin typeface="Times New Roman"/>
                <a:cs typeface="Times New Roman"/>
              </a:rPr>
              <a:t>	</a:t>
            </a:r>
            <a:r>
              <a:rPr sz="1898" spc="-25" dirty="0">
                <a:latin typeface="Century Schoolbook"/>
                <a:cs typeface="Century Schoolbook"/>
              </a:rPr>
              <a:t>que</a:t>
            </a:r>
            <a:r>
              <a:rPr sz="1898" dirty="0">
                <a:latin typeface="Times New Roman"/>
                <a:cs typeface="Times New Roman"/>
              </a:rPr>
              <a:t>	</a:t>
            </a:r>
            <a:r>
              <a:rPr sz="1898" spc="-10" dirty="0">
                <a:latin typeface="Century Schoolbook"/>
                <a:cs typeface="Century Schoolbook"/>
              </a:rPr>
              <a:t>foram</a:t>
            </a:r>
            <a:r>
              <a:rPr sz="1898" dirty="0">
                <a:latin typeface="Times New Roman"/>
                <a:cs typeface="Times New Roman"/>
              </a:rPr>
              <a:t>	</a:t>
            </a:r>
            <a:r>
              <a:rPr sz="1898" spc="-10" dirty="0">
                <a:latin typeface="Century Schoolbook"/>
                <a:cs typeface="Century Schoolbook"/>
              </a:rPr>
              <a:t>executados</a:t>
            </a:r>
            <a:r>
              <a:rPr sz="1898" spc="-10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corretamente.</a:t>
            </a:r>
            <a:endParaRPr sz="1898">
              <a:latin typeface="Century Schoolbook"/>
              <a:cs typeface="Century Schoolbook"/>
            </a:endParaRPr>
          </a:p>
          <a:p>
            <a:pPr marL="286762" indent="-274073" algn="just">
              <a:spcBef>
                <a:spcPts val="1284"/>
              </a:spcBef>
              <a:buClr>
                <a:srgbClr val="94C600"/>
              </a:buClr>
              <a:buSzPct val="68421"/>
              <a:buFont typeface="Wingdings"/>
              <a:buChar char=""/>
              <a:tabLst>
                <a:tab pos="286762" algn="l"/>
              </a:tabLst>
            </a:pPr>
            <a:r>
              <a:rPr sz="1898" dirty="0">
                <a:latin typeface="Century Schoolbook"/>
                <a:cs typeface="Century Schoolbook"/>
              </a:rPr>
              <a:t>Geralmente</a:t>
            </a:r>
            <a:r>
              <a:rPr sz="1898" spc="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conta</a:t>
            </a:r>
            <a:r>
              <a:rPr sz="1898" spc="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com</a:t>
            </a:r>
            <a:r>
              <a:rPr sz="1898" spc="-1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um</a:t>
            </a:r>
            <a:r>
              <a:rPr sz="1898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framework</a:t>
            </a:r>
            <a:r>
              <a:rPr sz="1898" spc="-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</a:t>
            </a:r>
            <a:r>
              <a:rPr sz="1898" spc="-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testes</a:t>
            </a:r>
            <a:r>
              <a:rPr sz="1898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como</a:t>
            </a:r>
            <a:r>
              <a:rPr sz="1898" spc="-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o</a:t>
            </a:r>
            <a:r>
              <a:rPr sz="1898" spc="-10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Junit.</a:t>
            </a:r>
            <a:endParaRPr sz="1898">
              <a:latin typeface="Century Schoolbook"/>
              <a:cs typeface="Century Schoolbook"/>
            </a:endParaRPr>
          </a:p>
          <a:p>
            <a:pPr marL="286762" marR="5075" indent="-274073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68421"/>
              <a:buFont typeface="Wingdings"/>
              <a:buChar char=""/>
              <a:tabLst>
                <a:tab pos="286762" algn="l"/>
              </a:tabLst>
            </a:pPr>
            <a:r>
              <a:rPr sz="1898" dirty="0">
                <a:latin typeface="Century Schoolbook"/>
                <a:cs typeface="Century Schoolbook"/>
              </a:rPr>
              <a:t>Todos</a:t>
            </a:r>
            <a:r>
              <a:rPr sz="1898" spc="254" dirty="0">
                <a:latin typeface="Times New Roman"/>
                <a:cs typeface="Times New Roman"/>
              </a:rPr>
              <a:t>   </a:t>
            </a:r>
            <a:r>
              <a:rPr sz="1898" dirty="0">
                <a:latin typeface="Century Schoolbook"/>
                <a:cs typeface="Century Schoolbook"/>
              </a:rPr>
              <a:t>os</a:t>
            </a:r>
            <a:r>
              <a:rPr sz="1898" spc="260" dirty="0">
                <a:latin typeface="Times New Roman"/>
                <a:cs typeface="Times New Roman"/>
              </a:rPr>
              <a:t>   </a:t>
            </a:r>
            <a:r>
              <a:rPr sz="1898" dirty="0">
                <a:latin typeface="Century Schoolbook"/>
                <a:cs typeface="Century Schoolbook"/>
              </a:rPr>
              <a:t>testes</a:t>
            </a:r>
            <a:r>
              <a:rPr sz="1898" spc="254" dirty="0">
                <a:latin typeface="Times New Roman"/>
                <a:cs typeface="Times New Roman"/>
              </a:rPr>
              <a:t>   </a:t>
            </a:r>
            <a:r>
              <a:rPr sz="1898" dirty="0">
                <a:latin typeface="Century Schoolbook"/>
                <a:cs typeface="Century Schoolbook"/>
              </a:rPr>
              <a:t>anteriores</a:t>
            </a:r>
            <a:r>
              <a:rPr sz="1898" spc="260" dirty="0">
                <a:latin typeface="Times New Roman"/>
                <a:cs typeface="Times New Roman"/>
              </a:rPr>
              <a:t>   </a:t>
            </a:r>
            <a:r>
              <a:rPr sz="1898" dirty="0">
                <a:latin typeface="Century Schoolbook"/>
                <a:cs typeface="Century Schoolbook"/>
              </a:rPr>
              <a:t>e</a:t>
            </a:r>
            <a:r>
              <a:rPr sz="1898" spc="254" dirty="0">
                <a:latin typeface="Times New Roman"/>
                <a:cs typeface="Times New Roman"/>
              </a:rPr>
              <a:t>   </a:t>
            </a:r>
            <a:r>
              <a:rPr sz="1898" dirty="0">
                <a:latin typeface="Century Schoolbook"/>
                <a:cs typeface="Century Schoolbook"/>
              </a:rPr>
              <a:t>novos</a:t>
            </a:r>
            <a:r>
              <a:rPr sz="1898" spc="260" dirty="0">
                <a:latin typeface="Times New Roman"/>
                <a:cs typeface="Times New Roman"/>
              </a:rPr>
              <a:t>   </a:t>
            </a:r>
            <a:r>
              <a:rPr sz="1898" dirty="0">
                <a:latin typeface="Century Schoolbook"/>
                <a:cs typeface="Century Schoolbook"/>
              </a:rPr>
              <a:t>são</a:t>
            </a:r>
            <a:r>
              <a:rPr sz="1898" spc="254" dirty="0">
                <a:latin typeface="Times New Roman"/>
                <a:cs typeface="Times New Roman"/>
              </a:rPr>
              <a:t>   </a:t>
            </a:r>
            <a:r>
              <a:rPr sz="1898" spc="-10" dirty="0">
                <a:latin typeface="Century Schoolbook"/>
                <a:cs typeface="Century Schoolbook"/>
              </a:rPr>
              <a:t>executados</a:t>
            </a:r>
            <a:r>
              <a:rPr sz="1898" spc="-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automaticamente</a:t>
            </a:r>
            <a:r>
              <a:rPr sz="1898" spc="250" dirty="0">
                <a:latin typeface="Times New Roman"/>
                <a:cs typeface="Times New Roman"/>
              </a:rPr>
              <a:t>   </a:t>
            </a:r>
            <a:r>
              <a:rPr sz="1898" dirty="0">
                <a:latin typeface="Century Schoolbook"/>
                <a:cs typeface="Century Schoolbook"/>
              </a:rPr>
              <a:t>quando</a:t>
            </a:r>
            <a:r>
              <a:rPr sz="1898" spc="250" dirty="0">
                <a:latin typeface="Times New Roman"/>
                <a:cs typeface="Times New Roman"/>
              </a:rPr>
              <a:t>   </a:t>
            </a:r>
            <a:r>
              <a:rPr sz="1898" dirty="0">
                <a:latin typeface="Century Schoolbook"/>
                <a:cs typeface="Century Schoolbook"/>
              </a:rPr>
              <a:t>uma</a:t>
            </a:r>
            <a:r>
              <a:rPr sz="1898" spc="254" dirty="0">
                <a:latin typeface="Times New Roman"/>
                <a:cs typeface="Times New Roman"/>
              </a:rPr>
              <a:t>   </a:t>
            </a:r>
            <a:r>
              <a:rPr sz="1898" dirty="0">
                <a:latin typeface="Century Schoolbook"/>
                <a:cs typeface="Century Schoolbook"/>
              </a:rPr>
              <a:t>nova</a:t>
            </a:r>
            <a:r>
              <a:rPr sz="1898" spc="250" dirty="0">
                <a:latin typeface="Times New Roman"/>
                <a:cs typeface="Times New Roman"/>
              </a:rPr>
              <a:t>   </a:t>
            </a:r>
            <a:r>
              <a:rPr sz="1898" dirty="0">
                <a:latin typeface="Century Schoolbook"/>
                <a:cs typeface="Century Schoolbook"/>
              </a:rPr>
              <a:t>funcionalidade</a:t>
            </a:r>
            <a:r>
              <a:rPr sz="1898" spc="254" dirty="0">
                <a:latin typeface="Times New Roman"/>
                <a:cs typeface="Times New Roman"/>
              </a:rPr>
              <a:t>   </a:t>
            </a:r>
            <a:r>
              <a:rPr sz="1898" spc="-50" dirty="0">
                <a:latin typeface="Century Schoolbook"/>
                <a:cs typeface="Century Schoolbook"/>
              </a:rPr>
              <a:t>é</a:t>
            </a:r>
            <a:r>
              <a:rPr sz="1898" spc="-5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adicionada,</a:t>
            </a:r>
            <a:r>
              <a:rPr sz="1898" spc="37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para</a:t>
            </a:r>
            <a:r>
              <a:rPr sz="1898" spc="37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checar</a:t>
            </a:r>
            <a:r>
              <a:rPr sz="1898" spc="37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se</a:t>
            </a:r>
            <a:r>
              <a:rPr sz="1898" spc="37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a</a:t>
            </a:r>
            <a:r>
              <a:rPr sz="1898" spc="37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nova</a:t>
            </a:r>
            <a:r>
              <a:rPr sz="1898" spc="37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funcionalidade</a:t>
            </a:r>
            <a:r>
              <a:rPr sz="1898" spc="365" dirty="0">
                <a:latin typeface="Times New Roman"/>
                <a:cs typeface="Times New Roman"/>
              </a:rPr>
              <a:t>  </a:t>
            </a:r>
            <a:r>
              <a:rPr sz="1898" spc="-25" dirty="0">
                <a:latin typeface="Century Schoolbook"/>
                <a:cs typeface="Century Schoolbook"/>
              </a:rPr>
              <a:t>não</a:t>
            </a:r>
            <a:r>
              <a:rPr sz="1898" spc="-2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introduziu</a:t>
            </a:r>
            <a:r>
              <a:rPr sz="1898" spc="-55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erros.</a:t>
            </a:r>
            <a:endParaRPr sz="1898">
              <a:latin typeface="Century Schoolbook"/>
              <a:cs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3904120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3676" y="454488"/>
            <a:ext cx="5153333" cy="1365776"/>
          </a:xfrm>
          <a:prstGeom prst="rect">
            <a:avLst/>
          </a:prstGeom>
        </p:spPr>
        <p:txBody>
          <a:bodyPr vert="horz" wrap="square" lIns="0" tIns="12688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100"/>
              </a:spcBef>
            </a:pPr>
            <a:r>
              <a:rPr cap="small" dirty="0"/>
              <a:t>Envo</a:t>
            </a:r>
            <a:r>
              <a:rPr cap="small" spc="-10" dirty="0"/>
              <a:t>l</a:t>
            </a:r>
            <a:r>
              <a:rPr cap="small" dirty="0"/>
              <a:t>vi</a:t>
            </a:r>
            <a:r>
              <a:rPr cap="small" spc="-5" dirty="0"/>
              <a:t>m</a:t>
            </a:r>
            <a:r>
              <a:rPr cap="small" dirty="0"/>
              <a:t>en</a:t>
            </a:r>
            <a:r>
              <a:rPr cap="small" spc="-10" dirty="0"/>
              <a:t>t</a:t>
            </a:r>
            <a:r>
              <a:rPr cap="small" dirty="0"/>
              <a:t>o</a:t>
            </a:r>
            <a:r>
              <a:rPr sz="2398" spc="254" dirty="0">
                <a:latin typeface="Times New Roman"/>
                <a:cs typeface="Times New Roman"/>
              </a:rPr>
              <a:t> </a:t>
            </a:r>
            <a:r>
              <a:rPr cap="small" dirty="0"/>
              <a:t>do</a:t>
            </a:r>
            <a:r>
              <a:rPr sz="2398" spc="265" dirty="0">
                <a:latin typeface="Times New Roman"/>
                <a:cs typeface="Times New Roman"/>
              </a:rPr>
              <a:t> </a:t>
            </a:r>
            <a:r>
              <a:rPr cap="small" spc="5" dirty="0"/>
              <a:t>c</a:t>
            </a:r>
            <a:r>
              <a:rPr cap="small" spc="-10" dirty="0"/>
              <a:t>l</a:t>
            </a:r>
            <a:r>
              <a:rPr cap="small" dirty="0"/>
              <a:t>ien</a:t>
            </a:r>
            <a:r>
              <a:rPr cap="small" spc="-10" dirty="0"/>
              <a:t>t</a:t>
            </a:r>
            <a:r>
              <a:rPr cap="small" dirty="0"/>
              <a:t>e</a:t>
            </a:r>
            <a:endParaRPr sz="239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3676" y="1588470"/>
            <a:ext cx="7302089" cy="4766976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286762" marR="5075" indent="-274073" algn="just">
              <a:lnSpc>
                <a:spcPct val="130000"/>
              </a:lnSpc>
              <a:spcBef>
                <a:spcPts val="100"/>
              </a:spcBef>
              <a:buClr>
                <a:srgbClr val="94C600"/>
              </a:buClr>
              <a:buSzPct val="68421"/>
              <a:buFont typeface="Wingdings"/>
              <a:buChar char=""/>
              <a:tabLst>
                <a:tab pos="286762" algn="l"/>
              </a:tabLst>
            </a:pPr>
            <a:r>
              <a:rPr sz="1898" dirty="0">
                <a:latin typeface="Century Schoolbook"/>
                <a:cs typeface="Century Schoolbook"/>
              </a:rPr>
              <a:t>A</a:t>
            </a:r>
            <a:r>
              <a:rPr sz="1898" spc="28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função</a:t>
            </a:r>
            <a:r>
              <a:rPr sz="1898" spc="29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do</a:t>
            </a:r>
            <a:r>
              <a:rPr sz="1898" spc="28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cliente</a:t>
            </a:r>
            <a:r>
              <a:rPr sz="1898" spc="29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no</a:t>
            </a:r>
            <a:r>
              <a:rPr sz="1898" spc="29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processo</a:t>
            </a:r>
            <a:r>
              <a:rPr sz="1898" spc="28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de</a:t>
            </a:r>
            <a:r>
              <a:rPr sz="1898" spc="29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testes</a:t>
            </a:r>
            <a:r>
              <a:rPr sz="1898" spc="29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é</a:t>
            </a:r>
            <a:r>
              <a:rPr sz="1898" spc="29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ajudar</a:t>
            </a:r>
            <a:r>
              <a:rPr sz="1898" spc="290" dirty="0">
                <a:latin typeface="Times New Roman"/>
                <a:cs typeface="Times New Roman"/>
              </a:rPr>
              <a:t>  </a:t>
            </a:r>
            <a:r>
              <a:rPr sz="1898" spc="-50" dirty="0">
                <a:latin typeface="Century Schoolbook"/>
                <a:cs typeface="Century Schoolbook"/>
              </a:rPr>
              <a:t>a</a:t>
            </a:r>
            <a:r>
              <a:rPr sz="1898" spc="-5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desenvolver</a:t>
            </a:r>
            <a:r>
              <a:rPr sz="1898" spc="4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testes</a:t>
            </a:r>
            <a:r>
              <a:rPr sz="1898" spc="4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de</a:t>
            </a:r>
            <a:r>
              <a:rPr sz="1898" spc="5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aceitação</a:t>
            </a:r>
            <a:r>
              <a:rPr sz="1898" spc="4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para</a:t>
            </a:r>
            <a:r>
              <a:rPr sz="1898" spc="5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as</a:t>
            </a:r>
            <a:r>
              <a:rPr sz="1898" spc="5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estórias</a:t>
            </a:r>
            <a:r>
              <a:rPr sz="1898" spc="4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que</a:t>
            </a:r>
            <a:r>
              <a:rPr sz="1898" spc="50" dirty="0">
                <a:latin typeface="Times New Roman"/>
                <a:cs typeface="Times New Roman"/>
              </a:rPr>
              <a:t>  </a:t>
            </a:r>
            <a:r>
              <a:rPr sz="1898" spc="-10" dirty="0">
                <a:latin typeface="Century Schoolbook"/>
                <a:cs typeface="Century Schoolbook"/>
              </a:rPr>
              <a:t>serão</a:t>
            </a:r>
            <a:r>
              <a:rPr sz="1898" spc="-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implementadas</a:t>
            </a:r>
            <a:r>
              <a:rPr sz="1898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no</a:t>
            </a:r>
            <a:r>
              <a:rPr sz="1898" spc="-2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próximo</a:t>
            </a:r>
            <a:r>
              <a:rPr sz="1898" spc="-2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release</a:t>
            </a:r>
            <a:r>
              <a:rPr sz="1898" spc="-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do</a:t>
            </a:r>
            <a:r>
              <a:rPr sz="1898" spc="-30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sistema.</a:t>
            </a:r>
            <a:endParaRPr sz="1898">
              <a:latin typeface="Century Schoolbook"/>
              <a:cs typeface="Century Schoolbook"/>
            </a:endParaRPr>
          </a:p>
          <a:p>
            <a:pPr marL="286762" marR="5075" indent="-274073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68421"/>
              <a:buFont typeface="Wingdings"/>
              <a:buChar char=""/>
              <a:tabLst>
                <a:tab pos="286762" algn="l"/>
              </a:tabLst>
            </a:pPr>
            <a:r>
              <a:rPr sz="1898" dirty="0">
                <a:latin typeface="Century Schoolbook"/>
                <a:cs typeface="Century Schoolbook"/>
              </a:rPr>
              <a:t>O</a:t>
            </a:r>
            <a:r>
              <a:rPr sz="1898" spc="35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cliente,</a:t>
            </a:r>
            <a:r>
              <a:rPr sz="1898" spc="34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parte</a:t>
            </a:r>
            <a:r>
              <a:rPr sz="1898" spc="35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da</a:t>
            </a:r>
            <a:r>
              <a:rPr sz="1898" spc="35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equipe,</a:t>
            </a:r>
            <a:r>
              <a:rPr sz="1898" spc="35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escreve</a:t>
            </a:r>
            <a:r>
              <a:rPr sz="1898" spc="35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testes</a:t>
            </a:r>
            <a:r>
              <a:rPr sz="1898" spc="35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conforme</a:t>
            </a:r>
            <a:r>
              <a:rPr sz="1898" spc="350" dirty="0">
                <a:latin typeface="Times New Roman"/>
                <a:cs typeface="Times New Roman"/>
              </a:rPr>
              <a:t>  </a:t>
            </a:r>
            <a:r>
              <a:rPr sz="1898" spc="-50" dirty="0">
                <a:latin typeface="Century Schoolbook"/>
                <a:cs typeface="Century Schoolbook"/>
              </a:rPr>
              <a:t>o</a:t>
            </a:r>
            <a:r>
              <a:rPr sz="1898" spc="-5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desenvolvimento</a:t>
            </a:r>
            <a:r>
              <a:rPr sz="1898" spc="8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prossegue.</a:t>
            </a:r>
            <a:r>
              <a:rPr sz="1898" spc="9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Todo</a:t>
            </a:r>
            <a:r>
              <a:rPr sz="1898" spc="8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código</a:t>
            </a:r>
            <a:r>
              <a:rPr sz="1898" spc="9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novo</a:t>
            </a:r>
            <a:r>
              <a:rPr sz="1898" spc="8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é</a:t>
            </a:r>
            <a:r>
              <a:rPr sz="1898" spc="9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validado</a:t>
            </a:r>
            <a:r>
              <a:rPr sz="1898" spc="90" dirty="0">
                <a:latin typeface="Times New Roman"/>
                <a:cs typeface="Times New Roman"/>
              </a:rPr>
              <a:t> </a:t>
            </a:r>
            <a:r>
              <a:rPr sz="1898" spc="-20" dirty="0">
                <a:latin typeface="Century Schoolbook"/>
                <a:cs typeface="Century Schoolbook"/>
              </a:rPr>
              <a:t>para</a:t>
            </a:r>
            <a:r>
              <a:rPr sz="1898" spc="-2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garantia</a:t>
            </a:r>
            <a:r>
              <a:rPr sz="1898" spc="3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</a:t>
            </a:r>
            <a:r>
              <a:rPr sz="1898" spc="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que</a:t>
            </a:r>
            <a:r>
              <a:rPr sz="1898" spc="2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seja</a:t>
            </a:r>
            <a:r>
              <a:rPr sz="1898" spc="1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o</a:t>
            </a:r>
            <a:r>
              <a:rPr sz="1898" spc="1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que</a:t>
            </a:r>
            <a:r>
              <a:rPr sz="1898" spc="1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o</a:t>
            </a:r>
            <a:r>
              <a:rPr sz="1898" spc="1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cliente</a:t>
            </a:r>
            <a:r>
              <a:rPr sz="1898" spc="10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precisa.</a:t>
            </a:r>
            <a:endParaRPr sz="1898">
              <a:latin typeface="Century Schoolbook"/>
              <a:cs typeface="Century Schoolbook"/>
            </a:endParaRPr>
          </a:p>
          <a:p>
            <a:pPr marL="286762" marR="5075" indent="-274073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68421"/>
              <a:buFont typeface="Wingdings"/>
              <a:buChar char=""/>
              <a:tabLst>
                <a:tab pos="286762" algn="l"/>
              </a:tabLst>
            </a:pPr>
            <a:r>
              <a:rPr sz="1898" dirty="0">
                <a:latin typeface="Century Schoolbook"/>
                <a:cs typeface="Century Schoolbook"/>
              </a:rPr>
              <a:t>No</a:t>
            </a:r>
            <a:r>
              <a:rPr sz="1898" spc="3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entanto,</a:t>
            </a:r>
            <a:r>
              <a:rPr sz="1898" spc="4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a</a:t>
            </a:r>
            <a:r>
              <a:rPr sz="1898" spc="3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pessoa</a:t>
            </a:r>
            <a:r>
              <a:rPr sz="1898" spc="3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que</a:t>
            </a:r>
            <a:r>
              <a:rPr sz="1898" spc="4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assume</a:t>
            </a:r>
            <a:r>
              <a:rPr sz="1898" spc="3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a</a:t>
            </a:r>
            <a:r>
              <a:rPr sz="1898" spc="3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função</a:t>
            </a:r>
            <a:r>
              <a:rPr sz="1898" spc="3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de</a:t>
            </a:r>
            <a:r>
              <a:rPr sz="1898" spc="3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cliente</a:t>
            </a:r>
            <a:r>
              <a:rPr sz="1898" spc="35" dirty="0">
                <a:latin typeface="Times New Roman"/>
                <a:cs typeface="Times New Roman"/>
              </a:rPr>
              <a:t>  </a:t>
            </a:r>
            <a:r>
              <a:rPr sz="1898" spc="-25" dirty="0">
                <a:latin typeface="Century Schoolbook"/>
                <a:cs typeface="Century Schoolbook"/>
              </a:rPr>
              <a:t>tem</a:t>
            </a:r>
            <a:r>
              <a:rPr sz="1898" spc="-2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tempo</a:t>
            </a:r>
            <a:r>
              <a:rPr sz="1898" spc="5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limitado</a:t>
            </a:r>
            <a:r>
              <a:rPr sz="1898" spc="5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disponível</a:t>
            </a:r>
            <a:r>
              <a:rPr sz="1898" spc="5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e</a:t>
            </a:r>
            <a:r>
              <a:rPr sz="1898" spc="5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não</a:t>
            </a:r>
            <a:r>
              <a:rPr sz="1898" spc="5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pode</a:t>
            </a:r>
            <a:r>
              <a:rPr sz="1898" spc="6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trabalhar</a:t>
            </a:r>
            <a:r>
              <a:rPr sz="1898" spc="5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em</a:t>
            </a:r>
            <a:r>
              <a:rPr sz="1898" spc="50" dirty="0">
                <a:latin typeface="Times New Roman"/>
                <a:cs typeface="Times New Roman"/>
              </a:rPr>
              <a:t>  </a:t>
            </a:r>
            <a:r>
              <a:rPr sz="1898" spc="-10" dirty="0">
                <a:latin typeface="Century Schoolbook"/>
                <a:cs typeface="Century Schoolbook"/>
              </a:rPr>
              <a:t>tempo</a:t>
            </a:r>
            <a:r>
              <a:rPr sz="1898" spc="-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integral</a:t>
            </a:r>
            <a:r>
              <a:rPr sz="1898" spc="2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com</a:t>
            </a:r>
            <a:r>
              <a:rPr sz="1898" spc="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a</a:t>
            </a:r>
            <a:r>
              <a:rPr sz="1898" spc="2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equipe</a:t>
            </a:r>
            <a:r>
              <a:rPr sz="1898" spc="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</a:t>
            </a:r>
            <a:r>
              <a:rPr sz="1898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desenvolvimento.</a:t>
            </a:r>
            <a:endParaRPr sz="1898">
              <a:latin typeface="Century Schoolbook"/>
              <a:cs typeface="Century Schoolbook"/>
            </a:endParaRPr>
          </a:p>
          <a:p>
            <a:pPr marL="286762" marR="5710" indent="-274073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68421"/>
              <a:buFont typeface="Wingdings"/>
              <a:buChar char=""/>
              <a:tabLst>
                <a:tab pos="286762" algn="l"/>
              </a:tabLst>
            </a:pPr>
            <a:r>
              <a:rPr sz="1898" dirty="0">
                <a:latin typeface="Century Schoolbook"/>
                <a:cs typeface="Century Schoolbook"/>
              </a:rPr>
              <a:t>Eles</a:t>
            </a:r>
            <a:r>
              <a:rPr sz="1898" spc="22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podem</a:t>
            </a:r>
            <a:r>
              <a:rPr sz="1898" spc="229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pensar</a:t>
            </a:r>
            <a:r>
              <a:rPr sz="1898" spc="229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que</a:t>
            </a:r>
            <a:r>
              <a:rPr sz="1898" spc="229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prover</a:t>
            </a:r>
            <a:r>
              <a:rPr sz="1898" spc="229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os</a:t>
            </a:r>
            <a:r>
              <a:rPr sz="1898" spc="229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requisitos</a:t>
            </a:r>
            <a:r>
              <a:rPr sz="1898" spc="22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seja</a:t>
            </a:r>
            <a:r>
              <a:rPr sz="1898" spc="235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contribuição</a:t>
            </a:r>
            <a:r>
              <a:rPr sz="1898" spc="-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suficiente</a:t>
            </a:r>
            <a:r>
              <a:rPr sz="1898" spc="11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e</a:t>
            </a:r>
            <a:r>
              <a:rPr sz="1898" spc="12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se</a:t>
            </a:r>
            <a:r>
              <a:rPr sz="1898" spc="114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tornarem</a:t>
            </a:r>
            <a:r>
              <a:rPr sz="1898" spc="114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relutantes</a:t>
            </a:r>
            <a:r>
              <a:rPr sz="1898" spc="12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em</a:t>
            </a:r>
            <a:r>
              <a:rPr sz="1898" spc="11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se</a:t>
            </a:r>
            <a:r>
              <a:rPr sz="1898" spc="114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envolverem</a:t>
            </a:r>
            <a:r>
              <a:rPr sz="1898" spc="105" dirty="0">
                <a:latin typeface="Times New Roman"/>
                <a:cs typeface="Times New Roman"/>
              </a:rPr>
              <a:t>  </a:t>
            </a:r>
            <a:r>
              <a:rPr sz="1898" spc="-25" dirty="0">
                <a:latin typeface="Century Schoolbook"/>
                <a:cs typeface="Century Schoolbook"/>
              </a:rPr>
              <a:t>no</a:t>
            </a:r>
            <a:r>
              <a:rPr sz="1898" spc="-2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processo</a:t>
            </a:r>
            <a:r>
              <a:rPr sz="1898" spc="-2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</a:t>
            </a:r>
            <a:r>
              <a:rPr sz="1898" spc="-5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testes.</a:t>
            </a:r>
            <a:endParaRPr sz="1898">
              <a:latin typeface="Century Schoolbook"/>
              <a:cs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2513492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3486" y="792728"/>
            <a:ext cx="4645803" cy="689294"/>
          </a:xfrm>
          <a:prstGeom prst="rect">
            <a:avLst/>
          </a:prstGeom>
        </p:spPr>
        <p:txBody>
          <a:bodyPr vert="horz" wrap="square" lIns="0" tIns="12688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90" dirty="0">
                <a:latin typeface="Times New Roman"/>
                <a:cs typeface="Times New Roman"/>
              </a:rPr>
              <a:t> </a:t>
            </a:r>
            <a:r>
              <a:rPr sz="2398" dirty="0"/>
              <a:t>AUTOMAÇÃO</a:t>
            </a:r>
            <a:r>
              <a:rPr sz="2398" spc="250" dirty="0">
                <a:latin typeface="Times New Roman"/>
                <a:cs typeface="Times New Roman"/>
              </a:rPr>
              <a:t> </a:t>
            </a:r>
            <a:r>
              <a:rPr sz="2398" dirty="0"/>
              <a:t>DE</a:t>
            </a:r>
            <a:r>
              <a:rPr sz="2398" spc="260" dirty="0">
                <a:latin typeface="Times New Roman"/>
                <a:cs typeface="Times New Roman"/>
              </a:rPr>
              <a:t> </a:t>
            </a:r>
            <a:r>
              <a:rPr sz="2398" spc="-10" dirty="0"/>
              <a:t>TESTES</a:t>
            </a:r>
            <a:endParaRPr sz="239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3676" y="1588470"/>
            <a:ext cx="7303992" cy="4621061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286762" marR="8248" indent="-274073" algn="just">
              <a:lnSpc>
                <a:spcPct val="130000"/>
              </a:lnSpc>
              <a:spcBef>
                <a:spcPts val="100"/>
              </a:spcBef>
              <a:buClr>
                <a:srgbClr val="94C600"/>
              </a:buClr>
              <a:buSzPct val="68421"/>
              <a:buFont typeface="Wingdings"/>
              <a:buChar char=""/>
              <a:tabLst>
                <a:tab pos="286762" algn="l"/>
              </a:tabLst>
            </a:pPr>
            <a:r>
              <a:rPr sz="1898" dirty="0">
                <a:latin typeface="Century Schoolbook"/>
                <a:cs typeface="Century Schoolbook"/>
              </a:rPr>
              <a:t>A</a:t>
            </a:r>
            <a:r>
              <a:rPr sz="1898" spc="3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automação</a:t>
            </a:r>
            <a:r>
              <a:rPr sz="1898" spc="5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</a:t>
            </a:r>
            <a:r>
              <a:rPr sz="1898" spc="3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testes</a:t>
            </a:r>
            <a:r>
              <a:rPr sz="1898" spc="4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significa</a:t>
            </a:r>
            <a:r>
              <a:rPr sz="1898" spc="4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que</a:t>
            </a:r>
            <a:r>
              <a:rPr sz="1898" spc="3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os</a:t>
            </a:r>
            <a:r>
              <a:rPr sz="1898" spc="4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testes</a:t>
            </a:r>
            <a:r>
              <a:rPr sz="1898" spc="4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são</a:t>
            </a:r>
            <a:r>
              <a:rPr sz="1898" spc="3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escritos</a:t>
            </a:r>
            <a:r>
              <a:rPr sz="1898" spc="35" dirty="0">
                <a:latin typeface="Times New Roman"/>
                <a:cs typeface="Times New Roman"/>
              </a:rPr>
              <a:t> </a:t>
            </a:r>
            <a:r>
              <a:rPr sz="1898" spc="-20" dirty="0">
                <a:latin typeface="Century Schoolbook"/>
                <a:cs typeface="Century Schoolbook"/>
              </a:rPr>
              <a:t>como</a:t>
            </a:r>
            <a:r>
              <a:rPr sz="1898" spc="-2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componentes</a:t>
            </a:r>
            <a:r>
              <a:rPr sz="1898" spc="390" dirty="0">
                <a:latin typeface="Times New Roman"/>
                <a:cs typeface="Times New Roman"/>
              </a:rPr>
              <a:t>   </a:t>
            </a:r>
            <a:r>
              <a:rPr sz="1898" dirty="0">
                <a:latin typeface="Century Schoolbook"/>
                <a:cs typeface="Century Schoolbook"/>
              </a:rPr>
              <a:t>executáveis</a:t>
            </a:r>
            <a:r>
              <a:rPr sz="1898" spc="390" dirty="0">
                <a:latin typeface="Times New Roman"/>
                <a:cs typeface="Times New Roman"/>
              </a:rPr>
              <a:t>   </a:t>
            </a:r>
            <a:r>
              <a:rPr sz="1898" dirty="0">
                <a:latin typeface="Century Schoolbook"/>
                <a:cs typeface="Century Schoolbook"/>
              </a:rPr>
              <a:t>antes</a:t>
            </a:r>
            <a:r>
              <a:rPr sz="1898" spc="385" dirty="0">
                <a:latin typeface="Times New Roman"/>
                <a:cs typeface="Times New Roman"/>
              </a:rPr>
              <a:t>   </a:t>
            </a:r>
            <a:r>
              <a:rPr sz="1898" dirty="0">
                <a:latin typeface="Century Schoolbook"/>
                <a:cs typeface="Century Schoolbook"/>
              </a:rPr>
              <a:t>que</a:t>
            </a:r>
            <a:r>
              <a:rPr sz="1898" spc="390" dirty="0">
                <a:latin typeface="Times New Roman"/>
                <a:cs typeface="Times New Roman"/>
              </a:rPr>
              <a:t>   </a:t>
            </a:r>
            <a:r>
              <a:rPr sz="1898" dirty="0">
                <a:latin typeface="Century Schoolbook"/>
                <a:cs typeface="Century Schoolbook"/>
              </a:rPr>
              <a:t>a</a:t>
            </a:r>
            <a:r>
              <a:rPr sz="1898" spc="390" dirty="0">
                <a:latin typeface="Times New Roman"/>
                <a:cs typeface="Times New Roman"/>
              </a:rPr>
              <a:t>   </a:t>
            </a:r>
            <a:r>
              <a:rPr sz="1898" dirty="0">
                <a:latin typeface="Century Schoolbook"/>
                <a:cs typeface="Century Schoolbook"/>
              </a:rPr>
              <a:t>tarefa</a:t>
            </a:r>
            <a:r>
              <a:rPr sz="1898" spc="385" dirty="0">
                <a:latin typeface="Times New Roman"/>
                <a:cs typeface="Times New Roman"/>
              </a:rPr>
              <a:t>   </a:t>
            </a:r>
            <a:r>
              <a:rPr sz="1898" spc="-20" dirty="0">
                <a:latin typeface="Century Schoolbook"/>
                <a:cs typeface="Century Schoolbook"/>
              </a:rPr>
              <a:t>seja</a:t>
            </a:r>
            <a:r>
              <a:rPr sz="1898" spc="-20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implementada.</a:t>
            </a:r>
            <a:endParaRPr sz="1898">
              <a:latin typeface="Century Schoolbook"/>
              <a:cs typeface="Century Schoolbook"/>
            </a:endParaRPr>
          </a:p>
          <a:p>
            <a:pPr marL="651558" marR="5710" lvl="1" indent="-274073" algn="just">
              <a:lnSpc>
                <a:spcPct val="130000"/>
              </a:lnSpc>
              <a:spcBef>
                <a:spcPts val="445"/>
              </a:spcBef>
              <a:buClr>
                <a:srgbClr val="94C600"/>
              </a:buClr>
              <a:buSzPct val="78125"/>
              <a:buFont typeface="Wingdings 2"/>
              <a:buChar char=""/>
              <a:tabLst>
                <a:tab pos="652192" algn="l"/>
              </a:tabLst>
            </a:pPr>
            <a:r>
              <a:rPr sz="1599" dirty="0">
                <a:latin typeface="Century Schoolbook"/>
                <a:cs typeface="Century Schoolbook"/>
              </a:rPr>
              <a:t>Esses</a:t>
            </a:r>
            <a:r>
              <a:rPr sz="1599" spc="27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componentes</a:t>
            </a:r>
            <a:r>
              <a:rPr sz="1599" spc="28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de</a:t>
            </a:r>
            <a:r>
              <a:rPr sz="1599" spc="29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teste</a:t>
            </a:r>
            <a:r>
              <a:rPr sz="1599" spc="28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devem</a:t>
            </a:r>
            <a:r>
              <a:rPr sz="1599" spc="27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ser</a:t>
            </a:r>
            <a:r>
              <a:rPr sz="1599" spc="27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autômatos,</a:t>
            </a:r>
            <a:r>
              <a:rPr sz="1599" spc="28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devem</a:t>
            </a:r>
            <a:r>
              <a:rPr sz="1599" spc="28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simular</a:t>
            </a:r>
            <a:r>
              <a:rPr sz="1599" spc="270" dirty="0">
                <a:latin typeface="Times New Roman"/>
                <a:cs typeface="Times New Roman"/>
              </a:rPr>
              <a:t> </a:t>
            </a:r>
            <a:r>
              <a:rPr sz="1599" spc="-50" dirty="0">
                <a:latin typeface="Century Schoolbook"/>
                <a:cs typeface="Century Schoolbook"/>
              </a:rPr>
              <a:t>a</a:t>
            </a:r>
            <a:r>
              <a:rPr sz="1599" spc="-5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submissão</a:t>
            </a:r>
            <a:r>
              <a:rPr sz="1599" spc="8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de</a:t>
            </a:r>
            <a:r>
              <a:rPr sz="1599" spc="8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entrada</a:t>
            </a:r>
            <a:r>
              <a:rPr sz="1599" spc="10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para</a:t>
            </a:r>
            <a:r>
              <a:rPr sz="1599" spc="8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ser</a:t>
            </a:r>
            <a:r>
              <a:rPr sz="1599" spc="9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testada</a:t>
            </a:r>
            <a:r>
              <a:rPr sz="1599" spc="8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e</a:t>
            </a:r>
            <a:r>
              <a:rPr sz="1599" spc="11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devem</a:t>
            </a:r>
            <a:r>
              <a:rPr sz="1599" spc="9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avaliar</a:t>
            </a:r>
            <a:r>
              <a:rPr sz="1599" spc="8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se</a:t>
            </a:r>
            <a:r>
              <a:rPr sz="1599" spc="8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o</a:t>
            </a:r>
            <a:r>
              <a:rPr sz="1599" spc="95" dirty="0">
                <a:latin typeface="Times New Roman"/>
                <a:cs typeface="Times New Roman"/>
              </a:rPr>
              <a:t> </a:t>
            </a:r>
            <a:r>
              <a:rPr sz="1599" spc="-10" dirty="0">
                <a:latin typeface="Century Schoolbook"/>
                <a:cs typeface="Century Schoolbook"/>
              </a:rPr>
              <a:t>resultado</a:t>
            </a:r>
            <a:r>
              <a:rPr sz="1599" spc="-1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atende</a:t>
            </a:r>
            <a:r>
              <a:rPr sz="1599" spc="450" dirty="0">
                <a:latin typeface="Times New Roman"/>
                <a:cs typeface="Times New Roman"/>
              </a:rPr>
              <a:t>  </a:t>
            </a:r>
            <a:r>
              <a:rPr sz="1599" dirty="0">
                <a:latin typeface="Century Schoolbook"/>
                <a:cs typeface="Century Schoolbook"/>
              </a:rPr>
              <a:t>à</a:t>
            </a:r>
            <a:r>
              <a:rPr sz="1599" spc="445" dirty="0">
                <a:latin typeface="Times New Roman"/>
                <a:cs typeface="Times New Roman"/>
              </a:rPr>
              <a:t>  </a:t>
            </a:r>
            <a:r>
              <a:rPr sz="1599" dirty="0">
                <a:latin typeface="Century Schoolbook"/>
                <a:cs typeface="Century Schoolbook"/>
              </a:rPr>
              <a:t>especificação</a:t>
            </a:r>
            <a:r>
              <a:rPr sz="1599" spc="459" dirty="0">
                <a:latin typeface="Times New Roman"/>
                <a:cs typeface="Times New Roman"/>
              </a:rPr>
              <a:t>  </a:t>
            </a:r>
            <a:r>
              <a:rPr sz="1599" dirty="0">
                <a:latin typeface="Century Schoolbook"/>
                <a:cs typeface="Century Schoolbook"/>
              </a:rPr>
              <a:t>de</a:t>
            </a:r>
            <a:r>
              <a:rPr sz="1599" spc="455" dirty="0">
                <a:latin typeface="Times New Roman"/>
                <a:cs typeface="Times New Roman"/>
              </a:rPr>
              <a:t>  </a:t>
            </a:r>
            <a:r>
              <a:rPr sz="1599" dirty="0">
                <a:latin typeface="Century Schoolbook"/>
                <a:cs typeface="Century Schoolbook"/>
              </a:rPr>
              <a:t>saída.</a:t>
            </a:r>
            <a:r>
              <a:rPr sz="1599" spc="445" dirty="0">
                <a:latin typeface="Times New Roman"/>
                <a:cs typeface="Times New Roman"/>
              </a:rPr>
              <a:t>  </a:t>
            </a:r>
            <a:r>
              <a:rPr sz="1599" dirty="0">
                <a:latin typeface="Century Schoolbook"/>
                <a:cs typeface="Century Schoolbook"/>
              </a:rPr>
              <a:t>Um</a:t>
            </a:r>
            <a:r>
              <a:rPr sz="1599" spc="455" dirty="0">
                <a:latin typeface="Times New Roman"/>
                <a:cs typeface="Times New Roman"/>
              </a:rPr>
              <a:t>  </a:t>
            </a:r>
            <a:r>
              <a:rPr sz="1599" dirty="0">
                <a:latin typeface="Century Schoolbook"/>
                <a:cs typeface="Century Schoolbook"/>
              </a:rPr>
              <a:t>framework</a:t>
            </a:r>
            <a:r>
              <a:rPr sz="1599" spc="450" dirty="0">
                <a:latin typeface="Times New Roman"/>
                <a:cs typeface="Times New Roman"/>
              </a:rPr>
              <a:t>  </a:t>
            </a:r>
            <a:r>
              <a:rPr sz="1599" dirty="0">
                <a:latin typeface="Century Schoolbook"/>
                <a:cs typeface="Century Schoolbook"/>
              </a:rPr>
              <a:t>de</a:t>
            </a:r>
            <a:r>
              <a:rPr sz="1599" spc="455" dirty="0">
                <a:latin typeface="Times New Roman"/>
                <a:cs typeface="Times New Roman"/>
              </a:rPr>
              <a:t>  </a:t>
            </a:r>
            <a:r>
              <a:rPr sz="1599" spc="-10" dirty="0">
                <a:latin typeface="Century Schoolbook"/>
                <a:cs typeface="Century Schoolbook"/>
              </a:rPr>
              <a:t>testes</a:t>
            </a:r>
            <a:r>
              <a:rPr sz="1599" spc="-1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automatizados</a:t>
            </a:r>
            <a:r>
              <a:rPr sz="1599" spc="3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(ex.</a:t>
            </a:r>
            <a:r>
              <a:rPr sz="1599" spc="3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Junit)</a:t>
            </a:r>
            <a:r>
              <a:rPr sz="1599" spc="4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é</a:t>
            </a:r>
            <a:r>
              <a:rPr sz="1599" spc="3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um</a:t>
            </a:r>
            <a:r>
              <a:rPr sz="1599" spc="4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sistema</a:t>
            </a:r>
            <a:r>
              <a:rPr sz="1599" spc="3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que</a:t>
            </a:r>
            <a:r>
              <a:rPr sz="1599" spc="3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facilita</a:t>
            </a:r>
            <a:r>
              <a:rPr sz="1599" spc="3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a</a:t>
            </a:r>
            <a:r>
              <a:rPr sz="1599" spc="3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escrita</a:t>
            </a:r>
            <a:r>
              <a:rPr sz="1599" spc="47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de</a:t>
            </a:r>
            <a:r>
              <a:rPr sz="1599" spc="35" dirty="0">
                <a:latin typeface="Times New Roman"/>
                <a:cs typeface="Times New Roman"/>
              </a:rPr>
              <a:t> </a:t>
            </a:r>
            <a:r>
              <a:rPr sz="1599" spc="-10" dirty="0">
                <a:latin typeface="Century Schoolbook"/>
                <a:cs typeface="Century Schoolbook"/>
              </a:rPr>
              <a:t>testes</a:t>
            </a:r>
            <a:r>
              <a:rPr sz="1599" spc="-1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executáveis</a:t>
            </a:r>
            <a:r>
              <a:rPr sz="1599" spc="1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e</a:t>
            </a:r>
            <a:r>
              <a:rPr sz="1599" spc="1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a</a:t>
            </a:r>
            <a:r>
              <a:rPr sz="1599" spc="1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submissão</a:t>
            </a:r>
            <a:r>
              <a:rPr sz="1599" spc="-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de</a:t>
            </a:r>
            <a:r>
              <a:rPr sz="1599" spc="2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um</a:t>
            </a:r>
            <a:r>
              <a:rPr sz="1599" spc="1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conjunto</a:t>
            </a:r>
            <a:r>
              <a:rPr sz="1599" spc="2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de</a:t>
            </a:r>
            <a:r>
              <a:rPr sz="1599" spc="1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testes</a:t>
            </a:r>
            <a:r>
              <a:rPr sz="1599" spc="-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para</a:t>
            </a:r>
            <a:r>
              <a:rPr sz="1599" spc="25" dirty="0">
                <a:latin typeface="Times New Roman"/>
                <a:cs typeface="Times New Roman"/>
              </a:rPr>
              <a:t> </a:t>
            </a:r>
            <a:r>
              <a:rPr sz="1599" spc="-10" dirty="0">
                <a:latin typeface="Century Schoolbook"/>
                <a:cs typeface="Century Schoolbook"/>
              </a:rPr>
              <a:t>execução.</a:t>
            </a:r>
            <a:endParaRPr sz="1599">
              <a:latin typeface="Century Schoolbook"/>
              <a:cs typeface="Century Schoolbook"/>
            </a:endParaRPr>
          </a:p>
          <a:p>
            <a:pPr marL="286762" marR="5075" indent="-274073" algn="just">
              <a:lnSpc>
                <a:spcPct val="130000"/>
              </a:lnSpc>
              <a:spcBef>
                <a:spcPts val="540"/>
              </a:spcBef>
              <a:buClr>
                <a:srgbClr val="94C600"/>
              </a:buClr>
              <a:buSzPct val="68421"/>
              <a:buFont typeface="Wingdings"/>
              <a:buChar char=""/>
              <a:tabLst>
                <a:tab pos="286762" algn="l"/>
              </a:tabLst>
            </a:pPr>
            <a:r>
              <a:rPr sz="1898" dirty="0">
                <a:latin typeface="Century Schoolbook"/>
                <a:cs typeface="Century Schoolbook"/>
              </a:rPr>
              <a:t>Como</a:t>
            </a:r>
            <a:r>
              <a:rPr sz="1898" spc="3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os</a:t>
            </a:r>
            <a:r>
              <a:rPr sz="1898" spc="3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testes</a:t>
            </a:r>
            <a:r>
              <a:rPr sz="1898" spc="4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são</a:t>
            </a:r>
            <a:r>
              <a:rPr sz="1898" spc="3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automatizados,</a:t>
            </a:r>
            <a:r>
              <a:rPr sz="1898" spc="4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sempre</a:t>
            </a:r>
            <a:r>
              <a:rPr sz="1898" spc="4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existe</a:t>
            </a:r>
            <a:r>
              <a:rPr sz="1898" spc="3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um</a:t>
            </a:r>
            <a:r>
              <a:rPr sz="1898" spc="45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conjunto</a:t>
            </a:r>
            <a:r>
              <a:rPr sz="1898" spc="-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</a:t>
            </a:r>
            <a:r>
              <a:rPr sz="1898" spc="-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testes</a:t>
            </a:r>
            <a:r>
              <a:rPr sz="1898" spc="-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que</a:t>
            </a:r>
            <a:r>
              <a:rPr sz="1898" spc="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podem</a:t>
            </a:r>
            <a:r>
              <a:rPr sz="1898" spc="-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ser</a:t>
            </a:r>
            <a:r>
              <a:rPr sz="1898" spc="-2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rapidamente</a:t>
            </a:r>
            <a:r>
              <a:rPr sz="1898" spc="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e</a:t>
            </a:r>
            <a:r>
              <a:rPr sz="1898" spc="-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facilmente</a:t>
            </a:r>
            <a:r>
              <a:rPr sz="1898" spc="15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executados.</a:t>
            </a:r>
            <a:endParaRPr sz="1898">
              <a:latin typeface="Century Schoolbook"/>
              <a:cs typeface="Century Schoolbook"/>
            </a:endParaRPr>
          </a:p>
          <a:p>
            <a:pPr marL="651558" marR="5075" lvl="1" indent="-274073" algn="just">
              <a:lnSpc>
                <a:spcPct val="130000"/>
              </a:lnSpc>
              <a:spcBef>
                <a:spcPts val="440"/>
              </a:spcBef>
              <a:buClr>
                <a:srgbClr val="94C600"/>
              </a:buClr>
              <a:buSzPct val="78125"/>
              <a:buFont typeface="Wingdings 2"/>
              <a:buChar char=""/>
              <a:tabLst>
                <a:tab pos="652192" algn="l"/>
              </a:tabLst>
            </a:pPr>
            <a:r>
              <a:rPr sz="1599" dirty="0">
                <a:latin typeface="Century Schoolbook"/>
                <a:cs typeface="Century Schoolbook"/>
              </a:rPr>
              <a:t>Quando</a:t>
            </a:r>
            <a:r>
              <a:rPr sz="1599" spc="40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qualquer</a:t>
            </a:r>
            <a:r>
              <a:rPr sz="1599" spc="409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funcionalidade</a:t>
            </a:r>
            <a:r>
              <a:rPr sz="1599" spc="41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é</a:t>
            </a:r>
            <a:r>
              <a:rPr sz="1599" spc="40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adicionada</a:t>
            </a:r>
            <a:r>
              <a:rPr sz="1599" spc="409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ao</a:t>
            </a:r>
            <a:r>
              <a:rPr sz="1599" spc="42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sistema</a:t>
            </a:r>
            <a:r>
              <a:rPr sz="1599" spc="40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os</a:t>
            </a:r>
            <a:r>
              <a:rPr sz="1599" spc="405" dirty="0">
                <a:latin typeface="Times New Roman"/>
                <a:cs typeface="Times New Roman"/>
              </a:rPr>
              <a:t> </a:t>
            </a:r>
            <a:r>
              <a:rPr sz="1599" spc="-10" dirty="0">
                <a:latin typeface="Century Schoolbook"/>
                <a:cs typeface="Century Schoolbook"/>
              </a:rPr>
              <a:t>testes</a:t>
            </a:r>
            <a:r>
              <a:rPr sz="1599" spc="-1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podem</a:t>
            </a:r>
            <a:r>
              <a:rPr sz="1599" spc="120" dirty="0">
                <a:latin typeface="Times New Roman"/>
                <a:cs typeface="Times New Roman"/>
              </a:rPr>
              <a:t>  </a:t>
            </a:r>
            <a:r>
              <a:rPr sz="1599" dirty="0">
                <a:latin typeface="Century Schoolbook"/>
                <a:cs typeface="Century Schoolbook"/>
              </a:rPr>
              <a:t>ser</a:t>
            </a:r>
            <a:r>
              <a:rPr sz="1599" spc="120" dirty="0">
                <a:latin typeface="Times New Roman"/>
                <a:cs typeface="Times New Roman"/>
              </a:rPr>
              <a:t>  </a:t>
            </a:r>
            <a:r>
              <a:rPr sz="1599" dirty="0">
                <a:latin typeface="Century Schoolbook"/>
                <a:cs typeface="Century Schoolbook"/>
              </a:rPr>
              <a:t>executados</a:t>
            </a:r>
            <a:r>
              <a:rPr sz="1599" spc="125" dirty="0">
                <a:latin typeface="Times New Roman"/>
                <a:cs typeface="Times New Roman"/>
              </a:rPr>
              <a:t>  </a:t>
            </a:r>
            <a:r>
              <a:rPr sz="1599" dirty="0">
                <a:latin typeface="Century Schoolbook"/>
                <a:cs typeface="Century Schoolbook"/>
              </a:rPr>
              <a:t>e</a:t>
            </a:r>
            <a:r>
              <a:rPr sz="1599" spc="130" dirty="0">
                <a:latin typeface="Times New Roman"/>
                <a:cs typeface="Times New Roman"/>
              </a:rPr>
              <a:t>  </a:t>
            </a:r>
            <a:r>
              <a:rPr sz="1599" dirty="0">
                <a:latin typeface="Century Schoolbook"/>
                <a:cs typeface="Century Schoolbook"/>
              </a:rPr>
              <a:t>problemas</a:t>
            </a:r>
            <a:r>
              <a:rPr sz="1599" spc="125" dirty="0">
                <a:latin typeface="Times New Roman"/>
                <a:cs typeface="Times New Roman"/>
              </a:rPr>
              <a:t>  </a:t>
            </a:r>
            <a:r>
              <a:rPr sz="1599" dirty="0">
                <a:latin typeface="Century Schoolbook"/>
                <a:cs typeface="Century Schoolbook"/>
              </a:rPr>
              <a:t>que</a:t>
            </a:r>
            <a:r>
              <a:rPr sz="1599" spc="125" dirty="0">
                <a:latin typeface="Times New Roman"/>
                <a:cs typeface="Times New Roman"/>
              </a:rPr>
              <a:t>  </a:t>
            </a:r>
            <a:r>
              <a:rPr sz="1599" dirty="0">
                <a:latin typeface="Century Schoolbook"/>
                <a:cs typeface="Century Schoolbook"/>
              </a:rPr>
              <a:t>o</a:t>
            </a:r>
            <a:r>
              <a:rPr sz="1599" spc="125" dirty="0">
                <a:latin typeface="Times New Roman"/>
                <a:cs typeface="Times New Roman"/>
              </a:rPr>
              <a:t>  </a:t>
            </a:r>
            <a:r>
              <a:rPr sz="1599" dirty="0">
                <a:latin typeface="Century Schoolbook"/>
                <a:cs typeface="Century Schoolbook"/>
              </a:rPr>
              <a:t>novo</a:t>
            </a:r>
            <a:r>
              <a:rPr sz="1599" spc="125" dirty="0">
                <a:latin typeface="Times New Roman"/>
                <a:cs typeface="Times New Roman"/>
              </a:rPr>
              <a:t>  </a:t>
            </a:r>
            <a:r>
              <a:rPr sz="1599" dirty="0">
                <a:latin typeface="Century Schoolbook"/>
                <a:cs typeface="Century Schoolbook"/>
              </a:rPr>
              <a:t>código</a:t>
            </a:r>
            <a:r>
              <a:rPr sz="1599" spc="135" dirty="0">
                <a:latin typeface="Times New Roman"/>
                <a:cs typeface="Times New Roman"/>
              </a:rPr>
              <a:t>  </a:t>
            </a:r>
            <a:r>
              <a:rPr sz="1599" dirty="0">
                <a:latin typeface="Century Schoolbook"/>
                <a:cs typeface="Century Schoolbook"/>
              </a:rPr>
              <a:t>possa</a:t>
            </a:r>
            <a:r>
              <a:rPr sz="1599" spc="125" dirty="0">
                <a:latin typeface="Times New Roman"/>
                <a:cs typeface="Times New Roman"/>
              </a:rPr>
              <a:t>  </a:t>
            </a:r>
            <a:r>
              <a:rPr sz="1599" spc="-25" dirty="0">
                <a:latin typeface="Century Schoolbook"/>
                <a:cs typeface="Century Schoolbook"/>
              </a:rPr>
              <a:t>ter</a:t>
            </a:r>
            <a:r>
              <a:rPr sz="1599" spc="-2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introduzido</a:t>
            </a:r>
            <a:r>
              <a:rPr sz="1599" spc="2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podem</a:t>
            </a:r>
            <a:r>
              <a:rPr sz="1599" spc="1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ser</a:t>
            </a:r>
            <a:r>
              <a:rPr sz="1599" spc="-2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percebidos</a:t>
            </a:r>
            <a:r>
              <a:rPr sz="1599" dirty="0">
                <a:latin typeface="Times New Roman"/>
                <a:cs typeface="Times New Roman"/>
              </a:rPr>
              <a:t> </a:t>
            </a:r>
            <a:r>
              <a:rPr sz="1599" spc="-10" dirty="0">
                <a:latin typeface="Century Schoolbook"/>
                <a:cs typeface="Century Schoolbook"/>
              </a:rPr>
              <a:t>imediatamente.</a:t>
            </a:r>
            <a:endParaRPr sz="1599">
              <a:latin typeface="Century Schoolbook"/>
              <a:cs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1315420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3676" y="454488"/>
            <a:ext cx="6269265" cy="1365776"/>
          </a:xfrm>
          <a:prstGeom prst="rect">
            <a:avLst/>
          </a:prstGeom>
        </p:spPr>
        <p:txBody>
          <a:bodyPr vert="horz" wrap="square" lIns="0" tIns="12688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100"/>
              </a:spcBef>
            </a:pPr>
            <a:r>
              <a:rPr cap="small" spc="-5" dirty="0"/>
              <a:t>D</a:t>
            </a:r>
            <a:r>
              <a:rPr cap="small" dirty="0"/>
              <a:t>i</a:t>
            </a:r>
            <a:r>
              <a:rPr cap="small" spc="-10" dirty="0"/>
              <a:t>f</a:t>
            </a:r>
            <a:r>
              <a:rPr cap="small" dirty="0"/>
              <a:t>i</a:t>
            </a:r>
            <a:r>
              <a:rPr cap="small" spc="5" dirty="0"/>
              <a:t>c</a:t>
            </a:r>
            <a:r>
              <a:rPr cap="small" dirty="0"/>
              <a:t>u</a:t>
            </a:r>
            <a:r>
              <a:rPr cap="small" spc="-10" dirty="0"/>
              <a:t>l</a:t>
            </a:r>
            <a:r>
              <a:rPr cap="small" dirty="0"/>
              <a:t>dades</a:t>
            </a:r>
            <a:r>
              <a:rPr sz="2398" spc="254" dirty="0">
                <a:latin typeface="Times New Roman"/>
                <a:cs typeface="Times New Roman"/>
              </a:rPr>
              <a:t> </a:t>
            </a:r>
            <a:r>
              <a:rPr cap="small" dirty="0"/>
              <a:t>dos</a:t>
            </a:r>
            <a:r>
              <a:rPr sz="2398" spc="245" dirty="0">
                <a:latin typeface="Times New Roman"/>
                <a:cs typeface="Times New Roman"/>
              </a:rPr>
              <a:t> </a:t>
            </a:r>
            <a:r>
              <a:rPr cap="small" spc="-10" dirty="0"/>
              <a:t>t</a:t>
            </a:r>
            <a:r>
              <a:rPr cap="small" dirty="0"/>
              <a:t>e</a:t>
            </a:r>
            <a:r>
              <a:rPr cap="small" spc="-5" dirty="0"/>
              <a:t>s</a:t>
            </a:r>
            <a:r>
              <a:rPr cap="small" spc="-10" dirty="0"/>
              <a:t>t</a:t>
            </a:r>
            <a:r>
              <a:rPr cap="small" dirty="0"/>
              <a:t>es</a:t>
            </a:r>
            <a:r>
              <a:rPr sz="2398" spc="280" dirty="0">
                <a:latin typeface="Times New Roman"/>
                <a:cs typeface="Times New Roman"/>
              </a:rPr>
              <a:t> </a:t>
            </a:r>
            <a:r>
              <a:rPr cap="small" dirty="0"/>
              <a:t>em</a:t>
            </a:r>
            <a:r>
              <a:rPr sz="2398" spc="254" dirty="0">
                <a:latin typeface="Times New Roman"/>
                <a:cs typeface="Times New Roman"/>
              </a:rPr>
              <a:t> </a:t>
            </a:r>
            <a:r>
              <a:rPr cap="small" spc="5" dirty="0"/>
              <a:t>X</a:t>
            </a:r>
            <a:r>
              <a:rPr cap="small" dirty="0"/>
              <a:t>P</a:t>
            </a:r>
            <a:endParaRPr sz="239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3675" y="1588470"/>
            <a:ext cx="7303358" cy="4766976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286762" marR="6344" indent="-274073" algn="just">
              <a:lnSpc>
                <a:spcPct val="130000"/>
              </a:lnSpc>
              <a:spcBef>
                <a:spcPts val="100"/>
              </a:spcBef>
              <a:buClr>
                <a:srgbClr val="94C600"/>
              </a:buClr>
              <a:buSzPct val="68421"/>
              <a:buFont typeface="Wingdings"/>
              <a:buChar char=""/>
              <a:tabLst>
                <a:tab pos="286762" algn="l"/>
              </a:tabLst>
            </a:pPr>
            <a:r>
              <a:rPr sz="1898" dirty="0">
                <a:latin typeface="Century Schoolbook"/>
                <a:cs typeface="Century Schoolbook"/>
              </a:rPr>
              <a:t>Os</a:t>
            </a:r>
            <a:r>
              <a:rPr sz="1898" spc="2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programadores</a:t>
            </a:r>
            <a:r>
              <a:rPr sz="1898" spc="2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preferem</a:t>
            </a:r>
            <a:r>
              <a:rPr sz="1898" spc="2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programar</a:t>
            </a:r>
            <a:r>
              <a:rPr sz="1898" spc="2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a</a:t>
            </a:r>
            <a:r>
              <a:rPr sz="1898" spc="3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testar</a:t>
            </a:r>
            <a:r>
              <a:rPr sz="1898" spc="3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e</a:t>
            </a:r>
            <a:r>
              <a:rPr sz="1898" spc="2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as</a:t>
            </a:r>
            <a:r>
              <a:rPr sz="1898" spc="2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vezes</a:t>
            </a:r>
            <a:r>
              <a:rPr sz="1898" spc="30" dirty="0">
                <a:latin typeface="Times New Roman"/>
                <a:cs typeface="Times New Roman"/>
              </a:rPr>
              <a:t> </a:t>
            </a:r>
            <a:r>
              <a:rPr sz="1898" spc="-20" dirty="0">
                <a:latin typeface="Century Schoolbook"/>
                <a:cs typeface="Century Schoolbook"/>
              </a:rPr>
              <a:t>eles</a:t>
            </a:r>
            <a:r>
              <a:rPr sz="1898" spc="-2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usam</a:t>
            </a:r>
            <a:r>
              <a:rPr sz="1898" spc="8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atalhos</a:t>
            </a:r>
            <a:r>
              <a:rPr sz="1898" spc="9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quando</a:t>
            </a:r>
            <a:r>
              <a:rPr sz="1898" spc="8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escrevem</a:t>
            </a:r>
            <a:r>
              <a:rPr sz="1898" spc="8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esses</a:t>
            </a:r>
            <a:r>
              <a:rPr sz="1898" spc="8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testes.</a:t>
            </a:r>
            <a:r>
              <a:rPr sz="1898" spc="9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Por</a:t>
            </a:r>
            <a:r>
              <a:rPr sz="1898" spc="8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exemplo,</a:t>
            </a:r>
            <a:r>
              <a:rPr sz="1898" spc="90" dirty="0">
                <a:latin typeface="Times New Roman"/>
                <a:cs typeface="Times New Roman"/>
              </a:rPr>
              <a:t> </a:t>
            </a:r>
            <a:r>
              <a:rPr sz="1898" spc="-20" dirty="0">
                <a:latin typeface="Century Schoolbook"/>
                <a:cs typeface="Century Schoolbook"/>
              </a:rPr>
              <a:t>eles</a:t>
            </a:r>
            <a:r>
              <a:rPr sz="1898" spc="-2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podem</a:t>
            </a:r>
            <a:r>
              <a:rPr sz="1898" spc="18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escrever</a:t>
            </a:r>
            <a:r>
              <a:rPr sz="1898" spc="18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testes</a:t>
            </a:r>
            <a:r>
              <a:rPr sz="1898" spc="19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incompletos</a:t>
            </a:r>
            <a:r>
              <a:rPr sz="1898" spc="20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que</a:t>
            </a:r>
            <a:r>
              <a:rPr sz="1898" spc="20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não</a:t>
            </a:r>
            <a:r>
              <a:rPr sz="1898" spc="19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avaliam</a:t>
            </a:r>
            <a:r>
              <a:rPr sz="1898" spc="20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todas</a:t>
            </a:r>
            <a:r>
              <a:rPr sz="1898" spc="200" dirty="0">
                <a:latin typeface="Times New Roman"/>
                <a:cs typeface="Times New Roman"/>
              </a:rPr>
              <a:t> </a:t>
            </a:r>
            <a:r>
              <a:rPr sz="1898" spc="-25" dirty="0">
                <a:latin typeface="Century Schoolbook"/>
                <a:cs typeface="Century Schoolbook"/>
              </a:rPr>
              <a:t>as</a:t>
            </a:r>
            <a:r>
              <a:rPr sz="1898" spc="-2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possíveis</a:t>
            </a:r>
            <a:r>
              <a:rPr sz="1898" spc="-1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exceções</a:t>
            </a:r>
            <a:r>
              <a:rPr sz="1898" spc="-1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que</a:t>
            </a:r>
            <a:r>
              <a:rPr sz="1898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podem</a:t>
            </a:r>
            <a:r>
              <a:rPr sz="1898" spc="-20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ocorrer.</a:t>
            </a:r>
            <a:endParaRPr sz="1898">
              <a:latin typeface="Century Schoolbook"/>
              <a:cs typeface="Century Schoolbook"/>
            </a:endParaRPr>
          </a:p>
          <a:p>
            <a:pPr marL="286127" marR="5075" indent="-274073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68421"/>
              <a:buFont typeface="Wingdings"/>
              <a:buChar char=""/>
              <a:tabLst>
                <a:tab pos="286762" algn="l"/>
              </a:tabLst>
            </a:pPr>
            <a:r>
              <a:rPr sz="1898" dirty="0">
                <a:latin typeface="Century Schoolbook"/>
                <a:cs typeface="Century Schoolbook"/>
              </a:rPr>
              <a:t>Alguns</a:t>
            </a:r>
            <a:r>
              <a:rPr sz="1898" spc="36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testes</a:t>
            </a:r>
            <a:r>
              <a:rPr sz="1898" spc="37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podem</a:t>
            </a:r>
            <a:r>
              <a:rPr sz="1898" spc="36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ser</a:t>
            </a:r>
            <a:r>
              <a:rPr sz="1898" spc="35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muito</a:t>
            </a:r>
            <a:r>
              <a:rPr sz="1898" spc="36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difíceis</a:t>
            </a:r>
            <a:r>
              <a:rPr sz="1898" spc="38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</a:t>
            </a:r>
            <a:r>
              <a:rPr sz="1898" spc="36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serem</a:t>
            </a:r>
            <a:r>
              <a:rPr sz="1898" spc="36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escritos</a:t>
            </a:r>
            <a:r>
              <a:rPr sz="1898" spc="360" dirty="0">
                <a:latin typeface="Times New Roman"/>
                <a:cs typeface="Times New Roman"/>
              </a:rPr>
              <a:t> </a:t>
            </a:r>
            <a:r>
              <a:rPr sz="1898" spc="-25" dirty="0">
                <a:latin typeface="Century Schoolbook"/>
                <a:cs typeface="Century Schoolbook"/>
              </a:rPr>
              <a:t>de</a:t>
            </a:r>
            <a:r>
              <a:rPr sz="1898" spc="-2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forma</a:t>
            </a:r>
            <a:r>
              <a:rPr sz="1898" spc="10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incremental.</a:t>
            </a:r>
            <a:r>
              <a:rPr sz="1898" spc="10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Por</a:t>
            </a:r>
            <a:r>
              <a:rPr sz="1898" spc="10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exemplo,</a:t>
            </a:r>
            <a:r>
              <a:rPr sz="1898" spc="10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em</a:t>
            </a:r>
            <a:r>
              <a:rPr sz="1898" spc="10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uma</a:t>
            </a:r>
            <a:r>
              <a:rPr sz="1898" spc="10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interface</a:t>
            </a:r>
            <a:r>
              <a:rPr sz="1898" spc="10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</a:t>
            </a:r>
            <a:r>
              <a:rPr sz="1898" spc="114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usuário</a:t>
            </a:r>
            <a:r>
              <a:rPr sz="1898" spc="-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complexa,</a:t>
            </a:r>
            <a:r>
              <a:rPr sz="1898" spc="9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geralmente</a:t>
            </a:r>
            <a:r>
              <a:rPr sz="1898" spc="8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é</a:t>
            </a:r>
            <a:r>
              <a:rPr sz="1898" spc="8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difícil</a:t>
            </a:r>
            <a:r>
              <a:rPr sz="1898" spc="9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escrever</a:t>
            </a:r>
            <a:r>
              <a:rPr sz="1898" spc="8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testes</a:t>
            </a:r>
            <a:r>
              <a:rPr sz="1898" spc="8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</a:t>
            </a:r>
            <a:r>
              <a:rPr sz="1898" spc="8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unidade</a:t>
            </a:r>
            <a:r>
              <a:rPr sz="1898" spc="85" dirty="0">
                <a:latin typeface="Times New Roman"/>
                <a:cs typeface="Times New Roman"/>
              </a:rPr>
              <a:t> </a:t>
            </a:r>
            <a:r>
              <a:rPr sz="1898" spc="-20" dirty="0">
                <a:latin typeface="Century Schoolbook"/>
                <a:cs typeface="Century Schoolbook"/>
              </a:rPr>
              <a:t>para</a:t>
            </a:r>
            <a:r>
              <a:rPr sz="1898" spc="-2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o</a:t>
            </a:r>
            <a:r>
              <a:rPr sz="1898" spc="2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código</a:t>
            </a:r>
            <a:r>
              <a:rPr sz="1898" spc="2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que</a:t>
            </a:r>
            <a:r>
              <a:rPr sz="1898" spc="3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implementa</a:t>
            </a:r>
            <a:r>
              <a:rPr sz="1898" spc="3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a</a:t>
            </a:r>
            <a:r>
              <a:rPr sz="1898" spc="3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'lógica</a:t>
            </a:r>
            <a:r>
              <a:rPr sz="1898" spc="2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de</a:t>
            </a:r>
            <a:r>
              <a:rPr sz="1898" spc="3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display'</a:t>
            </a:r>
            <a:r>
              <a:rPr sz="1898" spc="2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e</a:t>
            </a:r>
            <a:r>
              <a:rPr sz="1898" spc="2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o</a:t>
            </a:r>
            <a:r>
              <a:rPr sz="1898" spc="3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fluxo</a:t>
            </a:r>
            <a:r>
              <a:rPr sz="1898" spc="25" dirty="0">
                <a:latin typeface="Times New Roman"/>
                <a:cs typeface="Times New Roman"/>
              </a:rPr>
              <a:t>  </a:t>
            </a:r>
            <a:r>
              <a:rPr sz="1898" spc="-25" dirty="0">
                <a:latin typeface="Century Schoolbook"/>
                <a:cs typeface="Century Schoolbook"/>
              </a:rPr>
              <a:t>de</a:t>
            </a:r>
            <a:r>
              <a:rPr sz="1898" spc="-2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trabalho</a:t>
            </a:r>
            <a:r>
              <a:rPr sz="1898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entre</a:t>
            </a:r>
            <a:r>
              <a:rPr sz="1898" spc="-20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telas.</a:t>
            </a:r>
            <a:endParaRPr sz="1898">
              <a:latin typeface="Century Schoolbook"/>
              <a:cs typeface="Century Schoolbook"/>
            </a:endParaRPr>
          </a:p>
          <a:p>
            <a:pPr marL="286762" indent="-274073" algn="just">
              <a:spcBef>
                <a:spcPts val="1284"/>
              </a:spcBef>
              <a:buClr>
                <a:srgbClr val="94C600"/>
              </a:buClr>
              <a:buSzPct val="68421"/>
              <a:buFont typeface="Wingdings"/>
              <a:buChar char=""/>
              <a:tabLst>
                <a:tab pos="286762" algn="l"/>
              </a:tabLst>
            </a:pPr>
            <a:r>
              <a:rPr sz="1898" dirty="0">
                <a:latin typeface="Century Schoolbook"/>
                <a:cs typeface="Century Schoolbook"/>
              </a:rPr>
              <a:t>É</a:t>
            </a:r>
            <a:r>
              <a:rPr sz="1898" spc="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difícil</a:t>
            </a:r>
            <a:r>
              <a:rPr sz="1898" spc="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julgar</a:t>
            </a:r>
            <a:r>
              <a:rPr sz="1898" spc="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se</a:t>
            </a:r>
            <a:r>
              <a:rPr sz="1898" spc="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um</a:t>
            </a:r>
            <a:r>
              <a:rPr sz="1898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conjunto</a:t>
            </a:r>
            <a:r>
              <a:rPr sz="1898" spc="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</a:t>
            </a:r>
            <a:r>
              <a:rPr sz="1898" spc="-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testes</a:t>
            </a:r>
            <a:r>
              <a:rPr sz="1898" spc="1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está</a:t>
            </a:r>
            <a:r>
              <a:rPr sz="1898" spc="20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completo.</a:t>
            </a:r>
            <a:endParaRPr sz="1898">
              <a:latin typeface="Century Schoolbook"/>
              <a:cs typeface="Century Schoolbook"/>
            </a:endParaRPr>
          </a:p>
          <a:p>
            <a:pPr marL="286762" marR="6344" indent="-274073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68421"/>
              <a:buFont typeface="Wingdings"/>
              <a:buChar char=""/>
              <a:tabLst>
                <a:tab pos="286762" algn="l"/>
              </a:tabLst>
            </a:pPr>
            <a:r>
              <a:rPr sz="1898" dirty="0">
                <a:latin typeface="Century Schoolbook"/>
                <a:cs typeface="Century Schoolbook"/>
              </a:rPr>
              <a:t>Embora</a:t>
            </a:r>
            <a:r>
              <a:rPr sz="1898" spc="37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você</a:t>
            </a:r>
            <a:r>
              <a:rPr sz="1898" spc="39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tenha</a:t>
            </a:r>
            <a:r>
              <a:rPr sz="1898" spc="37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vários</a:t>
            </a:r>
            <a:r>
              <a:rPr sz="1898" spc="39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testes</a:t>
            </a:r>
            <a:r>
              <a:rPr sz="1898" spc="38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</a:t>
            </a:r>
            <a:r>
              <a:rPr sz="1898" spc="37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sistema,</a:t>
            </a:r>
            <a:r>
              <a:rPr sz="1898" spc="38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o</a:t>
            </a:r>
            <a:r>
              <a:rPr sz="1898" spc="38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conjunto</a:t>
            </a:r>
            <a:r>
              <a:rPr sz="1898" spc="375" dirty="0">
                <a:latin typeface="Times New Roman"/>
                <a:cs typeface="Times New Roman"/>
              </a:rPr>
              <a:t> </a:t>
            </a:r>
            <a:r>
              <a:rPr sz="1898" spc="-25" dirty="0">
                <a:latin typeface="Century Schoolbook"/>
                <a:cs typeface="Century Schoolbook"/>
              </a:rPr>
              <a:t>dos</a:t>
            </a:r>
            <a:r>
              <a:rPr sz="1898" spc="-2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testes</a:t>
            </a:r>
            <a:r>
              <a:rPr sz="1898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pode</a:t>
            </a:r>
            <a:r>
              <a:rPr sz="1898" spc="-2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não</a:t>
            </a:r>
            <a:r>
              <a:rPr sz="1898" spc="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prover</a:t>
            </a:r>
            <a:r>
              <a:rPr sz="1898" spc="-2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uma</a:t>
            </a:r>
            <a:r>
              <a:rPr sz="1898" spc="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cobertura</a:t>
            </a:r>
            <a:r>
              <a:rPr sz="1898" spc="5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completa.</a:t>
            </a:r>
            <a:endParaRPr sz="1898">
              <a:latin typeface="Century Schoolbook"/>
              <a:cs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4051041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3676" y="454488"/>
            <a:ext cx="4694653" cy="1365776"/>
          </a:xfrm>
          <a:prstGeom prst="rect">
            <a:avLst/>
          </a:prstGeom>
        </p:spPr>
        <p:txBody>
          <a:bodyPr vert="horz" wrap="square" lIns="0" tIns="12688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100"/>
              </a:spcBef>
            </a:pPr>
            <a:r>
              <a:rPr cap="small" dirty="0"/>
              <a:t>Prog</a:t>
            </a:r>
            <a:r>
              <a:rPr cap="small" spc="-5" dirty="0"/>
              <a:t>r</a:t>
            </a:r>
            <a:r>
              <a:rPr cap="small" dirty="0"/>
              <a:t>a</a:t>
            </a:r>
            <a:r>
              <a:rPr cap="small" spc="-5" dirty="0"/>
              <a:t>m</a:t>
            </a:r>
            <a:r>
              <a:rPr cap="small" dirty="0"/>
              <a:t>ação</a:t>
            </a:r>
            <a:r>
              <a:rPr sz="2398" spc="229" dirty="0">
                <a:latin typeface="Times New Roman"/>
                <a:cs typeface="Times New Roman"/>
              </a:rPr>
              <a:t> </a:t>
            </a:r>
            <a:r>
              <a:rPr cap="small" dirty="0"/>
              <a:t>em</a:t>
            </a:r>
            <a:r>
              <a:rPr sz="2398" spc="260" dirty="0">
                <a:latin typeface="Times New Roman"/>
                <a:cs typeface="Times New Roman"/>
              </a:rPr>
              <a:t> </a:t>
            </a:r>
            <a:r>
              <a:rPr cap="small" dirty="0"/>
              <a:t>pares</a:t>
            </a:r>
            <a:endParaRPr sz="239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3675" y="1586646"/>
            <a:ext cx="7303358" cy="4684502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286762" marR="6344" indent="-274073" algn="just">
              <a:lnSpc>
                <a:spcPct val="130000"/>
              </a:lnSpc>
              <a:spcBef>
                <a:spcPts val="100"/>
              </a:spcBef>
              <a:buClr>
                <a:srgbClr val="94C600"/>
              </a:buClr>
              <a:buSzPct val="70000"/>
              <a:buFont typeface="Wingdings"/>
              <a:buChar char=""/>
              <a:tabLst>
                <a:tab pos="286762" algn="l"/>
              </a:tabLst>
            </a:pPr>
            <a:r>
              <a:rPr sz="1998" dirty="0">
                <a:latin typeface="Century Schoolbook"/>
                <a:cs typeface="Century Schoolbook"/>
              </a:rPr>
              <a:t>Em</a:t>
            </a:r>
            <a:r>
              <a:rPr sz="1998" spc="1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XP,</a:t>
            </a:r>
            <a:r>
              <a:rPr sz="1998" spc="3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programadores</a:t>
            </a:r>
            <a:r>
              <a:rPr sz="1998" spc="3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trabalham</a:t>
            </a:r>
            <a:r>
              <a:rPr sz="1998" spc="2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em</a:t>
            </a:r>
            <a:r>
              <a:rPr sz="1998" spc="3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pares</a:t>
            </a:r>
            <a:r>
              <a:rPr sz="1998" spc="3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sentando</a:t>
            </a:r>
            <a:r>
              <a:rPr sz="1998" spc="40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junto</a:t>
            </a:r>
            <a:r>
              <a:rPr sz="1998" spc="-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para</a:t>
            </a:r>
            <a:r>
              <a:rPr sz="1998" spc="4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desenvolver</a:t>
            </a:r>
            <a:r>
              <a:rPr sz="1998" spc="5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código.</a:t>
            </a:r>
            <a:endParaRPr sz="1998">
              <a:latin typeface="Century Schoolbook"/>
              <a:cs typeface="Century Schoolbook"/>
            </a:endParaRPr>
          </a:p>
          <a:p>
            <a:pPr marL="286762" marR="5710" indent="-274073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70000"/>
              <a:buFont typeface="Wingdings"/>
              <a:buChar char=""/>
              <a:tabLst>
                <a:tab pos="286762" algn="l"/>
              </a:tabLst>
            </a:pPr>
            <a:r>
              <a:rPr sz="1998" dirty="0">
                <a:latin typeface="Century Schoolbook"/>
                <a:cs typeface="Century Schoolbook"/>
              </a:rPr>
              <a:t>Isso</a:t>
            </a:r>
            <a:r>
              <a:rPr sz="1998" spc="38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ajuda</a:t>
            </a:r>
            <a:r>
              <a:rPr sz="1998" spc="36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a</a:t>
            </a:r>
            <a:r>
              <a:rPr sz="1998" spc="36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desenvolver</a:t>
            </a:r>
            <a:r>
              <a:rPr sz="1998" spc="36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propriedade</a:t>
            </a:r>
            <a:r>
              <a:rPr sz="1998" spc="37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coletiva</a:t>
            </a:r>
            <a:r>
              <a:rPr sz="1998" spc="37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do</a:t>
            </a:r>
            <a:r>
              <a:rPr sz="1998" spc="37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código</a:t>
            </a:r>
            <a:r>
              <a:rPr sz="1998" spc="370" dirty="0">
                <a:latin typeface="Times New Roman"/>
                <a:cs typeface="Times New Roman"/>
              </a:rPr>
              <a:t> </a:t>
            </a:r>
            <a:r>
              <a:rPr sz="1998" spc="-50" dirty="0">
                <a:latin typeface="Century Schoolbook"/>
                <a:cs typeface="Century Schoolbook"/>
              </a:rPr>
              <a:t>e</a:t>
            </a:r>
            <a:r>
              <a:rPr sz="1998" spc="-5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espalha</a:t>
            </a:r>
            <a:r>
              <a:rPr sz="1998" spc="1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o</a:t>
            </a:r>
            <a:r>
              <a:rPr sz="1998" spc="4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conhecimento</a:t>
            </a:r>
            <a:r>
              <a:rPr sz="1998" spc="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na</a:t>
            </a:r>
            <a:r>
              <a:rPr sz="1998" spc="40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equipe.</a:t>
            </a:r>
            <a:endParaRPr sz="1998">
              <a:latin typeface="Century Schoolbook"/>
              <a:cs typeface="Century Schoolbook"/>
            </a:endParaRPr>
          </a:p>
          <a:p>
            <a:pPr marL="286762" marR="6344" indent="-274073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70000"/>
              <a:buFont typeface="Wingdings"/>
              <a:buChar char=""/>
              <a:tabLst>
                <a:tab pos="286762" algn="l"/>
              </a:tabLst>
            </a:pPr>
            <a:r>
              <a:rPr sz="1998" dirty="0">
                <a:latin typeface="Century Schoolbook"/>
                <a:cs typeface="Century Schoolbook"/>
              </a:rPr>
              <a:t>Serve</a:t>
            </a:r>
            <a:r>
              <a:rPr sz="1998" spc="3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como</a:t>
            </a:r>
            <a:r>
              <a:rPr sz="1998" spc="5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um</a:t>
            </a:r>
            <a:r>
              <a:rPr sz="1998" spc="3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processo</a:t>
            </a:r>
            <a:r>
              <a:rPr sz="1998" spc="3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de</a:t>
            </a:r>
            <a:r>
              <a:rPr sz="1998" spc="5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revisão</a:t>
            </a:r>
            <a:r>
              <a:rPr sz="1998" spc="3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informal</a:t>
            </a:r>
            <a:r>
              <a:rPr sz="1998" spc="3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pois</a:t>
            </a:r>
            <a:r>
              <a:rPr sz="1998" spc="4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cada</a:t>
            </a:r>
            <a:r>
              <a:rPr sz="1998" spc="45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linha</a:t>
            </a:r>
            <a:r>
              <a:rPr sz="1998" spc="-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do</a:t>
            </a:r>
            <a:r>
              <a:rPr sz="1998" spc="3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código</a:t>
            </a:r>
            <a:r>
              <a:rPr sz="1998" spc="2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é</a:t>
            </a:r>
            <a:r>
              <a:rPr sz="1998" spc="4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observada</a:t>
            </a:r>
            <a:r>
              <a:rPr sz="1998" spc="1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por</a:t>
            </a:r>
            <a:r>
              <a:rPr sz="1998" spc="3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mais</a:t>
            </a:r>
            <a:r>
              <a:rPr sz="1998" spc="3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de</a:t>
            </a:r>
            <a:r>
              <a:rPr sz="1998" spc="4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uma</a:t>
            </a:r>
            <a:r>
              <a:rPr sz="1998" spc="40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pessoa.</a:t>
            </a:r>
            <a:endParaRPr sz="1998">
              <a:latin typeface="Century Schoolbook"/>
              <a:cs typeface="Century Schoolbook"/>
            </a:endParaRPr>
          </a:p>
          <a:p>
            <a:pPr marL="286762" marR="5075" indent="-274073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70000"/>
              <a:buFont typeface="Wingdings"/>
              <a:buChar char=""/>
              <a:tabLst>
                <a:tab pos="286762" algn="l"/>
              </a:tabLst>
            </a:pPr>
            <a:r>
              <a:rPr sz="1998" dirty="0">
                <a:latin typeface="Century Schoolbook"/>
                <a:cs typeface="Century Schoolbook"/>
              </a:rPr>
              <a:t>Encoraja</a:t>
            </a:r>
            <a:r>
              <a:rPr sz="1998" spc="2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a</a:t>
            </a:r>
            <a:r>
              <a:rPr sz="1998" spc="5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refatoração</a:t>
            </a:r>
            <a:r>
              <a:rPr sz="1998" spc="4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pois</a:t>
            </a:r>
            <a:r>
              <a:rPr sz="1998" spc="4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toda</a:t>
            </a:r>
            <a:r>
              <a:rPr sz="1998" spc="5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a</a:t>
            </a:r>
            <a:r>
              <a:rPr sz="1998" spc="3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equipe</a:t>
            </a:r>
            <a:r>
              <a:rPr sz="1998" spc="5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pode</a:t>
            </a:r>
            <a:r>
              <a:rPr sz="1998" spc="5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se</a:t>
            </a:r>
            <a:r>
              <a:rPr sz="1998" spc="40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beneficiar</a:t>
            </a:r>
            <a:r>
              <a:rPr sz="1998" spc="-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dessa</a:t>
            </a:r>
            <a:r>
              <a:rPr sz="1998" spc="35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atividade.</a:t>
            </a:r>
            <a:endParaRPr sz="1998">
              <a:latin typeface="Century Schoolbook"/>
              <a:cs typeface="Century Schoolbook"/>
            </a:endParaRPr>
          </a:p>
          <a:p>
            <a:pPr marL="286127" marR="5710" indent="-274073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70000"/>
              <a:buFont typeface="Wingdings"/>
              <a:buChar char=""/>
              <a:tabLst>
                <a:tab pos="286762" algn="l"/>
              </a:tabLst>
            </a:pPr>
            <a:r>
              <a:rPr sz="1998" dirty="0">
                <a:latin typeface="Century Schoolbook"/>
                <a:cs typeface="Century Schoolbook"/>
              </a:rPr>
              <a:t>Avaliações</a:t>
            </a:r>
            <a:r>
              <a:rPr sz="1998" spc="380" dirty="0">
                <a:latin typeface="Times New Roman"/>
                <a:cs typeface="Times New Roman"/>
              </a:rPr>
              <a:t>    </a:t>
            </a:r>
            <a:r>
              <a:rPr sz="1998" dirty="0">
                <a:latin typeface="Century Schoolbook"/>
                <a:cs typeface="Century Schoolbook"/>
              </a:rPr>
              <a:t>sugerem</a:t>
            </a:r>
            <a:r>
              <a:rPr sz="1998" spc="390" dirty="0">
                <a:latin typeface="Times New Roman"/>
                <a:cs typeface="Times New Roman"/>
              </a:rPr>
              <a:t>    </a:t>
            </a:r>
            <a:r>
              <a:rPr sz="1998" dirty="0">
                <a:latin typeface="Century Schoolbook"/>
                <a:cs typeface="Century Schoolbook"/>
              </a:rPr>
              <a:t>que</a:t>
            </a:r>
            <a:r>
              <a:rPr sz="1998" spc="395" dirty="0">
                <a:latin typeface="Times New Roman"/>
                <a:cs typeface="Times New Roman"/>
              </a:rPr>
              <a:t>    </a:t>
            </a:r>
            <a:r>
              <a:rPr sz="1998" dirty="0">
                <a:latin typeface="Century Schoolbook"/>
                <a:cs typeface="Century Schoolbook"/>
              </a:rPr>
              <a:t>a</a:t>
            </a:r>
            <a:r>
              <a:rPr sz="1998" spc="390" dirty="0">
                <a:latin typeface="Times New Roman"/>
                <a:cs typeface="Times New Roman"/>
              </a:rPr>
              <a:t>    </a:t>
            </a:r>
            <a:r>
              <a:rPr sz="1998" dirty="0">
                <a:latin typeface="Century Schoolbook"/>
                <a:cs typeface="Century Schoolbook"/>
              </a:rPr>
              <a:t>produtividade</a:t>
            </a:r>
            <a:r>
              <a:rPr sz="1998" spc="395" dirty="0">
                <a:latin typeface="Times New Roman"/>
                <a:cs typeface="Times New Roman"/>
              </a:rPr>
              <a:t>    </a:t>
            </a:r>
            <a:r>
              <a:rPr sz="1998" spc="-25" dirty="0">
                <a:latin typeface="Century Schoolbook"/>
                <a:cs typeface="Century Schoolbook"/>
              </a:rPr>
              <a:t>do</a:t>
            </a:r>
            <a:r>
              <a:rPr sz="1998" spc="-2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desenvolvimento</a:t>
            </a:r>
            <a:r>
              <a:rPr sz="1998" spc="15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com</a:t>
            </a:r>
            <a:r>
              <a:rPr sz="1998" spc="14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programação</a:t>
            </a:r>
            <a:r>
              <a:rPr sz="1998" spc="14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em</a:t>
            </a:r>
            <a:r>
              <a:rPr sz="1998" spc="14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pares</a:t>
            </a:r>
            <a:r>
              <a:rPr sz="1998" spc="13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é</a:t>
            </a:r>
            <a:r>
              <a:rPr sz="1998" spc="15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similar</a:t>
            </a:r>
            <a:r>
              <a:rPr sz="1998" spc="13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a</a:t>
            </a:r>
            <a:r>
              <a:rPr sz="1998" spc="150" dirty="0">
                <a:latin typeface="Times New Roman"/>
                <a:cs typeface="Times New Roman"/>
              </a:rPr>
              <a:t> </a:t>
            </a:r>
            <a:r>
              <a:rPr sz="1998" spc="-25" dirty="0">
                <a:latin typeface="Century Schoolbook"/>
                <a:cs typeface="Century Schoolbook"/>
              </a:rPr>
              <a:t>de</a:t>
            </a:r>
            <a:r>
              <a:rPr sz="1998" spc="-2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duas</a:t>
            </a:r>
            <a:r>
              <a:rPr sz="1998" spc="3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pessoas</a:t>
            </a:r>
            <a:r>
              <a:rPr sz="1998" spc="2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trabalhando</a:t>
            </a:r>
            <a:r>
              <a:rPr sz="1998" spc="10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independentemente.</a:t>
            </a:r>
            <a:endParaRPr sz="1998">
              <a:latin typeface="Century Schoolbook"/>
              <a:cs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1910188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3676" y="454488"/>
            <a:ext cx="4694653" cy="1365776"/>
          </a:xfrm>
          <a:prstGeom prst="rect">
            <a:avLst/>
          </a:prstGeom>
        </p:spPr>
        <p:txBody>
          <a:bodyPr vert="horz" wrap="square" lIns="0" tIns="12688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100"/>
              </a:spcBef>
            </a:pPr>
            <a:r>
              <a:rPr cap="small" dirty="0"/>
              <a:t>Prog</a:t>
            </a:r>
            <a:r>
              <a:rPr cap="small" spc="-5" dirty="0"/>
              <a:t>r</a:t>
            </a:r>
            <a:r>
              <a:rPr cap="small" dirty="0"/>
              <a:t>a</a:t>
            </a:r>
            <a:r>
              <a:rPr cap="small" spc="-5" dirty="0"/>
              <a:t>m</a:t>
            </a:r>
            <a:r>
              <a:rPr cap="small" dirty="0"/>
              <a:t>ação</a:t>
            </a:r>
            <a:r>
              <a:rPr sz="2398" spc="229" dirty="0">
                <a:latin typeface="Times New Roman"/>
                <a:cs typeface="Times New Roman"/>
              </a:rPr>
              <a:t> </a:t>
            </a:r>
            <a:r>
              <a:rPr cap="small" dirty="0"/>
              <a:t>em</a:t>
            </a:r>
            <a:r>
              <a:rPr sz="2398" spc="260" dirty="0">
                <a:latin typeface="Times New Roman"/>
                <a:cs typeface="Times New Roman"/>
              </a:rPr>
              <a:t> </a:t>
            </a:r>
            <a:r>
              <a:rPr cap="small" dirty="0"/>
              <a:t>pares</a:t>
            </a:r>
            <a:endParaRPr sz="239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3676" y="1588470"/>
            <a:ext cx="7302089" cy="4766976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286762" marR="5075" indent="-274073" algn="just">
              <a:lnSpc>
                <a:spcPct val="130000"/>
              </a:lnSpc>
              <a:spcBef>
                <a:spcPts val="100"/>
              </a:spcBef>
              <a:buClr>
                <a:srgbClr val="94C600"/>
              </a:buClr>
              <a:buSzPct val="68421"/>
              <a:buFont typeface="Wingdings"/>
              <a:buChar char=""/>
              <a:tabLst>
                <a:tab pos="286762" algn="l"/>
              </a:tabLst>
            </a:pPr>
            <a:r>
              <a:rPr sz="1898" dirty="0">
                <a:latin typeface="Century Schoolbook"/>
                <a:cs typeface="Century Schoolbook"/>
              </a:rPr>
              <a:t>Na</a:t>
            </a:r>
            <a:r>
              <a:rPr sz="1898" spc="8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programação</a:t>
            </a:r>
            <a:r>
              <a:rPr sz="1898" spc="8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em</a:t>
            </a:r>
            <a:r>
              <a:rPr sz="1898" spc="8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pares</a:t>
            </a:r>
            <a:r>
              <a:rPr sz="1898" spc="9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os</a:t>
            </a:r>
            <a:r>
              <a:rPr sz="1898" spc="8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programadores</a:t>
            </a:r>
            <a:r>
              <a:rPr sz="1898" spc="85" dirty="0">
                <a:latin typeface="Times New Roman"/>
                <a:cs typeface="Times New Roman"/>
              </a:rPr>
              <a:t> </a:t>
            </a:r>
            <a:r>
              <a:rPr sz="1898" spc="-20" dirty="0">
                <a:latin typeface="Century Schoolbook"/>
                <a:cs typeface="Century Schoolbook"/>
              </a:rPr>
              <a:t>sentam-</a:t>
            </a:r>
            <a:r>
              <a:rPr sz="1898" dirty="0">
                <a:latin typeface="Century Schoolbook"/>
                <a:cs typeface="Century Schoolbook"/>
              </a:rPr>
              <a:t>se</a:t>
            </a:r>
            <a:r>
              <a:rPr sz="1898" spc="90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juntos</a:t>
            </a:r>
            <a:r>
              <a:rPr sz="1898" spc="-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na</a:t>
            </a:r>
            <a:r>
              <a:rPr sz="1898" spc="-1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mesma</a:t>
            </a:r>
            <a:r>
              <a:rPr sz="1898" spc="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estação</a:t>
            </a:r>
            <a:r>
              <a:rPr sz="1898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</a:t>
            </a:r>
            <a:r>
              <a:rPr sz="1898" spc="-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trabalho</a:t>
            </a:r>
            <a:r>
              <a:rPr sz="1898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para</a:t>
            </a:r>
            <a:r>
              <a:rPr sz="1898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desenvolver</a:t>
            </a:r>
            <a:r>
              <a:rPr sz="1898" spc="-10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softwares.</a:t>
            </a:r>
            <a:endParaRPr sz="1898">
              <a:latin typeface="Century Schoolbook"/>
              <a:cs typeface="Century Schoolbook"/>
            </a:endParaRPr>
          </a:p>
          <a:p>
            <a:pPr marL="286762" marR="5075" indent="-274073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68421"/>
              <a:buFont typeface="Wingdings"/>
              <a:buChar char=""/>
              <a:tabLst>
                <a:tab pos="286762" algn="l"/>
              </a:tabLst>
            </a:pPr>
            <a:r>
              <a:rPr sz="1898" dirty="0">
                <a:latin typeface="Century Schoolbook"/>
                <a:cs typeface="Century Schoolbook"/>
              </a:rPr>
              <a:t>Os</a:t>
            </a:r>
            <a:r>
              <a:rPr sz="1898" spc="22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pares</a:t>
            </a:r>
            <a:r>
              <a:rPr sz="1898" spc="22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são</a:t>
            </a:r>
            <a:r>
              <a:rPr sz="1898" spc="22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criados</a:t>
            </a:r>
            <a:r>
              <a:rPr sz="1898" spc="22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dinamicamente</a:t>
            </a:r>
            <a:r>
              <a:rPr sz="1898" spc="229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para</a:t>
            </a:r>
            <a:r>
              <a:rPr sz="1898" spc="229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que</a:t>
            </a:r>
            <a:r>
              <a:rPr sz="1898" spc="22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todos</a:t>
            </a:r>
            <a:r>
              <a:rPr sz="1898" spc="225" dirty="0">
                <a:latin typeface="Times New Roman"/>
                <a:cs typeface="Times New Roman"/>
              </a:rPr>
              <a:t>  </a:t>
            </a:r>
            <a:r>
              <a:rPr sz="1898" spc="-25" dirty="0">
                <a:latin typeface="Century Schoolbook"/>
                <a:cs typeface="Century Schoolbook"/>
              </a:rPr>
              <a:t>os</a:t>
            </a:r>
            <a:r>
              <a:rPr sz="1898" spc="-2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membros</a:t>
            </a:r>
            <a:r>
              <a:rPr sz="1898" spc="20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da</a:t>
            </a:r>
            <a:r>
              <a:rPr sz="1898" spc="204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equipe</a:t>
            </a:r>
            <a:r>
              <a:rPr sz="1898" spc="204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trabalhem</a:t>
            </a:r>
            <a:r>
              <a:rPr sz="1898" spc="20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com</a:t>
            </a:r>
            <a:r>
              <a:rPr sz="1898" spc="204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cada</a:t>
            </a:r>
            <a:r>
              <a:rPr sz="1898" spc="204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um</a:t>
            </a:r>
            <a:r>
              <a:rPr sz="1898" spc="19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dos</a:t>
            </a:r>
            <a:r>
              <a:rPr sz="1898" spc="204" dirty="0">
                <a:latin typeface="Times New Roman"/>
                <a:cs typeface="Times New Roman"/>
              </a:rPr>
              <a:t>  </a:t>
            </a:r>
            <a:r>
              <a:rPr sz="1898" spc="-10" dirty="0">
                <a:latin typeface="Century Schoolbook"/>
                <a:cs typeface="Century Schoolbook"/>
              </a:rPr>
              <a:t>outros</a:t>
            </a:r>
            <a:r>
              <a:rPr sz="1898" spc="-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membros</a:t>
            </a:r>
            <a:r>
              <a:rPr sz="1898" spc="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durante</a:t>
            </a:r>
            <a:r>
              <a:rPr sz="1898" spc="-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o</a:t>
            </a:r>
            <a:r>
              <a:rPr sz="1898" spc="-1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processo</a:t>
            </a:r>
            <a:r>
              <a:rPr sz="1898" spc="-1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</a:t>
            </a:r>
            <a:r>
              <a:rPr sz="1898" spc="-20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desenvolvimento.</a:t>
            </a:r>
            <a:endParaRPr sz="1898">
              <a:latin typeface="Century Schoolbook"/>
              <a:cs typeface="Century Schoolbook"/>
            </a:endParaRPr>
          </a:p>
          <a:p>
            <a:pPr marL="286762" marR="5075" indent="-274073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68421"/>
              <a:buFont typeface="Wingdings"/>
              <a:buChar char=""/>
              <a:tabLst>
                <a:tab pos="286762" algn="l"/>
              </a:tabLst>
            </a:pPr>
            <a:r>
              <a:rPr sz="1898" dirty="0">
                <a:latin typeface="Century Schoolbook"/>
                <a:cs typeface="Century Schoolbook"/>
              </a:rPr>
              <a:t>O</a:t>
            </a:r>
            <a:r>
              <a:rPr sz="1898" spc="14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compartilhamento</a:t>
            </a:r>
            <a:r>
              <a:rPr sz="1898" spc="14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</a:t>
            </a:r>
            <a:r>
              <a:rPr sz="1898" spc="14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conhecimento</a:t>
            </a:r>
            <a:r>
              <a:rPr sz="1898" spc="14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que</a:t>
            </a:r>
            <a:r>
              <a:rPr sz="1898" spc="14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acontece</a:t>
            </a:r>
            <a:r>
              <a:rPr sz="1898" spc="14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durante</a:t>
            </a:r>
            <a:r>
              <a:rPr sz="1898" spc="145" dirty="0">
                <a:latin typeface="Times New Roman"/>
                <a:cs typeface="Times New Roman"/>
              </a:rPr>
              <a:t> </a:t>
            </a:r>
            <a:r>
              <a:rPr sz="1898" spc="-50" dirty="0">
                <a:latin typeface="Century Schoolbook"/>
                <a:cs typeface="Century Schoolbook"/>
              </a:rPr>
              <a:t>a</a:t>
            </a:r>
            <a:r>
              <a:rPr sz="1898" spc="-5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programação</a:t>
            </a:r>
            <a:r>
              <a:rPr sz="1898" spc="8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em</a:t>
            </a:r>
            <a:r>
              <a:rPr sz="1898" spc="7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pares</a:t>
            </a:r>
            <a:r>
              <a:rPr sz="1898" spc="8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é</a:t>
            </a:r>
            <a:r>
              <a:rPr sz="1898" spc="7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muito</a:t>
            </a:r>
            <a:r>
              <a:rPr sz="1898" spc="8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importante</a:t>
            </a:r>
            <a:r>
              <a:rPr sz="1898" spc="8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por</a:t>
            </a:r>
            <a:r>
              <a:rPr sz="1898" spc="7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reduzir</a:t>
            </a:r>
            <a:r>
              <a:rPr sz="1898" spc="80" dirty="0">
                <a:latin typeface="Times New Roman"/>
                <a:cs typeface="Times New Roman"/>
              </a:rPr>
              <a:t>  </a:t>
            </a:r>
            <a:r>
              <a:rPr sz="1898" spc="-25" dirty="0">
                <a:latin typeface="Century Schoolbook"/>
                <a:cs typeface="Century Schoolbook"/>
              </a:rPr>
              <a:t>os</a:t>
            </a:r>
            <a:r>
              <a:rPr sz="1898" spc="-2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riscos</a:t>
            </a:r>
            <a:r>
              <a:rPr sz="1898" spc="14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gerais</a:t>
            </a:r>
            <a:r>
              <a:rPr sz="1898" spc="16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</a:t>
            </a:r>
            <a:r>
              <a:rPr sz="1898" spc="15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um</a:t>
            </a:r>
            <a:r>
              <a:rPr sz="1898" spc="14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projeto</a:t>
            </a:r>
            <a:r>
              <a:rPr sz="1898" spc="14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quando</a:t>
            </a:r>
            <a:r>
              <a:rPr sz="1898" spc="15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um</a:t>
            </a:r>
            <a:r>
              <a:rPr sz="1898" spc="15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membro</a:t>
            </a:r>
            <a:r>
              <a:rPr sz="1898" spc="15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da</a:t>
            </a:r>
            <a:r>
              <a:rPr sz="1898" spc="17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equipe</a:t>
            </a:r>
            <a:r>
              <a:rPr sz="1898" spc="150" dirty="0">
                <a:latin typeface="Times New Roman"/>
                <a:cs typeface="Times New Roman"/>
              </a:rPr>
              <a:t> </a:t>
            </a:r>
            <a:r>
              <a:rPr sz="1898" spc="-25" dirty="0">
                <a:latin typeface="Century Schoolbook"/>
                <a:cs typeface="Century Schoolbook"/>
              </a:rPr>
              <a:t>vai</a:t>
            </a:r>
            <a:r>
              <a:rPr sz="1898" spc="-25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embora.</a:t>
            </a:r>
            <a:endParaRPr sz="1898">
              <a:latin typeface="Century Schoolbook"/>
              <a:cs typeface="Century Schoolbook"/>
            </a:endParaRPr>
          </a:p>
          <a:p>
            <a:pPr marL="286762" marR="5075" indent="-274073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68421"/>
              <a:buFont typeface="Wingdings"/>
              <a:buChar char=""/>
              <a:tabLst>
                <a:tab pos="286762" algn="l"/>
              </a:tabLst>
            </a:pPr>
            <a:r>
              <a:rPr sz="1898" dirty="0">
                <a:latin typeface="Century Schoolbook"/>
                <a:cs typeface="Century Schoolbook"/>
              </a:rPr>
              <a:t>A</a:t>
            </a:r>
            <a:r>
              <a:rPr sz="1898" spc="2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programação</a:t>
            </a:r>
            <a:r>
              <a:rPr sz="1898" spc="21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em</a:t>
            </a:r>
            <a:r>
              <a:rPr sz="1898" spc="21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pares</a:t>
            </a:r>
            <a:r>
              <a:rPr sz="1898" spc="2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não</a:t>
            </a:r>
            <a:r>
              <a:rPr sz="1898" spc="22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é</a:t>
            </a:r>
            <a:r>
              <a:rPr sz="1898" spc="21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necessariamente</a:t>
            </a:r>
            <a:r>
              <a:rPr sz="1898" spc="22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ineficiente</a:t>
            </a:r>
            <a:r>
              <a:rPr sz="1898" spc="215" dirty="0">
                <a:latin typeface="Times New Roman"/>
                <a:cs typeface="Times New Roman"/>
              </a:rPr>
              <a:t> </a:t>
            </a:r>
            <a:r>
              <a:rPr sz="1898" spc="-50" dirty="0">
                <a:latin typeface="Century Schoolbook"/>
                <a:cs typeface="Century Schoolbook"/>
              </a:rPr>
              <a:t>e</a:t>
            </a:r>
            <a:r>
              <a:rPr sz="1898" spc="-5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existem</a:t>
            </a:r>
            <a:r>
              <a:rPr sz="1898" spc="3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evidências</a:t>
            </a:r>
            <a:r>
              <a:rPr sz="1898" spc="3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</a:t>
            </a:r>
            <a:r>
              <a:rPr sz="1898" spc="3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que</a:t>
            </a:r>
            <a:r>
              <a:rPr sz="1898" spc="4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o</a:t>
            </a:r>
            <a:r>
              <a:rPr sz="1898" spc="3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trabalho</a:t>
            </a:r>
            <a:r>
              <a:rPr sz="1898" spc="3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em</a:t>
            </a:r>
            <a:r>
              <a:rPr sz="1898" spc="4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pares</a:t>
            </a:r>
            <a:r>
              <a:rPr sz="1898" spc="3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é</a:t>
            </a:r>
            <a:r>
              <a:rPr sz="1898" spc="3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mais</a:t>
            </a:r>
            <a:r>
              <a:rPr sz="1898" spc="45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eficiente</a:t>
            </a:r>
            <a:r>
              <a:rPr sz="1898" spc="-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do</a:t>
            </a:r>
            <a:r>
              <a:rPr sz="1898" spc="-1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que</a:t>
            </a:r>
            <a:r>
              <a:rPr sz="1898" spc="-1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2</a:t>
            </a:r>
            <a:r>
              <a:rPr sz="1898" spc="-1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programadores</a:t>
            </a:r>
            <a:r>
              <a:rPr sz="1898" spc="-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trabalhando</a:t>
            </a:r>
            <a:r>
              <a:rPr sz="1898" spc="10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separadamente.</a:t>
            </a:r>
            <a:endParaRPr sz="1898">
              <a:latin typeface="Century Schoolbook"/>
              <a:cs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4229267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3676" y="46627"/>
            <a:ext cx="6254674" cy="1614332"/>
          </a:xfrm>
          <a:prstGeom prst="rect">
            <a:avLst/>
          </a:prstGeom>
        </p:spPr>
        <p:txBody>
          <a:bodyPr vert="horz" wrap="square" lIns="0" tIns="31086" rIns="0" bIns="0" rtlCol="0" anchor="ctr">
            <a:spAutoFit/>
          </a:bodyPr>
          <a:lstStyle/>
          <a:p>
            <a:pPr marL="12689" marR="5075">
              <a:lnSpc>
                <a:spcPct val="116700"/>
              </a:lnSpc>
              <a:spcBef>
                <a:spcPts val="245"/>
              </a:spcBef>
            </a:pPr>
            <a:r>
              <a:rPr cap="small" dirty="0"/>
              <a:t>Van</a:t>
            </a:r>
            <a:r>
              <a:rPr cap="small" spc="-10" dirty="0"/>
              <a:t>t</a:t>
            </a:r>
            <a:r>
              <a:rPr cap="small" dirty="0"/>
              <a:t>agens</a:t>
            </a:r>
            <a:r>
              <a:rPr sz="2398" spc="254" dirty="0">
                <a:latin typeface="Times New Roman"/>
                <a:cs typeface="Times New Roman"/>
              </a:rPr>
              <a:t> </a:t>
            </a:r>
            <a:r>
              <a:rPr cap="small" dirty="0"/>
              <a:t>da</a:t>
            </a:r>
            <a:r>
              <a:rPr sz="2398" spc="254" dirty="0">
                <a:latin typeface="Times New Roman"/>
                <a:cs typeface="Times New Roman"/>
              </a:rPr>
              <a:t> </a:t>
            </a:r>
            <a:r>
              <a:rPr cap="small" dirty="0"/>
              <a:t>prog</a:t>
            </a:r>
            <a:r>
              <a:rPr cap="small" spc="-5" dirty="0"/>
              <a:t>r</a:t>
            </a:r>
            <a:r>
              <a:rPr cap="small" dirty="0"/>
              <a:t>a</a:t>
            </a:r>
            <a:r>
              <a:rPr cap="small" spc="-5" dirty="0"/>
              <a:t>m</a:t>
            </a:r>
            <a:r>
              <a:rPr cap="small" dirty="0"/>
              <a:t>ação</a:t>
            </a:r>
            <a:r>
              <a:rPr sz="2398" spc="240" dirty="0">
                <a:latin typeface="Times New Roman"/>
                <a:cs typeface="Times New Roman"/>
              </a:rPr>
              <a:t> </a:t>
            </a:r>
            <a:r>
              <a:rPr cap="small" dirty="0"/>
              <a:t>em</a:t>
            </a:r>
            <a:r>
              <a:rPr sz="2398" dirty="0">
                <a:latin typeface="Times New Roman"/>
                <a:cs typeface="Times New Roman"/>
              </a:rPr>
              <a:t> </a:t>
            </a:r>
            <a:r>
              <a:rPr cap="small" dirty="0"/>
              <a:t>pares</a:t>
            </a:r>
            <a:endParaRPr sz="239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3675" y="1588470"/>
            <a:ext cx="7303358" cy="4439619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468843" marR="5075" indent="-456789" algn="just">
              <a:lnSpc>
                <a:spcPct val="130000"/>
              </a:lnSpc>
              <a:spcBef>
                <a:spcPts val="100"/>
              </a:spcBef>
              <a:buClr>
                <a:srgbClr val="94C600"/>
              </a:buClr>
              <a:buSzPct val="68421"/>
              <a:buAutoNum type="arabicPeriod"/>
              <a:tabLst>
                <a:tab pos="469477" algn="l"/>
              </a:tabLst>
            </a:pPr>
            <a:r>
              <a:rPr sz="1898" dirty="0">
                <a:latin typeface="Century Schoolbook"/>
                <a:cs typeface="Century Schoolbook"/>
              </a:rPr>
              <a:t>Apoia</a:t>
            </a:r>
            <a:r>
              <a:rPr sz="1898" spc="2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a</a:t>
            </a:r>
            <a:r>
              <a:rPr sz="1898" spc="2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ideia</a:t>
            </a:r>
            <a:r>
              <a:rPr sz="1898" spc="4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da</a:t>
            </a:r>
            <a:r>
              <a:rPr sz="1898" spc="2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propriedade</a:t>
            </a:r>
            <a:r>
              <a:rPr sz="1898" spc="2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coletiva</a:t>
            </a:r>
            <a:r>
              <a:rPr sz="1898" spc="2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e</a:t>
            </a:r>
            <a:r>
              <a:rPr sz="1898" spc="2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responsabilidade</a:t>
            </a:r>
            <a:r>
              <a:rPr sz="1898" spc="20" dirty="0">
                <a:latin typeface="Times New Roman"/>
                <a:cs typeface="Times New Roman"/>
              </a:rPr>
              <a:t> </a:t>
            </a:r>
            <a:r>
              <a:rPr sz="1898" spc="-20" dirty="0">
                <a:latin typeface="Century Schoolbook"/>
                <a:cs typeface="Century Schoolbook"/>
              </a:rPr>
              <a:t>pelo</a:t>
            </a:r>
            <a:r>
              <a:rPr sz="1898" spc="-20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sistema.</a:t>
            </a:r>
            <a:endParaRPr sz="1898">
              <a:latin typeface="Century Schoolbook"/>
              <a:cs typeface="Century Schoolbook"/>
            </a:endParaRPr>
          </a:p>
          <a:p>
            <a:pPr marL="651558" marR="5075" lvl="1" indent="-274073" algn="just">
              <a:lnSpc>
                <a:spcPct val="130000"/>
              </a:lnSpc>
              <a:spcBef>
                <a:spcPts val="445"/>
              </a:spcBef>
              <a:buClr>
                <a:srgbClr val="94C600"/>
              </a:buClr>
              <a:buSzPct val="78125"/>
              <a:buFont typeface="Wingdings 2"/>
              <a:buChar char=""/>
              <a:tabLst>
                <a:tab pos="652192" algn="l"/>
              </a:tabLst>
            </a:pPr>
            <a:r>
              <a:rPr sz="1599" dirty="0">
                <a:latin typeface="Century Schoolbook"/>
                <a:cs typeface="Century Schoolbook"/>
              </a:rPr>
              <a:t>Os</a:t>
            </a:r>
            <a:r>
              <a:rPr sz="1599" spc="16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indivíduos</a:t>
            </a:r>
            <a:r>
              <a:rPr sz="1599" spc="16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não</a:t>
            </a:r>
            <a:r>
              <a:rPr sz="1599" spc="16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são</a:t>
            </a:r>
            <a:r>
              <a:rPr sz="1599" spc="16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responsabilizados</a:t>
            </a:r>
            <a:r>
              <a:rPr sz="1599" spc="17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por</a:t>
            </a:r>
            <a:r>
              <a:rPr sz="1599" spc="18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problemas</a:t>
            </a:r>
            <a:r>
              <a:rPr sz="1599" spc="17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no</a:t>
            </a:r>
            <a:r>
              <a:rPr sz="1599" spc="16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código.</a:t>
            </a:r>
            <a:r>
              <a:rPr sz="1599" spc="170" dirty="0">
                <a:latin typeface="Times New Roman"/>
                <a:cs typeface="Times New Roman"/>
              </a:rPr>
              <a:t> </a:t>
            </a:r>
            <a:r>
              <a:rPr sz="1599" spc="-25" dirty="0">
                <a:latin typeface="Century Schoolbook"/>
                <a:cs typeface="Century Schoolbook"/>
              </a:rPr>
              <a:t>Ao</a:t>
            </a:r>
            <a:r>
              <a:rPr sz="1599" spc="-2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invés</a:t>
            </a:r>
            <a:r>
              <a:rPr sz="1599" spc="16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disso,</a:t>
            </a:r>
            <a:r>
              <a:rPr sz="1599" spc="15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a</a:t>
            </a:r>
            <a:r>
              <a:rPr sz="1599" spc="15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equipe</a:t>
            </a:r>
            <a:r>
              <a:rPr sz="1599" spc="16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tem</a:t>
            </a:r>
            <a:r>
              <a:rPr sz="1599" spc="15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responsabilidade</a:t>
            </a:r>
            <a:r>
              <a:rPr sz="1599" spc="16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coletiva</a:t>
            </a:r>
            <a:r>
              <a:rPr sz="1599" spc="15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na</a:t>
            </a:r>
            <a:r>
              <a:rPr sz="1599" spc="16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solução</a:t>
            </a:r>
            <a:r>
              <a:rPr sz="1599" spc="165" dirty="0">
                <a:latin typeface="Times New Roman"/>
                <a:cs typeface="Times New Roman"/>
              </a:rPr>
              <a:t> </a:t>
            </a:r>
            <a:r>
              <a:rPr sz="1599" spc="-10" dirty="0">
                <a:latin typeface="Century Schoolbook"/>
                <a:cs typeface="Century Schoolbook"/>
              </a:rPr>
              <a:t>desses</a:t>
            </a:r>
            <a:r>
              <a:rPr sz="1599" spc="-10" dirty="0">
                <a:latin typeface="Times New Roman"/>
                <a:cs typeface="Times New Roman"/>
              </a:rPr>
              <a:t> </a:t>
            </a:r>
            <a:r>
              <a:rPr sz="1599" spc="-10" dirty="0">
                <a:latin typeface="Century Schoolbook"/>
                <a:cs typeface="Century Schoolbook"/>
              </a:rPr>
              <a:t>problemas.</a:t>
            </a:r>
            <a:endParaRPr sz="1599">
              <a:latin typeface="Century Schoolbook"/>
              <a:cs typeface="Century Schoolbook"/>
            </a:endParaRPr>
          </a:p>
          <a:p>
            <a:pPr marL="469477" marR="5075" indent="-456789" algn="just">
              <a:lnSpc>
                <a:spcPct val="130000"/>
              </a:lnSpc>
              <a:spcBef>
                <a:spcPts val="540"/>
              </a:spcBef>
              <a:buClr>
                <a:srgbClr val="94C600"/>
              </a:buClr>
              <a:buSzPct val="68421"/>
              <a:buAutoNum type="arabicPeriod"/>
              <a:tabLst>
                <a:tab pos="469477" algn="l"/>
              </a:tabLst>
            </a:pPr>
            <a:r>
              <a:rPr sz="1898" dirty="0">
                <a:latin typeface="Century Schoolbook"/>
                <a:cs typeface="Century Schoolbook"/>
              </a:rPr>
              <a:t>Funciona</a:t>
            </a:r>
            <a:r>
              <a:rPr sz="1898" spc="8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como</a:t>
            </a:r>
            <a:r>
              <a:rPr sz="1898" spc="8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um</a:t>
            </a:r>
            <a:r>
              <a:rPr sz="1898" spc="8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processo</a:t>
            </a:r>
            <a:r>
              <a:rPr sz="1898" spc="8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</a:t>
            </a:r>
            <a:r>
              <a:rPr sz="1898" spc="7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revisão</a:t>
            </a:r>
            <a:r>
              <a:rPr sz="1898" spc="8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informal</a:t>
            </a:r>
            <a:r>
              <a:rPr sz="1898" spc="9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porque</a:t>
            </a:r>
            <a:r>
              <a:rPr sz="1898" spc="85" dirty="0">
                <a:latin typeface="Times New Roman"/>
                <a:cs typeface="Times New Roman"/>
              </a:rPr>
              <a:t> </a:t>
            </a:r>
            <a:r>
              <a:rPr sz="1898" spc="-20" dirty="0">
                <a:latin typeface="Century Schoolbook"/>
                <a:cs typeface="Century Schoolbook"/>
              </a:rPr>
              <a:t>cada</a:t>
            </a:r>
            <a:r>
              <a:rPr sz="1898" spc="-2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linha</a:t>
            </a:r>
            <a:r>
              <a:rPr sz="1898" spc="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</a:t>
            </a:r>
            <a:r>
              <a:rPr sz="1898" spc="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código</a:t>
            </a:r>
            <a:r>
              <a:rPr sz="1898" spc="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é</a:t>
            </a:r>
            <a:r>
              <a:rPr sz="1898" spc="-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observada</a:t>
            </a:r>
            <a:r>
              <a:rPr sz="1898" spc="3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por</a:t>
            </a:r>
            <a:r>
              <a:rPr sz="1898" spc="-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pelo</a:t>
            </a:r>
            <a:r>
              <a:rPr sz="1898" spc="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menos</a:t>
            </a:r>
            <a:r>
              <a:rPr sz="1898" spc="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duas</a:t>
            </a:r>
            <a:r>
              <a:rPr sz="1898" spc="5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pessoas.</a:t>
            </a:r>
            <a:endParaRPr sz="1898">
              <a:latin typeface="Century Schoolbook"/>
              <a:cs typeface="Century Schoolbook"/>
            </a:endParaRPr>
          </a:p>
          <a:p>
            <a:pPr marL="468843" marR="8882" indent="-456789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68421"/>
              <a:buAutoNum type="arabicPeriod"/>
              <a:tabLst>
                <a:tab pos="469477" algn="l"/>
              </a:tabLst>
            </a:pPr>
            <a:r>
              <a:rPr sz="1898" dirty="0">
                <a:latin typeface="Century Schoolbook"/>
                <a:cs typeface="Century Schoolbook"/>
              </a:rPr>
              <a:t>Ajuda</a:t>
            </a:r>
            <a:r>
              <a:rPr sz="1898" spc="9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a</a:t>
            </a:r>
            <a:r>
              <a:rPr sz="1898" spc="9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apoiar</a:t>
            </a:r>
            <a:r>
              <a:rPr sz="1898" spc="9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a</a:t>
            </a:r>
            <a:r>
              <a:rPr sz="1898" spc="9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refatoração,</a:t>
            </a:r>
            <a:r>
              <a:rPr sz="1898" spc="9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que</a:t>
            </a:r>
            <a:r>
              <a:rPr sz="1898" spc="9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é</a:t>
            </a:r>
            <a:r>
              <a:rPr sz="1898" spc="9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um</a:t>
            </a:r>
            <a:r>
              <a:rPr sz="1898" spc="10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processo</a:t>
            </a:r>
            <a:r>
              <a:rPr sz="1898" spc="9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</a:t>
            </a:r>
            <a:r>
              <a:rPr sz="1898" spc="85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melhoria</a:t>
            </a:r>
            <a:r>
              <a:rPr sz="1898" spc="-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do</a:t>
            </a:r>
            <a:r>
              <a:rPr sz="1898" spc="25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software.</a:t>
            </a:r>
            <a:endParaRPr sz="1898">
              <a:latin typeface="Century Schoolbook"/>
              <a:cs typeface="Century Schoolbook"/>
            </a:endParaRPr>
          </a:p>
          <a:p>
            <a:pPr marL="651558" marR="5075" lvl="1" indent="-274073" algn="just">
              <a:lnSpc>
                <a:spcPct val="130000"/>
              </a:lnSpc>
              <a:spcBef>
                <a:spcPts val="440"/>
              </a:spcBef>
              <a:buClr>
                <a:srgbClr val="94C600"/>
              </a:buClr>
              <a:buSzPct val="78125"/>
              <a:buFont typeface="Wingdings 2"/>
              <a:buChar char=""/>
              <a:tabLst>
                <a:tab pos="652192" algn="l"/>
              </a:tabLst>
            </a:pPr>
            <a:r>
              <a:rPr sz="1599" dirty="0">
                <a:latin typeface="Century Schoolbook"/>
                <a:cs typeface="Century Schoolbook"/>
              </a:rPr>
              <a:t>Em</a:t>
            </a:r>
            <a:r>
              <a:rPr sz="1599" spc="37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processos</a:t>
            </a:r>
            <a:r>
              <a:rPr sz="1599" spc="37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nos</a:t>
            </a:r>
            <a:r>
              <a:rPr sz="1599" spc="37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quais</a:t>
            </a:r>
            <a:r>
              <a:rPr sz="1599" spc="375" dirty="0">
                <a:latin typeface="Times New Roman"/>
                <a:cs typeface="Times New Roman"/>
              </a:rPr>
              <a:t>  </a:t>
            </a:r>
            <a:r>
              <a:rPr sz="1599" dirty="0">
                <a:latin typeface="Century Schoolbook"/>
                <a:cs typeface="Century Schoolbook"/>
              </a:rPr>
              <a:t>a</a:t>
            </a:r>
            <a:r>
              <a:rPr sz="1599" spc="37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programação</a:t>
            </a:r>
            <a:r>
              <a:rPr sz="1599" spc="38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em</a:t>
            </a:r>
            <a:r>
              <a:rPr sz="1599" spc="38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pares</a:t>
            </a:r>
            <a:r>
              <a:rPr sz="1599" spc="37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e</a:t>
            </a:r>
            <a:r>
              <a:rPr sz="1599" spc="38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a</a:t>
            </a:r>
            <a:r>
              <a:rPr sz="1599" spc="365" dirty="0">
                <a:latin typeface="Times New Roman"/>
                <a:cs typeface="Times New Roman"/>
              </a:rPr>
              <a:t> </a:t>
            </a:r>
            <a:r>
              <a:rPr sz="1599" spc="-10" dirty="0">
                <a:latin typeface="Century Schoolbook"/>
                <a:cs typeface="Century Schoolbook"/>
              </a:rPr>
              <a:t>propriedade</a:t>
            </a:r>
            <a:r>
              <a:rPr sz="1599" spc="-1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coletiva</a:t>
            </a:r>
            <a:r>
              <a:rPr sz="1599" spc="385" dirty="0">
                <a:latin typeface="Times New Roman"/>
                <a:cs typeface="Times New Roman"/>
              </a:rPr>
              <a:t>  </a:t>
            </a:r>
            <a:r>
              <a:rPr sz="1599" dirty="0">
                <a:latin typeface="Century Schoolbook"/>
                <a:cs typeface="Century Schoolbook"/>
              </a:rPr>
              <a:t>são</a:t>
            </a:r>
            <a:r>
              <a:rPr sz="1599" spc="400" dirty="0">
                <a:latin typeface="Times New Roman"/>
                <a:cs typeface="Times New Roman"/>
              </a:rPr>
              <a:t>  </a:t>
            </a:r>
            <a:r>
              <a:rPr sz="1599" dirty="0">
                <a:latin typeface="Century Schoolbook"/>
                <a:cs typeface="Century Schoolbook"/>
              </a:rPr>
              <a:t>usados,</a:t>
            </a:r>
            <a:r>
              <a:rPr sz="1599" spc="390" dirty="0">
                <a:latin typeface="Times New Roman"/>
                <a:cs typeface="Times New Roman"/>
              </a:rPr>
              <a:t>  </a:t>
            </a:r>
            <a:r>
              <a:rPr sz="1599" dirty="0">
                <a:latin typeface="Century Schoolbook"/>
                <a:cs typeface="Century Schoolbook"/>
              </a:rPr>
              <a:t>outros</a:t>
            </a:r>
            <a:r>
              <a:rPr sz="1599" spc="400" dirty="0">
                <a:latin typeface="Times New Roman"/>
                <a:cs typeface="Times New Roman"/>
              </a:rPr>
              <a:t>  </a:t>
            </a:r>
            <a:r>
              <a:rPr sz="1599" dirty="0">
                <a:latin typeface="Century Schoolbook"/>
                <a:cs typeface="Century Schoolbook"/>
              </a:rPr>
              <a:t>se</a:t>
            </a:r>
            <a:r>
              <a:rPr sz="1599" spc="390" dirty="0">
                <a:latin typeface="Times New Roman"/>
                <a:cs typeface="Times New Roman"/>
              </a:rPr>
              <a:t>  </a:t>
            </a:r>
            <a:r>
              <a:rPr sz="1599" dirty="0">
                <a:latin typeface="Century Schoolbook"/>
                <a:cs typeface="Century Schoolbook"/>
              </a:rPr>
              <a:t>beneficiam</a:t>
            </a:r>
            <a:r>
              <a:rPr sz="1599" spc="390" dirty="0">
                <a:latin typeface="Times New Roman"/>
                <a:cs typeface="Times New Roman"/>
              </a:rPr>
              <a:t>  </a:t>
            </a:r>
            <a:r>
              <a:rPr sz="1599" dirty="0">
                <a:latin typeface="Century Schoolbook"/>
                <a:cs typeface="Century Schoolbook"/>
              </a:rPr>
              <a:t>imediatamente</a:t>
            </a:r>
            <a:r>
              <a:rPr sz="1599" spc="395" dirty="0">
                <a:latin typeface="Times New Roman"/>
                <a:cs typeface="Times New Roman"/>
              </a:rPr>
              <a:t>  </a:t>
            </a:r>
            <a:r>
              <a:rPr sz="1599" spc="-25" dirty="0">
                <a:latin typeface="Century Schoolbook"/>
                <a:cs typeface="Century Schoolbook"/>
              </a:rPr>
              <a:t>da</a:t>
            </a:r>
            <a:r>
              <a:rPr sz="1599" spc="-2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refatoração,</a:t>
            </a:r>
            <a:r>
              <a:rPr sz="1599" spc="1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o</a:t>
            </a:r>
            <a:r>
              <a:rPr sz="1599" spc="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que</a:t>
            </a:r>
            <a:r>
              <a:rPr sz="1599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provavelmente</a:t>
            </a:r>
            <a:r>
              <a:rPr sz="1599" spc="4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fará</a:t>
            </a:r>
            <a:r>
              <a:rPr sz="1599" spc="1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com</a:t>
            </a:r>
            <a:r>
              <a:rPr sz="1599" spc="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que</a:t>
            </a:r>
            <a:r>
              <a:rPr sz="1599" spc="1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apoiem</a:t>
            </a:r>
            <a:r>
              <a:rPr sz="1599" spc="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o</a:t>
            </a:r>
            <a:r>
              <a:rPr sz="1599" spc="5" dirty="0">
                <a:latin typeface="Times New Roman"/>
                <a:cs typeface="Times New Roman"/>
              </a:rPr>
              <a:t> </a:t>
            </a:r>
            <a:r>
              <a:rPr sz="1599" spc="-10" dirty="0">
                <a:latin typeface="Century Schoolbook"/>
                <a:cs typeface="Century Schoolbook"/>
              </a:rPr>
              <a:t>processo.</a:t>
            </a:r>
            <a:endParaRPr sz="1599">
              <a:latin typeface="Century Schoolbook"/>
              <a:cs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3324855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3675" y="454488"/>
            <a:ext cx="6661966" cy="1365776"/>
          </a:xfrm>
          <a:prstGeom prst="rect">
            <a:avLst/>
          </a:prstGeom>
        </p:spPr>
        <p:txBody>
          <a:bodyPr vert="horz" wrap="square" lIns="0" tIns="12688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100"/>
              </a:spcBef>
            </a:pPr>
            <a:r>
              <a:rPr cap="small" spc="-5" dirty="0"/>
              <a:t>G</a:t>
            </a:r>
            <a:r>
              <a:rPr cap="small" dirty="0"/>
              <a:t>eren</a:t>
            </a:r>
            <a:r>
              <a:rPr cap="small" spc="5" dirty="0"/>
              <a:t>c</a:t>
            </a:r>
            <a:r>
              <a:rPr cap="small" dirty="0"/>
              <a:t>ia</a:t>
            </a:r>
            <a:r>
              <a:rPr cap="small" spc="-5" dirty="0"/>
              <a:t>m</a:t>
            </a:r>
            <a:r>
              <a:rPr cap="small" dirty="0"/>
              <a:t>en</a:t>
            </a:r>
            <a:r>
              <a:rPr cap="small" spc="-10" dirty="0"/>
              <a:t>t</a:t>
            </a:r>
            <a:r>
              <a:rPr cap="small" dirty="0"/>
              <a:t>o</a:t>
            </a:r>
            <a:r>
              <a:rPr sz="2398" spc="240" dirty="0">
                <a:latin typeface="Times New Roman"/>
                <a:cs typeface="Times New Roman"/>
              </a:rPr>
              <a:t> </a:t>
            </a:r>
            <a:r>
              <a:rPr cap="small" dirty="0"/>
              <a:t>ágil</a:t>
            </a:r>
            <a:r>
              <a:rPr sz="2398" spc="254" dirty="0">
                <a:latin typeface="Times New Roman"/>
                <a:cs typeface="Times New Roman"/>
              </a:rPr>
              <a:t> </a:t>
            </a:r>
            <a:r>
              <a:rPr cap="small" dirty="0"/>
              <a:t>de</a:t>
            </a:r>
            <a:r>
              <a:rPr sz="2398" spc="265" dirty="0">
                <a:latin typeface="Times New Roman"/>
                <a:cs typeface="Times New Roman"/>
              </a:rPr>
              <a:t> </a:t>
            </a:r>
            <a:r>
              <a:rPr cap="small" dirty="0"/>
              <a:t>pro</a:t>
            </a:r>
            <a:r>
              <a:rPr cap="small" spc="5" dirty="0"/>
              <a:t>j</a:t>
            </a:r>
            <a:r>
              <a:rPr cap="small" dirty="0"/>
              <a:t>e</a:t>
            </a:r>
            <a:r>
              <a:rPr cap="small" spc="-10" dirty="0"/>
              <a:t>t</a:t>
            </a:r>
            <a:r>
              <a:rPr cap="small" dirty="0"/>
              <a:t>os</a:t>
            </a:r>
            <a:endParaRPr sz="239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37743" y="2051941"/>
            <a:ext cx="6415814" cy="314669"/>
          </a:xfrm>
          <a:prstGeom prst="rect">
            <a:avLst/>
          </a:prstGeom>
        </p:spPr>
        <p:txBody>
          <a:bodyPr vert="horz" wrap="square" lIns="0" tIns="12054" rIns="0" bIns="0" rtlCol="0">
            <a:spAutoFit/>
          </a:bodyPr>
          <a:lstStyle/>
          <a:p>
            <a:pPr marL="12689">
              <a:spcBef>
                <a:spcPts val="95"/>
              </a:spcBef>
              <a:tabLst>
                <a:tab pos="1138799" algn="l"/>
                <a:tab pos="1433174" algn="l"/>
                <a:tab pos="2655718" algn="l"/>
                <a:tab pos="2949458" algn="l"/>
                <a:tab pos="3892219" algn="l"/>
                <a:tab pos="4578670" algn="l"/>
                <a:tab pos="5154097" algn="l"/>
                <a:tab pos="5447838" algn="l"/>
              </a:tabLst>
            </a:pPr>
            <a:r>
              <a:rPr sz="1898" spc="-10" dirty="0">
                <a:latin typeface="Century Schoolbook"/>
                <a:cs typeface="Century Schoolbook"/>
              </a:rPr>
              <a:t>software</a:t>
            </a:r>
            <a:r>
              <a:rPr sz="1898" dirty="0">
                <a:latin typeface="Times New Roman"/>
                <a:cs typeface="Times New Roman"/>
              </a:rPr>
              <a:t>	</a:t>
            </a:r>
            <a:r>
              <a:rPr sz="1898" spc="-50" dirty="0">
                <a:latin typeface="Century Schoolbook"/>
                <a:cs typeface="Century Schoolbook"/>
              </a:rPr>
              <a:t>é</a:t>
            </a:r>
            <a:r>
              <a:rPr sz="1898" dirty="0">
                <a:latin typeface="Times New Roman"/>
                <a:cs typeface="Times New Roman"/>
              </a:rPr>
              <a:t>	</a:t>
            </a:r>
            <a:r>
              <a:rPr sz="1898" spc="-10" dirty="0">
                <a:latin typeface="Century Schoolbook"/>
                <a:cs typeface="Century Schoolbook"/>
              </a:rPr>
              <a:t>gerenciar</a:t>
            </a:r>
            <a:r>
              <a:rPr sz="1898" dirty="0">
                <a:latin typeface="Times New Roman"/>
                <a:cs typeface="Times New Roman"/>
              </a:rPr>
              <a:t>	</a:t>
            </a:r>
            <a:r>
              <a:rPr sz="1898" spc="-50" dirty="0">
                <a:latin typeface="Century Schoolbook"/>
                <a:cs typeface="Century Schoolbook"/>
              </a:rPr>
              <a:t>o</a:t>
            </a:r>
            <a:r>
              <a:rPr sz="1898" dirty="0">
                <a:latin typeface="Times New Roman"/>
                <a:cs typeface="Times New Roman"/>
              </a:rPr>
              <a:t>	</a:t>
            </a:r>
            <a:r>
              <a:rPr sz="1898" spc="-10" dirty="0">
                <a:latin typeface="Century Schoolbook"/>
                <a:cs typeface="Century Schoolbook"/>
              </a:rPr>
              <a:t>projeto</a:t>
            </a:r>
            <a:r>
              <a:rPr sz="1898" dirty="0">
                <a:latin typeface="Times New Roman"/>
                <a:cs typeface="Times New Roman"/>
              </a:rPr>
              <a:t>	</a:t>
            </a:r>
            <a:r>
              <a:rPr sz="1898" spc="-20" dirty="0">
                <a:latin typeface="Century Schoolbook"/>
                <a:cs typeface="Century Schoolbook"/>
              </a:rPr>
              <a:t>para</a:t>
            </a:r>
            <a:r>
              <a:rPr sz="1898" dirty="0">
                <a:latin typeface="Times New Roman"/>
                <a:cs typeface="Times New Roman"/>
              </a:rPr>
              <a:t>	</a:t>
            </a:r>
            <a:r>
              <a:rPr sz="1898" spc="-25" dirty="0">
                <a:latin typeface="Century Schoolbook"/>
                <a:cs typeface="Century Schoolbook"/>
              </a:rPr>
              <a:t>que</a:t>
            </a:r>
            <a:r>
              <a:rPr sz="1898" dirty="0">
                <a:latin typeface="Times New Roman"/>
                <a:cs typeface="Times New Roman"/>
              </a:rPr>
              <a:t>	</a:t>
            </a:r>
            <a:r>
              <a:rPr sz="1898" spc="-50" dirty="0">
                <a:latin typeface="Century Schoolbook"/>
                <a:cs typeface="Century Schoolbook"/>
              </a:rPr>
              <a:t>o</a:t>
            </a:r>
            <a:r>
              <a:rPr sz="1898" dirty="0">
                <a:latin typeface="Times New Roman"/>
                <a:cs typeface="Times New Roman"/>
              </a:rPr>
              <a:t>	</a:t>
            </a:r>
            <a:r>
              <a:rPr sz="1898" spc="-10" dirty="0">
                <a:latin typeface="Century Schoolbook"/>
                <a:cs typeface="Century Schoolbook"/>
              </a:rPr>
              <a:t>software</a:t>
            </a:r>
            <a:endParaRPr sz="1898">
              <a:latin typeface="Century Schoolbook"/>
              <a:cs typeface="Century Schoolboo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63676" y="1588470"/>
            <a:ext cx="7301454" cy="777790"/>
          </a:xfrm>
          <a:prstGeom prst="rect">
            <a:avLst/>
          </a:prstGeom>
        </p:spPr>
        <p:txBody>
          <a:bodyPr vert="horz" wrap="square" lIns="0" tIns="99603" rIns="0" bIns="0" rtlCol="0">
            <a:spAutoFit/>
          </a:bodyPr>
          <a:lstStyle/>
          <a:p>
            <a:pPr marL="274073" marR="5075" indent="-274073" algn="r">
              <a:spcBef>
                <a:spcPts val="784"/>
              </a:spcBef>
              <a:buClr>
                <a:srgbClr val="94C600"/>
              </a:buClr>
              <a:buSzPct val="68421"/>
              <a:buFont typeface="Wingdings"/>
              <a:buChar char=""/>
              <a:tabLst>
                <a:tab pos="274073" algn="l"/>
                <a:tab pos="654096" algn="l"/>
                <a:tab pos="1862048" algn="l"/>
                <a:tab pos="3952490" algn="l"/>
                <a:tab pos="4418160" algn="l"/>
                <a:tab pos="5573454" algn="l"/>
                <a:tab pos="6039759" algn="l"/>
                <a:tab pos="7016779" algn="l"/>
              </a:tabLst>
            </a:pPr>
            <a:r>
              <a:rPr sz="1898" spc="-50" dirty="0">
                <a:latin typeface="Century Schoolbook"/>
                <a:cs typeface="Century Schoolbook"/>
              </a:rPr>
              <a:t>A</a:t>
            </a:r>
            <a:r>
              <a:rPr sz="1898" dirty="0">
                <a:latin typeface="Times New Roman"/>
                <a:cs typeface="Times New Roman"/>
              </a:rPr>
              <a:t>	</a:t>
            </a:r>
            <a:r>
              <a:rPr sz="1898" spc="-10" dirty="0">
                <a:latin typeface="Century Schoolbook"/>
                <a:cs typeface="Century Schoolbook"/>
              </a:rPr>
              <a:t>principal</a:t>
            </a:r>
            <a:r>
              <a:rPr sz="1898" dirty="0">
                <a:latin typeface="Times New Roman"/>
                <a:cs typeface="Times New Roman"/>
              </a:rPr>
              <a:t>	</a:t>
            </a:r>
            <a:r>
              <a:rPr sz="1898" spc="-10" dirty="0">
                <a:latin typeface="Century Schoolbook"/>
                <a:cs typeface="Century Schoolbook"/>
              </a:rPr>
              <a:t>responsabilidade</a:t>
            </a:r>
            <a:r>
              <a:rPr sz="1898" dirty="0">
                <a:latin typeface="Times New Roman"/>
                <a:cs typeface="Times New Roman"/>
              </a:rPr>
              <a:t>	</a:t>
            </a:r>
            <a:r>
              <a:rPr sz="1898" spc="-25" dirty="0">
                <a:latin typeface="Century Schoolbook"/>
                <a:cs typeface="Century Schoolbook"/>
              </a:rPr>
              <a:t>de</a:t>
            </a:r>
            <a:r>
              <a:rPr sz="1898" dirty="0">
                <a:latin typeface="Times New Roman"/>
                <a:cs typeface="Times New Roman"/>
              </a:rPr>
              <a:t>	</a:t>
            </a:r>
            <a:r>
              <a:rPr sz="1898" spc="-10" dirty="0">
                <a:latin typeface="Century Schoolbook"/>
                <a:cs typeface="Century Schoolbook"/>
              </a:rPr>
              <a:t>gerentes</a:t>
            </a:r>
            <a:r>
              <a:rPr sz="1898" dirty="0">
                <a:latin typeface="Times New Roman"/>
                <a:cs typeface="Times New Roman"/>
              </a:rPr>
              <a:t>	</a:t>
            </a:r>
            <a:r>
              <a:rPr sz="1898" spc="-25" dirty="0">
                <a:latin typeface="Century Schoolbook"/>
                <a:cs typeface="Century Schoolbook"/>
              </a:rPr>
              <a:t>de</a:t>
            </a:r>
            <a:r>
              <a:rPr sz="1898" dirty="0">
                <a:latin typeface="Times New Roman"/>
                <a:cs typeface="Times New Roman"/>
              </a:rPr>
              <a:t>	</a:t>
            </a:r>
            <a:r>
              <a:rPr sz="1898" spc="-10" dirty="0">
                <a:latin typeface="Century Schoolbook"/>
                <a:cs typeface="Century Schoolbook"/>
              </a:rPr>
              <a:t>projeto</a:t>
            </a:r>
            <a:r>
              <a:rPr sz="1898" dirty="0">
                <a:latin typeface="Times New Roman"/>
                <a:cs typeface="Times New Roman"/>
              </a:rPr>
              <a:t>	</a:t>
            </a:r>
            <a:r>
              <a:rPr sz="1898" spc="-25" dirty="0">
                <a:latin typeface="Century Schoolbook"/>
                <a:cs typeface="Century Schoolbook"/>
              </a:rPr>
              <a:t>de</a:t>
            </a:r>
            <a:endParaRPr sz="1898">
              <a:latin typeface="Century Schoolbook"/>
              <a:cs typeface="Century Schoolbook"/>
            </a:endParaRPr>
          </a:p>
          <a:p>
            <a:pPr marR="6344" algn="r">
              <a:spcBef>
                <a:spcPts val="679"/>
              </a:spcBef>
            </a:pPr>
            <a:r>
              <a:rPr sz="1898" spc="-20" dirty="0">
                <a:latin typeface="Century Schoolbook"/>
                <a:cs typeface="Century Schoolbook"/>
              </a:rPr>
              <a:t>seja</a:t>
            </a:r>
            <a:endParaRPr sz="1898">
              <a:latin typeface="Century Schoolbook"/>
              <a:cs typeface="Century Schoolbook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63675" y="2340625"/>
            <a:ext cx="7303358" cy="4014562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286762" marR="5075" algn="just">
              <a:lnSpc>
                <a:spcPct val="130000"/>
              </a:lnSpc>
              <a:spcBef>
                <a:spcPts val="100"/>
              </a:spcBef>
            </a:pPr>
            <a:r>
              <a:rPr sz="1898" dirty="0">
                <a:latin typeface="Century Schoolbook"/>
                <a:cs typeface="Century Schoolbook"/>
              </a:rPr>
              <a:t>entregue</a:t>
            </a:r>
            <a:r>
              <a:rPr sz="1898" spc="35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em</a:t>
            </a:r>
            <a:r>
              <a:rPr sz="1898" spc="36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tempo</a:t>
            </a:r>
            <a:r>
              <a:rPr sz="1898" spc="35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e</a:t>
            </a:r>
            <a:r>
              <a:rPr sz="1898" spc="35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dentro</a:t>
            </a:r>
            <a:r>
              <a:rPr sz="1898" spc="35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do</a:t>
            </a:r>
            <a:r>
              <a:rPr sz="1898" spc="35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orçamento</a:t>
            </a:r>
            <a:r>
              <a:rPr sz="1898" spc="35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planejado</a:t>
            </a:r>
            <a:r>
              <a:rPr sz="1898" spc="36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para</a:t>
            </a:r>
            <a:r>
              <a:rPr sz="1898" spc="355" dirty="0">
                <a:latin typeface="Times New Roman"/>
                <a:cs typeface="Times New Roman"/>
              </a:rPr>
              <a:t> </a:t>
            </a:r>
            <a:r>
              <a:rPr sz="1898" spc="-50" dirty="0">
                <a:latin typeface="Century Schoolbook"/>
                <a:cs typeface="Century Schoolbook"/>
              </a:rPr>
              <a:t>o</a:t>
            </a:r>
            <a:r>
              <a:rPr sz="1898" spc="-50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projeto.</a:t>
            </a:r>
            <a:endParaRPr sz="1898">
              <a:latin typeface="Century Schoolbook"/>
              <a:cs typeface="Century Schoolbook"/>
            </a:endParaRPr>
          </a:p>
          <a:p>
            <a:pPr marL="286762" marR="7613" indent="-274073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68421"/>
              <a:buFont typeface="Wingdings"/>
              <a:buChar char=""/>
              <a:tabLst>
                <a:tab pos="286762" algn="l"/>
              </a:tabLst>
            </a:pPr>
            <a:r>
              <a:rPr sz="1898" dirty="0">
                <a:latin typeface="Century Schoolbook"/>
                <a:cs typeface="Century Schoolbook"/>
              </a:rPr>
              <a:t>A</a:t>
            </a:r>
            <a:r>
              <a:rPr sz="1898" spc="18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abordagem</a:t>
            </a:r>
            <a:r>
              <a:rPr sz="1898" spc="18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padrão</a:t>
            </a:r>
            <a:r>
              <a:rPr sz="1898" spc="19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para</a:t>
            </a:r>
            <a:r>
              <a:rPr sz="1898" spc="18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o</a:t>
            </a:r>
            <a:r>
              <a:rPr sz="1898" spc="19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gerenciamento</a:t>
            </a:r>
            <a:r>
              <a:rPr sz="1898" spc="18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de</a:t>
            </a:r>
            <a:r>
              <a:rPr sz="1898" spc="19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projeto</a:t>
            </a:r>
            <a:r>
              <a:rPr sz="1898" spc="185" dirty="0">
                <a:latin typeface="Times New Roman"/>
                <a:cs typeface="Times New Roman"/>
              </a:rPr>
              <a:t>  </a:t>
            </a:r>
            <a:r>
              <a:rPr sz="1898" spc="-50" dirty="0">
                <a:latin typeface="Century Schoolbook"/>
                <a:cs typeface="Century Schoolbook"/>
              </a:rPr>
              <a:t>é</a:t>
            </a:r>
            <a:r>
              <a:rPr sz="1898" spc="-5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dirigida</a:t>
            </a:r>
            <a:r>
              <a:rPr sz="1898" spc="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a</a:t>
            </a:r>
            <a:r>
              <a:rPr sz="1898" spc="10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planos.</a:t>
            </a:r>
            <a:endParaRPr sz="1898">
              <a:latin typeface="Century Schoolbook"/>
              <a:cs typeface="Century Schoolbook"/>
            </a:endParaRPr>
          </a:p>
          <a:p>
            <a:pPr marL="286762" marR="6344" indent="-274073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68421"/>
              <a:buFont typeface="Wingdings"/>
              <a:buChar char=""/>
              <a:tabLst>
                <a:tab pos="286762" algn="l"/>
              </a:tabLst>
            </a:pPr>
            <a:r>
              <a:rPr sz="1898" dirty="0">
                <a:latin typeface="Century Schoolbook"/>
                <a:cs typeface="Century Schoolbook"/>
              </a:rPr>
              <a:t>Os</a:t>
            </a:r>
            <a:r>
              <a:rPr sz="1898" spc="15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gerentes</a:t>
            </a:r>
            <a:r>
              <a:rPr sz="1898" spc="15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estruturam</a:t>
            </a:r>
            <a:r>
              <a:rPr sz="1898" spc="15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um</a:t>
            </a:r>
            <a:r>
              <a:rPr sz="1898" spc="15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plano</a:t>
            </a:r>
            <a:r>
              <a:rPr sz="1898" spc="16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para</a:t>
            </a:r>
            <a:r>
              <a:rPr sz="1898" spc="16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o</a:t>
            </a:r>
            <a:r>
              <a:rPr sz="1898" spc="16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projeto</a:t>
            </a:r>
            <a:r>
              <a:rPr sz="1898" spc="16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mostrando</a:t>
            </a:r>
            <a:r>
              <a:rPr sz="1898" spc="155" dirty="0">
                <a:latin typeface="Times New Roman"/>
                <a:cs typeface="Times New Roman"/>
              </a:rPr>
              <a:t> </a:t>
            </a:r>
            <a:r>
              <a:rPr sz="1898" spc="-50" dirty="0">
                <a:latin typeface="Century Schoolbook"/>
                <a:cs typeface="Century Schoolbook"/>
              </a:rPr>
              <a:t>o</a:t>
            </a:r>
            <a:r>
              <a:rPr sz="1898" spc="-5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que</a:t>
            </a:r>
            <a:r>
              <a:rPr sz="1898" spc="26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deve</a:t>
            </a:r>
            <a:r>
              <a:rPr sz="1898" spc="26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ser</a:t>
            </a:r>
            <a:r>
              <a:rPr sz="1898" spc="27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entregue,</a:t>
            </a:r>
            <a:r>
              <a:rPr sz="1898" spc="26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quando</a:t>
            </a:r>
            <a:r>
              <a:rPr sz="1898" spc="26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deve</a:t>
            </a:r>
            <a:r>
              <a:rPr sz="1898" spc="26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ser</a:t>
            </a:r>
            <a:r>
              <a:rPr sz="1898" spc="254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entregue</a:t>
            </a:r>
            <a:r>
              <a:rPr sz="1898" spc="26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e</a:t>
            </a:r>
            <a:r>
              <a:rPr sz="1898" spc="27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quem</a:t>
            </a:r>
            <a:r>
              <a:rPr sz="1898" spc="254" dirty="0">
                <a:latin typeface="Times New Roman"/>
                <a:cs typeface="Times New Roman"/>
              </a:rPr>
              <a:t> </a:t>
            </a:r>
            <a:r>
              <a:rPr sz="1898" spc="-25" dirty="0">
                <a:latin typeface="Century Schoolbook"/>
                <a:cs typeface="Century Schoolbook"/>
              </a:rPr>
              <a:t>irá</a:t>
            </a:r>
            <a:r>
              <a:rPr sz="1898" spc="-2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trabalhar</a:t>
            </a:r>
            <a:r>
              <a:rPr sz="1898" spc="-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no</a:t>
            </a:r>
            <a:r>
              <a:rPr sz="1898" spc="-3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desenvolvimento</a:t>
            </a:r>
            <a:r>
              <a:rPr sz="1898" spc="-1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dos</a:t>
            </a:r>
            <a:r>
              <a:rPr sz="1898" spc="-3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entregáveis</a:t>
            </a:r>
            <a:r>
              <a:rPr sz="1898" spc="-10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(“deliverables”).</a:t>
            </a:r>
            <a:endParaRPr sz="1898">
              <a:latin typeface="Century Schoolbook"/>
              <a:cs typeface="Century Schoolbook"/>
            </a:endParaRPr>
          </a:p>
          <a:p>
            <a:pPr marL="286762" marR="5710" indent="-274073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68421"/>
              <a:buFont typeface="Wingdings"/>
              <a:buChar char=""/>
              <a:tabLst>
                <a:tab pos="286762" algn="l"/>
              </a:tabLst>
            </a:pPr>
            <a:r>
              <a:rPr sz="1898" dirty="0">
                <a:latin typeface="Century Schoolbook"/>
                <a:cs typeface="Century Schoolbook"/>
              </a:rPr>
              <a:t>O</a:t>
            </a:r>
            <a:r>
              <a:rPr sz="1898" spc="14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gerenciamento</a:t>
            </a:r>
            <a:r>
              <a:rPr sz="1898" spc="15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ágil</a:t>
            </a:r>
            <a:r>
              <a:rPr sz="1898" spc="14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de</a:t>
            </a:r>
            <a:r>
              <a:rPr sz="1898" spc="15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projetos</a:t>
            </a:r>
            <a:r>
              <a:rPr sz="1898" spc="14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requer</a:t>
            </a:r>
            <a:r>
              <a:rPr sz="1898" spc="14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uma</a:t>
            </a:r>
            <a:r>
              <a:rPr sz="1898" spc="145" dirty="0">
                <a:latin typeface="Times New Roman"/>
                <a:cs typeface="Times New Roman"/>
              </a:rPr>
              <a:t>  </a:t>
            </a:r>
            <a:r>
              <a:rPr sz="1898" spc="-10" dirty="0">
                <a:latin typeface="Century Schoolbook"/>
                <a:cs typeface="Century Schoolbook"/>
              </a:rPr>
              <a:t>abordagem</a:t>
            </a:r>
            <a:r>
              <a:rPr sz="1898" spc="-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diferente,</a:t>
            </a:r>
            <a:r>
              <a:rPr sz="1898" spc="38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adaptada</a:t>
            </a:r>
            <a:r>
              <a:rPr sz="1898" spc="40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ao</a:t>
            </a:r>
            <a:r>
              <a:rPr sz="1898" spc="38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desenvolvimento</a:t>
            </a:r>
            <a:r>
              <a:rPr sz="1898" spc="38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incremental</a:t>
            </a:r>
            <a:r>
              <a:rPr sz="1898" spc="39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e</a:t>
            </a:r>
            <a:r>
              <a:rPr sz="1898" spc="395" dirty="0">
                <a:latin typeface="Times New Roman"/>
                <a:cs typeface="Times New Roman"/>
              </a:rPr>
              <a:t> </a:t>
            </a:r>
            <a:r>
              <a:rPr sz="1898" spc="-25" dirty="0">
                <a:latin typeface="Century Schoolbook"/>
                <a:cs typeface="Century Schoolbook"/>
              </a:rPr>
              <a:t>aos</a:t>
            </a:r>
            <a:r>
              <a:rPr sz="1898" spc="-2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pontos</a:t>
            </a:r>
            <a:r>
              <a:rPr sz="1898" spc="-2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fortes</a:t>
            </a:r>
            <a:r>
              <a:rPr sz="1898" spc="-3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particulares</a:t>
            </a:r>
            <a:r>
              <a:rPr sz="1898" spc="-1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dos</a:t>
            </a:r>
            <a:r>
              <a:rPr sz="1898" spc="-3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métodos</a:t>
            </a:r>
            <a:r>
              <a:rPr sz="1898" spc="-20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ágeis.</a:t>
            </a:r>
            <a:endParaRPr sz="1898">
              <a:latin typeface="Century Schoolbook"/>
              <a:cs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2045323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3676" y="454488"/>
            <a:ext cx="1318944" cy="1365776"/>
          </a:xfrm>
          <a:prstGeom prst="rect">
            <a:avLst/>
          </a:prstGeom>
        </p:spPr>
        <p:txBody>
          <a:bodyPr vert="horz" wrap="square" lIns="0" tIns="12688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100"/>
              </a:spcBef>
            </a:pPr>
            <a:r>
              <a:rPr cap="small" dirty="0"/>
              <a:t>S</a:t>
            </a:r>
            <a:r>
              <a:rPr cap="small" spc="5" dirty="0"/>
              <a:t>c</a:t>
            </a:r>
            <a:r>
              <a:rPr cap="small" dirty="0"/>
              <a:t>rum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63675" y="1588471"/>
            <a:ext cx="7303358" cy="3976497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286762" marR="5075" indent="-274073" algn="just">
              <a:lnSpc>
                <a:spcPct val="130000"/>
              </a:lnSpc>
              <a:spcBef>
                <a:spcPts val="100"/>
              </a:spcBef>
              <a:buClr>
                <a:srgbClr val="94C600"/>
              </a:buClr>
              <a:buSzPct val="68421"/>
              <a:buFont typeface="Wingdings"/>
              <a:buChar char=""/>
              <a:tabLst>
                <a:tab pos="286762" algn="l"/>
              </a:tabLst>
            </a:pPr>
            <a:r>
              <a:rPr sz="1898" dirty="0">
                <a:latin typeface="Century Schoolbook"/>
                <a:cs typeface="Century Schoolbook"/>
              </a:rPr>
              <a:t>A</a:t>
            </a:r>
            <a:r>
              <a:rPr sz="1898" spc="9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abordagem</a:t>
            </a:r>
            <a:r>
              <a:rPr sz="1898" spc="10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Scrum</a:t>
            </a:r>
            <a:r>
              <a:rPr sz="1898" spc="8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é</a:t>
            </a:r>
            <a:r>
              <a:rPr sz="1898" spc="9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um</a:t>
            </a:r>
            <a:r>
              <a:rPr sz="1898" spc="7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método</a:t>
            </a:r>
            <a:r>
              <a:rPr sz="1898" spc="9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ágil</a:t>
            </a:r>
            <a:r>
              <a:rPr sz="1898" spc="9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genérico</a:t>
            </a:r>
            <a:r>
              <a:rPr sz="1898" spc="9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mas</a:t>
            </a:r>
            <a:r>
              <a:rPr sz="1898" spc="9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seu</a:t>
            </a:r>
            <a:r>
              <a:rPr sz="1898" spc="9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foco</a:t>
            </a:r>
            <a:r>
              <a:rPr sz="1898" spc="90" dirty="0">
                <a:latin typeface="Times New Roman"/>
                <a:cs typeface="Times New Roman"/>
              </a:rPr>
              <a:t> </a:t>
            </a:r>
            <a:r>
              <a:rPr sz="1898" spc="-50" dirty="0">
                <a:latin typeface="Century Schoolbook"/>
                <a:cs typeface="Century Schoolbook"/>
              </a:rPr>
              <a:t>é</a:t>
            </a:r>
            <a:r>
              <a:rPr sz="1898" spc="-5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na</a:t>
            </a:r>
            <a:r>
              <a:rPr sz="1898" spc="16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gerência</a:t>
            </a:r>
            <a:r>
              <a:rPr sz="1898" spc="16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</a:t>
            </a:r>
            <a:r>
              <a:rPr sz="1898" spc="16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desenvolvimento</a:t>
            </a:r>
            <a:r>
              <a:rPr sz="1898" spc="16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iterativo</a:t>
            </a:r>
            <a:r>
              <a:rPr sz="1898" spc="17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ao</a:t>
            </a:r>
            <a:r>
              <a:rPr sz="1898" spc="16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invés</a:t>
            </a:r>
            <a:r>
              <a:rPr sz="1898" spc="16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</a:t>
            </a:r>
            <a:r>
              <a:rPr sz="1898" spc="165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práticas</a:t>
            </a:r>
            <a:r>
              <a:rPr sz="1898" spc="-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ágeis</a:t>
            </a:r>
            <a:r>
              <a:rPr sz="1898" spc="10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específicas.</a:t>
            </a:r>
            <a:endParaRPr sz="1898">
              <a:latin typeface="Century Schoolbook"/>
              <a:cs typeface="Century Schoolbook"/>
            </a:endParaRPr>
          </a:p>
          <a:p>
            <a:pPr marL="286762" indent="-274073" algn="just">
              <a:spcBef>
                <a:spcPts val="1284"/>
              </a:spcBef>
              <a:buClr>
                <a:srgbClr val="94C600"/>
              </a:buClr>
              <a:buSzPct val="68421"/>
              <a:buFont typeface="Wingdings"/>
              <a:buChar char=""/>
              <a:tabLst>
                <a:tab pos="286762" algn="l"/>
              </a:tabLst>
            </a:pPr>
            <a:r>
              <a:rPr sz="1898" dirty="0">
                <a:latin typeface="Century Schoolbook"/>
                <a:cs typeface="Century Schoolbook"/>
              </a:rPr>
              <a:t>Existem</a:t>
            </a:r>
            <a:r>
              <a:rPr sz="1898" spc="1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três</a:t>
            </a:r>
            <a:r>
              <a:rPr sz="1898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fases</a:t>
            </a:r>
            <a:r>
              <a:rPr sz="1898" spc="-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no</a:t>
            </a:r>
            <a:r>
              <a:rPr sz="1898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Scrum:</a:t>
            </a:r>
            <a:endParaRPr sz="1898">
              <a:latin typeface="Century Schoolbook"/>
              <a:cs typeface="Century Schoolbook"/>
            </a:endParaRPr>
          </a:p>
          <a:p>
            <a:pPr marL="834273" marR="5075" lvl="1" indent="-456789" algn="just">
              <a:lnSpc>
                <a:spcPct val="130000"/>
              </a:lnSpc>
              <a:spcBef>
                <a:spcPts val="440"/>
              </a:spcBef>
              <a:buClr>
                <a:srgbClr val="94C600"/>
              </a:buClr>
              <a:buSzPct val="78125"/>
              <a:buAutoNum type="arabicPeriod"/>
              <a:tabLst>
                <a:tab pos="834908" algn="l"/>
              </a:tabLst>
            </a:pPr>
            <a:r>
              <a:rPr sz="1599" dirty="0">
                <a:latin typeface="Century Schoolbook"/>
                <a:cs typeface="Century Schoolbook"/>
              </a:rPr>
              <a:t>A</a:t>
            </a:r>
            <a:r>
              <a:rPr sz="1599" spc="21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fase</a:t>
            </a:r>
            <a:r>
              <a:rPr sz="1599" spc="21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inicial</a:t>
            </a:r>
            <a:r>
              <a:rPr sz="1599" spc="21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é</a:t>
            </a:r>
            <a:r>
              <a:rPr sz="1599" spc="21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uma</a:t>
            </a:r>
            <a:r>
              <a:rPr sz="1599" spc="22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fase</a:t>
            </a:r>
            <a:r>
              <a:rPr sz="1599" spc="21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de</a:t>
            </a:r>
            <a:r>
              <a:rPr sz="1599" spc="229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planejamento</a:t>
            </a:r>
            <a:r>
              <a:rPr sz="1599" spc="21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em</a:t>
            </a:r>
            <a:r>
              <a:rPr sz="1599" spc="204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que</a:t>
            </a:r>
            <a:r>
              <a:rPr sz="1599" spc="21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se</a:t>
            </a:r>
            <a:r>
              <a:rPr sz="1599" spc="21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estabelece</a:t>
            </a:r>
            <a:r>
              <a:rPr sz="1599" spc="204" dirty="0">
                <a:latin typeface="Times New Roman"/>
                <a:cs typeface="Times New Roman"/>
              </a:rPr>
              <a:t> </a:t>
            </a:r>
            <a:r>
              <a:rPr sz="1599" spc="-25" dirty="0">
                <a:latin typeface="Century Schoolbook"/>
                <a:cs typeface="Century Schoolbook"/>
              </a:rPr>
              <a:t>os</a:t>
            </a:r>
            <a:r>
              <a:rPr sz="1599" spc="-2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objetivos</a:t>
            </a:r>
            <a:r>
              <a:rPr sz="1599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gerais</a:t>
            </a:r>
            <a:r>
              <a:rPr sz="1599" spc="2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do</a:t>
            </a:r>
            <a:r>
              <a:rPr sz="1599" spc="2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projeto</a:t>
            </a:r>
            <a:r>
              <a:rPr sz="1599" spc="2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e</a:t>
            </a:r>
            <a:r>
              <a:rPr sz="1599" spc="1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se</a:t>
            </a:r>
            <a:r>
              <a:rPr sz="1599" spc="-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projeta</a:t>
            </a:r>
            <a:r>
              <a:rPr sz="1599" spc="2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a</a:t>
            </a:r>
            <a:r>
              <a:rPr sz="1599" spc="1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arquitetura</a:t>
            </a:r>
            <a:r>
              <a:rPr sz="1599" spc="1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do</a:t>
            </a:r>
            <a:r>
              <a:rPr sz="1599" spc="15" dirty="0">
                <a:latin typeface="Times New Roman"/>
                <a:cs typeface="Times New Roman"/>
              </a:rPr>
              <a:t> </a:t>
            </a:r>
            <a:r>
              <a:rPr sz="1599" spc="-10" dirty="0">
                <a:latin typeface="Century Schoolbook"/>
                <a:cs typeface="Century Schoolbook"/>
              </a:rPr>
              <a:t>software.</a:t>
            </a:r>
            <a:endParaRPr sz="1599">
              <a:latin typeface="Century Schoolbook"/>
              <a:cs typeface="Century Schoolbook"/>
            </a:endParaRPr>
          </a:p>
          <a:p>
            <a:pPr marL="834908" marR="8248" lvl="1" indent="-456789" algn="just">
              <a:lnSpc>
                <a:spcPct val="130000"/>
              </a:lnSpc>
              <a:spcBef>
                <a:spcPts val="385"/>
              </a:spcBef>
              <a:buClr>
                <a:srgbClr val="94C600"/>
              </a:buClr>
              <a:buSzPct val="78125"/>
              <a:buAutoNum type="arabicPeriod"/>
              <a:tabLst>
                <a:tab pos="834908" algn="l"/>
              </a:tabLst>
            </a:pPr>
            <a:r>
              <a:rPr sz="1599" dirty="0">
                <a:latin typeface="Century Schoolbook"/>
                <a:cs typeface="Century Schoolbook"/>
              </a:rPr>
              <a:t>Essa</a:t>
            </a:r>
            <a:r>
              <a:rPr sz="1599" spc="12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é</a:t>
            </a:r>
            <a:r>
              <a:rPr sz="1599" spc="14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seguida</a:t>
            </a:r>
            <a:r>
              <a:rPr sz="1599" spc="15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por</a:t>
            </a:r>
            <a:r>
              <a:rPr sz="1599" spc="14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uma</a:t>
            </a:r>
            <a:r>
              <a:rPr sz="1599" spc="14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série</a:t>
            </a:r>
            <a:r>
              <a:rPr sz="1599" spc="13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de</a:t>
            </a:r>
            <a:r>
              <a:rPr sz="1599" spc="14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ciclos</a:t>
            </a:r>
            <a:r>
              <a:rPr sz="1599" spc="15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de</a:t>
            </a:r>
            <a:r>
              <a:rPr sz="1599" spc="14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Sprint,</a:t>
            </a:r>
            <a:r>
              <a:rPr sz="1599" spc="14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em</a:t>
            </a:r>
            <a:r>
              <a:rPr sz="1599" spc="14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que</a:t>
            </a:r>
            <a:r>
              <a:rPr sz="1599" spc="14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cada</a:t>
            </a:r>
            <a:r>
              <a:rPr sz="1599" spc="145" dirty="0">
                <a:latin typeface="Times New Roman"/>
                <a:cs typeface="Times New Roman"/>
              </a:rPr>
              <a:t> </a:t>
            </a:r>
            <a:r>
              <a:rPr sz="1599" spc="-10" dirty="0">
                <a:latin typeface="Century Schoolbook"/>
                <a:cs typeface="Century Schoolbook"/>
              </a:rPr>
              <a:t>ciclo</a:t>
            </a:r>
            <a:r>
              <a:rPr sz="1599" spc="-1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desenvolve</a:t>
            </a:r>
            <a:r>
              <a:rPr sz="1599" spc="-1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um</a:t>
            </a:r>
            <a:r>
              <a:rPr sz="1599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incremento</a:t>
            </a:r>
            <a:r>
              <a:rPr sz="1599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do</a:t>
            </a:r>
            <a:r>
              <a:rPr sz="1599" dirty="0">
                <a:latin typeface="Times New Roman"/>
                <a:cs typeface="Times New Roman"/>
              </a:rPr>
              <a:t> </a:t>
            </a:r>
            <a:r>
              <a:rPr sz="1599" spc="-10" dirty="0">
                <a:latin typeface="Century Schoolbook"/>
                <a:cs typeface="Century Schoolbook"/>
              </a:rPr>
              <a:t>sistema.</a:t>
            </a:r>
            <a:endParaRPr sz="1599">
              <a:latin typeface="Century Schoolbook"/>
              <a:cs typeface="Century Schoolbook"/>
            </a:endParaRPr>
          </a:p>
          <a:p>
            <a:pPr marL="834908" marR="6344" lvl="1" indent="-456789" algn="just">
              <a:lnSpc>
                <a:spcPct val="130000"/>
              </a:lnSpc>
              <a:spcBef>
                <a:spcPts val="385"/>
              </a:spcBef>
              <a:buClr>
                <a:srgbClr val="94C600"/>
              </a:buClr>
              <a:buSzPct val="78125"/>
              <a:buAutoNum type="arabicPeriod"/>
              <a:tabLst>
                <a:tab pos="834908" algn="l"/>
              </a:tabLst>
            </a:pPr>
            <a:r>
              <a:rPr sz="1599" dirty="0">
                <a:latin typeface="Century Schoolbook"/>
                <a:cs typeface="Century Schoolbook"/>
              </a:rPr>
              <a:t>A</a:t>
            </a:r>
            <a:r>
              <a:rPr sz="1599" spc="39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fase</a:t>
            </a:r>
            <a:r>
              <a:rPr sz="1599" spc="40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de</a:t>
            </a:r>
            <a:r>
              <a:rPr sz="1599" spc="40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encerramento</a:t>
            </a:r>
            <a:r>
              <a:rPr sz="1599" spc="42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do</a:t>
            </a:r>
            <a:r>
              <a:rPr sz="1599" spc="41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projeto</a:t>
            </a:r>
            <a:r>
              <a:rPr sz="1599" spc="40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finaliza</a:t>
            </a:r>
            <a:r>
              <a:rPr sz="1599" spc="40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o</a:t>
            </a:r>
            <a:r>
              <a:rPr sz="1599" spc="40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projeto,</a:t>
            </a:r>
            <a:r>
              <a:rPr sz="1599" spc="40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completa</a:t>
            </a:r>
            <a:r>
              <a:rPr sz="1599" spc="400" dirty="0">
                <a:latin typeface="Times New Roman"/>
                <a:cs typeface="Times New Roman"/>
              </a:rPr>
              <a:t> </a:t>
            </a:r>
            <a:r>
              <a:rPr sz="1599" spc="-50" dirty="0">
                <a:latin typeface="Century Schoolbook"/>
                <a:cs typeface="Century Schoolbook"/>
              </a:rPr>
              <a:t>a</a:t>
            </a:r>
            <a:r>
              <a:rPr sz="1599" spc="-5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documentação</a:t>
            </a:r>
            <a:r>
              <a:rPr sz="1599" spc="114" dirty="0">
                <a:latin typeface="Times New Roman"/>
                <a:cs typeface="Times New Roman"/>
              </a:rPr>
              <a:t>  </a:t>
            </a:r>
            <a:r>
              <a:rPr sz="1599" dirty="0">
                <a:latin typeface="Century Schoolbook"/>
                <a:cs typeface="Century Schoolbook"/>
              </a:rPr>
              <a:t>necessária</a:t>
            </a:r>
            <a:r>
              <a:rPr sz="1599" spc="110" dirty="0">
                <a:latin typeface="Times New Roman"/>
                <a:cs typeface="Times New Roman"/>
              </a:rPr>
              <a:t>  </a:t>
            </a:r>
            <a:r>
              <a:rPr sz="1599" dirty="0">
                <a:latin typeface="Century Schoolbook"/>
                <a:cs typeface="Century Schoolbook"/>
              </a:rPr>
              <a:t>como</a:t>
            </a:r>
            <a:r>
              <a:rPr sz="1599" spc="280" dirty="0">
                <a:latin typeface="Times New Roman"/>
                <a:cs typeface="Times New Roman"/>
              </a:rPr>
              <a:t>   </a:t>
            </a:r>
            <a:r>
              <a:rPr sz="1599" dirty="0">
                <a:latin typeface="Century Schoolbook"/>
                <a:cs typeface="Century Schoolbook"/>
              </a:rPr>
              <a:t>frames</a:t>
            </a:r>
            <a:r>
              <a:rPr sz="1599" spc="120" dirty="0">
                <a:latin typeface="Times New Roman"/>
                <a:cs typeface="Times New Roman"/>
              </a:rPr>
              <a:t>  </a:t>
            </a:r>
            <a:r>
              <a:rPr sz="1599" dirty="0">
                <a:latin typeface="Century Schoolbook"/>
                <a:cs typeface="Century Schoolbook"/>
              </a:rPr>
              <a:t>de</a:t>
            </a:r>
            <a:r>
              <a:rPr sz="1599" spc="114" dirty="0">
                <a:latin typeface="Times New Roman"/>
                <a:cs typeface="Times New Roman"/>
              </a:rPr>
              <a:t>  </a:t>
            </a:r>
            <a:r>
              <a:rPr sz="1599" dirty="0">
                <a:latin typeface="Century Schoolbook"/>
                <a:cs typeface="Century Schoolbook"/>
              </a:rPr>
              <a:t>ajuda</a:t>
            </a:r>
            <a:r>
              <a:rPr sz="1599" spc="114" dirty="0">
                <a:latin typeface="Times New Roman"/>
                <a:cs typeface="Times New Roman"/>
              </a:rPr>
              <a:t>  </a:t>
            </a:r>
            <a:r>
              <a:rPr sz="1599" dirty="0">
                <a:latin typeface="Century Schoolbook"/>
                <a:cs typeface="Century Schoolbook"/>
              </a:rPr>
              <a:t>do</a:t>
            </a:r>
            <a:r>
              <a:rPr sz="1599" spc="110" dirty="0">
                <a:latin typeface="Times New Roman"/>
                <a:cs typeface="Times New Roman"/>
              </a:rPr>
              <a:t>  </a:t>
            </a:r>
            <a:r>
              <a:rPr sz="1599" dirty="0">
                <a:latin typeface="Century Schoolbook"/>
                <a:cs typeface="Century Schoolbook"/>
              </a:rPr>
              <a:t>sistema</a:t>
            </a:r>
            <a:r>
              <a:rPr sz="1599" spc="110" dirty="0">
                <a:latin typeface="Times New Roman"/>
                <a:cs typeface="Times New Roman"/>
              </a:rPr>
              <a:t>  </a:t>
            </a:r>
            <a:r>
              <a:rPr sz="1599" spc="-50" dirty="0">
                <a:latin typeface="Century Schoolbook"/>
                <a:cs typeface="Century Schoolbook"/>
              </a:rPr>
              <a:t>e</a:t>
            </a:r>
            <a:r>
              <a:rPr sz="1599" spc="-5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manuais</a:t>
            </a:r>
            <a:r>
              <a:rPr sz="1599" spc="1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de</a:t>
            </a:r>
            <a:r>
              <a:rPr sz="1599" spc="1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usuário</a:t>
            </a:r>
            <a:r>
              <a:rPr sz="1599" spc="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e</a:t>
            </a:r>
            <a:r>
              <a:rPr sz="1599" spc="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avalia</a:t>
            </a:r>
            <a:r>
              <a:rPr sz="1599" spc="1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as</a:t>
            </a:r>
            <a:r>
              <a:rPr sz="1599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lições</a:t>
            </a:r>
            <a:r>
              <a:rPr sz="1599" spc="-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aprendidas</a:t>
            </a:r>
            <a:r>
              <a:rPr sz="1599" spc="3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no</a:t>
            </a:r>
            <a:r>
              <a:rPr sz="1599" spc="5" dirty="0">
                <a:latin typeface="Times New Roman"/>
                <a:cs typeface="Times New Roman"/>
              </a:rPr>
              <a:t> </a:t>
            </a:r>
            <a:r>
              <a:rPr sz="1599" spc="-10" dirty="0">
                <a:latin typeface="Century Schoolbook"/>
                <a:cs typeface="Century Schoolbook"/>
              </a:rPr>
              <a:t>projeto.</a:t>
            </a:r>
            <a:endParaRPr sz="1599">
              <a:latin typeface="Century Schoolbook"/>
              <a:cs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32022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3676" y="896298"/>
            <a:ext cx="3715120" cy="482154"/>
          </a:xfrm>
          <a:prstGeom prst="rect">
            <a:avLst/>
          </a:prstGeom>
        </p:spPr>
        <p:txBody>
          <a:bodyPr vert="horz" wrap="square" lIns="0" tIns="12688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100"/>
              </a:spcBef>
            </a:pPr>
            <a:r>
              <a:rPr cap="small" dirty="0"/>
              <a:t>O</a:t>
            </a:r>
            <a:r>
              <a:rPr b="0" spc="110" dirty="0">
                <a:latin typeface="Times New Roman"/>
                <a:cs typeface="Times New Roman"/>
              </a:rPr>
              <a:t> </a:t>
            </a:r>
            <a:r>
              <a:rPr cap="small" dirty="0"/>
              <a:t>pro</a:t>
            </a:r>
            <a:r>
              <a:rPr cap="small" spc="5" dirty="0"/>
              <a:t>c</a:t>
            </a:r>
            <a:r>
              <a:rPr cap="small" dirty="0"/>
              <a:t>e</a:t>
            </a:r>
            <a:r>
              <a:rPr cap="small" spc="-5" dirty="0"/>
              <a:t>ss</a:t>
            </a:r>
            <a:r>
              <a:rPr cap="small" dirty="0"/>
              <a:t>o</a:t>
            </a:r>
            <a:r>
              <a:rPr sz="2398" b="0" spc="254" dirty="0">
                <a:latin typeface="Times New Roman"/>
                <a:cs typeface="Times New Roman"/>
              </a:rPr>
              <a:t> </a:t>
            </a:r>
            <a:r>
              <a:rPr cap="small" dirty="0"/>
              <a:t>S</a:t>
            </a:r>
            <a:r>
              <a:rPr cap="small" spc="5" dirty="0"/>
              <a:t>c</a:t>
            </a:r>
            <a:r>
              <a:rPr cap="small" dirty="0"/>
              <a:t>rum</a:t>
            </a:r>
            <a:endParaRPr sz="2398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48769" y="2809452"/>
            <a:ext cx="7349100" cy="2479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640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3676" y="454488"/>
            <a:ext cx="3581893" cy="1365776"/>
          </a:xfrm>
          <a:prstGeom prst="rect">
            <a:avLst/>
          </a:prstGeom>
        </p:spPr>
        <p:txBody>
          <a:bodyPr vert="horz" wrap="square" lIns="0" tIns="12688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100"/>
              </a:spcBef>
            </a:pPr>
            <a:r>
              <a:rPr cap="small" dirty="0"/>
              <a:t>O</a:t>
            </a:r>
            <a:r>
              <a:rPr spc="110" dirty="0">
                <a:latin typeface="Times New Roman"/>
                <a:cs typeface="Times New Roman"/>
              </a:rPr>
              <a:t> </a:t>
            </a:r>
            <a:r>
              <a:rPr cap="small" spc="5" dirty="0"/>
              <a:t>c</a:t>
            </a:r>
            <a:r>
              <a:rPr cap="small" dirty="0"/>
              <a:t>i</a:t>
            </a:r>
            <a:r>
              <a:rPr cap="small" spc="5" dirty="0"/>
              <a:t>c</a:t>
            </a:r>
            <a:r>
              <a:rPr cap="small" spc="-10" dirty="0"/>
              <a:t>l</a:t>
            </a:r>
            <a:r>
              <a:rPr cap="small" dirty="0"/>
              <a:t>o</a:t>
            </a:r>
            <a:r>
              <a:rPr sz="2398" spc="254" dirty="0">
                <a:latin typeface="Times New Roman"/>
                <a:cs typeface="Times New Roman"/>
              </a:rPr>
              <a:t> </a:t>
            </a:r>
            <a:r>
              <a:rPr cap="small" dirty="0"/>
              <a:t>de</a:t>
            </a:r>
            <a:r>
              <a:rPr sz="2398" spc="250" dirty="0">
                <a:latin typeface="Times New Roman"/>
                <a:cs typeface="Times New Roman"/>
              </a:rPr>
              <a:t> </a:t>
            </a:r>
            <a:r>
              <a:rPr cap="small" dirty="0"/>
              <a:t>Sprint</a:t>
            </a:r>
            <a:endParaRPr sz="239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3675" y="1582379"/>
            <a:ext cx="7303358" cy="4608373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286762" marR="6979" indent="-274073" algn="just">
              <a:lnSpc>
                <a:spcPct val="130000"/>
              </a:lnSpc>
              <a:spcBef>
                <a:spcPts val="100"/>
              </a:spcBef>
              <a:buClr>
                <a:srgbClr val="94C600"/>
              </a:buClr>
              <a:buSzPct val="68181"/>
              <a:buFont typeface="Wingdings"/>
              <a:buChar char=""/>
              <a:tabLst>
                <a:tab pos="286762" algn="l"/>
              </a:tabLst>
            </a:pPr>
            <a:r>
              <a:rPr sz="2198" dirty="0">
                <a:latin typeface="Century Schoolbook"/>
                <a:cs typeface="Century Schoolbook"/>
              </a:rPr>
              <a:t>Os</a:t>
            </a:r>
            <a:r>
              <a:rPr sz="2198" spc="1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Sprints</a:t>
            </a:r>
            <a:r>
              <a:rPr sz="2198" spc="1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possuem</a:t>
            </a:r>
            <a:r>
              <a:rPr sz="2198" spc="1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um</a:t>
            </a:r>
            <a:r>
              <a:rPr sz="2198" spc="1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deadline</a:t>
            </a:r>
            <a:r>
              <a:rPr sz="2198" spc="1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definido,</a:t>
            </a:r>
            <a:r>
              <a:rPr sz="2198" spc="15" dirty="0">
                <a:latin typeface="Times New Roman"/>
                <a:cs typeface="Times New Roman"/>
              </a:rPr>
              <a:t> </a:t>
            </a:r>
            <a:r>
              <a:rPr sz="2198" spc="-10" dirty="0">
                <a:latin typeface="Century Schoolbook"/>
                <a:cs typeface="Century Schoolbook"/>
              </a:rPr>
              <a:t>geralmente</a:t>
            </a:r>
            <a:r>
              <a:rPr sz="2198" spc="-1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de</a:t>
            </a:r>
            <a:r>
              <a:rPr sz="2198" spc="4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2</a:t>
            </a:r>
            <a:r>
              <a:rPr sz="2198" spc="4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a</a:t>
            </a:r>
            <a:r>
              <a:rPr sz="2198" spc="4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4</a:t>
            </a:r>
            <a:r>
              <a:rPr sz="2198" spc="40" dirty="0">
                <a:latin typeface="Times New Roman"/>
                <a:cs typeface="Times New Roman"/>
              </a:rPr>
              <a:t> </a:t>
            </a:r>
            <a:r>
              <a:rPr sz="2198" spc="-10" dirty="0">
                <a:latin typeface="Century Schoolbook"/>
                <a:cs typeface="Century Schoolbook"/>
              </a:rPr>
              <a:t>semanas.</a:t>
            </a:r>
            <a:endParaRPr sz="2198">
              <a:latin typeface="Century Schoolbook"/>
              <a:cs typeface="Century Schoolbook"/>
            </a:endParaRPr>
          </a:p>
          <a:p>
            <a:pPr marL="286762" marR="5075" indent="-274073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68181"/>
              <a:buFont typeface="Wingdings"/>
              <a:buChar char=""/>
              <a:tabLst>
                <a:tab pos="286762" algn="l"/>
              </a:tabLst>
            </a:pPr>
            <a:r>
              <a:rPr sz="2198" dirty="0">
                <a:latin typeface="Century Schoolbook"/>
                <a:cs typeface="Century Schoolbook"/>
              </a:rPr>
              <a:t>Eles</a:t>
            </a:r>
            <a:r>
              <a:rPr sz="2198" spc="11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correspondem</a:t>
            </a:r>
            <a:r>
              <a:rPr sz="2198" spc="10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ao</a:t>
            </a:r>
            <a:r>
              <a:rPr sz="2198" spc="11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desenvolvimento</a:t>
            </a:r>
            <a:r>
              <a:rPr sz="2198" spc="114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de</a:t>
            </a:r>
            <a:r>
              <a:rPr sz="2198" spc="11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um</a:t>
            </a:r>
            <a:r>
              <a:rPr sz="2198" spc="110" dirty="0">
                <a:latin typeface="Times New Roman"/>
                <a:cs typeface="Times New Roman"/>
              </a:rPr>
              <a:t> </a:t>
            </a:r>
            <a:r>
              <a:rPr sz="2198" spc="-10" dirty="0">
                <a:latin typeface="Century Schoolbook"/>
                <a:cs typeface="Century Schoolbook"/>
              </a:rPr>
              <a:t>release</a:t>
            </a:r>
            <a:r>
              <a:rPr sz="2198" spc="-1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de</a:t>
            </a:r>
            <a:r>
              <a:rPr sz="2198" spc="2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um</a:t>
            </a:r>
            <a:r>
              <a:rPr sz="2198" spc="2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sistema</a:t>
            </a:r>
            <a:r>
              <a:rPr sz="2198" spc="-1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em</a:t>
            </a:r>
            <a:r>
              <a:rPr sz="2198" spc="5" dirty="0">
                <a:latin typeface="Times New Roman"/>
                <a:cs typeface="Times New Roman"/>
              </a:rPr>
              <a:t> </a:t>
            </a:r>
            <a:r>
              <a:rPr sz="2198" spc="-25" dirty="0">
                <a:latin typeface="Century Schoolbook"/>
                <a:cs typeface="Century Schoolbook"/>
              </a:rPr>
              <a:t>XP.</a:t>
            </a:r>
            <a:endParaRPr sz="2198">
              <a:latin typeface="Century Schoolbook"/>
              <a:cs typeface="Century Schoolbook"/>
            </a:endParaRPr>
          </a:p>
          <a:p>
            <a:pPr marL="286762" marR="5075" indent="-274073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68181"/>
              <a:buFont typeface="Wingdings"/>
              <a:buChar char=""/>
              <a:tabLst>
                <a:tab pos="286762" algn="l"/>
              </a:tabLst>
            </a:pPr>
            <a:r>
              <a:rPr sz="2198" dirty="0">
                <a:latin typeface="Century Schoolbook"/>
                <a:cs typeface="Century Schoolbook"/>
              </a:rPr>
              <a:t>O</a:t>
            </a:r>
            <a:r>
              <a:rPr sz="2198" spc="44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ponto</a:t>
            </a:r>
            <a:r>
              <a:rPr sz="2198" spc="45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de</a:t>
            </a:r>
            <a:r>
              <a:rPr sz="2198" spc="45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partida</a:t>
            </a:r>
            <a:r>
              <a:rPr sz="2198" spc="45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de</a:t>
            </a:r>
            <a:r>
              <a:rPr sz="2198" spc="45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planejamento</a:t>
            </a:r>
            <a:r>
              <a:rPr sz="2198" spc="45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é</a:t>
            </a:r>
            <a:r>
              <a:rPr sz="2198" spc="45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o</a:t>
            </a:r>
            <a:r>
              <a:rPr sz="2198" spc="45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backlog</a:t>
            </a:r>
            <a:r>
              <a:rPr sz="2198" spc="445" dirty="0">
                <a:latin typeface="Times New Roman"/>
                <a:cs typeface="Times New Roman"/>
              </a:rPr>
              <a:t> </a:t>
            </a:r>
            <a:r>
              <a:rPr sz="2198" spc="-25" dirty="0">
                <a:latin typeface="Century Schoolbook"/>
                <a:cs typeface="Century Schoolbook"/>
              </a:rPr>
              <a:t>de</a:t>
            </a:r>
            <a:r>
              <a:rPr sz="2198" spc="-2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produto,</a:t>
            </a:r>
            <a:r>
              <a:rPr sz="2198" spc="60" dirty="0">
                <a:latin typeface="Times New Roman"/>
                <a:cs typeface="Times New Roman"/>
              </a:rPr>
              <a:t>  </a:t>
            </a:r>
            <a:r>
              <a:rPr sz="2198" dirty="0">
                <a:latin typeface="Century Schoolbook"/>
                <a:cs typeface="Century Schoolbook"/>
              </a:rPr>
              <a:t>que</a:t>
            </a:r>
            <a:r>
              <a:rPr sz="2198" spc="70" dirty="0">
                <a:latin typeface="Times New Roman"/>
                <a:cs typeface="Times New Roman"/>
              </a:rPr>
              <a:t>  </a:t>
            </a:r>
            <a:r>
              <a:rPr sz="2198" dirty="0">
                <a:latin typeface="Century Schoolbook"/>
                <a:cs typeface="Century Schoolbook"/>
              </a:rPr>
              <a:t>é</a:t>
            </a:r>
            <a:r>
              <a:rPr sz="2198" spc="270" dirty="0">
                <a:latin typeface="Times New Roman"/>
                <a:cs typeface="Times New Roman"/>
              </a:rPr>
              <a:t>   </a:t>
            </a:r>
            <a:r>
              <a:rPr sz="2198" dirty="0">
                <a:latin typeface="Century Schoolbook"/>
                <a:cs typeface="Century Schoolbook"/>
              </a:rPr>
              <a:t>a</a:t>
            </a:r>
            <a:r>
              <a:rPr sz="2198" spc="65" dirty="0">
                <a:latin typeface="Times New Roman"/>
                <a:cs typeface="Times New Roman"/>
              </a:rPr>
              <a:t>  </a:t>
            </a:r>
            <a:r>
              <a:rPr sz="2198" dirty="0">
                <a:latin typeface="Century Schoolbook"/>
                <a:cs typeface="Century Schoolbook"/>
              </a:rPr>
              <a:t>lista</a:t>
            </a:r>
            <a:r>
              <a:rPr sz="2198" spc="65" dirty="0">
                <a:latin typeface="Times New Roman"/>
                <a:cs typeface="Times New Roman"/>
              </a:rPr>
              <a:t>  </a:t>
            </a:r>
            <a:r>
              <a:rPr sz="2198" dirty="0">
                <a:latin typeface="Century Schoolbook"/>
                <a:cs typeface="Century Schoolbook"/>
              </a:rPr>
              <a:t>de</a:t>
            </a:r>
            <a:r>
              <a:rPr sz="2198" spc="70" dirty="0">
                <a:latin typeface="Times New Roman"/>
                <a:cs typeface="Times New Roman"/>
              </a:rPr>
              <a:t>  </a:t>
            </a:r>
            <a:r>
              <a:rPr sz="2198" dirty="0">
                <a:latin typeface="Century Schoolbook"/>
                <a:cs typeface="Century Schoolbook"/>
              </a:rPr>
              <a:t>trabalho</a:t>
            </a:r>
            <a:r>
              <a:rPr sz="2198" spc="65" dirty="0">
                <a:latin typeface="Times New Roman"/>
                <a:cs typeface="Times New Roman"/>
              </a:rPr>
              <a:t>  </a:t>
            </a:r>
            <a:r>
              <a:rPr sz="2198" dirty="0">
                <a:latin typeface="Century Schoolbook"/>
                <a:cs typeface="Century Schoolbook"/>
              </a:rPr>
              <a:t>a</a:t>
            </a:r>
            <a:r>
              <a:rPr sz="2198" spc="65" dirty="0">
                <a:latin typeface="Times New Roman"/>
                <a:cs typeface="Times New Roman"/>
              </a:rPr>
              <a:t>  </a:t>
            </a:r>
            <a:r>
              <a:rPr sz="2198" dirty="0">
                <a:latin typeface="Century Schoolbook"/>
                <a:cs typeface="Century Schoolbook"/>
              </a:rPr>
              <a:t>ser</a:t>
            </a:r>
            <a:r>
              <a:rPr sz="2198" spc="60" dirty="0">
                <a:latin typeface="Times New Roman"/>
                <a:cs typeface="Times New Roman"/>
              </a:rPr>
              <a:t>  </a:t>
            </a:r>
            <a:r>
              <a:rPr sz="2198" dirty="0">
                <a:latin typeface="Century Schoolbook"/>
                <a:cs typeface="Century Schoolbook"/>
              </a:rPr>
              <a:t>feito</a:t>
            </a:r>
            <a:r>
              <a:rPr sz="2198" spc="70" dirty="0">
                <a:latin typeface="Times New Roman"/>
                <a:cs typeface="Times New Roman"/>
              </a:rPr>
              <a:t>  </a:t>
            </a:r>
            <a:r>
              <a:rPr sz="2198" spc="-25" dirty="0">
                <a:latin typeface="Century Schoolbook"/>
                <a:cs typeface="Century Schoolbook"/>
              </a:rPr>
              <a:t>no</a:t>
            </a:r>
            <a:r>
              <a:rPr sz="2198" spc="-25" dirty="0">
                <a:latin typeface="Times New Roman"/>
                <a:cs typeface="Times New Roman"/>
              </a:rPr>
              <a:t> </a:t>
            </a:r>
            <a:r>
              <a:rPr sz="2198" spc="-10" dirty="0">
                <a:latin typeface="Century Schoolbook"/>
                <a:cs typeface="Century Schoolbook"/>
              </a:rPr>
              <a:t>projeto.</a:t>
            </a:r>
            <a:endParaRPr sz="2198">
              <a:latin typeface="Century Schoolbook"/>
              <a:cs typeface="Century Schoolbook"/>
            </a:endParaRPr>
          </a:p>
          <a:p>
            <a:pPr marL="286762" marR="5075" indent="-274073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68181"/>
              <a:buFont typeface="Wingdings"/>
              <a:buChar char=""/>
              <a:tabLst>
                <a:tab pos="286762" algn="l"/>
              </a:tabLst>
            </a:pPr>
            <a:r>
              <a:rPr sz="2198" dirty="0">
                <a:latin typeface="Century Schoolbook"/>
                <a:cs typeface="Century Schoolbook"/>
              </a:rPr>
              <a:t>A</a:t>
            </a:r>
            <a:r>
              <a:rPr sz="2198" spc="9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fase</a:t>
            </a:r>
            <a:r>
              <a:rPr sz="2198" spc="10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de</a:t>
            </a:r>
            <a:r>
              <a:rPr sz="2198" spc="10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seleção</a:t>
            </a:r>
            <a:r>
              <a:rPr sz="2198" spc="10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envolve</a:t>
            </a:r>
            <a:r>
              <a:rPr sz="2198" spc="10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a</a:t>
            </a:r>
            <a:r>
              <a:rPr sz="2198" spc="9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seleção</a:t>
            </a:r>
            <a:r>
              <a:rPr sz="2198" spc="9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das</a:t>
            </a:r>
            <a:r>
              <a:rPr sz="2198" spc="100" dirty="0">
                <a:latin typeface="Times New Roman"/>
                <a:cs typeface="Times New Roman"/>
              </a:rPr>
              <a:t> </a:t>
            </a:r>
            <a:r>
              <a:rPr sz="2198" spc="-10" dirty="0">
                <a:latin typeface="Century Schoolbook"/>
                <a:cs typeface="Century Schoolbook"/>
              </a:rPr>
              <a:t>características</a:t>
            </a:r>
            <a:r>
              <a:rPr sz="2198" spc="-1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e</a:t>
            </a:r>
            <a:r>
              <a:rPr sz="2198" spc="37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funções</a:t>
            </a:r>
            <a:r>
              <a:rPr sz="2198" spc="37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que</a:t>
            </a:r>
            <a:r>
              <a:rPr sz="2198" spc="37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serão</a:t>
            </a:r>
            <a:r>
              <a:rPr sz="2198" spc="37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desenvolvidas</a:t>
            </a:r>
            <a:r>
              <a:rPr sz="2198" spc="36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durante</a:t>
            </a:r>
            <a:r>
              <a:rPr sz="2198" spc="37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o</a:t>
            </a:r>
            <a:r>
              <a:rPr sz="2198" spc="375" dirty="0">
                <a:latin typeface="Times New Roman"/>
                <a:cs typeface="Times New Roman"/>
              </a:rPr>
              <a:t> </a:t>
            </a:r>
            <a:r>
              <a:rPr sz="2198" spc="-10" dirty="0">
                <a:latin typeface="Century Schoolbook"/>
                <a:cs typeface="Century Schoolbook"/>
              </a:rPr>
              <a:t>Sprint,</a:t>
            </a:r>
            <a:r>
              <a:rPr sz="2198" spc="-1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pela</a:t>
            </a:r>
            <a:r>
              <a:rPr sz="2198" spc="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equipe</a:t>
            </a:r>
            <a:r>
              <a:rPr sz="2198" spc="15" dirty="0">
                <a:latin typeface="Times New Roman"/>
                <a:cs typeface="Times New Roman"/>
              </a:rPr>
              <a:t>  </a:t>
            </a:r>
            <a:r>
              <a:rPr sz="2198" dirty="0">
                <a:latin typeface="Century Schoolbook"/>
                <a:cs typeface="Century Schoolbook"/>
              </a:rPr>
              <a:t>do</a:t>
            </a:r>
            <a:r>
              <a:rPr sz="2198" spc="2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projeto</a:t>
            </a:r>
            <a:r>
              <a:rPr sz="2198" spc="1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que</a:t>
            </a:r>
            <a:r>
              <a:rPr sz="2198" spc="3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trabalha</a:t>
            </a:r>
            <a:r>
              <a:rPr sz="2198" spc="1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com</a:t>
            </a:r>
            <a:r>
              <a:rPr sz="2198" spc="1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o</a:t>
            </a:r>
            <a:r>
              <a:rPr sz="2198" spc="20" dirty="0">
                <a:latin typeface="Times New Roman"/>
                <a:cs typeface="Times New Roman"/>
              </a:rPr>
              <a:t> </a:t>
            </a:r>
            <a:r>
              <a:rPr sz="2198" spc="-10" dirty="0">
                <a:latin typeface="Century Schoolbook"/>
                <a:cs typeface="Century Schoolbook"/>
              </a:rPr>
              <a:t>cliente.</a:t>
            </a:r>
            <a:endParaRPr sz="2198">
              <a:latin typeface="Century Schoolbook"/>
              <a:cs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2682477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3676" y="454488"/>
            <a:ext cx="3581893" cy="1365776"/>
          </a:xfrm>
          <a:prstGeom prst="rect">
            <a:avLst/>
          </a:prstGeom>
        </p:spPr>
        <p:txBody>
          <a:bodyPr vert="horz" wrap="square" lIns="0" tIns="12688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100"/>
              </a:spcBef>
            </a:pPr>
            <a:r>
              <a:rPr cap="small" dirty="0"/>
              <a:t>O</a:t>
            </a:r>
            <a:r>
              <a:rPr spc="110" dirty="0">
                <a:latin typeface="Times New Roman"/>
                <a:cs typeface="Times New Roman"/>
              </a:rPr>
              <a:t> </a:t>
            </a:r>
            <a:r>
              <a:rPr cap="small" spc="5" dirty="0"/>
              <a:t>c</a:t>
            </a:r>
            <a:r>
              <a:rPr cap="small" dirty="0"/>
              <a:t>i</a:t>
            </a:r>
            <a:r>
              <a:rPr cap="small" spc="5" dirty="0"/>
              <a:t>c</a:t>
            </a:r>
            <a:r>
              <a:rPr cap="small" spc="-10" dirty="0"/>
              <a:t>l</a:t>
            </a:r>
            <a:r>
              <a:rPr cap="small" dirty="0"/>
              <a:t>o</a:t>
            </a:r>
            <a:r>
              <a:rPr sz="2398" spc="254" dirty="0">
                <a:latin typeface="Times New Roman"/>
                <a:cs typeface="Times New Roman"/>
              </a:rPr>
              <a:t> </a:t>
            </a:r>
            <a:r>
              <a:rPr cap="small" dirty="0"/>
              <a:t>de</a:t>
            </a:r>
            <a:r>
              <a:rPr sz="2398" spc="250" dirty="0">
                <a:latin typeface="Times New Roman"/>
                <a:cs typeface="Times New Roman"/>
              </a:rPr>
              <a:t> </a:t>
            </a:r>
            <a:r>
              <a:rPr cap="small" dirty="0"/>
              <a:t>Sprint</a:t>
            </a:r>
            <a:endParaRPr sz="239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3675" y="1582379"/>
            <a:ext cx="7303358" cy="4608373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286127" marR="7613" indent="-274073" algn="just">
              <a:lnSpc>
                <a:spcPct val="130000"/>
              </a:lnSpc>
              <a:spcBef>
                <a:spcPts val="100"/>
              </a:spcBef>
              <a:buClr>
                <a:srgbClr val="94C600"/>
              </a:buClr>
              <a:buSzPct val="68181"/>
              <a:buFont typeface="Wingdings"/>
              <a:buChar char=""/>
              <a:tabLst>
                <a:tab pos="286762" algn="l"/>
              </a:tabLst>
            </a:pPr>
            <a:r>
              <a:rPr sz="2198" dirty="0">
                <a:latin typeface="Century Schoolbook"/>
                <a:cs typeface="Century Schoolbook"/>
              </a:rPr>
              <a:t>Assim</a:t>
            </a:r>
            <a:r>
              <a:rPr sz="2198" spc="28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que</a:t>
            </a:r>
            <a:r>
              <a:rPr sz="2198" spc="27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isso</a:t>
            </a:r>
            <a:r>
              <a:rPr sz="2198" spc="28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é</a:t>
            </a:r>
            <a:r>
              <a:rPr sz="2198" spc="28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definido,</a:t>
            </a:r>
            <a:r>
              <a:rPr sz="2198" spc="28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a</a:t>
            </a:r>
            <a:r>
              <a:rPr sz="2198" spc="29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equipe</a:t>
            </a:r>
            <a:r>
              <a:rPr sz="2198" spc="28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se</a:t>
            </a:r>
            <a:r>
              <a:rPr sz="2198" spc="28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organiza</a:t>
            </a:r>
            <a:r>
              <a:rPr sz="2198" spc="285" dirty="0">
                <a:latin typeface="Times New Roman"/>
                <a:cs typeface="Times New Roman"/>
              </a:rPr>
              <a:t> </a:t>
            </a:r>
            <a:r>
              <a:rPr sz="2198" spc="-20" dirty="0">
                <a:latin typeface="Century Schoolbook"/>
                <a:cs typeface="Century Schoolbook"/>
              </a:rPr>
              <a:t>para</a:t>
            </a:r>
            <a:r>
              <a:rPr sz="2198" spc="-2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desenvolver</a:t>
            </a:r>
            <a:r>
              <a:rPr sz="2198" spc="-1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o</a:t>
            </a:r>
            <a:r>
              <a:rPr sz="2198" dirty="0">
                <a:latin typeface="Times New Roman"/>
                <a:cs typeface="Times New Roman"/>
              </a:rPr>
              <a:t> </a:t>
            </a:r>
            <a:r>
              <a:rPr sz="2198" spc="-10" dirty="0">
                <a:latin typeface="Century Schoolbook"/>
                <a:cs typeface="Century Schoolbook"/>
              </a:rPr>
              <a:t>software.</a:t>
            </a:r>
            <a:endParaRPr sz="2198">
              <a:latin typeface="Century Schoolbook"/>
              <a:cs typeface="Century Schoolbook"/>
            </a:endParaRPr>
          </a:p>
          <a:p>
            <a:pPr marL="286762" marR="5075" indent="-274073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68181"/>
              <a:buFont typeface="Wingdings"/>
              <a:buChar char=""/>
              <a:tabLst>
                <a:tab pos="286762" algn="l"/>
              </a:tabLst>
            </a:pPr>
            <a:r>
              <a:rPr sz="2198" dirty="0">
                <a:latin typeface="Century Schoolbook"/>
                <a:cs typeface="Century Schoolbook"/>
              </a:rPr>
              <a:t>Durante</a:t>
            </a:r>
            <a:r>
              <a:rPr sz="2198" spc="2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esse</a:t>
            </a:r>
            <a:r>
              <a:rPr sz="2198" spc="3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estágio</a:t>
            </a:r>
            <a:r>
              <a:rPr sz="2198" spc="3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a</a:t>
            </a:r>
            <a:r>
              <a:rPr sz="2198" spc="2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equipe</a:t>
            </a:r>
            <a:r>
              <a:rPr sz="2198" spc="3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é</a:t>
            </a:r>
            <a:r>
              <a:rPr sz="2198" spc="3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isolada</a:t>
            </a:r>
            <a:r>
              <a:rPr sz="2198" spc="2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do</a:t>
            </a:r>
            <a:r>
              <a:rPr sz="2198" spc="2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cliente</a:t>
            </a:r>
            <a:r>
              <a:rPr sz="2198" spc="3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e</a:t>
            </a:r>
            <a:r>
              <a:rPr sz="2198" spc="30" dirty="0">
                <a:latin typeface="Times New Roman"/>
                <a:cs typeface="Times New Roman"/>
              </a:rPr>
              <a:t> </a:t>
            </a:r>
            <a:r>
              <a:rPr sz="2198" spc="-25" dirty="0">
                <a:latin typeface="Century Schoolbook"/>
                <a:cs typeface="Century Schoolbook"/>
              </a:rPr>
              <a:t>da</a:t>
            </a:r>
            <a:r>
              <a:rPr sz="2198" spc="-2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organização,</a:t>
            </a:r>
            <a:r>
              <a:rPr sz="2198" spc="37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com</a:t>
            </a:r>
            <a:r>
              <a:rPr sz="2198" spc="36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todas</a:t>
            </a:r>
            <a:r>
              <a:rPr sz="2198" spc="36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as</a:t>
            </a:r>
            <a:r>
              <a:rPr sz="2198" spc="38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comunicações</a:t>
            </a:r>
            <a:r>
              <a:rPr sz="2198" spc="375" dirty="0">
                <a:latin typeface="Times New Roman"/>
                <a:cs typeface="Times New Roman"/>
              </a:rPr>
              <a:t> </a:t>
            </a:r>
            <a:r>
              <a:rPr sz="2198" spc="-10" dirty="0">
                <a:latin typeface="Century Schoolbook"/>
                <a:cs typeface="Century Schoolbook"/>
              </a:rPr>
              <a:t>canalizadas</a:t>
            </a:r>
            <a:r>
              <a:rPr sz="2198" spc="-1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por</a:t>
            </a:r>
            <a:r>
              <a:rPr sz="2198" spc="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meio</a:t>
            </a:r>
            <a:r>
              <a:rPr sz="2198" dirty="0">
                <a:latin typeface="Times New Roman"/>
                <a:cs typeface="Times New Roman"/>
              </a:rPr>
              <a:t>  </a:t>
            </a:r>
            <a:r>
              <a:rPr sz="2198" dirty="0">
                <a:latin typeface="Century Schoolbook"/>
                <a:cs typeface="Century Schoolbook"/>
              </a:rPr>
              <a:t>do</a:t>
            </a:r>
            <a:r>
              <a:rPr sz="2198" spc="2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chamado</a:t>
            </a:r>
            <a:r>
              <a:rPr sz="2198" spc="2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“Scrum</a:t>
            </a:r>
            <a:r>
              <a:rPr sz="2198" spc="25" dirty="0">
                <a:latin typeface="Times New Roman"/>
                <a:cs typeface="Times New Roman"/>
              </a:rPr>
              <a:t> </a:t>
            </a:r>
            <a:r>
              <a:rPr sz="2198" spc="-10" dirty="0">
                <a:latin typeface="Century Schoolbook"/>
                <a:cs typeface="Century Schoolbook"/>
              </a:rPr>
              <a:t>Master”.</a:t>
            </a:r>
            <a:endParaRPr sz="2198">
              <a:latin typeface="Century Schoolbook"/>
              <a:cs typeface="Century Schoolbook"/>
            </a:endParaRPr>
          </a:p>
          <a:p>
            <a:pPr marL="286762" marR="6979" indent="-274073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68181"/>
              <a:buFont typeface="Wingdings"/>
              <a:buChar char=""/>
              <a:tabLst>
                <a:tab pos="286762" algn="l"/>
              </a:tabLst>
            </a:pPr>
            <a:r>
              <a:rPr sz="2198" dirty="0">
                <a:latin typeface="Century Schoolbook"/>
                <a:cs typeface="Century Schoolbook"/>
              </a:rPr>
              <a:t>A</a:t>
            </a:r>
            <a:r>
              <a:rPr sz="2198" spc="15" dirty="0">
                <a:latin typeface="Times New Roman"/>
                <a:cs typeface="Times New Roman"/>
              </a:rPr>
              <a:t>  </a:t>
            </a:r>
            <a:r>
              <a:rPr sz="2198" dirty="0">
                <a:latin typeface="Century Schoolbook"/>
                <a:cs typeface="Century Schoolbook"/>
              </a:rPr>
              <a:t>função</a:t>
            </a:r>
            <a:r>
              <a:rPr sz="2198" spc="20" dirty="0">
                <a:latin typeface="Times New Roman"/>
                <a:cs typeface="Times New Roman"/>
              </a:rPr>
              <a:t>  </a:t>
            </a:r>
            <a:r>
              <a:rPr sz="2198" dirty="0">
                <a:latin typeface="Century Schoolbook"/>
                <a:cs typeface="Century Schoolbook"/>
              </a:rPr>
              <a:t>do</a:t>
            </a:r>
            <a:r>
              <a:rPr sz="2198" spc="20" dirty="0">
                <a:latin typeface="Times New Roman"/>
                <a:cs typeface="Times New Roman"/>
              </a:rPr>
              <a:t>  </a:t>
            </a:r>
            <a:r>
              <a:rPr sz="2198" dirty="0">
                <a:latin typeface="Century Schoolbook"/>
                <a:cs typeface="Century Schoolbook"/>
              </a:rPr>
              <a:t>Scrum</a:t>
            </a:r>
            <a:r>
              <a:rPr sz="2198" spc="20" dirty="0">
                <a:latin typeface="Times New Roman"/>
                <a:cs typeface="Times New Roman"/>
              </a:rPr>
              <a:t>  </a:t>
            </a:r>
            <a:r>
              <a:rPr sz="2198" dirty="0">
                <a:latin typeface="Century Schoolbook"/>
                <a:cs typeface="Century Schoolbook"/>
              </a:rPr>
              <a:t>Master</a:t>
            </a:r>
            <a:r>
              <a:rPr sz="2198" spc="15" dirty="0">
                <a:latin typeface="Times New Roman"/>
                <a:cs typeface="Times New Roman"/>
              </a:rPr>
              <a:t>  </a:t>
            </a:r>
            <a:r>
              <a:rPr sz="2198" dirty="0">
                <a:latin typeface="Century Schoolbook"/>
                <a:cs typeface="Century Schoolbook"/>
              </a:rPr>
              <a:t>é</a:t>
            </a:r>
            <a:r>
              <a:rPr sz="2198" spc="15" dirty="0">
                <a:latin typeface="Times New Roman"/>
                <a:cs typeface="Times New Roman"/>
              </a:rPr>
              <a:t>  </a:t>
            </a:r>
            <a:r>
              <a:rPr sz="2198" dirty="0">
                <a:latin typeface="Century Schoolbook"/>
                <a:cs typeface="Century Schoolbook"/>
              </a:rPr>
              <a:t>proteger</a:t>
            </a:r>
            <a:r>
              <a:rPr sz="2198" spc="20" dirty="0">
                <a:latin typeface="Times New Roman"/>
                <a:cs typeface="Times New Roman"/>
              </a:rPr>
              <a:t>  </a:t>
            </a:r>
            <a:r>
              <a:rPr sz="2198" dirty="0">
                <a:latin typeface="Century Schoolbook"/>
                <a:cs typeface="Century Schoolbook"/>
              </a:rPr>
              <a:t>a</a:t>
            </a:r>
            <a:r>
              <a:rPr sz="2198" spc="20" dirty="0">
                <a:latin typeface="Times New Roman"/>
                <a:cs typeface="Times New Roman"/>
              </a:rPr>
              <a:t>  </a:t>
            </a:r>
            <a:r>
              <a:rPr sz="2198" dirty="0">
                <a:latin typeface="Century Schoolbook"/>
                <a:cs typeface="Century Schoolbook"/>
              </a:rPr>
              <a:t>equipe</a:t>
            </a:r>
            <a:r>
              <a:rPr sz="2198" spc="20" dirty="0">
                <a:latin typeface="Times New Roman"/>
                <a:cs typeface="Times New Roman"/>
              </a:rPr>
              <a:t>  </a:t>
            </a:r>
            <a:r>
              <a:rPr sz="2198" spc="-25" dirty="0">
                <a:latin typeface="Century Schoolbook"/>
                <a:cs typeface="Century Schoolbook"/>
              </a:rPr>
              <a:t>de</a:t>
            </a:r>
            <a:r>
              <a:rPr sz="2198" spc="-2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desenvolvimento</a:t>
            </a:r>
            <a:r>
              <a:rPr sz="2198" spc="-5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de</a:t>
            </a:r>
            <a:r>
              <a:rPr sz="2198" spc="-4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distrações</a:t>
            </a:r>
            <a:r>
              <a:rPr sz="2198" spc="-65" dirty="0">
                <a:latin typeface="Times New Roman"/>
                <a:cs typeface="Times New Roman"/>
              </a:rPr>
              <a:t> </a:t>
            </a:r>
            <a:r>
              <a:rPr sz="2198" spc="-10" dirty="0">
                <a:latin typeface="Century Schoolbook"/>
                <a:cs typeface="Century Schoolbook"/>
              </a:rPr>
              <a:t>externas.</a:t>
            </a:r>
            <a:endParaRPr sz="2198">
              <a:latin typeface="Century Schoolbook"/>
              <a:cs typeface="Century Schoolbook"/>
            </a:endParaRPr>
          </a:p>
          <a:p>
            <a:pPr marL="286127" marR="5075" indent="-274073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68181"/>
              <a:buFont typeface="Wingdings"/>
              <a:buChar char=""/>
              <a:tabLst>
                <a:tab pos="286762" algn="l"/>
              </a:tabLst>
            </a:pPr>
            <a:r>
              <a:rPr sz="2198" dirty="0">
                <a:latin typeface="Century Schoolbook"/>
                <a:cs typeface="Century Schoolbook"/>
              </a:rPr>
              <a:t>Ao</a:t>
            </a:r>
            <a:r>
              <a:rPr sz="2198" spc="295" dirty="0">
                <a:latin typeface="Times New Roman"/>
                <a:cs typeface="Times New Roman"/>
              </a:rPr>
              <a:t>  </a:t>
            </a:r>
            <a:r>
              <a:rPr sz="2198" dirty="0">
                <a:latin typeface="Century Schoolbook"/>
                <a:cs typeface="Century Schoolbook"/>
              </a:rPr>
              <a:t>final</a:t>
            </a:r>
            <a:r>
              <a:rPr sz="2198" spc="295" dirty="0">
                <a:latin typeface="Times New Roman"/>
                <a:cs typeface="Times New Roman"/>
              </a:rPr>
              <a:t>  </a:t>
            </a:r>
            <a:r>
              <a:rPr sz="2198" dirty="0">
                <a:latin typeface="Century Schoolbook"/>
                <a:cs typeface="Century Schoolbook"/>
              </a:rPr>
              <a:t>do</a:t>
            </a:r>
            <a:r>
              <a:rPr sz="2198" spc="295" dirty="0">
                <a:latin typeface="Times New Roman"/>
                <a:cs typeface="Times New Roman"/>
              </a:rPr>
              <a:t>  </a:t>
            </a:r>
            <a:r>
              <a:rPr sz="2198" dirty="0">
                <a:latin typeface="Century Schoolbook"/>
                <a:cs typeface="Century Schoolbook"/>
              </a:rPr>
              <a:t>Sprint</a:t>
            </a:r>
            <a:r>
              <a:rPr sz="2198" spc="295" dirty="0">
                <a:latin typeface="Times New Roman"/>
                <a:cs typeface="Times New Roman"/>
              </a:rPr>
              <a:t>  </a:t>
            </a:r>
            <a:r>
              <a:rPr sz="2198" dirty="0">
                <a:latin typeface="Century Schoolbook"/>
                <a:cs typeface="Century Schoolbook"/>
              </a:rPr>
              <a:t>o</a:t>
            </a:r>
            <a:r>
              <a:rPr sz="2198" spc="290" dirty="0">
                <a:latin typeface="Times New Roman"/>
                <a:cs typeface="Times New Roman"/>
              </a:rPr>
              <a:t>  </a:t>
            </a:r>
            <a:r>
              <a:rPr sz="2198" dirty="0">
                <a:latin typeface="Century Schoolbook"/>
                <a:cs typeface="Century Schoolbook"/>
              </a:rPr>
              <a:t>trabalho</a:t>
            </a:r>
            <a:r>
              <a:rPr sz="2198" spc="290" dirty="0">
                <a:latin typeface="Times New Roman"/>
                <a:cs typeface="Times New Roman"/>
              </a:rPr>
              <a:t>  </a:t>
            </a:r>
            <a:r>
              <a:rPr sz="2198" dirty="0">
                <a:latin typeface="Century Schoolbook"/>
                <a:cs typeface="Century Schoolbook"/>
              </a:rPr>
              <a:t>feito</a:t>
            </a:r>
            <a:r>
              <a:rPr sz="2198" spc="290" dirty="0">
                <a:latin typeface="Times New Roman"/>
                <a:cs typeface="Times New Roman"/>
              </a:rPr>
              <a:t>  </a:t>
            </a:r>
            <a:r>
              <a:rPr sz="2198" dirty="0">
                <a:latin typeface="Century Schoolbook"/>
                <a:cs typeface="Century Schoolbook"/>
              </a:rPr>
              <a:t>é</a:t>
            </a:r>
            <a:r>
              <a:rPr sz="2198" spc="295" dirty="0">
                <a:latin typeface="Times New Roman"/>
                <a:cs typeface="Times New Roman"/>
              </a:rPr>
              <a:t>  </a:t>
            </a:r>
            <a:r>
              <a:rPr sz="2198" dirty="0">
                <a:latin typeface="Century Schoolbook"/>
                <a:cs typeface="Century Schoolbook"/>
              </a:rPr>
              <a:t>revisto</a:t>
            </a:r>
            <a:r>
              <a:rPr sz="2198" spc="290" dirty="0">
                <a:latin typeface="Times New Roman"/>
                <a:cs typeface="Times New Roman"/>
              </a:rPr>
              <a:t>  </a:t>
            </a:r>
            <a:r>
              <a:rPr sz="2198" spc="-50" dirty="0">
                <a:latin typeface="Century Schoolbook"/>
                <a:cs typeface="Century Schoolbook"/>
              </a:rPr>
              <a:t>e</a:t>
            </a:r>
            <a:r>
              <a:rPr sz="2198" spc="-5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apresentado</a:t>
            </a:r>
            <a:r>
              <a:rPr sz="2198" spc="32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aos</a:t>
            </a:r>
            <a:r>
              <a:rPr sz="2198" spc="31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stakeholders.</a:t>
            </a:r>
            <a:r>
              <a:rPr sz="2198" spc="32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Assim</a:t>
            </a:r>
            <a:r>
              <a:rPr sz="2198" spc="32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o</a:t>
            </a:r>
            <a:r>
              <a:rPr sz="2198" spc="32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próximo</a:t>
            </a:r>
            <a:r>
              <a:rPr sz="2198" spc="325" dirty="0">
                <a:latin typeface="Times New Roman"/>
                <a:cs typeface="Times New Roman"/>
              </a:rPr>
              <a:t> </a:t>
            </a:r>
            <a:r>
              <a:rPr sz="2198" spc="-10" dirty="0">
                <a:latin typeface="Century Schoolbook"/>
                <a:cs typeface="Century Schoolbook"/>
              </a:rPr>
              <a:t>ciclo</a:t>
            </a:r>
            <a:r>
              <a:rPr sz="2198" spc="-1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de</a:t>
            </a:r>
            <a:r>
              <a:rPr sz="2198" spc="1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Sprint</a:t>
            </a:r>
            <a:r>
              <a:rPr sz="2198" spc="15" dirty="0">
                <a:latin typeface="Times New Roman"/>
                <a:cs typeface="Times New Roman"/>
              </a:rPr>
              <a:t> </a:t>
            </a:r>
            <a:r>
              <a:rPr sz="2198" spc="-10" dirty="0">
                <a:latin typeface="Century Schoolbook"/>
                <a:cs typeface="Century Schoolbook"/>
              </a:rPr>
              <a:t>começa.</a:t>
            </a:r>
            <a:endParaRPr sz="2198">
              <a:latin typeface="Century Schoolbook"/>
              <a:cs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2583563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3676" y="454488"/>
            <a:ext cx="6090361" cy="1365776"/>
          </a:xfrm>
          <a:prstGeom prst="rect">
            <a:avLst/>
          </a:prstGeom>
        </p:spPr>
        <p:txBody>
          <a:bodyPr vert="horz" wrap="square" lIns="0" tIns="12688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100"/>
              </a:spcBef>
            </a:pPr>
            <a:r>
              <a:rPr cap="small" spc="5" dirty="0"/>
              <a:t>T</a:t>
            </a:r>
            <a:r>
              <a:rPr cap="small" spc="-5" dirty="0"/>
              <a:t>r</a:t>
            </a:r>
            <a:r>
              <a:rPr cap="small" dirty="0"/>
              <a:t>aba</a:t>
            </a:r>
            <a:r>
              <a:rPr cap="small" spc="-10" dirty="0"/>
              <a:t>l</a:t>
            </a:r>
            <a:r>
              <a:rPr cap="small" spc="-5" dirty="0"/>
              <a:t>h</a:t>
            </a:r>
            <a:r>
              <a:rPr cap="small" dirty="0"/>
              <a:t>o</a:t>
            </a:r>
            <a:r>
              <a:rPr sz="2398" spc="240" dirty="0">
                <a:latin typeface="Times New Roman"/>
                <a:cs typeface="Times New Roman"/>
              </a:rPr>
              <a:t> </a:t>
            </a:r>
            <a:r>
              <a:rPr cap="small" dirty="0"/>
              <a:t>em</a:t>
            </a:r>
            <a:r>
              <a:rPr sz="2398" spc="260" dirty="0">
                <a:latin typeface="Times New Roman"/>
                <a:cs typeface="Times New Roman"/>
              </a:rPr>
              <a:t> </a:t>
            </a:r>
            <a:r>
              <a:rPr cap="small" dirty="0"/>
              <a:t>equipe</a:t>
            </a:r>
            <a:r>
              <a:rPr sz="2398" spc="250" dirty="0">
                <a:latin typeface="Times New Roman"/>
                <a:cs typeface="Times New Roman"/>
              </a:rPr>
              <a:t> </a:t>
            </a:r>
            <a:r>
              <a:rPr cap="small" dirty="0"/>
              <a:t>no</a:t>
            </a:r>
            <a:r>
              <a:rPr sz="2398" spc="254" dirty="0">
                <a:latin typeface="Times New Roman"/>
                <a:cs typeface="Times New Roman"/>
              </a:rPr>
              <a:t> </a:t>
            </a:r>
            <a:r>
              <a:rPr cap="small" dirty="0"/>
              <a:t>S</a:t>
            </a:r>
            <a:r>
              <a:rPr cap="small" spc="5" dirty="0"/>
              <a:t>c</a:t>
            </a:r>
            <a:r>
              <a:rPr cap="small" dirty="0"/>
              <a:t>rum</a:t>
            </a:r>
            <a:endParaRPr sz="239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3676" y="1586646"/>
            <a:ext cx="7303992" cy="4793621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286762" marR="5075" indent="-274073" algn="just">
              <a:lnSpc>
                <a:spcPct val="130000"/>
              </a:lnSpc>
              <a:spcBef>
                <a:spcPts val="100"/>
              </a:spcBef>
              <a:buClr>
                <a:srgbClr val="94C600"/>
              </a:buClr>
              <a:buSzPct val="70000"/>
              <a:buFont typeface="Wingdings"/>
              <a:buChar char=""/>
              <a:tabLst>
                <a:tab pos="286762" algn="l"/>
              </a:tabLst>
            </a:pPr>
            <a:r>
              <a:rPr sz="1998" dirty="0">
                <a:latin typeface="Century Schoolbook"/>
                <a:cs typeface="Century Schoolbook"/>
              </a:rPr>
              <a:t>O</a:t>
            </a:r>
            <a:r>
              <a:rPr sz="1998" spc="1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Scrum</a:t>
            </a:r>
            <a:r>
              <a:rPr sz="1998" spc="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Master</a:t>
            </a:r>
            <a:r>
              <a:rPr sz="1998" spc="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é</a:t>
            </a:r>
            <a:r>
              <a:rPr sz="1998" spc="1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um</a:t>
            </a:r>
            <a:r>
              <a:rPr sz="1998" spc="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facilitador</a:t>
            </a:r>
            <a:r>
              <a:rPr sz="1998" spc="1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que</a:t>
            </a:r>
            <a:r>
              <a:rPr sz="1998" spc="1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organiza</a:t>
            </a:r>
            <a:r>
              <a:rPr sz="1998" spc="10" dirty="0">
                <a:latin typeface="Times New Roman"/>
                <a:cs typeface="Times New Roman"/>
              </a:rPr>
              <a:t>  </a:t>
            </a:r>
            <a:r>
              <a:rPr sz="1998" spc="-10" dirty="0">
                <a:latin typeface="Century Schoolbook"/>
                <a:cs typeface="Century Schoolbook"/>
              </a:rPr>
              <a:t>reuniões</a:t>
            </a:r>
            <a:r>
              <a:rPr sz="1998" spc="-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diárias,</a:t>
            </a:r>
            <a:r>
              <a:rPr sz="1998" spc="43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mantêm</a:t>
            </a:r>
            <a:r>
              <a:rPr sz="1998" spc="43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o</a:t>
            </a:r>
            <a:r>
              <a:rPr sz="1998" spc="45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backlog</a:t>
            </a:r>
            <a:r>
              <a:rPr sz="1998" spc="45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do</a:t>
            </a:r>
            <a:r>
              <a:rPr sz="1998" spc="44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trabalho</a:t>
            </a:r>
            <a:r>
              <a:rPr sz="1998" spc="45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a</a:t>
            </a:r>
            <a:r>
              <a:rPr sz="1998" spc="45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ser</a:t>
            </a:r>
            <a:r>
              <a:rPr sz="1998" spc="434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feito,</a:t>
            </a:r>
            <a:r>
              <a:rPr sz="1998" spc="445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grava</a:t>
            </a:r>
            <a:r>
              <a:rPr sz="1998" spc="-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decisões,</a:t>
            </a:r>
            <a:r>
              <a:rPr sz="1998" spc="28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mede</a:t>
            </a:r>
            <a:r>
              <a:rPr sz="1998" spc="30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o</a:t>
            </a:r>
            <a:r>
              <a:rPr sz="1998" spc="30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processo</a:t>
            </a:r>
            <a:r>
              <a:rPr sz="1998" spc="30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usando</a:t>
            </a:r>
            <a:r>
              <a:rPr sz="1998" spc="28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o</a:t>
            </a:r>
            <a:r>
              <a:rPr sz="1998" spc="30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backlog</a:t>
            </a:r>
            <a:r>
              <a:rPr sz="1998" spc="28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</a:t>
            </a:r>
            <a:r>
              <a:rPr sz="1998" spc="315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comunica-</a:t>
            </a:r>
            <a:r>
              <a:rPr sz="1998" spc="-25" dirty="0">
                <a:latin typeface="Century Schoolbook"/>
                <a:cs typeface="Century Schoolbook"/>
              </a:rPr>
              <a:t>se</a:t>
            </a:r>
            <a:r>
              <a:rPr sz="1998" spc="-2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com</a:t>
            </a:r>
            <a:r>
              <a:rPr sz="1998" spc="2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os</a:t>
            </a:r>
            <a:r>
              <a:rPr sz="1998" spc="4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clientes</a:t>
            </a:r>
            <a:r>
              <a:rPr sz="1998" spc="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</a:t>
            </a:r>
            <a:r>
              <a:rPr sz="1998" spc="5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a</a:t>
            </a:r>
            <a:r>
              <a:rPr sz="1998" spc="4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gerência</a:t>
            </a:r>
            <a:r>
              <a:rPr sz="1998" spc="1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fora</a:t>
            </a:r>
            <a:r>
              <a:rPr sz="1998" spc="3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da</a:t>
            </a:r>
            <a:r>
              <a:rPr sz="1998" spc="55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equipe.</a:t>
            </a:r>
            <a:endParaRPr sz="1998">
              <a:latin typeface="Century Schoolbook"/>
              <a:cs typeface="Century Schoolbook"/>
            </a:endParaRPr>
          </a:p>
          <a:p>
            <a:pPr marL="286762" marR="5075" indent="-274073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70000"/>
              <a:buFont typeface="Wingdings"/>
              <a:buChar char=""/>
              <a:tabLst>
                <a:tab pos="286762" algn="l"/>
              </a:tabLst>
            </a:pPr>
            <a:r>
              <a:rPr sz="1998" dirty="0">
                <a:latin typeface="Century Schoolbook"/>
                <a:cs typeface="Century Schoolbook"/>
              </a:rPr>
              <a:t>A</a:t>
            </a:r>
            <a:r>
              <a:rPr sz="1998" spc="254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equipe</a:t>
            </a:r>
            <a:r>
              <a:rPr sz="1998" spc="25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inteira</a:t>
            </a:r>
            <a:r>
              <a:rPr sz="1998" spc="26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comparece</a:t>
            </a:r>
            <a:r>
              <a:rPr sz="1998" spc="26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às</a:t>
            </a:r>
            <a:r>
              <a:rPr sz="1998" spc="254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reuniões</a:t>
            </a:r>
            <a:r>
              <a:rPr sz="1998" spc="254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diárias</a:t>
            </a:r>
            <a:r>
              <a:rPr sz="1998" spc="254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curtas</a:t>
            </a:r>
            <a:r>
              <a:rPr sz="1998" spc="254" dirty="0">
                <a:latin typeface="Times New Roman"/>
                <a:cs typeface="Times New Roman"/>
              </a:rPr>
              <a:t> </a:t>
            </a:r>
            <a:r>
              <a:rPr sz="1998" spc="-25" dirty="0">
                <a:latin typeface="Century Schoolbook"/>
                <a:cs typeface="Century Schoolbook"/>
              </a:rPr>
              <a:t>nas</a:t>
            </a:r>
            <a:r>
              <a:rPr sz="1998" spc="-2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quais</a:t>
            </a:r>
            <a:r>
              <a:rPr sz="1998" spc="235" dirty="0">
                <a:latin typeface="Times New Roman"/>
                <a:cs typeface="Times New Roman"/>
              </a:rPr>
              <a:t>   </a:t>
            </a:r>
            <a:r>
              <a:rPr sz="1998" dirty="0">
                <a:latin typeface="Century Schoolbook"/>
                <a:cs typeface="Century Schoolbook"/>
              </a:rPr>
              <a:t>todos</a:t>
            </a:r>
            <a:r>
              <a:rPr sz="1998" spc="245" dirty="0">
                <a:latin typeface="Times New Roman"/>
                <a:cs typeface="Times New Roman"/>
              </a:rPr>
              <a:t>   </a:t>
            </a:r>
            <a:r>
              <a:rPr sz="1998" dirty="0">
                <a:latin typeface="Century Schoolbook"/>
                <a:cs typeface="Century Schoolbook"/>
              </a:rPr>
              <a:t>os</a:t>
            </a:r>
            <a:r>
              <a:rPr sz="1998" spc="250" dirty="0">
                <a:latin typeface="Times New Roman"/>
                <a:cs typeface="Times New Roman"/>
              </a:rPr>
              <a:t>   </a:t>
            </a:r>
            <a:r>
              <a:rPr sz="1998" dirty="0">
                <a:latin typeface="Century Schoolbook"/>
                <a:cs typeface="Century Schoolbook"/>
              </a:rPr>
              <a:t>membros</a:t>
            </a:r>
            <a:r>
              <a:rPr sz="1998" spc="250" dirty="0">
                <a:latin typeface="Times New Roman"/>
                <a:cs typeface="Times New Roman"/>
              </a:rPr>
              <a:t>   </a:t>
            </a:r>
            <a:r>
              <a:rPr sz="1998" dirty="0">
                <a:latin typeface="Century Schoolbook"/>
                <a:cs typeface="Century Schoolbook"/>
              </a:rPr>
              <a:t>da</a:t>
            </a:r>
            <a:r>
              <a:rPr sz="1998" spc="250" dirty="0">
                <a:latin typeface="Times New Roman"/>
                <a:cs typeface="Times New Roman"/>
              </a:rPr>
              <a:t>   </a:t>
            </a:r>
            <a:r>
              <a:rPr sz="1998" dirty="0">
                <a:latin typeface="Century Schoolbook"/>
                <a:cs typeface="Century Schoolbook"/>
              </a:rPr>
              <a:t>equipe</a:t>
            </a:r>
            <a:r>
              <a:rPr sz="1998" spc="254" dirty="0">
                <a:latin typeface="Times New Roman"/>
                <a:cs typeface="Times New Roman"/>
              </a:rPr>
              <a:t>   </a:t>
            </a:r>
            <a:r>
              <a:rPr sz="1998" spc="-10" dirty="0">
                <a:latin typeface="Century Schoolbook"/>
                <a:cs typeface="Century Schoolbook"/>
              </a:rPr>
              <a:t>compartilham</a:t>
            </a:r>
            <a:r>
              <a:rPr sz="1998" spc="-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informações,</a:t>
            </a:r>
            <a:r>
              <a:rPr sz="1998" spc="24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descrevem</a:t>
            </a:r>
            <a:r>
              <a:rPr sz="1998" spc="26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seu</a:t>
            </a:r>
            <a:r>
              <a:rPr sz="1998" spc="27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progresso</a:t>
            </a:r>
            <a:r>
              <a:rPr sz="1998" spc="27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desde</a:t>
            </a:r>
            <a:r>
              <a:rPr sz="1998" spc="26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a</a:t>
            </a:r>
            <a:r>
              <a:rPr sz="1998" spc="270" dirty="0">
                <a:latin typeface="Times New Roman"/>
                <a:cs typeface="Times New Roman"/>
              </a:rPr>
              <a:t>  </a:t>
            </a:r>
            <a:r>
              <a:rPr sz="1998" spc="-10" dirty="0">
                <a:latin typeface="Century Schoolbook"/>
                <a:cs typeface="Century Schoolbook"/>
              </a:rPr>
              <a:t>última</a:t>
            </a:r>
            <a:r>
              <a:rPr sz="1998" spc="-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reunião,</a:t>
            </a:r>
            <a:r>
              <a:rPr sz="1998" spc="7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descrevem</a:t>
            </a:r>
            <a:r>
              <a:rPr sz="1998" spc="6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os</a:t>
            </a:r>
            <a:r>
              <a:rPr sz="1998" spc="6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problemas</a:t>
            </a:r>
            <a:r>
              <a:rPr sz="1998" spc="6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que</a:t>
            </a:r>
            <a:r>
              <a:rPr sz="1998" spc="9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surgiram</a:t>
            </a:r>
            <a:r>
              <a:rPr sz="1998" spc="6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</a:t>
            </a:r>
            <a:r>
              <a:rPr sz="1998" spc="7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o</a:t>
            </a:r>
            <a:r>
              <a:rPr sz="1998" spc="7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quê</a:t>
            </a:r>
            <a:r>
              <a:rPr sz="1998" spc="80" dirty="0">
                <a:latin typeface="Times New Roman"/>
                <a:cs typeface="Times New Roman"/>
              </a:rPr>
              <a:t> </a:t>
            </a:r>
            <a:r>
              <a:rPr sz="1998" spc="-20" dirty="0">
                <a:latin typeface="Century Schoolbook"/>
                <a:cs typeface="Century Schoolbook"/>
              </a:rPr>
              <a:t>está</a:t>
            </a:r>
            <a:r>
              <a:rPr sz="1998" spc="-2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planejado</a:t>
            </a:r>
            <a:r>
              <a:rPr sz="1998" spc="2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para</a:t>
            </a:r>
            <a:r>
              <a:rPr sz="1998" spc="4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o</a:t>
            </a:r>
            <a:r>
              <a:rPr sz="1998" spc="4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dia</a:t>
            </a:r>
            <a:r>
              <a:rPr sz="1998" spc="30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seguinte.</a:t>
            </a:r>
            <a:endParaRPr sz="1998">
              <a:latin typeface="Century Schoolbook"/>
              <a:cs typeface="Century Schoolbook"/>
            </a:endParaRPr>
          </a:p>
          <a:p>
            <a:pPr marL="651558" marR="5075" lvl="1" indent="-274073" algn="just">
              <a:lnSpc>
                <a:spcPct val="130000"/>
              </a:lnSpc>
              <a:spcBef>
                <a:spcPts val="475"/>
              </a:spcBef>
              <a:buClr>
                <a:srgbClr val="94C600"/>
              </a:buClr>
              <a:buSzPct val="80555"/>
              <a:buFont typeface="Wingdings 2"/>
              <a:buChar char=""/>
              <a:tabLst>
                <a:tab pos="652192" algn="l"/>
              </a:tabLst>
            </a:pPr>
            <a:r>
              <a:rPr sz="1798" dirty="0">
                <a:latin typeface="Century Schoolbook"/>
                <a:cs typeface="Century Schoolbook"/>
              </a:rPr>
              <a:t>Com</a:t>
            </a:r>
            <a:r>
              <a:rPr sz="1798" spc="40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isso,</a:t>
            </a:r>
            <a:r>
              <a:rPr sz="1798" spc="415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todos</a:t>
            </a:r>
            <a:r>
              <a:rPr sz="1798" spc="409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na</a:t>
            </a:r>
            <a:r>
              <a:rPr sz="1798" spc="415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equipe</a:t>
            </a:r>
            <a:r>
              <a:rPr sz="1798" spc="40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sabem</a:t>
            </a:r>
            <a:r>
              <a:rPr sz="1798" spc="409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o</a:t>
            </a:r>
            <a:r>
              <a:rPr sz="1798" spc="42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quê</a:t>
            </a:r>
            <a:r>
              <a:rPr sz="1798" spc="40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está</a:t>
            </a:r>
            <a:r>
              <a:rPr sz="1798" spc="409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acontecendo</a:t>
            </a:r>
            <a:r>
              <a:rPr sz="1798" spc="420" dirty="0">
                <a:latin typeface="Times New Roman"/>
                <a:cs typeface="Times New Roman"/>
              </a:rPr>
              <a:t> </a:t>
            </a:r>
            <a:r>
              <a:rPr sz="1798" spc="-25" dirty="0">
                <a:latin typeface="Century Schoolbook"/>
                <a:cs typeface="Century Schoolbook"/>
              </a:rPr>
              <a:t>e,</a:t>
            </a:r>
            <a:r>
              <a:rPr sz="1798" spc="-25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caso</a:t>
            </a:r>
            <a:r>
              <a:rPr sz="1798" spc="105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ocorra</a:t>
            </a:r>
            <a:r>
              <a:rPr sz="1798" spc="114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um</a:t>
            </a:r>
            <a:r>
              <a:rPr sz="1798" spc="11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problema,</a:t>
            </a:r>
            <a:r>
              <a:rPr sz="1798" spc="135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podem</a:t>
            </a:r>
            <a:r>
              <a:rPr sz="1798" spc="11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replanejar</a:t>
            </a:r>
            <a:r>
              <a:rPr sz="1798" spc="125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o</a:t>
            </a:r>
            <a:r>
              <a:rPr sz="1798" spc="114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trabalho</a:t>
            </a:r>
            <a:r>
              <a:rPr sz="1798" spc="13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a</a:t>
            </a:r>
            <a:r>
              <a:rPr sz="1798" spc="114" dirty="0">
                <a:latin typeface="Times New Roman"/>
                <a:cs typeface="Times New Roman"/>
              </a:rPr>
              <a:t> </a:t>
            </a:r>
            <a:r>
              <a:rPr sz="1798" spc="-10" dirty="0">
                <a:latin typeface="Century Schoolbook"/>
                <a:cs typeface="Century Schoolbook"/>
              </a:rPr>
              <a:t>curto</a:t>
            </a:r>
            <a:r>
              <a:rPr sz="1798" spc="-1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prazo</a:t>
            </a:r>
            <a:r>
              <a:rPr sz="1798" spc="4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para</a:t>
            </a:r>
            <a:r>
              <a:rPr sz="1798" spc="35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lidar</a:t>
            </a:r>
            <a:r>
              <a:rPr sz="1798" spc="45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com</a:t>
            </a:r>
            <a:r>
              <a:rPr sz="1798" spc="35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a</a:t>
            </a:r>
            <a:r>
              <a:rPr sz="1798" spc="40" dirty="0">
                <a:latin typeface="Times New Roman"/>
                <a:cs typeface="Times New Roman"/>
              </a:rPr>
              <a:t> </a:t>
            </a:r>
            <a:r>
              <a:rPr sz="1798" spc="-10" dirty="0">
                <a:latin typeface="Century Schoolbook"/>
                <a:cs typeface="Century Schoolbook"/>
              </a:rPr>
              <a:t>situação.</a:t>
            </a:r>
            <a:endParaRPr sz="1798">
              <a:latin typeface="Century Schoolbook"/>
              <a:cs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4204329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3676" y="454488"/>
            <a:ext cx="4242317" cy="1365776"/>
          </a:xfrm>
          <a:prstGeom prst="rect">
            <a:avLst/>
          </a:prstGeom>
        </p:spPr>
        <p:txBody>
          <a:bodyPr vert="horz" wrap="square" lIns="0" tIns="12688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100"/>
              </a:spcBef>
            </a:pPr>
            <a:r>
              <a:rPr cap="small" spc="-10" dirty="0"/>
              <a:t>B</a:t>
            </a:r>
            <a:r>
              <a:rPr cap="small" dirty="0"/>
              <a:t>ene</a:t>
            </a:r>
            <a:r>
              <a:rPr cap="small" spc="-10" dirty="0"/>
              <a:t>f</a:t>
            </a:r>
            <a:r>
              <a:rPr cap="small" dirty="0"/>
              <a:t>í</a:t>
            </a:r>
            <a:r>
              <a:rPr cap="small" spc="5" dirty="0"/>
              <a:t>c</a:t>
            </a:r>
            <a:r>
              <a:rPr cap="small" dirty="0"/>
              <a:t>ios</a:t>
            </a:r>
            <a:r>
              <a:rPr sz="2398" spc="254" dirty="0">
                <a:latin typeface="Times New Roman"/>
                <a:cs typeface="Times New Roman"/>
              </a:rPr>
              <a:t> </a:t>
            </a:r>
            <a:r>
              <a:rPr cap="small" dirty="0"/>
              <a:t>do</a:t>
            </a:r>
            <a:r>
              <a:rPr sz="2398" spc="254" dirty="0">
                <a:latin typeface="Times New Roman"/>
                <a:cs typeface="Times New Roman"/>
              </a:rPr>
              <a:t> </a:t>
            </a:r>
            <a:r>
              <a:rPr cap="small" dirty="0"/>
              <a:t>S</a:t>
            </a:r>
            <a:r>
              <a:rPr cap="small" spc="5" dirty="0"/>
              <a:t>c</a:t>
            </a:r>
            <a:r>
              <a:rPr cap="small" dirty="0"/>
              <a:t>rum</a:t>
            </a:r>
            <a:endParaRPr sz="239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3676" y="1579027"/>
            <a:ext cx="4504329" cy="878027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286762" marR="5075" indent="-274073">
              <a:lnSpc>
                <a:spcPct val="140000"/>
              </a:lnSpc>
              <a:spcBef>
                <a:spcPts val="100"/>
              </a:spcBef>
              <a:buClr>
                <a:srgbClr val="94C600"/>
              </a:buClr>
              <a:buSzPct val="70000"/>
              <a:buFont typeface="Wingdings"/>
              <a:buChar char=""/>
              <a:tabLst>
                <a:tab pos="286762" algn="l"/>
                <a:tab pos="742916" algn="l"/>
                <a:tab pos="1912802" algn="l"/>
                <a:tab pos="2299169" algn="l"/>
                <a:tab pos="3497603" algn="l"/>
                <a:tab pos="4109827" algn="l"/>
              </a:tabLst>
            </a:pPr>
            <a:r>
              <a:rPr sz="1998" spc="-50" dirty="0">
                <a:latin typeface="Century Schoolbook"/>
                <a:cs typeface="Century Schoolbook"/>
              </a:rPr>
              <a:t>O</a:t>
            </a:r>
            <a:r>
              <a:rPr sz="1998" dirty="0">
                <a:latin typeface="Times New Roman"/>
                <a:cs typeface="Times New Roman"/>
              </a:rPr>
              <a:t>	</a:t>
            </a:r>
            <a:r>
              <a:rPr sz="1998" spc="-10" dirty="0">
                <a:latin typeface="Century Schoolbook"/>
                <a:cs typeface="Century Schoolbook"/>
              </a:rPr>
              <a:t>produto</a:t>
            </a:r>
            <a:r>
              <a:rPr sz="1998" dirty="0">
                <a:latin typeface="Times New Roman"/>
                <a:cs typeface="Times New Roman"/>
              </a:rPr>
              <a:t>	</a:t>
            </a:r>
            <a:r>
              <a:rPr sz="1998" spc="-50" dirty="0">
                <a:latin typeface="Century Schoolbook"/>
                <a:cs typeface="Century Schoolbook"/>
              </a:rPr>
              <a:t>é</a:t>
            </a:r>
            <a:r>
              <a:rPr sz="1998" dirty="0">
                <a:latin typeface="Times New Roman"/>
                <a:cs typeface="Times New Roman"/>
              </a:rPr>
              <a:t>	</a:t>
            </a:r>
            <a:r>
              <a:rPr sz="1998" spc="-10" dirty="0">
                <a:latin typeface="Century Schoolbook"/>
                <a:cs typeface="Century Schoolbook"/>
              </a:rPr>
              <a:t>dividido</a:t>
            </a:r>
            <a:r>
              <a:rPr sz="1998" dirty="0">
                <a:latin typeface="Times New Roman"/>
                <a:cs typeface="Times New Roman"/>
              </a:rPr>
              <a:t>	</a:t>
            </a:r>
            <a:r>
              <a:rPr sz="1998" spc="-25" dirty="0">
                <a:latin typeface="Century Schoolbook"/>
                <a:cs typeface="Century Schoolbook"/>
              </a:rPr>
              <a:t>em</a:t>
            </a:r>
            <a:r>
              <a:rPr sz="1998" dirty="0">
                <a:latin typeface="Times New Roman"/>
                <a:cs typeface="Times New Roman"/>
              </a:rPr>
              <a:t>	</a:t>
            </a:r>
            <a:r>
              <a:rPr sz="1998" spc="-25" dirty="0">
                <a:latin typeface="Century Schoolbook"/>
                <a:cs typeface="Century Schoolbook"/>
              </a:rPr>
              <a:t>um</a:t>
            </a:r>
            <a:r>
              <a:rPr sz="1998" spc="-2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gerenciáveis</a:t>
            </a:r>
            <a:r>
              <a:rPr sz="1998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</a:t>
            </a:r>
            <a:r>
              <a:rPr sz="1998" spc="40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inteligíveis.</a:t>
            </a:r>
            <a:endParaRPr sz="1998">
              <a:latin typeface="Century Schoolbook"/>
              <a:cs typeface="Century Schoolboo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98930" y="1700226"/>
            <a:ext cx="2567468" cy="330529"/>
          </a:xfrm>
          <a:prstGeom prst="rect">
            <a:avLst/>
          </a:prstGeom>
        </p:spPr>
        <p:txBody>
          <a:bodyPr vert="horz" wrap="square" lIns="0" tIns="13323" rIns="0" bIns="0" rtlCol="0">
            <a:spAutoFit/>
          </a:bodyPr>
          <a:lstStyle/>
          <a:p>
            <a:pPr marL="12689">
              <a:spcBef>
                <a:spcPts val="105"/>
              </a:spcBef>
              <a:tabLst>
                <a:tab pos="1277739" algn="l"/>
                <a:tab pos="1810658" algn="l"/>
              </a:tabLst>
            </a:pPr>
            <a:r>
              <a:rPr sz="1998" spc="-10" dirty="0">
                <a:latin typeface="Century Schoolbook"/>
                <a:cs typeface="Century Schoolbook"/>
              </a:rPr>
              <a:t>conjunto</a:t>
            </a:r>
            <a:r>
              <a:rPr sz="1998" dirty="0">
                <a:latin typeface="Times New Roman"/>
                <a:cs typeface="Times New Roman"/>
              </a:rPr>
              <a:t>	</a:t>
            </a:r>
            <a:r>
              <a:rPr sz="1998" spc="-25" dirty="0">
                <a:latin typeface="Century Schoolbook"/>
                <a:cs typeface="Century Schoolbook"/>
              </a:rPr>
              <a:t>de</a:t>
            </a:r>
            <a:r>
              <a:rPr sz="1998" dirty="0">
                <a:latin typeface="Times New Roman"/>
                <a:cs typeface="Times New Roman"/>
              </a:rPr>
              <a:t>	</a:t>
            </a:r>
            <a:r>
              <a:rPr sz="1998" spc="-10" dirty="0">
                <a:latin typeface="Century Schoolbook"/>
                <a:cs typeface="Century Schoolbook"/>
              </a:rPr>
              <a:t>partes</a:t>
            </a:r>
            <a:endParaRPr sz="1998">
              <a:latin typeface="Century Schoolbook"/>
              <a:cs typeface="Century Schoolbook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63676" y="2629006"/>
            <a:ext cx="7304626" cy="3543194"/>
          </a:xfrm>
          <a:prstGeom prst="rect">
            <a:avLst/>
          </a:prstGeom>
        </p:spPr>
        <p:txBody>
          <a:bodyPr vert="horz" wrap="square" lIns="0" tIns="13323" rIns="0" bIns="0" rtlCol="0">
            <a:spAutoFit/>
          </a:bodyPr>
          <a:lstStyle/>
          <a:p>
            <a:pPr marL="286762" indent="-274073" algn="just">
              <a:spcBef>
                <a:spcPts val="105"/>
              </a:spcBef>
              <a:buClr>
                <a:srgbClr val="94C600"/>
              </a:buClr>
              <a:buSzPct val="70000"/>
              <a:buFont typeface="Wingdings"/>
              <a:buChar char=""/>
              <a:tabLst>
                <a:tab pos="286762" algn="l"/>
              </a:tabLst>
            </a:pPr>
            <a:r>
              <a:rPr sz="1998" dirty="0">
                <a:latin typeface="Century Schoolbook"/>
                <a:cs typeface="Century Schoolbook"/>
              </a:rPr>
              <a:t>Requisitos</a:t>
            </a:r>
            <a:r>
              <a:rPr sz="1998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instáveis</a:t>
            </a:r>
            <a:r>
              <a:rPr sz="1998" spc="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não</a:t>
            </a:r>
            <a:r>
              <a:rPr sz="1998" spc="3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impedem</a:t>
            </a:r>
            <a:r>
              <a:rPr sz="1998" spc="2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o</a:t>
            </a:r>
            <a:r>
              <a:rPr sz="1998" spc="50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progresso.</a:t>
            </a:r>
            <a:endParaRPr sz="1998">
              <a:latin typeface="Century Schoolbook"/>
              <a:cs typeface="Century Schoolbook"/>
            </a:endParaRPr>
          </a:p>
          <a:p>
            <a:pPr marL="286762" marR="5710" indent="-274073" algn="just">
              <a:lnSpc>
                <a:spcPct val="140000"/>
              </a:lnSpc>
              <a:spcBef>
                <a:spcPts val="594"/>
              </a:spcBef>
              <a:buClr>
                <a:srgbClr val="94C600"/>
              </a:buClr>
              <a:buSzPct val="70000"/>
              <a:buFont typeface="Wingdings"/>
              <a:buChar char=""/>
              <a:tabLst>
                <a:tab pos="286762" algn="l"/>
              </a:tabLst>
            </a:pPr>
            <a:r>
              <a:rPr sz="1998" dirty="0">
                <a:latin typeface="Century Schoolbook"/>
                <a:cs typeface="Century Schoolbook"/>
              </a:rPr>
              <a:t>Toda</a:t>
            </a:r>
            <a:r>
              <a:rPr sz="1998" spc="2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a</a:t>
            </a:r>
            <a:r>
              <a:rPr sz="1998" spc="2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equipe</a:t>
            </a:r>
            <a:r>
              <a:rPr sz="1998" spc="2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tem</a:t>
            </a:r>
            <a:r>
              <a:rPr sz="1998" spc="2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visão</a:t>
            </a:r>
            <a:r>
              <a:rPr sz="1998" spc="2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de</a:t>
            </a:r>
            <a:r>
              <a:rPr sz="1998" spc="2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tudo</a:t>
            </a:r>
            <a:r>
              <a:rPr sz="1998" spc="2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e</a:t>
            </a:r>
            <a:r>
              <a:rPr sz="1998" spc="2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consequentemente</a:t>
            </a:r>
            <a:r>
              <a:rPr sz="1998" spc="15" dirty="0">
                <a:latin typeface="Times New Roman"/>
                <a:cs typeface="Times New Roman"/>
              </a:rPr>
              <a:t>  </a:t>
            </a:r>
            <a:r>
              <a:rPr sz="1998" spc="-50" dirty="0">
                <a:latin typeface="Century Schoolbook"/>
                <a:cs typeface="Century Schoolbook"/>
              </a:rPr>
              <a:t>a</a:t>
            </a:r>
            <a:r>
              <a:rPr sz="1998" spc="-5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comunicação</a:t>
            </a:r>
            <a:r>
              <a:rPr sz="1998" spc="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da</a:t>
            </a:r>
            <a:r>
              <a:rPr sz="1998" spc="4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equipe</a:t>
            </a:r>
            <a:r>
              <a:rPr sz="1998" spc="3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é</a:t>
            </a:r>
            <a:r>
              <a:rPr sz="1998" spc="45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melhorada.</a:t>
            </a:r>
            <a:endParaRPr sz="1998">
              <a:latin typeface="Century Schoolbook"/>
              <a:cs typeface="Century Schoolbook"/>
            </a:endParaRPr>
          </a:p>
          <a:p>
            <a:pPr marL="286762" marR="6344" indent="-274073" algn="just">
              <a:lnSpc>
                <a:spcPct val="140000"/>
              </a:lnSpc>
              <a:spcBef>
                <a:spcPts val="599"/>
              </a:spcBef>
              <a:buClr>
                <a:srgbClr val="94C600"/>
              </a:buClr>
              <a:buSzPct val="70000"/>
              <a:buFont typeface="Wingdings"/>
              <a:buChar char=""/>
              <a:tabLst>
                <a:tab pos="286762" algn="l"/>
              </a:tabLst>
            </a:pPr>
            <a:r>
              <a:rPr sz="1998" dirty="0">
                <a:latin typeface="Century Schoolbook"/>
                <a:cs typeface="Century Schoolbook"/>
              </a:rPr>
              <a:t>Os</a:t>
            </a:r>
            <a:r>
              <a:rPr sz="1998" spc="40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clientes</a:t>
            </a:r>
            <a:r>
              <a:rPr sz="1998" spc="40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recebem</a:t>
            </a:r>
            <a:r>
              <a:rPr sz="1998" spc="40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a</a:t>
            </a:r>
            <a:r>
              <a:rPr sz="1998" spc="41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entrega</a:t>
            </a:r>
            <a:r>
              <a:rPr sz="1998" spc="42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dos</a:t>
            </a:r>
            <a:r>
              <a:rPr sz="1998" spc="40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incrementos</a:t>
            </a:r>
            <a:r>
              <a:rPr sz="1998" spc="40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no</a:t>
            </a:r>
            <a:r>
              <a:rPr sz="1998" spc="430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tempo</a:t>
            </a:r>
            <a:r>
              <a:rPr sz="1998" spc="-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certo,</a:t>
            </a:r>
            <a:r>
              <a:rPr sz="1998" spc="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além</a:t>
            </a:r>
            <a:r>
              <a:rPr sz="1998" spc="2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do</a:t>
            </a:r>
            <a:r>
              <a:rPr sz="1998" spc="4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feedback</a:t>
            </a:r>
            <a:r>
              <a:rPr sz="1998" spc="1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de</a:t>
            </a:r>
            <a:r>
              <a:rPr sz="1998" spc="4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como</a:t>
            </a:r>
            <a:r>
              <a:rPr sz="1998" spc="3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o</a:t>
            </a:r>
            <a:r>
              <a:rPr sz="1998" spc="4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produto</a:t>
            </a:r>
            <a:r>
              <a:rPr sz="1998" spc="30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funciona.</a:t>
            </a:r>
            <a:endParaRPr sz="1998">
              <a:latin typeface="Century Schoolbook"/>
              <a:cs typeface="Century Schoolbook"/>
            </a:endParaRPr>
          </a:p>
          <a:p>
            <a:pPr marL="286762" marR="5075" indent="-274073" algn="just">
              <a:lnSpc>
                <a:spcPct val="140000"/>
              </a:lnSpc>
              <a:spcBef>
                <a:spcPts val="599"/>
              </a:spcBef>
              <a:buClr>
                <a:srgbClr val="94C600"/>
              </a:buClr>
              <a:buSzPct val="70000"/>
              <a:buFont typeface="Wingdings"/>
              <a:buChar char=""/>
              <a:tabLst>
                <a:tab pos="286762" algn="l"/>
              </a:tabLst>
            </a:pPr>
            <a:r>
              <a:rPr sz="1998" dirty="0">
                <a:latin typeface="Century Schoolbook"/>
                <a:cs typeface="Century Schoolbook"/>
              </a:rPr>
              <a:t>Se</a:t>
            </a:r>
            <a:r>
              <a:rPr sz="1998" spc="190" dirty="0">
                <a:latin typeface="Times New Roman"/>
                <a:cs typeface="Times New Roman"/>
              </a:rPr>
              <a:t>   </a:t>
            </a:r>
            <a:r>
              <a:rPr sz="1998" dirty="0">
                <a:latin typeface="Century Schoolbook"/>
                <a:cs typeface="Century Schoolbook"/>
              </a:rPr>
              <a:t>estabelece</a:t>
            </a:r>
            <a:r>
              <a:rPr sz="1998" spc="195" dirty="0">
                <a:latin typeface="Times New Roman"/>
                <a:cs typeface="Times New Roman"/>
              </a:rPr>
              <a:t>   </a:t>
            </a:r>
            <a:r>
              <a:rPr sz="1998" dirty="0">
                <a:latin typeface="Century Schoolbook"/>
                <a:cs typeface="Century Schoolbook"/>
              </a:rPr>
              <a:t>a</a:t>
            </a:r>
            <a:r>
              <a:rPr sz="1998" spc="200" dirty="0">
                <a:latin typeface="Times New Roman"/>
                <a:cs typeface="Times New Roman"/>
              </a:rPr>
              <a:t>   </a:t>
            </a:r>
            <a:r>
              <a:rPr sz="1998" dirty="0">
                <a:latin typeface="Century Schoolbook"/>
                <a:cs typeface="Century Schoolbook"/>
              </a:rPr>
              <a:t>confiança</a:t>
            </a:r>
            <a:r>
              <a:rPr sz="1998" spc="190" dirty="0">
                <a:latin typeface="Times New Roman"/>
                <a:cs typeface="Times New Roman"/>
              </a:rPr>
              <a:t>   </a:t>
            </a:r>
            <a:r>
              <a:rPr sz="1998" dirty="0">
                <a:latin typeface="Century Schoolbook"/>
                <a:cs typeface="Century Schoolbook"/>
              </a:rPr>
              <a:t>entre</a:t>
            </a:r>
            <a:r>
              <a:rPr sz="1998" spc="195" dirty="0">
                <a:latin typeface="Times New Roman"/>
                <a:cs typeface="Times New Roman"/>
              </a:rPr>
              <a:t>   </a:t>
            </a:r>
            <a:r>
              <a:rPr sz="1998" dirty="0">
                <a:latin typeface="Century Schoolbook"/>
                <a:cs typeface="Century Schoolbook"/>
              </a:rPr>
              <a:t>os</a:t>
            </a:r>
            <a:r>
              <a:rPr sz="1998" spc="195" dirty="0">
                <a:latin typeface="Times New Roman"/>
                <a:cs typeface="Times New Roman"/>
              </a:rPr>
              <a:t>   </a:t>
            </a:r>
            <a:r>
              <a:rPr sz="1998" dirty="0">
                <a:latin typeface="Century Schoolbook"/>
                <a:cs typeface="Century Schoolbook"/>
              </a:rPr>
              <a:t>clientes</a:t>
            </a:r>
            <a:r>
              <a:rPr sz="1998" spc="195" dirty="0">
                <a:latin typeface="Times New Roman"/>
                <a:cs typeface="Times New Roman"/>
              </a:rPr>
              <a:t>   </a:t>
            </a:r>
            <a:r>
              <a:rPr sz="1998" dirty="0">
                <a:latin typeface="Century Schoolbook"/>
                <a:cs typeface="Century Schoolbook"/>
              </a:rPr>
              <a:t>e</a:t>
            </a:r>
            <a:r>
              <a:rPr sz="1998" spc="195" dirty="0">
                <a:latin typeface="Times New Roman"/>
                <a:cs typeface="Times New Roman"/>
              </a:rPr>
              <a:t>   </a:t>
            </a:r>
            <a:r>
              <a:rPr sz="1998" spc="-25" dirty="0">
                <a:latin typeface="Century Schoolbook"/>
                <a:cs typeface="Century Schoolbook"/>
              </a:rPr>
              <a:t>os</a:t>
            </a:r>
            <a:r>
              <a:rPr sz="1998" spc="-2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desenvolvedores</a:t>
            </a:r>
            <a:r>
              <a:rPr sz="1998" spc="49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e</a:t>
            </a:r>
            <a:r>
              <a:rPr sz="1998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se</a:t>
            </a:r>
            <a:r>
              <a:rPr sz="1998" spc="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cria</a:t>
            </a:r>
            <a:r>
              <a:rPr sz="1998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uma</a:t>
            </a:r>
            <a:r>
              <a:rPr sz="1998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cultura</a:t>
            </a:r>
            <a:r>
              <a:rPr sz="1998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positiva</a:t>
            </a:r>
            <a:r>
              <a:rPr sz="1998" spc="49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na</a:t>
            </a:r>
            <a:r>
              <a:rPr sz="1998" dirty="0">
                <a:latin typeface="Times New Roman"/>
                <a:cs typeface="Times New Roman"/>
              </a:rPr>
              <a:t>  </a:t>
            </a:r>
            <a:r>
              <a:rPr sz="1998" spc="-20" dirty="0">
                <a:latin typeface="Century Schoolbook"/>
                <a:cs typeface="Century Schoolbook"/>
              </a:rPr>
              <a:t>qual</a:t>
            </a:r>
            <a:r>
              <a:rPr sz="1998" spc="-2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todos</a:t>
            </a:r>
            <a:r>
              <a:rPr sz="1998" spc="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acham</a:t>
            </a:r>
            <a:r>
              <a:rPr sz="1998" spc="3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que</a:t>
            </a:r>
            <a:r>
              <a:rPr sz="1998" spc="4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o</a:t>
            </a:r>
            <a:r>
              <a:rPr sz="1998" spc="4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projeto</a:t>
            </a:r>
            <a:r>
              <a:rPr sz="1998" spc="3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dará</a:t>
            </a:r>
            <a:r>
              <a:rPr sz="1998" spc="40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certo.</a:t>
            </a:r>
            <a:endParaRPr sz="1998">
              <a:latin typeface="Century Schoolbook"/>
              <a:cs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649638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3676" y="454488"/>
            <a:ext cx="6280050" cy="1365776"/>
          </a:xfrm>
          <a:prstGeom prst="rect">
            <a:avLst/>
          </a:prstGeom>
        </p:spPr>
        <p:txBody>
          <a:bodyPr vert="horz" wrap="square" lIns="0" tIns="12688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100"/>
              </a:spcBef>
            </a:pPr>
            <a:r>
              <a:rPr cap="small" dirty="0"/>
              <a:t>E</a:t>
            </a:r>
            <a:r>
              <a:rPr cap="small" spc="-5" dirty="0"/>
              <a:t>s</a:t>
            </a:r>
            <a:r>
              <a:rPr cap="small" dirty="0"/>
              <a:t>ca</a:t>
            </a:r>
            <a:r>
              <a:rPr cap="small" spc="-10" dirty="0"/>
              <a:t>l</a:t>
            </a:r>
            <a:r>
              <a:rPr cap="small" dirty="0"/>
              <a:t>a</a:t>
            </a:r>
            <a:r>
              <a:rPr cap="small" spc="-5" dirty="0"/>
              <a:t>m</a:t>
            </a:r>
            <a:r>
              <a:rPr cap="small" dirty="0"/>
              <a:t>en</a:t>
            </a:r>
            <a:r>
              <a:rPr cap="small" spc="-10" dirty="0"/>
              <a:t>t</a:t>
            </a:r>
            <a:r>
              <a:rPr cap="small" dirty="0"/>
              <a:t>o</a:t>
            </a:r>
            <a:r>
              <a:rPr sz="2398" spc="265" dirty="0">
                <a:latin typeface="Times New Roman"/>
                <a:cs typeface="Times New Roman"/>
              </a:rPr>
              <a:t> </a:t>
            </a:r>
            <a:r>
              <a:rPr cap="small" dirty="0"/>
              <a:t>de</a:t>
            </a:r>
            <a:r>
              <a:rPr sz="2398" spc="265" dirty="0">
                <a:latin typeface="Times New Roman"/>
                <a:cs typeface="Times New Roman"/>
              </a:rPr>
              <a:t> </a:t>
            </a:r>
            <a:r>
              <a:rPr cap="small" spc="-5" dirty="0"/>
              <a:t>m</a:t>
            </a:r>
            <a:r>
              <a:rPr cap="small" dirty="0"/>
              <a:t>é</a:t>
            </a:r>
            <a:r>
              <a:rPr cap="small" spc="-10" dirty="0"/>
              <a:t>t</a:t>
            </a:r>
            <a:r>
              <a:rPr cap="small" dirty="0"/>
              <a:t>odos</a:t>
            </a:r>
            <a:r>
              <a:rPr sz="2398" spc="254" dirty="0">
                <a:latin typeface="Times New Roman"/>
                <a:cs typeface="Times New Roman"/>
              </a:rPr>
              <a:t> </a:t>
            </a:r>
            <a:r>
              <a:rPr cap="small" dirty="0"/>
              <a:t>ágeis</a:t>
            </a:r>
            <a:endParaRPr sz="239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3675" y="1582379"/>
            <a:ext cx="7303358" cy="4532878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286762" marR="5075" indent="-274073" algn="just">
              <a:lnSpc>
                <a:spcPct val="130000"/>
              </a:lnSpc>
              <a:spcBef>
                <a:spcPts val="100"/>
              </a:spcBef>
              <a:buClr>
                <a:srgbClr val="94C600"/>
              </a:buClr>
              <a:buSzPct val="68181"/>
              <a:buFont typeface="Wingdings"/>
              <a:buChar char=""/>
              <a:tabLst>
                <a:tab pos="286762" algn="l"/>
              </a:tabLst>
            </a:pPr>
            <a:r>
              <a:rPr sz="2198" dirty="0">
                <a:latin typeface="Century Schoolbook"/>
                <a:cs typeface="Century Schoolbook"/>
              </a:rPr>
              <a:t>Os</a:t>
            </a:r>
            <a:r>
              <a:rPr sz="2198" spc="95" dirty="0">
                <a:latin typeface="Times New Roman"/>
                <a:cs typeface="Times New Roman"/>
              </a:rPr>
              <a:t>  </a:t>
            </a:r>
            <a:r>
              <a:rPr sz="2198" dirty="0">
                <a:latin typeface="Century Schoolbook"/>
                <a:cs typeface="Century Schoolbook"/>
              </a:rPr>
              <a:t>métodos</a:t>
            </a:r>
            <a:r>
              <a:rPr sz="2198" spc="95" dirty="0">
                <a:latin typeface="Times New Roman"/>
                <a:cs typeface="Times New Roman"/>
              </a:rPr>
              <a:t>  </a:t>
            </a:r>
            <a:r>
              <a:rPr sz="2198" dirty="0">
                <a:latin typeface="Century Schoolbook"/>
                <a:cs typeface="Century Schoolbook"/>
              </a:rPr>
              <a:t>ágeis</a:t>
            </a:r>
            <a:r>
              <a:rPr sz="2198" spc="95" dirty="0">
                <a:latin typeface="Times New Roman"/>
                <a:cs typeface="Times New Roman"/>
              </a:rPr>
              <a:t>  </a:t>
            </a:r>
            <a:r>
              <a:rPr sz="2198" spc="-25" dirty="0">
                <a:latin typeface="Century Schoolbook"/>
                <a:cs typeface="Century Schoolbook"/>
              </a:rPr>
              <a:t>provaram-</a:t>
            </a:r>
            <a:r>
              <a:rPr sz="2198" dirty="0">
                <a:latin typeface="Century Schoolbook"/>
                <a:cs typeface="Century Schoolbook"/>
              </a:rPr>
              <a:t>se</a:t>
            </a:r>
            <a:r>
              <a:rPr sz="2198" spc="95" dirty="0">
                <a:latin typeface="Times New Roman"/>
                <a:cs typeface="Times New Roman"/>
              </a:rPr>
              <a:t>  </a:t>
            </a:r>
            <a:r>
              <a:rPr sz="2198" spc="-10" dirty="0">
                <a:latin typeface="Century Schoolbook"/>
                <a:cs typeface="Century Schoolbook"/>
              </a:rPr>
              <a:t>bem-</a:t>
            </a:r>
            <a:r>
              <a:rPr sz="2198" dirty="0">
                <a:latin typeface="Century Schoolbook"/>
                <a:cs typeface="Century Schoolbook"/>
              </a:rPr>
              <a:t>sucedidos</a:t>
            </a:r>
            <a:r>
              <a:rPr sz="2198" spc="95" dirty="0">
                <a:latin typeface="Times New Roman"/>
                <a:cs typeface="Times New Roman"/>
              </a:rPr>
              <a:t>  </a:t>
            </a:r>
            <a:r>
              <a:rPr sz="2198" spc="-20" dirty="0">
                <a:latin typeface="Century Schoolbook"/>
                <a:cs typeface="Century Schoolbook"/>
              </a:rPr>
              <a:t>para</a:t>
            </a:r>
            <a:r>
              <a:rPr sz="2198" spc="-2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projetos</a:t>
            </a:r>
            <a:r>
              <a:rPr sz="2198" spc="315" dirty="0">
                <a:latin typeface="Times New Roman"/>
                <a:cs typeface="Times New Roman"/>
              </a:rPr>
              <a:t>   </a:t>
            </a:r>
            <a:r>
              <a:rPr sz="2198" dirty="0">
                <a:latin typeface="Century Schoolbook"/>
                <a:cs typeface="Century Schoolbook"/>
              </a:rPr>
              <a:t>pequenos</a:t>
            </a:r>
            <a:r>
              <a:rPr sz="2198" spc="315" dirty="0">
                <a:latin typeface="Times New Roman"/>
                <a:cs typeface="Times New Roman"/>
              </a:rPr>
              <a:t>   </a:t>
            </a:r>
            <a:r>
              <a:rPr sz="2198" dirty="0">
                <a:latin typeface="Century Schoolbook"/>
                <a:cs typeface="Century Schoolbook"/>
              </a:rPr>
              <a:t>e</a:t>
            </a:r>
            <a:r>
              <a:rPr sz="2198" spc="315" dirty="0">
                <a:latin typeface="Times New Roman"/>
                <a:cs typeface="Times New Roman"/>
              </a:rPr>
              <a:t>   </a:t>
            </a:r>
            <a:r>
              <a:rPr sz="2198" dirty="0">
                <a:latin typeface="Century Schoolbook"/>
                <a:cs typeface="Century Schoolbook"/>
              </a:rPr>
              <a:t>médios</a:t>
            </a:r>
            <a:r>
              <a:rPr sz="2198" spc="315" dirty="0">
                <a:latin typeface="Times New Roman"/>
                <a:cs typeface="Times New Roman"/>
              </a:rPr>
              <a:t>   </a:t>
            </a:r>
            <a:r>
              <a:rPr sz="2198" dirty="0">
                <a:latin typeface="Century Schoolbook"/>
                <a:cs typeface="Century Schoolbook"/>
              </a:rPr>
              <a:t>que</a:t>
            </a:r>
            <a:r>
              <a:rPr sz="2198" spc="320" dirty="0">
                <a:latin typeface="Times New Roman"/>
                <a:cs typeface="Times New Roman"/>
              </a:rPr>
              <a:t>   </a:t>
            </a:r>
            <a:r>
              <a:rPr sz="2198" dirty="0">
                <a:latin typeface="Century Schoolbook"/>
                <a:cs typeface="Century Schoolbook"/>
              </a:rPr>
              <a:t>podem</a:t>
            </a:r>
            <a:r>
              <a:rPr sz="2198" spc="315" dirty="0">
                <a:latin typeface="Times New Roman"/>
                <a:cs typeface="Times New Roman"/>
              </a:rPr>
              <a:t>   </a:t>
            </a:r>
            <a:r>
              <a:rPr sz="2198" spc="-25" dirty="0">
                <a:latin typeface="Century Schoolbook"/>
                <a:cs typeface="Century Schoolbook"/>
              </a:rPr>
              <a:t>ser</a:t>
            </a:r>
            <a:r>
              <a:rPr sz="2198" spc="-2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desenvolvidos</a:t>
            </a:r>
            <a:r>
              <a:rPr sz="2198" spc="-1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por</a:t>
            </a:r>
            <a:r>
              <a:rPr sz="2198" spc="-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uma</a:t>
            </a:r>
            <a:r>
              <a:rPr sz="2198" spc="-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equipe</a:t>
            </a:r>
            <a:r>
              <a:rPr sz="2198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pequena</a:t>
            </a:r>
            <a:r>
              <a:rPr sz="2198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e</a:t>
            </a:r>
            <a:r>
              <a:rPr sz="2198" dirty="0">
                <a:latin typeface="Times New Roman"/>
                <a:cs typeface="Times New Roman"/>
              </a:rPr>
              <a:t> </a:t>
            </a:r>
            <a:r>
              <a:rPr sz="2198" spc="-10" dirty="0">
                <a:latin typeface="Century Schoolbook"/>
                <a:cs typeface="Century Schoolbook"/>
              </a:rPr>
              <a:t>localizada.</a:t>
            </a:r>
            <a:endParaRPr sz="2198">
              <a:latin typeface="Century Schoolbook"/>
              <a:cs typeface="Century Schoolbook"/>
            </a:endParaRPr>
          </a:p>
          <a:p>
            <a:pPr marL="286762" marR="5075" indent="-274073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68181"/>
              <a:buFont typeface="Wingdings"/>
              <a:buChar char=""/>
              <a:tabLst>
                <a:tab pos="286762" algn="l"/>
              </a:tabLst>
            </a:pPr>
            <a:r>
              <a:rPr sz="2198" dirty="0">
                <a:latin typeface="Century Schoolbook"/>
                <a:cs typeface="Century Schoolbook"/>
              </a:rPr>
              <a:t>É</a:t>
            </a:r>
            <a:r>
              <a:rPr sz="2198" spc="32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dito</a:t>
            </a:r>
            <a:r>
              <a:rPr sz="2198" spc="33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que</a:t>
            </a:r>
            <a:r>
              <a:rPr sz="2198" spc="32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o</a:t>
            </a:r>
            <a:r>
              <a:rPr sz="2198" spc="33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sucesso</a:t>
            </a:r>
            <a:r>
              <a:rPr sz="2198" spc="33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desses</a:t>
            </a:r>
            <a:r>
              <a:rPr sz="2198" spc="32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métodos</a:t>
            </a:r>
            <a:r>
              <a:rPr sz="2198" spc="32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ocorre</a:t>
            </a:r>
            <a:r>
              <a:rPr sz="2198" spc="32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devido</a:t>
            </a:r>
            <a:r>
              <a:rPr sz="2198" spc="330" dirty="0">
                <a:latin typeface="Times New Roman"/>
                <a:cs typeface="Times New Roman"/>
              </a:rPr>
              <a:t> </a:t>
            </a:r>
            <a:r>
              <a:rPr sz="2198" spc="-50" dirty="0">
                <a:latin typeface="Century Schoolbook"/>
                <a:cs typeface="Century Schoolbook"/>
              </a:rPr>
              <a:t>a</a:t>
            </a:r>
            <a:r>
              <a:rPr sz="2198" spc="-5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melhorias</a:t>
            </a:r>
            <a:r>
              <a:rPr sz="2198" spc="150" dirty="0">
                <a:latin typeface="Times New Roman"/>
                <a:cs typeface="Times New Roman"/>
              </a:rPr>
              <a:t>  </a:t>
            </a:r>
            <a:r>
              <a:rPr sz="2198" dirty="0">
                <a:latin typeface="Century Schoolbook"/>
                <a:cs typeface="Century Schoolbook"/>
              </a:rPr>
              <a:t>na</a:t>
            </a:r>
            <a:r>
              <a:rPr sz="2198" spc="155" dirty="0">
                <a:latin typeface="Times New Roman"/>
                <a:cs typeface="Times New Roman"/>
              </a:rPr>
              <a:t>  </a:t>
            </a:r>
            <a:r>
              <a:rPr sz="2198" dirty="0">
                <a:latin typeface="Century Schoolbook"/>
                <a:cs typeface="Century Schoolbook"/>
              </a:rPr>
              <a:t>comunicação,</a:t>
            </a:r>
            <a:r>
              <a:rPr sz="2198" spc="155" dirty="0">
                <a:latin typeface="Times New Roman"/>
                <a:cs typeface="Times New Roman"/>
              </a:rPr>
              <a:t>  </a:t>
            </a:r>
            <a:r>
              <a:rPr sz="2198" dirty="0">
                <a:latin typeface="Century Schoolbook"/>
                <a:cs typeface="Century Schoolbook"/>
              </a:rPr>
              <a:t>as</a:t>
            </a:r>
            <a:r>
              <a:rPr sz="2198" spc="155" dirty="0">
                <a:latin typeface="Times New Roman"/>
                <a:cs typeface="Times New Roman"/>
              </a:rPr>
              <a:t>  </a:t>
            </a:r>
            <a:r>
              <a:rPr sz="2198" dirty="0">
                <a:latin typeface="Century Schoolbook"/>
                <a:cs typeface="Century Schoolbook"/>
              </a:rPr>
              <a:t>quais</a:t>
            </a:r>
            <a:r>
              <a:rPr sz="2198" spc="155" dirty="0">
                <a:latin typeface="Times New Roman"/>
                <a:cs typeface="Times New Roman"/>
              </a:rPr>
              <a:t>  </a:t>
            </a:r>
            <a:r>
              <a:rPr sz="2198" dirty="0">
                <a:latin typeface="Century Schoolbook"/>
                <a:cs typeface="Century Schoolbook"/>
              </a:rPr>
              <a:t>são</a:t>
            </a:r>
            <a:r>
              <a:rPr sz="2198" spc="150" dirty="0">
                <a:latin typeface="Times New Roman"/>
                <a:cs typeface="Times New Roman"/>
              </a:rPr>
              <a:t>  </a:t>
            </a:r>
            <a:r>
              <a:rPr sz="2198" spc="-10" dirty="0">
                <a:latin typeface="Century Schoolbook"/>
                <a:cs typeface="Century Schoolbook"/>
              </a:rPr>
              <a:t>possíveis</a:t>
            </a:r>
            <a:r>
              <a:rPr sz="2198" spc="-1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quando</a:t>
            </a:r>
            <a:r>
              <a:rPr sz="2198" spc="-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todos</a:t>
            </a:r>
            <a:r>
              <a:rPr sz="2198" spc="-3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estão</a:t>
            </a:r>
            <a:r>
              <a:rPr sz="2198" spc="-2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trabalhando</a:t>
            </a:r>
            <a:r>
              <a:rPr sz="2198" spc="-20" dirty="0">
                <a:latin typeface="Times New Roman"/>
                <a:cs typeface="Times New Roman"/>
              </a:rPr>
              <a:t> </a:t>
            </a:r>
            <a:r>
              <a:rPr sz="2198" spc="-10" dirty="0">
                <a:latin typeface="Century Schoolbook"/>
                <a:cs typeface="Century Schoolbook"/>
              </a:rPr>
              <a:t>juntos.</a:t>
            </a:r>
            <a:endParaRPr sz="2198">
              <a:latin typeface="Century Schoolbook"/>
              <a:cs typeface="Century Schoolbook"/>
            </a:endParaRPr>
          </a:p>
          <a:p>
            <a:pPr marL="286762" marR="5075" indent="-274073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68181"/>
              <a:buFont typeface="Wingdings"/>
              <a:buChar char=""/>
              <a:tabLst>
                <a:tab pos="286762" algn="l"/>
              </a:tabLst>
            </a:pPr>
            <a:r>
              <a:rPr sz="2198" dirty="0">
                <a:latin typeface="Century Schoolbook"/>
                <a:cs typeface="Century Schoolbook"/>
              </a:rPr>
              <a:t>A</a:t>
            </a:r>
            <a:r>
              <a:rPr sz="2198" dirty="0">
                <a:latin typeface="Times New Roman"/>
                <a:cs typeface="Times New Roman"/>
              </a:rPr>
              <a:t>  </a:t>
            </a:r>
            <a:r>
              <a:rPr sz="2198" dirty="0">
                <a:latin typeface="Century Schoolbook"/>
                <a:cs typeface="Century Schoolbook"/>
              </a:rPr>
              <a:t>escalamento</a:t>
            </a:r>
            <a:r>
              <a:rPr sz="2198" spc="10" dirty="0">
                <a:latin typeface="Times New Roman"/>
                <a:cs typeface="Times New Roman"/>
              </a:rPr>
              <a:t>  </a:t>
            </a:r>
            <a:r>
              <a:rPr sz="2198" dirty="0">
                <a:latin typeface="Century Schoolbook"/>
                <a:cs typeface="Century Schoolbook"/>
              </a:rPr>
              <a:t>dos</a:t>
            </a:r>
            <a:r>
              <a:rPr sz="2198" dirty="0">
                <a:latin typeface="Times New Roman"/>
                <a:cs typeface="Times New Roman"/>
              </a:rPr>
              <a:t>  </a:t>
            </a:r>
            <a:r>
              <a:rPr sz="2198" dirty="0">
                <a:latin typeface="Century Schoolbook"/>
                <a:cs typeface="Century Schoolbook"/>
              </a:rPr>
              <a:t>métodos</a:t>
            </a:r>
            <a:r>
              <a:rPr sz="2198" dirty="0">
                <a:latin typeface="Times New Roman"/>
                <a:cs typeface="Times New Roman"/>
              </a:rPr>
              <a:t>  </a:t>
            </a:r>
            <a:r>
              <a:rPr sz="2198" dirty="0">
                <a:latin typeface="Century Schoolbook"/>
                <a:cs typeface="Century Schoolbook"/>
              </a:rPr>
              <a:t>ágeis</a:t>
            </a:r>
            <a:r>
              <a:rPr sz="2198" dirty="0">
                <a:latin typeface="Times New Roman"/>
                <a:cs typeface="Times New Roman"/>
              </a:rPr>
              <a:t>  </a:t>
            </a:r>
            <a:r>
              <a:rPr sz="2198" dirty="0">
                <a:latin typeface="Century Schoolbook"/>
                <a:cs typeface="Century Schoolbook"/>
              </a:rPr>
              <a:t>envolve</a:t>
            </a:r>
            <a:r>
              <a:rPr sz="2198" spc="10" dirty="0">
                <a:latin typeface="Times New Roman"/>
                <a:cs typeface="Times New Roman"/>
              </a:rPr>
              <a:t>  </a:t>
            </a:r>
            <a:r>
              <a:rPr sz="2198" spc="-25" dirty="0">
                <a:latin typeface="Century Schoolbook"/>
                <a:cs typeface="Century Schoolbook"/>
              </a:rPr>
              <a:t>mudá-los</a:t>
            </a:r>
            <a:r>
              <a:rPr sz="2198" spc="-2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para</a:t>
            </a:r>
            <a:r>
              <a:rPr sz="2198" spc="46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que</a:t>
            </a:r>
            <a:r>
              <a:rPr sz="2198" spc="47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lidem</a:t>
            </a:r>
            <a:r>
              <a:rPr sz="2198" spc="47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com</a:t>
            </a:r>
            <a:r>
              <a:rPr sz="2198" spc="47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projetos</a:t>
            </a:r>
            <a:r>
              <a:rPr sz="2198" spc="459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maiores</a:t>
            </a:r>
            <a:r>
              <a:rPr sz="2198" spc="459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e</a:t>
            </a:r>
            <a:r>
              <a:rPr sz="2198" spc="459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mais</a:t>
            </a:r>
            <a:r>
              <a:rPr sz="2198" spc="459" dirty="0">
                <a:latin typeface="Times New Roman"/>
                <a:cs typeface="Times New Roman"/>
              </a:rPr>
              <a:t> </a:t>
            </a:r>
            <a:r>
              <a:rPr sz="2198" spc="-10" dirty="0">
                <a:latin typeface="Century Schoolbook"/>
                <a:cs typeface="Century Schoolbook"/>
              </a:rPr>
              <a:t>longos</a:t>
            </a:r>
            <a:r>
              <a:rPr sz="2198" spc="-1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onde</a:t>
            </a:r>
            <a:r>
              <a:rPr sz="2198" spc="37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existem</a:t>
            </a:r>
            <a:r>
              <a:rPr sz="2198" spc="38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múltiplas</a:t>
            </a:r>
            <a:r>
              <a:rPr sz="2198" spc="38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equipes</a:t>
            </a:r>
            <a:r>
              <a:rPr sz="2198" spc="38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de</a:t>
            </a:r>
            <a:r>
              <a:rPr sz="2198" spc="375" dirty="0">
                <a:latin typeface="Times New Roman"/>
                <a:cs typeface="Times New Roman"/>
              </a:rPr>
              <a:t> </a:t>
            </a:r>
            <a:r>
              <a:rPr sz="2198" spc="-10" dirty="0">
                <a:latin typeface="Century Schoolbook"/>
                <a:cs typeface="Century Schoolbook"/>
              </a:rPr>
              <a:t>desenvolvimento,</a:t>
            </a:r>
            <a:r>
              <a:rPr sz="2198" spc="-1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talvez</a:t>
            </a:r>
            <a:r>
              <a:rPr sz="2198" spc="-3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trabalhando</a:t>
            </a:r>
            <a:r>
              <a:rPr sz="2198" spc="-10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em</a:t>
            </a:r>
            <a:r>
              <a:rPr sz="2198" spc="-35" dirty="0">
                <a:latin typeface="Times New Roman"/>
                <a:cs typeface="Times New Roman"/>
              </a:rPr>
              <a:t> </a:t>
            </a:r>
            <a:r>
              <a:rPr sz="2198" dirty="0">
                <a:latin typeface="Century Schoolbook"/>
                <a:cs typeface="Century Schoolbook"/>
              </a:rPr>
              <a:t>localizações</a:t>
            </a:r>
            <a:r>
              <a:rPr sz="2198" spc="-40" dirty="0">
                <a:latin typeface="Times New Roman"/>
                <a:cs typeface="Times New Roman"/>
              </a:rPr>
              <a:t> </a:t>
            </a:r>
            <a:r>
              <a:rPr sz="2198" spc="-10" dirty="0">
                <a:latin typeface="Century Schoolbook"/>
                <a:cs typeface="Century Schoolbook"/>
              </a:rPr>
              <a:t>diferentes.</a:t>
            </a:r>
            <a:endParaRPr sz="2198">
              <a:latin typeface="Century Schoolbook"/>
              <a:cs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3303534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3676" y="46627"/>
            <a:ext cx="6616923" cy="1614332"/>
          </a:xfrm>
          <a:prstGeom prst="rect">
            <a:avLst/>
          </a:prstGeom>
        </p:spPr>
        <p:txBody>
          <a:bodyPr vert="horz" wrap="square" lIns="0" tIns="31086" rIns="0" bIns="0" rtlCol="0" anchor="ctr">
            <a:spAutoFit/>
          </a:bodyPr>
          <a:lstStyle/>
          <a:p>
            <a:pPr marL="12689" marR="5075">
              <a:lnSpc>
                <a:spcPct val="116700"/>
              </a:lnSpc>
              <a:spcBef>
                <a:spcPts val="245"/>
              </a:spcBef>
            </a:pPr>
            <a:r>
              <a:rPr cap="small" spc="-5" dirty="0"/>
              <a:t>D</a:t>
            </a:r>
            <a:r>
              <a:rPr cap="small" dirty="0"/>
              <a:t>e</a:t>
            </a:r>
            <a:r>
              <a:rPr cap="small" spc="-5" dirty="0"/>
              <a:t>s</a:t>
            </a:r>
            <a:r>
              <a:rPr cap="small" dirty="0"/>
              <a:t>envo</a:t>
            </a:r>
            <a:r>
              <a:rPr cap="small" spc="-10" dirty="0"/>
              <a:t>l</a:t>
            </a:r>
            <a:r>
              <a:rPr cap="small" dirty="0"/>
              <a:t>vi</a:t>
            </a:r>
            <a:r>
              <a:rPr cap="small" spc="-5" dirty="0"/>
              <a:t>m</a:t>
            </a:r>
            <a:r>
              <a:rPr cap="small" dirty="0"/>
              <a:t>en</a:t>
            </a:r>
            <a:r>
              <a:rPr cap="small" spc="-10" dirty="0"/>
              <a:t>t</a:t>
            </a:r>
            <a:r>
              <a:rPr cap="small" dirty="0"/>
              <a:t>o</a:t>
            </a:r>
            <a:r>
              <a:rPr sz="2398" spc="275" dirty="0">
                <a:latin typeface="Times New Roman"/>
                <a:cs typeface="Times New Roman"/>
              </a:rPr>
              <a:t> </a:t>
            </a:r>
            <a:r>
              <a:rPr cap="small" dirty="0"/>
              <a:t>de</a:t>
            </a:r>
            <a:r>
              <a:rPr sz="2398" spc="250" dirty="0">
                <a:latin typeface="Times New Roman"/>
                <a:cs typeface="Times New Roman"/>
              </a:rPr>
              <a:t> </a:t>
            </a:r>
            <a:r>
              <a:rPr cap="small" spc="-5" dirty="0"/>
              <a:t>s</a:t>
            </a:r>
            <a:r>
              <a:rPr cap="small" dirty="0"/>
              <a:t>i</a:t>
            </a:r>
            <a:r>
              <a:rPr cap="small" spc="-5" dirty="0"/>
              <a:t>s</a:t>
            </a:r>
            <a:r>
              <a:rPr cap="small" spc="-10" dirty="0"/>
              <a:t>t</a:t>
            </a:r>
            <a:r>
              <a:rPr cap="small" dirty="0"/>
              <a:t>e</a:t>
            </a:r>
            <a:r>
              <a:rPr cap="small" spc="-5" dirty="0"/>
              <a:t>m</a:t>
            </a:r>
            <a:r>
              <a:rPr cap="small" dirty="0"/>
              <a:t>as</a:t>
            </a:r>
            <a:r>
              <a:rPr sz="2398" spc="270" dirty="0">
                <a:latin typeface="Times New Roman"/>
                <a:cs typeface="Times New Roman"/>
              </a:rPr>
              <a:t> </a:t>
            </a:r>
            <a:r>
              <a:rPr cap="small" dirty="0"/>
              <a:t>de</a:t>
            </a:r>
            <a:r>
              <a:rPr sz="2398" dirty="0">
                <a:latin typeface="Times New Roman"/>
                <a:cs typeface="Times New Roman"/>
              </a:rPr>
              <a:t> </a:t>
            </a:r>
            <a:r>
              <a:rPr cap="small" dirty="0"/>
              <a:t>g</a:t>
            </a:r>
            <a:r>
              <a:rPr cap="small" spc="-5" dirty="0"/>
              <a:t>r</a:t>
            </a:r>
            <a:r>
              <a:rPr cap="small" dirty="0"/>
              <a:t>ande</a:t>
            </a:r>
            <a:r>
              <a:rPr sz="2398" spc="250" dirty="0">
                <a:latin typeface="Times New Roman"/>
                <a:cs typeface="Times New Roman"/>
              </a:rPr>
              <a:t> </a:t>
            </a:r>
            <a:r>
              <a:rPr cap="small" dirty="0"/>
              <a:t>por</a:t>
            </a:r>
            <a:r>
              <a:rPr cap="small" spc="-10" dirty="0"/>
              <a:t>t</a:t>
            </a:r>
            <a:r>
              <a:rPr cap="small" dirty="0"/>
              <a:t>e</a:t>
            </a:r>
            <a:endParaRPr sz="239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3675" y="1594254"/>
            <a:ext cx="7303358" cy="3879433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286762" marR="5075" indent="-274073" algn="just">
              <a:lnSpc>
                <a:spcPct val="130000"/>
              </a:lnSpc>
              <a:spcBef>
                <a:spcPts val="100"/>
              </a:spcBef>
              <a:buClr>
                <a:srgbClr val="94C600"/>
              </a:buClr>
              <a:buSzPct val="67647"/>
              <a:buFont typeface="Wingdings"/>
              <a:buChar char=""/>
              <a:tabLst>
                <a:tab pos="286762" algn="l"/>
              </a:tabLst>
            </a:pPr>
            <a:r>
              <a:rPr sz="1698" dirty="0">
                <a:latin typeface="Century Schoolbook"/>
                <a:cs typeface="Century Schoolbook"/>
              </a:rPr>
              <a:t>Geralmente,</a:t>
            </a:r>
            <a:r>
              <a:rPr sz="1698" spc="434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os</a:t>
            </a:r>
            <a:r>
              <a:rPr sz="1698" spc="44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sistemas</a:t>
            </a:r>
            <a:r>
              <a:rPr sz="1698" spc="44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</a:t>
            </a:r>
            <a:r>
              <a:rPr sz="1698" spc="44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grande</a:t>
            </a:r>
            <a:r>
              <a:rPr sz="1698" spc="44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porte</a:t>
            </a:r>
            <a:r>
              <a:rPr sz="1698" spc="44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são</a:t>
            </a:r>
            <a:r>
              <a:rPr sz="1698" spc="44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coleções</a:t>
            </a:r>
            <a:r>
              <a:rPr sz="1698" spc="44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</a:t>
            </a:r>
            <a:r>
              <a:rPr sz="1698" spc="430" dirty="0">
                <a:latin typeface="Times New Roman"/>
                <a:cs typeface="Times New Roman"/>
              </a:rPr>
              <a:t> </a:t>
            </a:r>
            <a:r>
              <a:rPr sz="1698" spc="-10" dirty="0">
                <a:latin typeface="Century Schoolbook"/>
                <a:cs typeface="Century Schoolbook"/>
              </a:rPr>
              <a:t>sistemas</a:t>
            </a:r>
            <a:r>
              <a:rPr sz="1698" spc="-1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separados</a:t>
            </a:r>
            <a:r>
              <a:rPr sz="1698" spc="34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que</a:t>
            </a:r>
            <a:r>
              <a:rPr sz="1698" spc="33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se</a:t>
            </a:r>
            <a:r>
              <a:rPr sz="1698" spc="34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comunicam,</a:t>
            </a:r>
            <a:r>
              <a:rPr sz="1698" spc="34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e</a:t>
            </a:r>
            <a:r>
              <a:rPr sz="1698" spc="34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nos</a:t>
            </a:r>
            <a:r>
              <a:rPr sz="1698" spc="34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quais</a:t>
            </a:r>
            <a:r>
              <a:rPr sz="1698" spc="35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as</a:t>
            </a:r>
            <a:r>
              <a:rPr sz="1698" spc="34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equipes</a:t>
            </a:r>
            <a:r>
              <a:rPr sz="1698" spc="345" dirty="0">
                <a:latin typeface="Times New Roman"/>
                <a:cs typeface="Times New Roman"/>
              </a:rPr>
              <a:t>  </a:t>
            </a:r>
            <a:r>
              <a:rPr sz="1698" spc="-10" dirty="0">
                <a:latin typeface="Century Schoolbook"/>
                <a:cs typeface="Century Schoolbook"/>
              </a:rPr>
              <a:t>desenvolvem</a:t>
            </a:r>
            <a:r>
              <a:rPr sz="1698" spc="-1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cada</a:t>
            </a:r>
            <a:r>
              <a:rPr sz="1698" spc="210" dirty="0">
                <a:latin typeface="Times New Roman"/>
                <a:cs typeface="Times New Roman"/>
              </a:rPr>
              <a:t>   </a:t>
            </a:r>
            <a:r>
              <a:rPr sz="1698" dirty="0">
                <a:latin typeface="Century Schoolbook"/>
                <a:cs typeface="Century Schoolbook"/>
              </a:rPr>
              <a:t>sistema</a:t>
            </a:r>
            <a:r>
              <a:rPr sz="1698" spc="210" dirty="0">
                <a:latin typeface="Times New Roman"/>
                <a:cs typeface="Times New Roman"/>
              </a:rPr>
              <a:t>   </a:t>
            </a:r>
            <a:r>
              <a:rPr sz="1698" dirty="0">
                <a:latin typeface="Century Schoolbook"/>
                <a:cs typeface="Century Schoolbook"/>
              </a:rPr>
              <a:t>separadamente.</a:t>
            </a:r>
            <a:r>
              <a:rPr sz="1698" spc="215" dirty="0">
                <a:latin typeface="Times New Roman"/>
                <a:cs typeface="Times New Roman"/>
              </a:rPr>
              <a:t>   </a:t>
            </a:r>
            <a:r>
              <a:rPr sz="1698" dirty="0">
                <a:latin typeface="Century Schoolbook"/>
                <a:cs typeface="Century Schoolbook"/>
              </a:rPr>
              <a:t>Frequentemente</a:t>
            </a:r>
            <a:r>
              <a:rPr sz="1698" spc="215" dirty="0">
                <a:latin typeface="Times New Roman"/>
                <a:cs typeface="Times New Roman"/>
              </a:rPr>
              <a:t>   </a:t>
            </a:r>
            <a:r>
              <a:rPr sz="1698" dirty="0">
                <a:latin typeface="Century Schoolbook"/>
                <a:cs typeface="Century Schoolbook"/>
              </a:rPr>
              <a:t>essas</a:t>
            </a:r>
            <a:r>
              <a:rPr sz="1698" spc="210" dirty="0">
                <a:latin typeface="Times New Roman"/>
                <a:cs typeface="Times New Roman"/>
              </a:rPr>
              <a:t>   </a:t>
            </a:r>
            <a:r>
              <a:rPr sz="1698" spc="-10" dirty="0">
                <a:latin typeface="Century Schoolbook"/>
                <a:cs typeface="Century Schoolbook"/>
              </a:rPr>
              <a:t>equipes</a:t>
            </a:r>
            <a:r>
              <a:rPr sz="1698" spc="-1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trabalham</a:t>
            </a:r>
            <a:r>
              <a:rPr sz="1698" spc="2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em</a:t>
            </a:r>
            <a:r>
              <a:rPr sz="1698" spc="5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locais</a:t>
            </a:r>
            <a:r>
              <a:rPr sz="1698" spc="3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diferentes,</a:t>
            </a:r>
            <a:r>
              <a:rPr sz="1698" spc="1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as</a:t>
            </a:r>
            <a:r>
              <a:rPr sz="1698" spc="5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vezes</a:t>
            </a:r>
            <a:r>
              <a:rPr sz="1698" spc="3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em</a:t>
            </a:r>
            <a:r>
              <a:rPr sz="1698" spc="50" dirty="0">
                <a:latin typeface="Times New Roman"/>
                <a:cs typeface="Times New Roman"/>
              </a:rPr>
              <a:t> </a:t>
            </a:r>
            <a:r>
              <a:rPr sz="1698" spc="-10" dirty="0">
                <a:latin typeface="Century Schoolbook"/>
                <a:cs typeface="Century Schoolbook"/>
              </a:rPr>
              <a:t>fuso-</a:t>
            </a:r>
            <a:r>
              <a:rPr sz="1698" dirty="0">
                <a:latin typeface="Century Schoolbook"/>
                <a:cs typeface="Century Schoolbook"/>
              </a:rPr>
              <a:t>horários</a:t>
            </a:r>
            <a:r>
              <a:rPr sz="1698" spc="30" dirty="0">
                <a:latin typeface="Times New Roman"/>
                <a:cs typeface="Times New Roman"/>
              </a:rPr>
              <a:t> </a:t>
            </a:r>
            <a:r>
              <a:rPr sz="1698" spc="-10" dirty="0">
                <a:latin typeface="Century Schoolbook"/>
                <a:cs typeface="Century Schoolbook"/>
              </a:rPr>
              <a:t>diferentes.</a:t>
            </a:r>
            <a:endParaRPr sz="1698">
              <a:latin typeface="Century Schoolbook"/>
              <a:cs typeface="Century Schoolbook"/>
            </a:endParaRPr>
          </a:p>
          <a:p>
            <a:pPr marL="286127" marR="5075" indent="-274073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67647"/>
              <a:buFont typeface="Wingdings"/>
              <a:buChar char=""/>
              <a:tabLst>
                <a:tab pos="286762" algn="l"/>
              </a:tabLst>
            </a:pPr>
            <a:r>
              <a:rPr sz="1698" dirty="0">
                <a:latin typeface="Century Schoolbook"/>
                <a:cs typeface="Century Schoolbook"/>
              </a:rPr>
              <a:t>Os</a:t>
            </a:r>
            <a:r>
              <a:rPr sz="1698" spc="15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sistemas</a:t>
            </a:r>
            <a:r>
              <a:rPr sz="1698" spc="16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</a:t>
            </a:r>
            <a:r>
              <a:rPr sz="1698" spc="15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grande</a:t>
            </a:r>
            <a:r>
              <a:rPr sz="1698" spc="17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porte</a:t>
            </a:r>
            <a:r>
              <a:rPr sz="1698" spc="16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são</a:t>
            </a:r>
            <a:r>
              <a:rPr sz="1698" spc="16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‘brownfield</a:t>
            </a:r>
            <a:r>
              <a:rPr sz="1698" spc="16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systems’,</a:t>
            </a:r>
            <a:r>
              <a:rPr sz="1698" spc="15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o</a:t>
            </a:r>
            <a:r>
              <a:rPr sz="1698" spc="16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que</a:t>
            </a:r>
            <a:r>
              <a:rPr sz="1698" spc="170" dirty="0">
                <a:latin typeface="Times New Roman"/>
                <a:cs typeface="Times New Roman"/>
              </a:rPr>
              <a:t> </a:t>
            </a:r>
            <a:r>
              <a:rPr sz="1698" spc="-10" dirty="0">
                <a:latin typeface="Century Schoolbook"/>
                <a:cs typeface="Century Schoolbook"/>
              </a:rPr>
              <a:t>significa</a:t>
            </a:r>
            <a:r>
              <a:rPr sz="1698" spc="-1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que</a:t>
            </a:r>
            <a:r>
              <a:rPr sz="1698" spc="24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incluem</a:t>
            </a:r>
            <a:r>
              <a:rPr sz="1698" spc="25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e</a:t>
            </a:r>
            <a:r>
              <a:rPr sz="1698" spc="254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interagem</a:t>
            </a:r>
            <a:r>
              <a:rPr sz="1698" spc="24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com</a:t>
            </a:r>
            <a:r>
              <a:rPr sz="1698" spc="24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vários</a:t>
            </a:r>
            <a:r>
              <a:rPr sz="1698" spc="254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sistemas</a:t>
            </a:r>
            <a:r>
              <a:rPr sz="1698" spc="25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existentes.</a:t>
            </a:r>
            <a:r>
              <a:rPr sz="1698" spc="25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Vários</a:t>
            </a:r>
            <a:r>
              <a:rPr sz="1698" spc="250" dirty="0">
                <a:latin typeface="Times New Roman"/>
                <a:cs typeface="Times New Roman"/>
              </a:rPr>
              <a:t> </a:t>
            </a:r>
            <a:r>
              <a:rPr sz="1698" spc="-25" dirty="0">
                <a:latin typeface="Century Schoolbook"/>
                <a:cs typeface="Century Schoolbook"/>
              </a:rPr>
              <a:t>dos</a:t>
            </a:r>
            <a:r>
              <a:rPr sz="1698" spc="-2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requisitos</a:t>
            </a:r>
            <a:r>
              <a:rPr sz="1698" spc="44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</a:t>
            </a:r>
            <a:r>
              <a:rPr sz="1698" spc="44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sistema</a:t>
            </a:r>
            <a:r>
              <a:rPr sz="1698" spc="44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se</a:t>
            </a:r>
            <a:r>
              <a:rPr sz="1698" spc="44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preocupam</a:t>
            </a:r>
            <a:r>
              <a:rPr sz="1698" spc="44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com</a:t>
            </a:r>
            <a:r>
              <a:rPr sz="1698" spc="44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essa</a:t>
            </a:r>
            <a:r>
              <a:rPr sz="1698" spc="44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interação</a:t>
            </a:r>
            <a:r>
              <a:rPr sz="1698" spc="44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o</a:t>
            </a:r>
            <a:r>
              <a:rPr sz="1698" spc="44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que</a:t>
            </a:r>
            <a:r>
              <a:rPr sz="1698" spc="455" dirty="0">
                <a:latin typeface="Times New Roman"/>
                <a:cs typeface="Times New Roman"/>
              </a:rPr>
              <a:t> </a:t>
            </a:r>
            <a:r>
              <a:rPr sz="1698" spc="-25" dirty="0">
                <a:latin typeface="Century Schoolbook"/>
                <a:cs typeface="Century Schoolbook"/>
              </a:rPr>
              <a:t>não</a:t>
            </a:r>
            <a:r>
              <a:rPr sz="1698" spc="-2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permite</a:t>
            </a:r>
            <a:r>
              <a:rPr sz="1698" spc="1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flexibilidade</a:t>
            </a:r>
            <a:r>
              <a:rPr sz="1698" spc="1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e</a:t>
            </a:r>
            <a:r>
              <a:rPr sz="1698" spc="3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desenvolvimento</a:t>
            </a:r>
            <a:r>
              <a:rPr sz="1698" spc="10" dirty="0">
                <a:latin typeface="Times New Roman"/>
                <a:cs typeface="Times New Roman"/>
              </a:rPr>
              <a:t> </a:t>
            </a:r>
            <a:r>
              <a:rPr sz="1698" spc="-10" dirty="0">
                <a:latin typeface="Century Schoolbook"/>
                <a:cs typeface="Century Schoolbook"/>
              </a:rPr>
              <a:t>incremental.</a:t>
            </a:r>
            <a:endParaRPr sz="1698">
              <a:latin typeface="Century Schoolbook"/>
              <a:cs typeface="Century Schoolbook"/>
            </a:endParaRPr>
          </a:p>
          <a:p>
            <a:pPr marL="286127" marR="5075" indent="-274073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67647"/>
              <a:buFont typeface="Wingdings"/>
              <a:buChar char=""/>
              <a:tabLst>
                <a:tab pos="286762" algn="l"/>
              </a:tabLst>
            </a:pPr>
            <a:r>
              <a:rPr sz="1698" dirty="0">
                <a:latin typeface="Century Schoolbook"/>
                <a:cs typeface="Century Schoolbook"/>
              </a:rPr>
              <a:t>Vários</a:t>
            </a:r>
            <a:r>
              <a:rPr sz="1698" spc="22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sistemas</a:t>
            </a:r>
            <a:r>
              <a:rPr sz="1698" spc="22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são</a:t>
            </a:r>
            <a:r>
              <a:rPr sz="1698" spc="22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integrados</a:t>
            </a:r>
            <a:r>
              <a:rPr sz="1698" spc="22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para</a:t>
            </a:r>
            <a:r>
              <a:rPr sz="1698" spc="22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criar</a:t>
            </a:r>
            <a:r>
              <a:rPr sz="1698" spc="22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um</a:t>
            </a:r>
            <a:r>
              <a:rPr sz="1698" spc="22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sistema,</a:t>
            </a:r>
            <a:r>
              <a:rPr sz="1698" spc="21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e</a:t>
            </a:r>
            <a:r>
              <a:rPr sz="1698" spc="23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uma</a:t>
            </a:r>
            <a:r>
              <a:rPr sz="1698" spc="225" dirty="0">
                <a:latin typeface="Times New Roman"/>
                <a:cs typeface="Times New Roman"/>
              </a:rPr>
              <a:t> </a:t>
            </a:r>
            <a:r>
              <a:rPr sz="1698" spc="-10" dirty="0">
                <a:latin typeface="Century Schoolbook"/>
                <a:cs typeface="Century Schoolbook"/>
              </a:rPr>
              <a:t>fração</a:t>
            </a:r>
            <a:r>
              <a:rPr sz="1698" spc="-1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significante</a:t>
            </a:r>
            <a:r>
              <a:rPr sz="1698" spc="5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do</a:t>
            </a:r>
            <a:r>
              <a:rPr sz="1698" spc="55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desenvolvimento</a:t>
            </a:r>
            <a:r>
              <a:rPr sz="1698" spc="65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é</a:t>
            </a:r>
            <a:r>
              <a:rPr sz="1698" spc="65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voltada</a:t>
            </a:r>
            <a:r>
              <a:rPr sz="1698" spc="6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para</a:t>
            </a:r>
            <a:r>
              <a:rPr sz="1698" spc="65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a</a:t>
            </a:r>
            <a:r>
              <a:rPr sz="1698" spc="65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configuração</a:t>
            </a:r>
            <a:r>
              <a:rPr sz="1698" spc="65" dirty="0">
                <a:latin typeface="Times New Roman"/>
                <a:cs typeface="Times New Roman"/>
              </a:rPr>
              <a:t>  </a:t>
            </a:r>
            <a:r>
              <a:rPr sz="1698" spc="-25" dirty="0">
                <a:latin typeface="Century Schoolbook"/>
                <a:cs typeface="Century Schoolbook"/>
              </a:rPr>
              <a:t>do</a:t>
            </a:r>
            <a:r>
              <a:rPr sz="1698" spc="-2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sistema</a:t>
            </a:r>
            <a:r>
              <a:rPr sz="1698" spc="2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ao</a:t>
            </a:r>
            <a:r>
              <a:rPr sz="1698" spc="3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invés</a:t>
            </a:r>
            <a:r>
              <a:rPr sz="1698" spc="4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do</a:t>
            </a:r>
            <a:r>
              <a:rPr sz="1698" spc="3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desenvolvimento</a:t>
            </a:r>
            <a:r>
              <a:rPr sz="1698" spc="1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do</a:t>
            </a:r>
            <a:r>
              <a:rPr sz="1698" spc="3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código</a:t>
            </a:r>
            <a:r>
              <a:rPr sz="1698" spc="15" dirty="0">
                <a:latin typeface="Times New Roman"/>
                <a:cs typeface="Times New Roman"/>
              </a:rPr>
              <a:t> </a:t>
            </a:r>
            <a:r>
              <a:rPr sz="1698" spc="-10" dirty="0">
                <a:latin typeface="Century Schoolbook"/>
                <a:cs typeface="Century Schoolbook"/>
              </a:rPr>
              <a:t>original.</a:t>
            </a:r>
            <a:endParaRPr sz="1698">
              <a:latin typeface="Century Schoolbook"/>
              <a:cs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3585737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3676" y="46627"/>
            <a:ext cx="6616923" cy="1614332"/>
          </a:xfrm>
          <a:prstGeom prst="rect">
            <a:avLst/>
          </a:prstGeom>
        </p:spPr>
        <p:txBody>
          <a:bodyPr vert="horz" wrap="square" lIns="0" tIns="31086" rIns="0" bIns="0" rtlCol="0" anchor="ctr">
            <a:spAutoFit/>
          </a:bodyPr>
          <a:lstStyle/>
          <a:p>
            <a:pPr marL="12689" marR="5075">
              <a:lnSpc>
                <a:spcPct val="116700"/>
              </a:lnSpc>
              <a:spcBef>
                <a:spcPts val="245"/>
              </a:spcBef>
            </a:pPr>
            <a:r>
              <a:rPr cap="small" spc="-5" dirty="0"/>
              <a:t>D</a:t>
            </a:r>
            <a:r>
              <a:rPr cap="small" dirty="0"/>
              <a:t>e</a:t>
            </a:r>
            <a:r>
              <a:rPr cap="small" spc="-5" dirty="0"/>
              <a:t>s</a:t>
            </a:r>
            <a:r>
              <a:rPr cap="small" dirty="0"/>
              <a:t>envo</a:t>
            </a:r>
            <a:r>
              <a:rPr cap="small" spc="-10" dirty="0"/>
              <a:t>l</a:t>
            </a:r>
            <a:r>
              <a:rPr cap="small" dirty="0"/>
              <a:t>vi</a:t>
            </a:r>
            <a:r>
              <a:rPr cap="small" spc="-5" dirty="0"/>
              <a:t>m</a:t>
            </a:r>
            <a:r>
              <a:rPr cap="small" dirty="0"/>
              <a:t>en</a:t>
            </a:r>
            <a:r>
              <a:rPr cap="small" spc="-10" dirty="0"/>
              <a:t>t</a:t>
            </a:r>
            <a:r>
              <a:rPr cap="small" dirty="0"/>
              <a:t>o</a:t>
            </a:r>
            <a:r>
              <a:rPr sz="2398" spc="275" dirty="0">
                <a:latin typeface="Times New Roman"/>
                <a:cs typeface="Times New Roman"/>
              </a:rPr>
              <a:t> </a:t>
            </a:r>
            <a:r>
              <a:rPr cap="small" dirty="0"/>
              <a:t>de</a:t>
            </a:r>
            <a:r>
              <a:rPr sz="2398" spc="250" dirty="0">
                <a:latin typeface="Times New Roman"/>
                <a:cs typeface="Times New Roman"/>
              </a:rPr>
              <a:t> </a:t>
            </a:r>
            <a:r>
              <a:rPr cap="small" spc="-5" dirty="0"/>
              <a:t>s</a:t>
            </a:r>
            <a:r>
              <a:rPr cap="small" dirty="0"/>
              <a:t>i</a:t>
            </a:r>
            <a:r>
              <a:rPr cap="small" spc="-5" dirty="0"/>
              <a:t>s</a:t>
            </a:r>
            <a:r>
              <a:rPr cap="small" spc="-10" dirty="0"/>
              <a:t>t</a:t>
            </a:r>
            <a:r>
              <a:rPr cap="small" dirty="0"/>
              <a:t>e</a:t>
            </a:r>
            <a:r>
              <a:rPr cap="small" spc="-5" dirty="0"/>
              <a:t>m</a:t>
            </a:r>
            <a:r>
              <a:rPr cap="small" dirty="0"/>
              <a:t>as</a:t>
            </a:r>
            <a:r>
              <a:rPr sz="2398" spc="270" dirty="0">
                <a:latin typeface="Times New Roman"/>
                <a:cs typeface="Times New Roman"/>
              </a:rPr>
              <a:t> </a:t>
            </a:r>
            <a:r>
              <a:rPr cap="small" dirty="0"/>
              <a:t>de</a:t>
            </a:r>
            <a:r>
              <a:rPr sz="2398" dirty="0">
                <a:latin typeface="Times New Roman"/>
                <a:cs typeface="Times New Roman"/>
              </a:rPr>
              <a:t> </a:t>
            </a:r>
            <a:r>
              <a:rPr cap="small" dirty="0"/>
              <a:t>g</a:t>
            </a:r>
            <a:r>
              <a:rPr cap="small" spc="-5" dirty="0"/>
              <a:t>r</a:t>
            </a:r>
            <a:r>
              <a:rPr cap="small" dirty="0"/>
              <a:t>ande</a:t>
            </a:r>
            <a:r>
              <a:rPr sz="2398" spc="250" dirty="0">
                <a:latin typeface="Times New Roman"/>
                <a:cs typeface="Times New Roman"/>
              </a:rPr>
              <a:t> </a:t>
            </a:r>
            <a:r>
              <a:rPr cap="small" dirty="0"/>
              <a:t>por</a:t>
            </a:r>
            <a:r>
              <a:rPr cap="small" spc="-10" dirty="0"/>
              <a:t>t</a:t>
            </a:r>
            <a:r>
              <a:rPr cap="small" dirty="0"/>
              <a:t>e</a:t>
            </a:r>
            <a:endParaRPr sz="239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37742" y="2051941"/>
            <a:ext cx="3375075" cy="314669"/>
          </a:xfrm>
          <a:prstGeom prst="rect">
            <a:avLst/>
          </a:prstGeom>
        </p:spPr>
        <p:txBody>
          <a:bodyPr vert="horz" wrap="square" lIns="0" tIns="12054" rIns="0" bIns="0" rtlCol="0">
            <a:spAutoFit/>
          </a:bodyPr>
          <a:lstStyle/>
          <a:p>
            <a:pPr marL="12689">
              <a:spcBef>
                <a:spcPts val="95"/>
              </a:spcBef>
              <a:tabLst>
                <a:tab pos="2098055" algn="l"/>
              </a:tabLst>
            </a:pPr>
            <a:r>
              <a:rPr sz="1898" spc="-10" dirty="0">
                <a:latin typeface="Century Schoolbook"/>
                <a:cs typeface="Century Schoolbook"/>
              </a:rPr>
              <a:t>desenvolvimento</a:t>
            </a:r>
            <a:r>
              <a:rPr sz="1898" dirty="0">
                <a:latin typeface="Times New Roman"/>
                <a:cs typeface="Times New Roman"/>
              </a:rPr>
              <a:t>	</a:t>
            </a:r>
            <a:r>
              <a:rPr sz="1898" spc="-10" dirty="0">
                <a:latin typeface="Century Schoolbook"/>
                <a:cs typeface="Century Schoolbook"/>
              </a:rPr>
              <a:t>geralmente</a:t>
            </a:r>
            <a:endParaRPr sz="1898">
              <a:latin typeface="Century Schoolbook"/>
              <a:cs typeface="Century Schoolboo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63675" y="1588470"/>
            <a:ext cx="7303358" cy="777790"/>
          </a:xfrm>
          <a:prstGeom prst="rect">
            <a:avLst/>
          </a:prstGeom>
        </p:spPr>
        <p:txBody>
          <a:bodyPr vert="horz" wrap="square" lIns="0" tIns="99603" rIns="0" bIns="0" rtlCol="0">
            <a:spAutoFit/>
          </a:bodyPr>
          <a:lstStyle/>
          <a:p>
            <a:pPr marL="274073" marR="6344" indent="-274073" algn="r">
              <a:spcBef>
                <a:spcPts val="784"/>
              </a:spcBef>
              <a:buClr>
                <a:srgbClr val="94C600"/>
              </a:buClr>
              <a:buSzPct val="68421"/>
              <a:buFont typeface="Wingdings"/>
              <a:buChar char=""/>
              <a:tabLst>
                <a:tab pos="274073" algn="l"/>
                <a:tab pos="847596" algn="l"/>
                <a:tab pos="2094883" algn="l"/>
                <a:tab pos="2629072" algn="l"/>
                <a:tab pos="3681588" algn="l"/>
                <a:tab pos="4535529" algn="l"/>
                <a:tab pos="4931413" algn="l"/>
                <a:tab pos="5697168" algn="l"/>
                <a:tab pos="7017413" algn="l"/>
              </a:tabLst>
            </a:pPr>
            <a:r>
              <a:rPr sz="1898" spc="-25" dirty="0">
                <a:latin typeface="Century Schoolbook"/>
                <a:cs typeface="Century Schoolbook"/>
              </a:rPr>
              <a:t>Os</a:t>
            </a:r>
            <a:r>
              <a:rPr sz="1898" dirty="0">
                <a:latin typeface="Times New Roman"/>
                <a:cs typeface="Times New Roman"/>
              </a:rPr>
              <a:t>	</a:t>
            </a:r>
            <a:r>
              <a:rPr sz="1898" spc="-10" dirty="0">
                <a:latin typeface="Century Schoolbook"/>
                <a:cs typeface="Century Schoolbook"/>
              </a:rPr>
              <a:t>sistemas</a:t>
            </a:r>
            <a:r>
              <a:rPr sz="1898" dirty="0">
                <a:latin typeface="Times New Roman"/>
                <a:cs typeface="Times New Roman"/>
              </a:rPr>
              <a:t>	</a:t>
            </a:r>
            <a:r>
              <a:rPr sz="1898" spc="-25" dirty="0">
                <a:latin typeface="Century Schoolbook"/>
                <a:cs typeface="Century Schoolbook"/>
              </a:rPr>
              <a:t>de</a:t>
            </a:r>
            <a:r>
              <a:rPr sz="1898" dirty="0">
                <a:latin typeface="Times New Roman"/>
                <a:cs typeface="Times New Roman"/>
              </a:rPr>
              <a:t>	</a:t>
            </a:r>
            <a:r>
              <a:rPr sz="1898" spc="-10" dirty="0">
                <a:latin typeface="Century Schoolbook"/>
                <a:cs typeface="Century Schoolbook"/>
              </a:rPr>
              <a:t>grande</a:t>
            </a:r>
            <a:r>
              <a:rPr sz="1898" dirty="0">
                <a:latin typeface="Times New Roman"/>
                <a:cs typeface="Times New Roman"/>
              </a:rPr>
              <a:t>	</a:t>
            </a:r>
            <a:r>
              <a:rPr sz="1898" spc="-10" dirty="0">
                <a:latin typeface="Century Schoolbook"/>
                <a:cs typeface="Century Schoolbook"/>
              </a:rPr>
              <a:t>porte</a:t>
            </a:r>
            <a:r>
              <a:rPr sz="1898" dirty="0">
                <a:latin typeface="Times New Roman"/>
                <a:cs typeface="Times New Roman"/>
              </a:rPr>
              <a:t>	</a:t>
            </a:r>
            <a:r>
              <a:rPr sz="1898" spc="-50" dirty="0">
                <a:latin typeface="Century Schoolbook"/>
                <a:cs typeface="Century Schoolbook"/>
              </a:rPr>
              <a:t>e</a:t>
            </a:r>
            <a:r>
              <a:rPr sz="1898" dirty="0">
                <a:latin typeface="Times New Roman"/>
                <a:cs typeface="Times New Roman"/>
              </a:rPr>
              <a:t>	</a:t>
            </a:r>
            <a:r>
              <a:rPr sz="1898" spc="-20" dirty="0">
                <a:latin typeface="Century Schoolbook"/>
                <a:cs typeface="Century Schoolbook"/>
              </a:rPr>
              <a:t>seus</a:t>
            </a:r>
            <a:r>
              <a:rPr sz="1898" dirty="0">
                <a:latin typeface="Times New Roman"/>
                <a:cs typeface="Times New Roman"/>
              </a:rPr>
              <a:t>	</a:t>
            </a:r>
            <a:r>
              <a:rPr sz="1898" spc="-10" dirty="0">
                <a:latin typeface="Century Schoolbook"/>
                <a:cs typeface="Century Schoolbook"/>
              </a:rPr>
              <a:t>processos</a:t>
            </a:r>
            <a:r>
              <a:rPr sz="1898" dirty="0">
                <a:latin typeface="Times New Roman"/>
                <a:cs typeface="Times New Roman"/>
              </a:rPr>
              <a:t>	</a:t>
            </a:r>
            <a:r>
              <a:rPr sz="1898" spc="-25" dirty="0">
                <a:latin typeface="Century Schoolbook"/>
                <a:cs typeface="Century Schoolbook"/>
              </a:rPr>
              <a:t>de</a:t>
            </a:r>
            <a:endParaRPr sz="1898">
              <a:latin typeface="Century Schoolbook"/>
              <a:cs typeface="Century Schoolbook"/>
            </a:endParaRPr>
          </a:p>
          <a:p>
            <a:pPr marR="5075" algn="r">
              <a:spcBef>
                <a:spcPts val="679"/>
              </a:spcBef>
              <a:tabLst>
                <a:tab pos="584309" algn="l"/>
                <a:tab pos="2141831" algn="l"/>
                <a:tab pos="2726774" algn="l"/>
              </a:tabLst>
            </a:pPr>
            <a:r>
              <a:rPr sz="1898" spc="-25" dirty="0">
                <a:latin typeface="Century Schoolbook"/>
                <a:cs typeface="Century Schoolbook"/>
              </a:rPr>
              <a:t>são</a:t>
            </a:r>
            <a:r>
              <a:rPr sz="1898" dirty="0">
                <a:latin typeface="Times New Roman"/>
                <a:cs typeface="Times New Roman"/>
              </a:rPr>
              <a:t>	</a:t>
            </a:r>
            <a:r>
              <a:rPr sz="1898" spc="-10" dirty="0">
                <a:latin typeface="Century Schoolbook"/>
                <a:cs typeface="Century Schoolbook"/>
              </a:rPr>
              <a:t>restringidos</a:t>
            </a:r>
            <a:r>
              <a:rPr sz="1898" dirty="0">
                <a:latin typeface="Times New Roman"/>
                <a:cs typeface="Times New Roman"/>
              </a:rPr>
              <a:t>	</a:t>
            </a:r>
            <a:r>
              <a:rPr sz="1898" spc="-25" dirty="0">
                <a:latin typeface="Century Schoolbook"/>
                <a:cs typeface="Century Schoolbook"/>
              </a:rPr>
              <a:t>por</a:t>
            </a:r>
            <a:r>
              <a:rPr sz="1898" dirty="0">
                <a:latin typeface="Times New Roman"/>
                <a:cs typeface="Times New Roman"/>
              </a:rPr>
              <a:t>	</a:t>
            </a:r>
            <a:r>
              <a:rPr sz="1898" spc="-10" dirty="0">
                <a:latin typeface="Century Schoolbook"/>
                <a:cs typeface="Century Schoolbook"/>
              </a:rPr>
              <a:t>regras</a:t>
            </a:r>
            <a:endParaRPr sz="1898">
              <a:latin typeface="Century Schoolbook"/>
              <a:cs typeface="Century Schoolbook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xfrm>
            <a:off x="2365654" y="1823936"/>
            <a:ext cx="10505872" cy="5762910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286762" marR="5075" algn="just">
              <a:lnSpc>
                <a:spcPct val="130000"/>
              </a:lnSpc>
              <a:spcBef>
                <a:spcPts val="100"/>
              </a:spcBef>
            </a:pPr>
            <a:r>
              <a:rPr dirty="0"/>
              <a:t>externas</a:t>
            </a:r>
            <a:r>
              <a:rPr spc="120" dirty="0">
                <a:latin typeface="Times New Roman"/>
                <a:cs typeface="Times New Roman"/>
              </a:rPr>
              <a:t> </a:t>
            </a:r>
            <a:r>
              <a:rPr dirty="0"/>
              <a:t>e</a:t>
            </a:r>
            <a:r>
              <a:rPr spc="125" dirty="0">
                <a:latin typeface="Times New Roman"/>
                <a:cs typeface="Times New Roman"/>
              </a:rPr>
              <a:t> </a:t>
            </a:r>
            <a:r>
              <a:rPr dirty="0"/>
              <a:t>regulamentações</a:t>
            </a:r>
            <a:r>
              <a:rPr spc="120" dirty="0">
                <a:latin typeface="Times New Roman"/>
                <a:cs typeface="Times New Roman"/>
              </a:rPr>
              <a:t> </a:t>
            </a:r>
            <a:r>
              <a:rPr dirty="0"/>
              <a:t>que</a:t>
            </a:r>
            <a:r>
              <a:rPr spc="125" dirty="0">
                <a:latin typeface="Times New Roman"/>
                <a:cs typeface="Times New Roman"/>
              </a:rPr>
              <a:t> </a:t>
            </a:r>
            <a:r>
              <a:rPr dirty="0"/>
              <a:t>limitam</a:t>
            </a:r>
            <a:r>
              <a:rPr spc="120" dirty="0">
                <a:latin typeface="Times New Roman"/>
                <a:cs typeface="Times New Roman"/>
              </a:rPr>
              <a:t> </a:t>
            </a:r>
            <a:r>
              <a:rPr dirty="0"/>
              <a:t>a</a:t>
            </a:r>
            <a:r>
              <a:rPr spc="125" dirty="0">
                <a:latin typeface="Times New Roman"/>
                <a:cs typeface="Times New Roman"/>
              </a:rPr>
              <a:t> </a:t>
            </a:r>
            <a:r>
              <a:rPr dirty="0"/>
              <a:t>forma</a:t>
            </a:r>
            <a:r>
              <a:rPr spc="125" dirty="0">
                <a:latin typeface="Times New Roman"/>
                <a:cs typeface="Times New Roman"/>
              </a:rPr>
              <a:t> </a:t>
            </a:r>
            <a:r>
              <a:rPr dirty="0"/>
              <a:t>como</a:t>
            </a:r>
            <a:r>
              <a:rPr spc="125" dirty="0">
                <a:latin typeface="Times New Roman"/>
                <a:cs typeface="Times New Roman"/>
              </a:rPr>
              <a:t> </a:t>
            </a:r>
            <a:r>
              <a:rPr spc="-10" dirty="0"/>
              <a:t>podem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/>
              <a:t>ser</a:t>
            </a:r>
            <a:r>
              <a:rPr spc="15" dirty="0">
                <a:latin typeface="Times New Roman"/>
                <a:cs typeface="Times New Roman"/>
              </a:rPr>
              <a:t> </a:t>
            </a:r>
            <a:r>
              <a:rPr spc="-10" dirty="0"/>
              <a:t>desenvolvidos.</a:t>
            </a:r>
          </a:p>
          <a:p>
            <a:pPr marL="286762" marR="5075" indent="-274073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68421"/>
              <a:buFont typeface="Wingdings"/>
              <a:buChar char=""/>
              <a:tabLst>
                <a:tab pos="286762" algn="l"/>
              </a:tabLst>
            </a:pPr>
            <a:r>
              <a:rPr dirty="0"/>
              <a:t>Os</a:t>
            </a:r>
            <a:r>
              <a:rPr spc="430" dirty="0">
                <a:latin typeface="Times New Roman"/>
                <a:cs typeface="Times New Roman"/>
              </a:rPr>
              <a:t> </a:t>
            </a:r>
            <a:r>
              <a:rPr dirty="0"/>
              <a:t>sistemas</a:t>
            </a:r>
            <a:r>
              <a:rPr spc="445" dirty="0">
                <a:latin typeface="Times New Roman"/>
                <a:cs typeface="Times New Roman"/>
              </a:rPr>
              <a:t> </a:t>
            </a:r>
            <a:r>
              <a:rPr dirty="0"/>
              <a:t>de</a:t>
            </a:r>
            <a:r>
              <a:rPr spc="434" dirty="0">
                <a:latin typeface="Times New Roman"/>
                <a:cs typeface="Times New Roman"/>
              </a:rPr>
              <a:t> </a:t>
            </a:r>
            <a:r>
              <a:rPr dirty="0"/>
              <a:t>grande</a:t>
            </a:r>
            <a:r>
              <a:rPr spc="440" dirty="0">
                <a:latin typeface="Times New Roman"/>
                <a:cs typeface="Times New Roman"/>
              </a:rPr>
              <a:t> </a:t>
            </a:r>
            <a:r>
              <a:rPr dirty="0"/>
              <a:t>porte</a:t>
            </a:r>
            <a:r>
              <a:rPr spc="434" dirty="0">
                <a:latin typeface="Times New Roman"/>
                <a:cs typeface="Times New Roman"/>
              </a:rPr>
              <a:t> </a:t>
            </a:r>
            <a:r>
              <a:rPr dirty="0"/>
              <a:t>tem</a:t>
            </a:r>
            <a:r>
              <a:rPr spc="430" dirty="0">
                <a:latin typeface="Times New Roman"/>
                <a:cs typeface="Times New Roman"/>
              </a:rPr>
              <a:t> </a:t>
            </a:r>
            <a:r>
              <a:rPr dirty="0"/>
              <a:t>um</a:t>
            </a:r>
            <a:r>
              <a:rPr spc="450" dirty="0">
                <a:latin typeface="Times New Roman"/>
                <a:cs typeface="Times New Roman"/>
              </a:rPr>
              <a:t> </a:t>
            </a:r>
            <a:r>
              <a:rPr dirty="0"/>
              <a:t>tempo</a:t>
            </a:r>
            <a:r>
              <a:rPr spc="440" dirty="0">
                <a:latin typeface="Times New Roman"/>
                <a:cs typeface="Times New Roman"/>
              </a:rPr>
              <a:t> </a:t>
            </a:r>
            <a:r>
              <a:rPr dirty="0"/>
              <a:t>de</a:t>
            </a:r>
            <a:r>
              <a:rPr spc="445" dirty="0">
                <a:latin typeface="Times New Roman"/>
                <a:cs typeface="Times New Roman"/>
              </a:rPr>
              <a:t> </a:t>
            </a:r>
            <a:r>
              <a:rPr dirty="0"/>
              <a:t>aquisição</a:t>
            </a:r>
            <a:r>
              <a:rPr spc="434" dirty="0">
                <a:latin typeface="Times New Roman"/>
                <a:cs typeface="Times New Roman"/>
              </a:rPr>
              <a:t> </a:t>
            </a:r>
            <a:r>
              <a:rPr spc="-50" dirty="0"/>
              <a:t>e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dirty="0"/>
              <a:t>desenvolvimento</a:t>
            </a:r>
            <a:r>
              <a:rPr spc="155" dirty="0">
                <a:latin typeface="Times New Roman"/>
                <a:cs typeface="Times New Roman"/>
              </a:rPr>
              <a:t> </a:t>
            </a:r>
            <a:r>
              <a:rPr dirty="0"/>
              <a:t>longo.</a:t>
            </a:r>
            <a:r>
              <a:rPr spc="160" dirty="0">
                <a:latin typeface="Times New Roman"/>
                <a:cs typeface="Times New Roman"/>
              </a:rPr>
              <a:t> </a:t>
            </a:r>
            <a:r>
              <a:rPr dirty="0"/>
              <a:t>Durante</a:t>
            </a:r>
            <a:r>
              <a:rPr spc="160" dirty="0">
                <a:latin typeface="Times New Roman"/>
                <a:cs typeface="Times New Roman"/>
              </a:rPr>
              <a:t> </a:t>
            </a:r>
            <a:r>
              <a:rPr dirty="0"/>
              <a:t>esse</a:t>
            </a:r>
            <a:r>
              <a:rPr spc="160" dirty="0">
                <a:latin typeface="Times New Roman"/>
                <a:cs typeface="Times New Roman"/>
              </a:rPr>
              <a:t> </a:t>
            </a:r>
            <a:r>
              <a:rPr dirty="0"/>
              <a:t>período,</a:t>
            </a:r>
            <a:r>
              <a:rPr spc="155" dirty="0">
                <a:latin typeface="Times New Roman"/>
                <a:cs typeface="Times New Roman"/>
              </a:rPr>
              <a:t> </a:t>
            </a:r>
            <a:r>
              <a:rPr dirty="0"/>
              <a:t>é</a:t>
            </a:r>
            <a:r>
              <a:rPr spc="160" dirty="0">
                <a:latin typeface="Times New Roman"/>
                <a:cs typeface="Times New Roman"/>
              </a:rPr>
              <a:t> </a:t>
            </a:r>
            <a:r>
              <a:rPr dirty="0"/>
              <a:t>difícil</a:t>
            </a:r>
            <a:r>
              <a:rPr spc="160" dirty="0">
                <a:latin typeface="Times New Roman"/>
                <a:cs typeface="Times New Roman"/>
              </a:rPr>
              <a:t> </a:t>
            </a:r>
            <a:r>
              <a:rPr spc="-10" dirty="0"/>
              <a:t>manter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/>
              <a:t>equipes</a:t>
            </a:r>
            <a:r>
              <a:rPr spc="265" dirty="0">
                <a:latin typeface="Times New Roman"/>
                <a:cs typeface="Times New Roman"/>
              </a:rPr>
              <a:t>   </a:t>
            </a:r>
            <a:r>
              <a:rPr dirty="0"/>
              <a:t>coesas,</a:t>
            </a:r>
            <a:r>
              <a:rPr spc="270" dirty="0">
                <a:latin typeface="Times New Roman"/>
                <a:cs typeface="Times New Roman"/>
              </a:rPr>
              <a:t>   </a:t>
            </a:r>
            <a:r>
              <a:rPr dirty="0"/>
              <a:t>que</a:t>
            </a:r>
            <a:r>
              <a:rPr spc="270" dirty="0">
                <a:latin typeface="Times New Roman"/>
                <a:cs typeface="Times New Roman"/>
              </a:rPr>
              <a:t>   </a:t>
            </a:r>
            <a:r>
              <a:rPr dirty="0"/>
              <a:t>conhecem</a:t>
            </a:r>
            <a:r>
              <a:rPr spc="265" dirty="0">
                <a:latin typeface="Times New Roman"/>
                <a:cs typeface="Times New Roman"/>
              </a:rPr>
              <a:t>   </a:t>
            </a:r>
            <a:r>
              <a:rPr dirty="0"/>
              <a:t>o</a:t>
            </a:r>
            <a:r>
              <a:rPr spc="270" dirty="0">
                <a:latin typeface="Times New Roman"/>
                <a:cs typeface="Times New Roman"/>
              </a:rPr>
              <a:t>   </a:t>
            </a:r>
            <a:r>
              <a:rPr dirty="0"/>
              <a:t>sistema</a:t>
            </a:r>
            <a:r>
              <a:rPr spc="415" dirty="0">
                <a:latin typeface="Times New Roman"/>
                <a:cs typeface="Times New Roman"/>
              </a:rPr>
              <a:t>     </a:t>
            </a:r>
            <a:r>
              <a:rPr dirty="0"/>
              <a:t>já</a:t>
            </a:r>
            <a:r>
              <a:rPr spc="270" dirty="0">
                <a:latin typeface="Times New Roman"/>
                <a:cs typeface="Times New Roman"/>
              </a:rPr>
              <a:t>   </a:t>
            </a:r>
            <a:r>
              <a:rPr spc="-25" dirty="0"/>
              <a:t>que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/>
              <a:t>inevitavelmente</a:t>
            </a:r>
            <a:r>
              <a:rPr spc="5" dirty="0">
                <a:latin typeface="Times New Roman"/>
                <a:cs typeface="Times New Roman"/>
              </a:rPr>
              <a:t> </a:t>
            </a:r>
            <a:r>
              <a:rPr dirty="0"/>
              <a:t>as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dirty="0"/>
              <a:t>pessoas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dirty="0"/>
              <a:t>podem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dirty="0"/>
              <a:t>sair</a:t>
            </a:r>
            <a:r>
              <a:rPr spc="-5" dirty="0">
                <a:latin typeface="Times New Roman"/>
                <a:cs typeface="Times New Roman"/>
              </a:rPr>
              <a:t> </a:t>
            </a:r>
            <a:r>
              <a:rPr dirty="0"/>
              <a:t>para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dirty="0"/>
              <a:t>outros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dirty="0"/>
              <a:t>trabalhos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spc="-50" dirty="0"/>
              <a:t>e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spc="-10" dirty="0"/>
              <a:t>projetos.</a:t>
            </a:r>
          </a:p>
          <a:p>
            <a:pPr marL="286762" marR="5075" indent="-274073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68421"/>
              <a:buFont typeface="Wingdings"/>
              <a:buChar char=""/>
              <a:tabLst>
                <a:tab pos="286762" algn="l"/>
              </a:tabLst>
            </a:pPr>
            <a:r>
              <a:rPr dirty="0"/>
              <a:t>Geralmente,</a:t>
            </a:r>
            <a:r>
              <a:rPr spc="15" dirty="0">
                <a:latin typeface="Times New Roman"/>
                <a:cs typeface="Times New Roman"/>
              </a:rPr>
              <a:t>  </a:t>
            </a:r>
            <a:r>
              <a:rPr dirty="0"/>
              <a:t>os</a:t>
            </a:r>
            <a:r>
              <a:rPr spc="15" dirty="0">
                <a:latin typeface="Times New Roman"/>
                <a:cs typeface="Times New Roman"/>
              </a:rPr>
              <a:t>  </a:t>
            </a:r>
            <a:r>
              <a:rPr dirty="0"/>
              <a:t>sistemas</a:t>
            </a:r>
            <a:r>
              <a:rPr spc="15" dirty="0">
                <a:latin typeface="Times New Roman"/>
                <a:cs typeface="Times New Roman"/>
              </a:rPr>
              <a:t>  </a:t>
            </a:r>
            <a:r>
              <a:rPr dirty="0"/>
              <a:t>de</a:t>
            </a:r>
            <a:r>
              <a:rPr spc="20" dirty="0">
                <a:latin typeface="Times New Roman"/>
                <a:cs typeface="Times New Roman"/>
              </a:rPr>
              <a:t>  </a:t>
            </a:r>
            <a:r>
              <a:rPr dirty="0"/>
              <a:t>grande</a:t>
            </a:r>
            <a:r>
              <a:rPr spc="15" dirty="0">
                <a:latin typeface="Times New Roman"/>
                <a:cs typeface="Times New Roman"/>
              </a:rPr>
              <a:t>  </a:t>
            </a:r>
            <a:r>
              <a:rPr dirty="0"/>
              <a:t>porte</a:t>
            </a:r>
            <a:r>
              <a:rPr spc="15" dirty="0">
                <a:latin typeface="Times New Roman"/>
                <a:cs typeface="Times New Roman"/>
              </a:rPr>
              <a:t>  </a:t>
            </a:r>
            <a:r>
              <a:rPr dirty="0"/>
              <a:t>tem</a:t>
            </a:r>
            <a:r>
              <a:rPr spc="10" dirty="0">
                <a:latin typeface="Times New Roman"/>
                <a:cs typeface="Times New Roman"/>
              </a:rPr>
              <a:t>  </a:t>
            </a:r>
            <a:r>
              <a:rPr dirty="0"/>
              <a:t>um</a:t>
            </a:r>
            <a:r>
              <a:rPr spc="15" dirty="0">
                <a:latin typeface="Times New Roman"/>
                <a:cs typeface="Times New Roman"/>
              </a:rPr>
              <a:t>  </a:t>
            </a:r>
            <a:r>
              <a:rPr spc="-10" dirty="0"/>
              <a:t>conjunto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/>
              <a:t>diversificado</a:t>
            </a:r>
            <a:r>
              <a:rPr spc="270" dirty="0">
                <a:latin typeface="Times New Roman"/>
                <a:cs typeface="Times New Roman"/>
              </a:rPr>
              <a:t>  </a:t>
            </a:r>
            <a:r>
              <a:rPr dirty="0"/>
              <a:t>de</a:t>
            </a:r>
            <a:r>
              <a:rPr spc="275" dirty="0">
                <a:latin typeface="Times New Roman"/>
                <a:cs typeface="Times New Roman"/>
              </a:rPr>
              <a:t>  </a:t>
            </a:r>
            <a:r>
              <a:rPr dirty="0"/>
              <a:t>stakeholders.</a:t>
            </a:r>
            <a:r>
              <a:rPr spc="270" dirty="0">
                <a:latin typeface="Times New Roman"/>
                <a:cs typeface="Times New Roman"/>
              </a:rPr>
              <a:t>  </a:t>
            </a:r>
            <a:r>
              <a:rPr dirty="0"/>
              <a:t>É</a:t>
            </a:r>
            <a:r>
              <a:rPr spc="275" dirty="0">
                <a:latin typeface="Times New Roman"/>
                <a:cs typeface="Times New Roman"/>
              </a:rPr>
              <a:t>  </a:t>
            </a:r>
            <a:r>
              <a:rPr dirty="0"/>
              <a:t>praticamente</a:t>
            </a:r>
            <a:r>
              <a:rPr spc="270" dirty="0">
                <a:latin typeface="Times New Roman"/>
                <a:cs typeface="Times New Roman"/>
              </a:rPr>
              <a:t>  </a:t>
            </a:r>
            <a:r>
              <a:rPr spc="-10" dirty="0"/>
              <a:t>impossível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/>
              <a:t>envolver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dirty="0"/>
              <a:t>todos</a:t>
            </a:r>
            <a:r>
              <a:rPr dirty="0">
                <a:latin typeface="Times New Roman"/>
                <a:cs typeface="Times New Roman"/>
              </a:rPr>
              <a:t> </a:t>
            </a:r>
            <a:r>
              <a:rPr dirty="0"/>
              <a:t>eles</a:t>
            </a:r>
            <a:r>
              <a:rPr dirty="0">
                <a:latin typeface="Times New Roman"/>
                <a:cs typeface="Times New Roman"/>
              </a:rPr>
              <a:t> </a:t>
            </a:r>
            <a:r>
              <a:rPr dirty="0"/>
              <a:t>no</a:t>
            </a:r>
            <a:r>
              <a:rPr spc="5" dirty="0">
                <a:latin typeface="Times New Roman"/>
                <a:cs typeface="Times New Roman"/>
              </a:rPr>
              <a:t> </a:t>
            </a:r>
            <a:r>
              <a:rPr dirty="0"/>
              <a:t>processo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/>
              <a:t>de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spc="-10" dirty="0"/>
              <a:t>desenvolvimento.</a:t>
            </a:r>
          </a:p>
        </p:txBody>
      </p:sp>
    </p:spTree>
    <p:extLst>
      <p:ext uri="{BB962C8B-B14F-4D97-AF65-F5344CB8AC3E}">
        <p14:creationId xmlns:p14="http://schemas.microsoft.com/office/powerpoint/2010/main" val="2143938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3676" y="46627"/>
            <a:ext cx="6979172" cy="1614332"/>
          </a:xfrm>
          <a:prstGeom prst="rect">
            <a:avLst/>
          </a:prstGeom>
        </p:spPr>
        <p:txBody>
          <a:bodyPr vert="horz" wrap="square" lIns="0" tIns="31086" rIns="0" bIns="0" rtlCol="0" anchor="ctr">
            <a:spAutoFit/>
          </a:bodyPr>
          <a:lstStyle/>
          <a:p>
            <a:pPr marL="12689" marR="5075">
              <a:lnSpc>
                <a:spcPct val="116700"/>
              </a:lnSpc>
              <a:spcBef>
                <a:spcPts val="245"/>
              </a:spcBef>
            </a:pPr>
            <a:r>
              <a:rPr cap="small" dirty="0"/>
              <a:t>Per</a:t>
            </a:r>
            <a:r>
              <a:rPr cap="small" spc="-5" dirty="0"/>
              <a:t>s</a:t>
            </a:r>
            <a:r>
              <a:rPr cap="small" dirty="0"/>
              <a:t>pe</a:t>
            </a:r>
            <a:r>
              <a:rPr cap="small" spc="5" dirty="0"/>
              <a:t>c</a:t>
            </a:r>
            <a:r>
              <a:rPr cap="small" spc="-10" dirty="0"/>
              <a:t>t</a:t>
            </a:r>
            <a:r>
              <a:rPr cap="small" dirty="0"/>
              <a:t>iva</a:t>
            </a:r>
            <a:r>
              <a:rPr sz="2398" spc="250" dirty="0">
                <a:latin typeface="Times New Roman"/>
                <a:cs typeface="Times New Roman"/>
              </a:rPr>
              <a:t> </a:t>
            </a:r>
            <a:r>
              <a:rPr cap="small" spc="-5" dirty="0"/>
              <a:t>s</a:t>
            </a:r>
            <a:r>
              <a:rPr cap="small" dirty="0"/>
              <a:t>ca</a:t>
            </a:r>
            <a:r>
              <a:rPr cap="small" spc="-10" dirty="0"/>
              <a:t>l</a:t>
            </a:r>
            <a:r>
              <a:rPr cap="small" dirty="0"/>
              <a:t>ing</a:t>
            </a:r>
            <a:r>
              <a:rPr sz="2398" spc="254" dirty="0">
                <a:latin typeface="Times New Roman"/>
                <a:cs typeface="Times New Roman"/>
              </a:rPr>
              <a:t> </a:t>
            </a:r>
            <a:r>
              <a:rPr cap="small" dirty="0"/>
              <a:t>out</a:t>
            </a:r>
            <a:r>
              <a:rPr sz="2398" spc="254" dirty="0">
                <a:latin typeface="Times New Roman"/>
                <a:cs typeface="Times New Roman"/>
              </a:rPr>
              <a:t> </a:t>
            </a:r>
            <a:r>
              <a:rPr cap="small" dirty="0"/>
              <a:t>e</a:t>
            </a:r>
            <a:r>
              <a:rPr sz="2398" spc="265" dirty="0">
                <a:latin typeface="Times New Roman"/>
                <a:cs typeface="Times New Roman"/>
              </a:rPr>
              <a:t> </a:t>
            </a:r>
            <a:r>
              <a:rPr cap="small" spc="-5" dirty="0"/>
              <a:t>s</a:t>
            </a:r>
            <a:r>
              <a:rPr cap="small" dirty="0"/>
              <a:t>ca</a:t>
            </a:r>
            <a:r>
              <a:rPr cap="small" spc="-10" dirty="0"/>
              <a:t>l</a:t>
            </a:r>
            <a:r>
              <a:rPr cap="small" dirty="0"/>
              <a:t>ing</a:t>
            </a:r>
            <a:r>
              <a:rPr sz="2398" dirty="0">
                <a:latin typeface="Times New Roman"/>
                <a:cs typeface="Times New Roman"/>
              </a:rPr>
              <a:t> </a:t>
            </a:r>
            <a:r>
              <a:rPr cap="small" dirty="0"/>
              <a:t>up</a:t>
            </a:r>
            <a:endParaRPr sz="239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3676" y="1579027"/>
            <a:ext cx="7303992" cy="4799966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286762" marR="5710" indent="-274073" algn="just">
              <a:lnSpc>
                <a:spcPct val="140000"/>
              </a:lnSpc>
              <a:spcBef>
                <a:spcPts val="100"/>
              </a:spcBef>
              <a:buClr>
                <a:srgbClr val="94C600"/>
              </a:buClr>
              <a:buSzPct val="70000"/>
              <a:buFont typeface="Wingdings"/>
              <a:buChar char=""/>
              <a:tabLst>
                <a:tab pos="286762" algn="l"/>
              </a:tabLst>
            </a:pPr>
            <a:r>
              <a:rPr sz="1998" dirty="0">
                <a:latin typeface="Century Schoolbook"/>
                <a:cs typeface="Century Schoolbook"/>
              </a:rPr>
              <a:t>‘Scaling</a:t>
            </a:r>
            <a:r>
              <a:rPr sz="1998" spc="20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up’</a:t>
            </a:r>
            <a:r>
              <a:rPr sz="1998" spc="19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se</a:t>
            </a:r>
            <a:r>
              <a:rPr sz="1998" spc="19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preocupa</a:t>
            </a:r>
            <a:r>
              <a:rPr sz="1998" spc="20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em</a:t>
            </a:r>
            <a:r>
              <a:rPr sz="1998" spc="19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usar</a:t>
            </a:r>
            <a:r>
              <a:rPr sz="1998" spc="19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métodos</a:t>
            </a:r>
            <a:r>
              <a:rPr sz="1998" spc="19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ágeis</a:t>
            </a:r>
            <a:r>
              <a:rPr sz="1998" spc="200" dirty="0">
                <a:latin typeface="Times New Roman"/>
                <a:cs typeface="Times New Roman"/>
              </a:rPr>
              <a:t>  </a:t>
            </a:r>
            <a:r>
              <a:rPr sz="1998" spc="-20" dirty="0">
                <a:latin typeface="Century Schoolbook"/>
                <a:cs typeface="Century Schoolbook"/>
              </a:rPr>
              <a:t>para</a:t>
            </a:r>
            <a:r>
              <a:rPr sz="1998" spc="-2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desenvolver</a:t>
            </a:r>
            <a:r>
              <a:rPr sz="1998" spc="2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sistemas</a:t>
            </a:r>
            <a:r>
              <a:rPr sz="1998" spc="22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de</a:t>
            </a:r>
            <a:r>
              <a:rPr sz="1998" spc="21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software</a:t>
            </a:r>
            <a:r>
              <a:rPr sz="1998" spc="24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de</a:t>
            </a:r>
            <a:r>
              <a:rPr sz="1998" spc="229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grande</a:t>
            </a:r>
            <a:r>
              <a:rPr sz="1998" spc="24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porte</a:t>
            </a:r>
            <a:r>
              <a:rPr sz="1998" spc="229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que</a:t>
            </a:r>
            <a:r>
              <a:rPr sz="1998" spc="235" dirty="0">
                <a:latin typeface="Times New Roman"/>
                <a:cs typeface="Times New Roman"/>
              </a:rPr>
              <a:t> </a:t>
            </a:r>
            <a:r>
              <a:rPr sz="1998" spc="-25" dirty="0">
                <a:latin typeface="Century Schoolbook"/>
                <a:cs typeface="Century Schoolbook"/>
              </a:rPr>
              <a:t>não</a:t>
            </a:r>
            <a:r>
              <a:rPr sz="1998" spc="-2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podem</a:t>
            </a:r>
            <a:r>
              <a:rPr sz="1998" spc="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ser</a:t>
            </a:r>
            <a:r>
              <a:rPr sz="1998" spc="3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desenvolvidos</a:t>
            </a:r>
            <a:r>
              <a:rPr sz="1998" spc="1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por</a:t>
            </a:r>
            <a:r>
              <a:rPr sz="1998" spc="3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uma</a:t>
            </a:r>
            <a:r>
              <a:rPr sz="1998" spc="4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equipe</a:t>
            </a:r>
            <a:r>
              <a:rPr sz="1998" spc="25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pequena.</a:t>
            </a:r>
            <a:endParaRPr sz="1998">
              <a:latin typeface="Century Schoolbook"/>
              <a:cs typeface="Century Schoolbook"/>
            </a:endParaRPr>
          </a:p>
          <a:p>
            <a:pPr marL="286762" marR="5075" indent="-274073" algn="just">
              <a:lnSpc>
                <a:spcPct val="140000"/>
              </a:lnSpc>
              <a:spcBef>
                <a:spcPts val="599"/>
              </a:spcBef>
              <a:buClr>
                <a:srgbClr val="94C600"/>
              </a:buClr>
              <a:buSzPct val="70000"/>
              <a:buFont typeface="Wingdings"/>
              <a:buChar char=""/>
              <a:tabLst>
                <a:tab pos="286762" algn="l"/>
              </a:tabLst>
            </a:pPr>
            <a:r>
              <a:rPr sz="1998" dirty="0">
                <a:latin typeface="Century Schoolbook"/>
                <a:cs typeface="Century Schoolbook"/>
              </a:rPr>
              <a:t>‘Scaling</a:t>
            </a:r>
            <a:r>
              <a:rPr sz="1998" spc="18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out’</a:t>
            </a:r>
            <a:r>
              <a:rPr sz="1998" spc="19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se</a:t>
            </a:r>
            <a:r>
              <a:rPr sz="1998" spc="2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preocupa</a:t>
            </a:r>
            <a:r>
              <a:rPr sz="1998" spc="18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em</a:t>
            </a:r>
            <a:r>
              <a:rPr sz="1998" spc="19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como</a:t>
            </a:r>
            <a:r>
              <a:rPr sz="1998" spc="19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os</a:t>
            </a:r>
            <a:r>
              <a:rPr sz="1998" spc="17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métodos</a:t>
            </a:r>
            <a:r>
              <a:rPr sz="1998" spc="20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ágeis</a:t>
            </a:r>
            <a:r>
              <a:rPr sz="1998" spc="200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podem</a:t>
            </a:r>
            <a:r>
              <a:rPr sz="1998" spc="-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ser</a:t>
            </a:r>
            <a:r>
              <a:rPr sz="1998" spc="49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introduzidos</a:t>
            </a:r>
            <a:r>
              <a:rPr sz="1998" spc="49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em</a:t>
            </a:r>
            <a:r>
              <a:rPr sz="1998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uma</a:t>
            </a:r>
            <a:r>
              <a:rPr sz="1998" spc="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grande</a:t>
            </a:r>
            <a:r>
              <a:rPr sz="1998" spc="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organização</a:t>
            </a:r>
            <a:r>
              <a:rPr sz="1998" spc="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com</a:t>
            </a:r>
            <a:r>
              <a:rPr sz="1998" spc="5" dirty="0">
                <a:latin typeface="Times New Roman"/>
                <a:cs typeface="Times New Roman"/>
              </a:rPr>
              <a:t>  </a:t>
            </a:r>
            <a:r>
              <a:rPr sz="1998" spc="-10" dirty="0">
                <a:latin typeface="Century Schoolbook"/>
                <a:cs typeface="Century Schoolbook"/>
              </a:rPr>
              <a:t>vários</a:t>
            </a:r>
            <a:r>
              <a:rPr sz="1998" spc="-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anos</a:t>
            </a:r>
            <a:r>
              <a:rPr sz="1998" spc="2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de</a:t>
            </a:r>
            <a:r>
              <a:rPr sz="1998" spc="4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experiência</a:t>
            </a:r>
            <a:r>
              <a:rPr sz="1998" spc="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de</a:t>
            </a:r>
            <a:r>
              <a:rPr sz="1998" spc="4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desenvolvimento</a:t>
            </a:r>
            <a:r>
              <a:rPr sz="1998" spc="1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de</a:t>
            </a:r>
            <a:r>
              <a:rPr sz="1998" spc="45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software.</a:t>
            </a:r>
            <a:endParaRPr sz="1998">
              <a:latin typeface="Century Schoolbook"/>
              <a:cs typeface="Century Schoolbook"/>
            </a:endParaRPr>
          </a:p>
          <a:p>
            <a:pPr marL="286762" marR="5075" indent="-274073" algn="just">
              <a:lnSpc>
                <a:spcPct val="140000"/>
              </a:lnSpc>
              <a:spcBef>
                <a:spcPts val="599"/>
              </a:spcBef>
              <a:buClr>
                <a:srgbClr val="94C600"/>
              </a:buClr>
              <a:buSzPct val="70000"/>
              <a:buFont typeface="Wingdings"/>
              <a:buChar char=""/>
              <a:tabLst>
                <a:tab pos="286762" algn="l"/>
              </a:tabLst>
            </a:pPr>
            <a:r>
              <a:rPr sz="1998" dirty="0">
                <a:latin typeface="Century Schoolbook"/>
                <a:cs typeface="Century Schoolbook"/>
              </a:rPr>
              <a:t>A</a:t>
            </a:r>
            <a:r>
              <a:rPr sz="1998" spc="7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escalar</a:t>
            </a:r>
            <a:r>
              <a:rPr sz="1998" spc="7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métodos</a:t>
            </a:r>
            <a:r>
              <a:rPr sz="1998" spc="6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ágeis</a:t>
            </a:r>
            <a:r>
              <a:rPr sz="1998" spc="6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é</a:t>
            </a:r>
            <a:r>
              <a:rPr sz="1998" spc="7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essencial</a:t>
            </a:r>
            <a:r>
              <a:rPr sz="1998" spc="7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manter</a:t>
            </a:r>
            <a:r>
              <a:rPr sz="1998" spc="5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os</a:t>
            </a:r>
            <a:r>
              <a:rPr sz="1998" spc="70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fundamentos</a:t>
            </a:r>
            <a:r>
              <a:rPr sz="1998" spc="-10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ágeis</a:t>
            </a:r>
            <a:endParaRPr sz="1998">
              <a:latin typeface="Century Schoolbook"/>
              <a:cs typeface="Century Schoolbook"/>
            </a:endParaRPr>
          </a:p>
          <a:p>
            <a:pPr marL="651558" marR="6344" lvl="1" indent="-274073" algn="just">
              <a:lnSpc>
                <a:spcPct val="140000"/>
              </a:lnSpc>
              <a:spcBef>
                <a:spcPts val="475"/>
              </a:spcBef>
              <a:buClr>
                <a:srgbClr val="94C600"/>
              </a:buClr>
              <a:buSzPct val="80555"/>
              <a:buFont typeface="Wingdings 2"/>
              <a:buChar char=""/>
              <a:tabLst>
                <a:tab pos="652192" algn="l"/>
              </a:tabLst>
            </a:pPr>
            <a:r>
              <a:rPr sz="1798" dirty="0">
                <a:latin typeface="Century Schoolbook"/>
                <a:cs typeface="Century Schoolbook"/>
              </a:rPr>
              <a:t>Planejamento</a:t>
            </a:r>
            <a:r>
              <a:rPr sz="1798" spc="200" dirty="0">
                <a:latin typeface="Times New Roman"/>
                <a:cs typeface="Times New Roman"/>
              </a:rPr>
              <a:t>   </a:t>
            </a:r>
            <a:r>
              <a:rPr sz="1798" dirty="0">
                <a:latin typeface="Century Schoolbook"/>
                <a:cs typeface="Century Schoolbook"/>
              </a:rPr>
              <a:t>flexível,</a:t>
            </a:r>
            <a:r>
              <a:rPr sz="1798" spc="200" dirty="0">
                <a:latin typeface="Times New Roman"/>
                <a:cs typeface="Times New Roman"/>
              </a:rPr>
              <a:t>   </a:t>
            </a:r>
            <a:r>
              <a:rPr sz="1798" dirty="0">
                <a:latin typeface="Century Schoolbook"/>
                <a:cs typeface="Century Schoolbook"/>
              </a:rPr>
              <a:t>releases</a:t>
            </a:r>
            <a:r>
              <a:rPr sz="1798" spc="200" dirty="0">
                <a:latin typeface="Times New Roman"/>
                <a:cs typeface="Times New Roman"/>
              </a:rPr>
              <a:t>   </a:t>
            </a:r>
            <a:r>
              <a:rPr sz="1798" dirty="0">
                <a:latin typeface="Century Schoolbook"/>
                <a:cs typeface="Century Schoolbook"/>
              </a:rPr>
              <a:t>de</a:t>
            </a:r>
            <a:r>
              <a:rPr sz="1798" spc="200" dirty="0">
                <a:latin typeface="Times New Roman"/>
                <a:cs typeface="Times New Roman"/>
              </a:rPr>
              <a:t>   </a:t>
            </a:r>
            <a:r>
              <a:rPr sz="1798" dirty="0">
                <a:latin typeface="Century Schoolbook"/>
                <a:cs typeface="Century Schoolbook"/>
              </a:rPr>
              <a:t>sistema</a:t>
            </a:r>
            <a:r>
              <a:rPr sz="1798" spc="200" dirty="0">
                <a:latin typeface="Times New Roman"/>
                <a:cs typeface="Times New Roman"/>
              </a:rPr>
              <a:t>   </a:t>
            </a:r>
            <a:r>
              <a:rPr sz="1798" spc="-10" dirty="0">
                <a:latin typeface="Century Schoolbook"/>
                <a:cs typeface="Century Schoolbook"/>
              </a:rPr>
              <a:t>frequentes,</a:t>
            </a:r>
            <a:r>
              <a:rPr sz="1798" spc="-1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integração</a:t>
            </a:r>
            <a:r>
              <a:rPr sz="1798" spc="35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contínua,</a:t>
            </a:r>
            <a:r>
              <a:rPr sz="1798" spc="36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desenvolvimento</a:t>
            </a:r>
            <a:r>
              <a:rPr sz="1798" spc="36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dirigido</a:t>
            </a:r>
            <a:r>
              <a:rPr sz="1798" spc="36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a</a:t>
            </a:r>
            <a:r>
              <a:rPr sz="1798" spc="355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testes</a:t>
            </a:r>
            <a:r>
              <a:rPr sz="1798" spc="36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e</a:t>
            </a:r>
            <a:r>
              <a:rPr sz="1798" spc="360" dirty="0">
                <a:latin typeface="Times New Roman"/>
                <a:cs typeface="Times New Roman"/>
              </a:rPr>
              <a:t> </a:t>
            </a:r>
            <a:r>
              <a:rPr sz="1798" spc="-25" dirty="0">
                <a:latin typeface="Century Schoolbook"/>
                <a:cs typeface="Century Schoolbook"/>
              </a:rPr>
              <a:t>boa</a:t>
            </a:r>
            <a:r>
              <a:rPr sz="1798" spc="-25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comunicação</a:t>
            </a:r>
            <a:r>
              <a:rPr sz="1798" spc="2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entre</a:t>
            </a:r>
            <a:r>
              <a:rPr sz="1798" spc="35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os</a:t>
            </a:r>
            <a:r>
              <a:rPr sz="1798" spc="5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membros</a:t>
            </a:r>
            <a:r>
              <a:rPr sz="1798" spc="55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da</a:t>
            </a:r>
            <a:r>
              <a:rPr sz="1798" spc="40" dirty="0">
                <a:latin typeface="Times New Roman"/>
                <a:cs typeface="Times New Roman"/>
              </a:rPr>
              <a:t> </a:t>
            </a:r>
            <a:r>
              <a:rPr sz="1798" spc="-10" dirty="0">
                <a:latin typeface="Century Schoolbook"/>
                <a:cs typeface="Century Schoolbook"/>
              </a:rPr>
              <a:t>equipe.</a:t>
            </a:r>
            <a:endParaRPr sz="1798">
              <a:latin typeface="Century Schoolbook"/>
              <a:cs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1025929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3676" y="46627"/>
            <a:ext cx="6176641" cy="1614332"/>
          </a:xfrm>
          <a:prstGeom prst="rect">
            <a:avLst/>
          </a:prstGeom>
        </p:spPr>
        <p:txBody>
          <a:bodyPr vert="horz" wrap="square" lIns="0" tIns="31086" rIns="0" bIns="0" rtlCol="0" anchor="ctr">
            <a:spAutoFit/>
          </a:bodyPr>
          <a:lstStyle/>
          <a:p>
            <a:pPr marL="12689" marR="5075">
              <a:lnSpc>
                <a:spcPct val="116700"/>
              </a:lnSpc>
              <a:spcBef>
                <a:spcPts val="245"/>
              </a:spcBef>
            </a:pPr>
            <a:r>
              <a:rPr cap="small" dirty="0"/>
              <a:t>E</a:t>
            </a:r>
            <a:r>
              <a:rPr cap="small" spc="-5" dirty="0"/>
              <a:t>s</a:t>
            </a:r>
            <a:r>
              <a:rPr cap="small" dirty="0"/>
              <a:t>ca</a:t>
            </a:r>
            <a:r>
              <a:rPr cap="small" spc="-10" dirty="0"/>
              <a:t>l</a:t>
            </a:r>
            <a:r>
              <a:rPr cap="small" dirty="0"/>
              <a:t>a</a:t>
            </a:r>
            <a:r>
              <a:rPr cap="small" spc="-5" dirty="0"/>
              <a:t>m</a:t>
            </a:r>
            <a:r>
              <a:rPr cap="small" dirty="0"/>
              <a:t>en</a:t>
            </a:r>
            <a:r>
              <a:rPr cap="small" spc="-10" dirty="0"/>
              <a:t>t</a:t>
            </a:r>
            <a:r>
              <a:rPr cap="small" dirty="0"/>
              <a:t>o</a:t>
            </a:r>
            <a:r>
              <a:rPr sz="2398" spc="265" dirty="0">
                <a:latin typeface="Times New Roman"/>
                <a:cs typeface="Times New Roman"/>
              </a:rPr>
              <a:t> </a:t>
            </a:r>
            <a:r>
              <a:rPr cap="small" dirty="0"/>
              <a:t>pa</a:t>
            </a:r>
            <a:r>
              <a:rPr cap="small" spc="-5" dirty="0"/>
              <a:t>r</a:t>
            </a:r>
            <a:r>
              <a:rPr cap="small" dirty="0"/>
              <a:t>a</a:t>
            </a:r>
            <a:r>
              <a:rPr sz="2398" spc="265" dirty="0">
                <a:latin typeface="Times New Roman"/>
                <a:cs typeface="Times New Roman"/>
              </a:rPr>
              <a:t> </a:t>
            </a:r>
            <a:r>
              <a:rPr cap="small" spc="-5" dirty="0"/>
              <a:t>s</a:t>
            </a:r>
            <a:r>
              <a:rPr cap="small" dirty="0"/>
              <a:t>i</a:t>
            </a:r>
            <a:r>
              <a:rPr cap="small" spc="-5" dirty="0"/>
              <a:t>s</a:t>
            </a:r>
            <a:r>
              <a:rPr cap="small" spc="-10" dirty="0"/>
              <a:t>t</a:t>
            </a:r>
            <a:r>
              <a:rPr cap="small" dirty="0"/>
              <a:t>e</a:t>
            </a:r>
            <a:r>
              <a:rPr cap="small" spc="-5" dirty="0"/>
              <a:t>m</a:t>
            </a:r>
            <a:r>
              <a:rPr cap="small" dirty="0"/>
              <a:t>as</a:t>
            </a:r>
            <a:r>
              <a:rPr sz="2398" spc="270" dirty="0">
                <a:latin typeface="Times New Roman"/>
                <a:cs typeface="Times New Roman"/>
              </a:rPr>
              <a:t> </a:t>
            </a:r>
            <a:r>
              <a:rPr cap="small" dirty="0"/>
              <a:t>de</a:t>
            </a:r>
            <a:r>
              <a:rPr sz="2398" dirty="0">
                <a:latin typeface="Times New Roman"/>
                <a:cs typeface="Times New Roman"/>
              </a:rPr>
              <a:t> </a:t>
            </a:r>
            <a:r>
              <a:rPr cap="small" dirty="0"/>
              <a:t>g</a:t>
            </a:r>
            <a:r>
              <a:rPr cap="small" spc="-5" dirty="0"/>
              <a:t>r</a:t>
            </a:r>
            <a:r>
              <a:rPr cap="small" dirty="0"/>
              <a:t>ande</a:t>
            </a:r>
            <a:r>
              <a:rPr sz="2398" spc="250" dirty="0">
                <a:latin typeface="Times New Roman"/>
                <a:cs typeface="Times New Roman"/>
              </a:rPr>
              <a:t> </a:t>
            </a:r>
            <a:r>
              <a:rPr cap="small" dirty="0"/>
              <a:t>por</a:t>
            </a:r>
            <a:r>
              <a:rPr cap="small" spc="-10" dirty="0"/>
              <a:t>t</a:t>
            </a:r>
            <a:r>
              <a:rPr cap="small" dirty="0"/>
              <a:t>e</a:t>
            </a:r>
            <a:endParaRPr sz="239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3676" y="1588470"/>
            <a:ext cx="7303992" cy="4690847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286762" marR="5075" indent="-274073" algn="just">
              <a:lnSpc>
                <a:spcPct val="130000"/>
              </a:lnSpc>
              <a:spcBef>
                <a:spcPts val="100"/>
              </a:spcBef>
              <a:buClr>
                <a:srgbClr val="94C600"/>
              </a:buClr>
              <a:buSzPct val="68421"/>
              <a:buFont typeface="Wingdings"/>
              <a:buChar char=""/>
              <a:tabLst>
                <a:tab pos="286762" algn="l"/>
              </a:tabLst>
            </a:pPr>
            <a:r>
              <a:rPr sz="1898" dirty="0">
                <a:latin typeface="Century Schoolbook"/>
                <a:cs typeface="Century Schoolbook"/>
              </a:rPr>
              <a:t>Para</a:t>
            </a:r>
            <a:r>
              <a:rPr sz="1898" spc="18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o</a:t>
            </a:r>
            <a:r>
              <a:rPr sz="1898" spc="18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desenvolvimento</a:t>
            </a:r>
            <a:r>
              <a:rPr sz="1898" spc="18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</a:t>
            </a:r>
            <a:r>
              <a:rPr sz="1898" spc="18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sistemas</a:t>
            </a:r>
            <a:r>
              <a:rPr sz="1898" spc="18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</a:t>
            </a:r>
            <a:r>
              <a:rPr sz="1898" spc="18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grande</a:t>
            </a:r>
            <a:r>
              <a:rPr sz="1898" spc="18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não</a:t>
            </a:r>
            <a:r>
              <a:rPr sz="1898" spc="18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é</a:t>
            </a:r>
            <a:r>
              <a:rPr sz="1898" spc="185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possível</a:t>
            </a:r>
            <a:r>
              <a:rPr sz="1898" spc="-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focar</a:t>
            </a:r>
            <a:r>
              <a:rPr sz="1898" spc="5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apenas</a:t>
            </a:r>
            <a:r>
              <a:rPr sz="1898" spc="6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no</a:t>
            </a:r>
            <a:r>
              <a:rPr sz="1898" spc="6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código</a:t>
            </a:r>
            <a:r>
              <a:rPr sz="1898" spc="6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do</a:t>
            </a:r>
            <a:r>
              <a:rPr sz="1898" spc="6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sistema.</a:t>
            </a:r>
            <a:r>
              <a:rPr sz="1898" spc="6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De</a:t>
            </a:r>
            <a:r>
              <a:rPr sz="1898" spc="6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início,</a:t>
            </a:r>
            <a:r>
              <a:rPr sz="1898" spc="6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é</a:t>
            </a:r>
            <a:r>
              <a:rPr sz="1898" spc="60" dirty="0">
                <a:latin typeface="Times New Roman"/>
                <a:cs typeface="Times New Roman"/>
              </a:rPr>
              <a:t>  </a:t>
            </a:r>
            <a:r>
              <a:rPr sz="1898" spc="-10" dirty="0">
                <a:latin typeface="Century Schoolbook"/>
                <a:cs typeface="Century Schoolbook"/>
              </a:rPr>
              <a:t>necessário</a:t>
            </a:r>
            <a:r>
              <a:rPr sz="1898" spc="-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fazer</a:t>
            </a:r>
            <a:r>
              <a:rPr sz="1898" spc="-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mais</a:t>
            </a:r>
            <a:r>
              <a:rPr sz="1898" spc="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designs</a:t>
            </a:r>
            <a:r>
              <a:rPr sz="1898" spc="-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e</a:t>
            </a:r>
            <a:r>
              <a:rPr sz="1898" spc="-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documentação</a:t>
            </a:r>
            <a:r>
              <a:rPr sz="1898" spc="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do</a:t>
            </a:r>
            <a:r>
              <a:rPr sz="1898" spc="-5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sistema.</a:t>
            </a:r>
            <a:endParaRPr sz="1898">
              <a:latin typeface="Century Schoolbook"/>
              <a:cs typeface="Century Schoolbook"/>
            </a:endParaRPr>
          </a:p>
          <a:p>
            <a:pPr marL="286762" marR="5075" indent="-274073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68421"/>
              <a:buFont typeface="Wingdings"/>
              <a:buChar char=""/>
              <a:tabLst>
                <a:tab pos="286762" algn="l"/>
              </a:tabLst>
            </a:pPr>
            <a:r>
              <a:rPr sz="1898" dirty="0">
                <a:latin typeface="Century Schoolbook"/>
                <a:cs typeface="Century Schoolbook"/>
              </a:rPr>
              <a:t>Os</a:t>
            </a:r>
            <a:r>
              <a:rPr sz="1898" spc="9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mecanismos</a:t>
            </a:r>
            <a:r>
              <a:rPr sz="1898" spc="9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</a:t>
            </a:r>
            <a:r>
              <a:rPr sz="1898" spc="9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comunicação</a:t>
            </a:r>
            <a:r>
              <a:rPr sz="1898" spc="10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entre</a:t>
            </a:r>
            <a:r>
              <a:rPr sz="1898" spc="10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as</a:t>
            </a:r>
            <a:r>
              <a:rPr sz="1898" spc="9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equipes</a:t>
            </a:r>
            <a:r>
              <a:rPr sz="1898" spc="9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precisam</a:t>
            </a:r>
            <a:r>
              <a:rPr sz="1898" spc="90" dirty="0">
                <a:latin typeface="Times New Roman"/>
                <a:cs typeface="Times New Roman"/>
              </a:rPr>
              <a:t> </a:t>
            </a:r>
            <a:r>
              <a:rPr sz="1898" spc="-25" dirty="0">
                <a:latin typeface="Century Schoolbook"/>
                <a:cs typeface="Century Schoolbook"/>
              </a:rPr>
              <a:t>ser</a:t>
            </a:r>
            <a:r>
              <a:rPr sz="1898" spc="-2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desenvolvidos</a:t>
            </a:r>
            <a:r>
              <a:rPr sz="1898" spc="8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e</a:t>
            </a:r>
            <a:r>
              <a:rPr sz="1898" spc="8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usados.</a:t>
            </a:r>
            <a:r>
              <a:rPr sz="1898" spc="8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O</a:t>
            </a:r>
            <a:r>
              <a:rPr sz="1898" spc="10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que</a:t>
            </a:r>
            <a:r>
              <a:rPr sz="1898" spc="8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deve</a:t>
            </a:r>
            <a:r>
              <a:rPr sz="1898" spc="9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envolver</a:t>
            </a:r>
            <a:r>
              <a:rPr sz="1898" spc="8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telefones</a:t>
            </a:r>
            <a:r>
              <a:rPr sz="1898" spc="85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comuns</a:t>
            </a:r>
            <a:r>
              <a:rPr sz="1898" spc="-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e</a:t>
            </a:r>
            <a:r>
              <a:rPr sz="1898" spc="4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videoconferências</a:t>
            </a:r>
            <a:r>
              <a:rPr sz="1898" spc="4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e</a:t>
            </a:r>
            <a:r>
              <a:rPr sz="1898" spc="4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reuniões</a:t>
            </a:r>
            <a:r>
              <a:rPr sz="1898" spc="4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virtuais</a:t>
            </a:r>
            <a:r>
              <a:rPr sz="1898" spc="4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curtas</a:t>
            </a:r>
            <a:r>
              <a:rPr sz="1898" spc="4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e</a:t>
            </a:r>
            <a:r>
              <a:rPr sz="1898" spc="40" dirty="0">
                <a:latin typeface="Times New Roman"/>
                <a:cs typeface="Times New Roman"/>
              </a:rPr>
              <a:t>  </a:t>
            </a:r>
            <a:r>
              <a:rPr sz="1898" spc="-10" dirty="0">
                <a:latin typeface="Century Schoolbook"/>
                <a:cs typeface="Century Schoolbook"/>
              </a:rPr>
              <a:t>frequentes</a:t>
            </a:r>
            <a:r>
              <a:rPr sz="1898" spc="-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entre</a:t>
            </a:r>
            <a:r>
              <a:rPr sz="1898" spc="20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os</a:t>
            </a:r>
            <a:r>
              <a:rPr sz="1898" spc="20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membros</a:t>
            </a:r>
            <a:r>
              <a:rPr sz="1898" spc="425" dirty="0">
                <a:latin typeface="Times New Roman"/>
                <a:cs typeface="Times New Roman"/>
              </a:rPr>
              <a:t>   </a:t>
            </a:r>
            <a:r>
              <a:rPr sz="1898" dirty="0">
                <a:latin typeface="Century Schoolbook"/>
                <a:cs typeface="Century Schoolbook"/>
              </a:rPr>
              <a:t>da</a:t>
            </a:r>
            <a:r>
              <a:rPr sz="1898" spc="20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equipe,</a:t>
            </a:r>
            <a:r>
              <a:rPr sz="1898" spc="20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nas</a:t>
            </a:r>
            <a:r>
              <a:rPr sz="1898" spc="20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quais</a:t>
            </a:r>
            <a:r>
              <a:rPr sz="1898" spc="20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as</a:t>
            </a:r>
            <a:r>
              <a:rPr sz="1898" spc="20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equipes</a:t>
            </a:r>
            <a:r>
              <a:rPr sz="1898" spc="204" dirty="0">
                <a:latin typeface="Times New Roman"/>
                <a:cs typeface="Times New Roman"/>
              </a:rPr>
              <a:t>  </a:t>
            </a:r>
            <a:r>
              <a:rPr sz="1898" spc="-25" dirty="0">
                <a:latin typeface="Century Schoolbook"/>
                <a:cs typeface="Century Schoolbook"/>
              </a:rPr>
              <a:t>se</a:t>
            </a:r>
            <a:r>
              <a:rPr sz="1898" spc="-2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informam</a:t>
            </a:r>
            <a:r>
              <a:rPr sz="1898" spc="-2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mutuamente</a:t>
            </a:r>
            <a:r>
              <a:rPr sz="1898" spc="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acerca</a:t>
            </a:r>
            <a:r>
              <a:rPr sz="1898" spc="-2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do</a:t>
            </a:r>
            <a:r>
              <a:rPr sz="1898" spc="-2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progresso</a:t>
            </a:r>
            <a:r>
              <a:rPr sz="1898" spc="-2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do</a:t>
            </a:r>
            <a:r>
              <a:rPr sz="1898" spc="-30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trabalho.</a:t>
            </a:r>
            <a:endParaRPr sz="1898">
              <a:latin typeface="Century Schoolbook"/>
              <a:cs typeface="Century Schoolbook"/>
            </a:endParaRPr>
          </a:p>
          <a:p>
            <a:pPr marL="286762" marR="5075" indent="-274073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68421"/>
              <a:buFont typeface="Wingdings"/>
              <a:buChar char=""/>
              <a:tabLst>
                <a:tab pos="286762" algn="l"/>
              </a:tabLst>
            </a:pPr>
            <a:r>
              <a:rPr sz="1898" dirty="0">
                <a:latin typeface="Century Schoolbook"/>
                <a:cs typeface="Century Schoolbook"/>
              </a:rPr>
              <a:t>A</a:t>
            </a:r>
            <a:r>
              <a:rPr sz="1898" spc="44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integração</a:t>
            </a:r>
            <a:r>
              <a:rPr sz="1898" spc="45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contínua,</a:t>
            </a:r>
            <a:r>
              <a:rPr sz="1898" spc="44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na</a:t>
            </a:r>
            <a:r>
              <a:rPr sz="1898" spc="45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qual</a:t>
            </a:r>
            <a:r>
              <a:rPr sz="1898" spc="44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o</a:t>
            </a:r>
            <a:r>
              <a:rPr sz="1898" spc="44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sistema</a:t>
            </a:r>
            <a:r>
              <a:rPr sz="1898" spc="45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todo</a:t>
            </a:r>
            <a:r>
              <a:rPr sz="1898" spc="45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é</a:t>
            </a:r>
            <a:r>
              <a:rPr sz="1898" spc="455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construído</a:t>
            </a:r>
            <a:r>
              <a:rPr sz="1898" spc="-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cada</a:t>
            </a:r>
            <a:r>
              <a:rPr sz="1898" spc="22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vez</a:t>
            </a:r>
            <a:r>
              <a:rPr sz="1898" spc="22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que</a:t>
            </a:r>
            <a:r>
              <a:rPr sz="1898" spc="229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qualquer</a:t>
            </a:r>
            <a:r>
              <a:rPr sz="1898" spc="22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desenvolvedor</a:t>
            </a:r>
            <a:r>
              <a:rPr sz="1898" spc="22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aplica</a:t>
            </a:r>
            <a:r>
              <a:rPr sz="1898" spc="22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uma</a:t>
            </a:r>
            <a:r>
              <a:rPr sz="1898" spc="22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mudança,</a:t>
            </a:r>
            <a:r>
              <a:rPr sz="1898" spc="225" dirty="0">
                <a:latin typeface="Times New Roman"/>
                <a:cs typeface="Times New Roman"/>
              </a:rPr>
              <a:t> </a:t>
            </a:r>
            <a:r>
              <a:rPr sz="1898" spc="-50" dirty="0">
                <a:latin typeface="Century Schoolbook"/>
                <a:cs typeface="Century Schoolbook"/>
              </a:rPr>
              <a:t>é</a:t>
            </a:r>
            <a:r>
              <a:rPr sz="1898" spc="-5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praticamente</a:t>
            </a:r>
            <a:r>
              <a:rPr sz="1898" spc="21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impossível.</a:t>
            </a:r>
            <a:r>
              <a:rPr sz="1898" spc="204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No</a:t>
            </a:r>
            <a:r>
              <a:rPr sz="1898" spc="21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entanto,</a:t>
            </a:r>
            <a:r>
              <a:rPr sz="1898" spc="204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é</a:t>
            </a:r>
            <a:r>
              <a:rPr sz="1898" spc="21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essencial</a:t>
            </a:r>
            <a:r>
              <a:rPr sz="1898" spc="204" dirty="0">
                <a:latin typeface="Times New Roman"/>
                <a:cs typeface="Times New Roman"/>
              </a:rPr>
              <a:t>  </a:t>
            </a:r>
            <a:r>
              <a:rPr sz="1898" spc="-10" dirty="0">
                <a:latin typeface="Century Schoolbook"/>
                <a:cs typeface="Century Schoolbook"/>
              </a:rPr>
              <a:t>manter</a:t>
            </a:r>
            <a:r>
              <a:rPr sz="1898" spc="-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builds</a:t>
            </a:r>
            <a:r>
              <a:rPr sz="1898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frequentes</a:t>
            </a:r>
            <a:r>
              <a:rPr sz="1898" spc="47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e</a:t>
            </a:r>
            <a:r>
              <a:rPr sz="1898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releases</a:t>
            </a:r>
            <a:r>
              <a:rPr sz="1898" spc="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regulares</a:t>
            </a:r>
            <a:r>
              <a:rPr sz="1898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do</a:t>
            </a:r>
            <a:r>
              <a:rPr sz="1898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sistema.</a:t>
            </a:r>
            <a:endParaRPr sz="1898">
              <a:latin typeface="Century Schoolbook"/>
              <a:cs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104832303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3676" y="454488"/>
            <a:ext cx="6858633" cy="1365776"/>
          </a:xfrm>
          <a:prstGeom prst="rect">
            <a:avLst/>
          </a:prstGeom>
        </p:spPr>
        <p:txBody>
          <a:bodyPr vert="horz" wrap="square" lIns="0" tIns="12688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100"/>
              </a:spcBef>
            </a:pPr>
            <a:r>
              <a:rPr cap="small" dirty="0"/>
              <a:t>Sca</a:t>
            </a:r>
            <a:r>
              <a:rPr cap="small" spc="-10" dirty="0"/>
              <a:t>l</a:t>
            </a:r>
            <a:r>
              <a:rPr cap="small" dirty="0"/>
              <a:t>ing</a:t>
            </a:r>
            <a:r>
              <a:rPr sz="2398" spc="254" dirty="0">
                <a:latin typeface="Times New Roman"/>
                <a:cs typeface="Times New Roman"/>
              </a:rPr>
              <a:t> </a:t>
            </a:r>
            <a:r>
              <a:rPr cap="small" dirty="0"/>
              <a:t>out</a:t>
            </a:r>
            <a:r>
              <a:rPr sz="2398" spc="254" dirty="0">
                <a:latin typeface="Times New Roman"/>
                <a:cs typeface="Times New Roman"/>
              </a:rPr>
              <a:t> </a:t>
            </a:r>
            <a:r>
              <a:rPr cap="small" dirty="0"/>
              <a:t>em</a:t>
            </a:r>
            <a:r>
              <a:rPr sz="2398" spc="245" dirty="0">
                <a:latin typeface="Times New Roman"/>
                <a:cs typeface="Times New Roman"/>
              </a:rPr>
              <a:t> </a:t>
            </a:r>
            <a:r>
              <a:rPr cap="small" dirty="0"/>
              <a:t>g</a:t>
            </a:r>
            <a:r>
              <a:rPr cap="small" spc="-5" dirty="0"/>
              <a:t>r</a:t>
            </a:r>
            <a:r>
              <a:rPr cap="small" dirty="0"/>
              <a:t>andes</a:t>
            </a:r>
            <a:r>
              <a:rPr sz="2398" spc="245" dirty="0">
                <a:latin typeface="Times New Roman"/>
                <a:cs typeface="Times New Roman"/>
              </a:rPr>
              <a:t> </a:t>
            </a:r>
            <a:r>
              <a:rPr cap="small" dirty="0"/>
              <a:t>e</a:t>
            </a:r>
            <a:r>
              <a:rPr cap="small" spc="-5" dirty="0"/>
              <a:t>m</a:t>
            </a:r>
            <a:r>
              <a:rPr cap="small" dirty="0"/>
              <a:t>pre</a:t>
            </a:r>
            <a:r>
              <a:rPr cap="small" spc="-10" dirty="0"/>
              <a:t>s</a:t>
            </a:r>
            <a:r>
              <a:rPr cap="small" dirty="0"/>
              <a:t>as</a:t>
            </a:r>
            <a:endParaRPr sz="239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3676" y="1594254"/>
            <a:ext cx="7303992" cy="4628674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286762" marR="5710" indent="-274073" algn="just">
              <a:lnSpc>
                <a:spcPct val="130000"/>
              </a:lnSpc>
              <a:spcBef>
                <a:spcPts val="100"/>
              </a:spcBef>
              <a:buClr>
                <a:srgbClr val="94C600"/>
              </a:buClr>
              <a:buSzPct val="67647"/>
              <a:buFont typeface="Wingdings"/>
              <a:buChar char=""/>
              <a:tabLst>
                <a:tab pos="286762" algn="l"/>
              </a:tabLst>
            </a:pPr>
            <a:r>
              <a:rPr sz="1698" dirty="0">
                <a:latin typeface="Century Schoolbook"/>
                <a:cs typeface="Century Schoolbook"/>
              </a:rPr>
              <a:t>Gerentes</a:t>
            </a:r>
            <a:r>
              <a:rPr sz="1698" spc="27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</a:t>
            </a:r>
            <a:r>
              <a:rPr sz="1698" spc="27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projeto</a:t>
            </a:r>
            <a:r>
              <a:rPr sz="1698" spc="27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que</a:t>
            </a:r>
            <a:r>
              <a:rPr sz="1698" spc="27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não</a:t>
            </a:r>
            <a:r>
              <a:rPr sz="1698" spc="28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possuem</a:t>
            </a:r>
            <a:r>
              <a:rPr sz="1698" spc="26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experiência</a:t>
            </a:r>
            <a:r>
              <a:rPr sz="1698" spc="27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em</a:t>
            </a:r>
            <a:r>
              <a:rPr sz="1698" spc="26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métodos</a:t>
            </a:r>
            <a:r>
              <a:rPr sz="1698" spc="275" dirty="0">
                <a:latin typeface="Times New Roman"/>
                <a:cs typeface="Times New Roman"/>
              </a:rPr>
              <a:t> </a:t>
            </a:r>
            <a:r>
              <a:rPr sz="1698" spc="-10" dirty="0">
                <a:latin typeface="Century Schoolbook"/>
                <a:cs typeface="Century Schoolbook"/>
              </a:rPr>
              <a:t>ágeis</a:t>
            </a:r>
            <a:r>
              <a:rPr sz="1698" spc="-1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podem</a:t>
            </a:r>
            <a:r>
              <a:rPr sz="1698" spc="1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ser</a:t>
            </a:r>
            <a:r>
              <a:rPr sz="1698" spc="2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relutantes</a:t>
            </a:r>
            <a:r>
              <a:rPr sz="1698" spc="3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em</a:t>
            </a:r>
            <a:r>
              <a:rPr sz="1698" spc="3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aceitar</a:t>
            </a:r>
            <a:r>
              <a:rPr sz="1698" spc="4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o</a:t>
            </a:r>
            <a:r>
              <a:rPr sz="1698" spc="5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risco</a:t>
            </a:r>
            <a:r>
              <a:rPr sz="1698" spc="1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</a:t>
            </a:r>
            <a:r>
              <a:rPr sz="1698" spc="4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uma</a:t>
            </a:r>
            <a:r>
              <a:rPr sz="1698" spc="3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nova</a:t>
            </a:r>
            <a:r>
              <a:rPr sz="1698" spc="40" dirty="0">
                <a:latin typeface="Times New Roman"/>
                <a:cs typeface="Times New Roman"/>
              </a:rPr>
              <a:t> </a:t>
            </a:r>
            <a:r>
              <a:rPr sz="1698" spc="-10" dirty="0">
                <a:latin typeface="Century Schoolbook"/>
                <a:cs typeface="Century Schoolbook"/>
              </a:rPr>
              <a:t>abordagem.</a:t>
            </a:r>
            <a:endParaRPr sz="1698">
              <a:latin typeface="Century Schoolbook"/>
              <a:cs typeface="Century Schoolbook"/>
            </a:endParaRPr>
          </a:p>
          <a:p>
            <a:pPr marL="286127" marR="5075" indent="-274073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67647"/>
              <a:buFont typeface="Wingdings"/>
              <a:buChar char=""/>
              <a:tabLst>
                <a:tab pos="286762" algn="l"/>
              </a:tabLst>
            </a:pPr>
            <a:r>
              <a:rPr sz="1698" dirty="0">
                <a:latin typeface="Century Schoolbook"/>
                <a:cs typeface="Century Schoolbook"/>
              </a:rPr>
              <a:t>Geralmente</a:t>
            </a:r>
            <a:r>
              <a:rPr sz="1698" spc="285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as</a:t>
            </a:r>
            <a:r>
              <a:rPr sz="1698" spc="295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grandes</a:t>
            </a:r>
            <a:r>
              <a:rPr sz="1698" spc="29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organizações</a:t>
            </a:r>
            <a:r>
              <a:rPr sz="1698" spc="29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possuem</a:t>
            </a:r>
            <a:r>
              <a:rPr sz="1698" spc="285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procedimentos</a:t>
            </a:r>
            <a:r>
              <a:rPr sz="1698" spc="295" dirty="0">
                <a:latin typeface="Times New Roman"/>
                <a:cs typeface="Times New Roman"/>
              </a:rPr>
              <a:t>  </a:t>
            </a:r>
            <a:r>
              <a:rPr sz="1698" spc="-50" dirty="0">
                <a:latin typeface="Century Schoolbook"/>
                <a:cs typeface="Century Schoolbook"/>
              </a:rPr>
              <a:t>e</a:t>
            </a:r>
            <a:r>
              <a:rPr sz="1698" spc="-5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padrões</a:t>
            </a:r>
            <a:r>
              <a:rPr sz="1698" spc="24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</a:t>
            </a:r>
            <a:r>
              <a:rPr sz="1698" spc="24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qualidade</a:t>
            </a:r>
            <a:r>
              <a:rPr sz="1698" spc="24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que</a:t>
            </a:r>
            <a:r>
              <a:rPr sz="1698" spc="240" dirty="0">
                <a:latin typeface="Times New Roman"/>
                <a:cs typeface="Times New Roman"/>
              </a:rPr>
              <a:t> </a:t>
            </a:r>
            <a:r>
              <a:rPr sz="1698" spc="-10" dirty="0">
                <a:latin typeface="Century Schoolbook"/>
                <a:cs typeface="Century Schoolbook"/>
              </a:rPr>
              <a:t>espera-</a:t>
            </a:r>
            <a:r>
              <a:rPr sz="1698" dirty="0">
                <a:latin typeface="Century Schoolbook"/>
                <a:cs typeface="Century Schoolbook"/>
              </a:rPr>
              <a:t>se</a:t>
            </a:r>
            <a:r>
              <a:rPr sz="1698" spc="24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que</a:t>
            </a:r>
            <a:r>
              <a:rPr sz="1698" spc="23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sejam</a:t>
            </a:r>
            <a:r>
              <a:rPr sz="1698" spc="23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seguidos</a:t>
            </a:r>
            <a:r>
              <a:rPr sz="1698" spc="23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por</a:t>
            </a:r>
            <a:r>
              <a:rPr sz="1698" spc="22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todos</a:t>
            </a:r>
            <a:r>
              <a:rPr sz="1698" spc="250" dirty="0">
                <a:latin typeface="Times New Roman"/>
                <a:cs typeface="Times New Roman"/>
              </a:rPr>
              <a:t> </a:t>
            </a:r>
            <a:r>
              <a:rPr sz="1698" spc="-25" dirty="0">
                <a:latin typeface="Century Schoolbook"/>
                <a:cs typeface="Century Schoolbook"/>
              </a:rPr>
              <a:t>os</a:t>
            </a:r>
            <a:r>
              <a:rPr sz="1698" spc="-2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projetos</a:t>
            </a:r>
            <a:r>
              <a:rPr sz="1698" spc="19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e,</a:t>
            </a:r>
            <a:r>
              <a:rPr sz="1698" spc="19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devido</a:t>
            </a:r>
            <a:r>
              <a:rPr sz="1698" spc="19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a</a:t>
            </a:r>
            <a:r>
              <a:rPr sz="1698" spc="19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sua</a:t>
            </a:r>
            <a:r>
              <a:rPr sz="1698" spc="19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natureza</a:t>
            </a:r>
            <a:r>
              <a:rPr sz="1698" spc="19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burocrática,</a:t>
            </a:r>
            <a:r>
              <a:rPr sz="1698" spc="19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são</a:t>
            </a:r>
            <a:r>
              <a:rPr sz="1698" spc="19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incompatíveis</a:t>
            </a:r>
            <a:r>
              <a:rPr sz="1698" spc="195" dirty="0">
                <a:latin typeface="Times New Roman"/>
                <a:cs typeface="Times New Roman"/>
              </a:rPr>
              <a:t> </a:t>
            </a:r>
            <a:r>
              <a:rPr sz="1698" spc="-25" dirty="0">
                <a:latin typeface="Century Schoolbook"/>
                <a:cs typeface="Century Schoolbook"/>
              </a:rPr>
              <a:t>com</a:t>
            </a:r>
            <a:r>
              <a:rPr sz="1698" spc="-2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os</a:t>
            </a:r>
            <a:r>
              <a:rPr sz="1698" spc="4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métodos</a:t>
            </a:r>
            <a:r>
              <a:rPr sz="1698" spc="30" dirty="0">
                <a:latin typeface="Times New Roman"/>
                <a:cs typeface="Times New Roman"/>
              </a:rPr>
              <a:t> </a:t>
            </a:r>
            <a:r>
              <a:rPr sz="1698" spc="-10" dirty="0">
                <a:latin typeface="Century Schoolbook"/>
                <a:cs typeface="Century Schoolbook"/>
              </a:rPr>
              <a:t>ágeis.</a:t>
            </a:r>
            <a:endParaRPr sz="1698">
              <a:latin typeface="Century Schoolbook"/>
              <a:cs typeface="Century Schoolbook"/>
            </a:endParaRPr>
          </a:p>
          <a:p>
            <a:pPr marL="286762" marR="5710" indent="-274073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67647"/>
              <a:buFont typeface="Wingdings"/>
              <a:buChar char=""/>
              <a:tabLst>
                <a:tab pos="286762" algn="l"/>
              </a:tabLst>
            </a:pPr>
            <a:r>
              <a:rPr sz="1698" dirty="0">
                <a:latin typeface="Century Schoolbook"/>
                <a:cs typeface="Century Schoolbook"/>
              </a:rPr>
              <a:t>Os</a:t>
            </a:r>
            <a:r>
              <a:rPr sz="1698" spc="25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métodos</a:t>
            </a:r>
            <a:r>
              <a:rPr sz="1698" spc="25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ágeis</a:t>
            </a:r>
            <a:r>
              <a:rPr sz="1698" spc="25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parecem</a:t>
            </a:r>
            <a:r>
              <a:rPr sz="1698" spc="24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funcionar</a:t>
            </a:r>
            <a:r>
              <a:rPr sz="1698" spc="25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melhor</a:t>
            </a:r>
            <a:r>
              <a:rPr sz="1698" spc="23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quando</a:t>
            </a:r>
            <a:r>
              <a:rPr sz="1698" spc="25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os</a:t>
            </a:r>
            <a:r>
              <a:rPr sz="1698" spc="25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membros</a:t>
            </a:r>
            <a:r>
              <a:rPr sz="1698" spc="254" dirty="0">
                <a:latin typeface="Times New Roman"/>
                <a:cs typeface="Times New Roman"/>
              </a:rPr>
              <a:t> </a:t>
            </a:r>
            <a:r>
              <a:rPr sz="1698" spc="-25" dirty="0">
                <a:latin typeface="Century Schoolbook"/>
                <a:cs typeface="Century Schoolbook"/>
              </a:rPr>
              <a:t>da</a:t>
            </a:r>
            <a:r>
              <a:rPr sz="1698" spc="-2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equipe</a:t>
            </a:r>
            <a:r>
              <a:rPr sz="1698" spc="49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possuem</a:t>
            </a:r>
            <a:r>
              <a:rPr sz="1698" spc="49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um</a:t>
            </a:r>
            <a:r>
              <a:rPr sz="1698" spc="49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nível</a:t>
            </a:r>
            <a:r>
              <a:rPr sz="1698" spc="48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</a:t>
            </a:r>
            <a:r>
              <a:rPr sz="1698" spc="49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competência</a:t>
            </a:r>
            <a:r>
              <a:rPr sz="1698" spc="49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relativamente</a:t>
            </a:r>
            <a:r>
              <a:rPr sz="1698" spc="49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alto.</a:t>
            </a:r>
            <a:r>
              <a:rPr sz="1698" spc="490" dirty="0">
                <a:latin typeface="Times New Roman"/>
                <a:cs typeface="Times New Roman"/>
              </a:rPr>
              <a:t> </a:t>
            </a:r>
            <a:r>
              <a:rPr sz="1698" spc="-25" dirty="0">
                <a:latin typeface="Century Schoolbook"/>
                <a:cs typeface="Century Schoolbook"/>
              </a:rPr>
              <a:t>No</a:t>
            </a:r>
            <a:r>
              <a:rPr sz="1698" spc="-2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entanto,</a:t>
            </a:r>
            <a:r>
              <a:rPr sz="1698" spc="105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dentro</a:t>
            </a:r>
            <a:r>
              <a:rPr sz="1698" spc="114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de</a:t>
            </a:r>
            <a:r>
              <a:rPr sz="1698" spc="11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grandes</a:t>
            </a:r>
            <a:r>
              <a:rPr sz="1698" spc="114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organizações,</a:t>
            </a:r>
            <a:r>
              <a:rPr sz="1698" spc="114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geralmente</a:t>
            </a:r>
            <a:r>
              <a:rPr sz="1698" spc="11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ocorre</a:t>
            </a:r>
            <a:r>
              <a:rPr sz="1698" spc="114" dirty="0">
                <a:latin typeface="Times New Roman"/>
                <a:cs typeface="Times New Roman"/>
              </a:rPr>
              <a:t>  </a:t>
            </a:r>
            <a:r>
              <a:rPr sz="1698" spc="-25" dirty="0">
                <a:latin typeface="Century Schoolbook"/>
                <a:cs typeface="Century Schoolbook"/>
              </a:rPr>
              <a:t>uma</a:t>
            </a:r>
            <a:r>
              <a:rPr sz="1698" spc="-2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grande</a:t>
            </a:r>
            <a:r>
              <a:rPr sz="1698" spc="1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variação</a:t>
            </a:r>
            <a:r>
              <a:rPr sz="1698" spc="3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</a:t>
            </a:r>
            <a:r>
              <a:rPr sz="1698" spc="2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competências</a:t>
            </a:r>
            <a:r>
              <a:rPr sz="1698" spc="1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e</a:t>
            </a:r>
            <a:r>
              <a:rPr sz="1698" spc="35" dirty="0">
                <a:latin typeface="Times New Roman"/>
                <a:cs typeface="Times New Roman"/>
              </a:rPr>
              <a:t> </a:t>
            </a:r>
            <a:r>
              <a:rPr sz="1698" spc="-10" dirty="0">
                <a:latin typeface="Century Schoolbook"/>
                <a:cs typeface="Century Schoolbook"/>
              </a:rPr>
              <a:t>habilidades.</a:t>
            </a:r>
            <a:endParaRPr sz="1698">
              <a:latin typeface="Century Schoolbook"/>
              <a:cs typeface="Century Schoolbook"/>
            </a:endParaRPr>
          </a:p>
          <a:p>
            <a:pPr marL="286762" marR="5075" indent="-274073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67647"/>
              <a:buFont typeface="Wingdings"/>
              <a:buChar char=""/>
              <a:tabLst>
                <a:tab pos="286762" algn="l"/>
              </a:tabLst>
            </a:pPr>
            <a:r>
              <a:rPr sz="1698" dirty="0">
                <a:latin typeface="Century Schoolbook"/>
                <a:cs typeface="Century Schoolbook"/>
              </a:rPr>
              <a:t>Pode</a:t>
            </a:r>
            <a:r>
              <a:rPr sz="1698" spc="75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haver</a:t>
            </a:r>
            <a:r>
              <a:rPr sz="1698" spc="9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resistência</a:t>
            </a:r>
            <a:r>
              <a:rPr sz="1698" spc="9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cultural</a:t>
            </a:r>
            <a:r>
              <a:rPr sz="1698" spc="9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aos</a:t>
            </a:r>
            <a:r>
              <a:rPr sz="1698" spc="9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métodos</a:t>
            </a:r>
            <a:r>
              <a:rPr sz="1698" spc="9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ágeis,</a:t>
            </a:r>
            <a:r>
              <a:rPr sz="1698" spc="90" dirty="0">
                <a:latin typeface="Times New Roman"/>
                <a:cs typeface="Times New Roman"/>
              </a:rPr>
              <a:t>  </a:t>
            </a:r>
            <a:r>
              <a:rPr sz="1698" spc="-10" dirty="0">
                <a:latin typeface="Century Schoolbook"/>
                <a:cs typeface="Century Schoolbook"/>
              </a:rPr>
              <a:t>especialmente</a:t>
            </a:r>
            <a:r>
              <a:rPr sz="1698" spc="-1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nessas</a:t>
            </a:r>
            <a:r>
              <a:rPr sz="1698" spc="10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organizações</a:t>
            </a:r>
            <a:r>
              <a:rPr sz="1698" spc="105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com</a:t>
            </a:r>
            <a:r>
              <a:rPr sz="1698" spc="95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um</a:t>
            </a:r>
            <a:r>
              <a:rPr sz="1698" spc="95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longo</a:t>
            </a:r>
            <a:r>
              <a:rPr sz="1698" spc="10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histórico</a:t>
            </a:r>
            <a:r>
              <a:rPr sz="1698" spc="10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de</a:t>
            </a:r>
            <a:r>
              <a:rPr sz="1698" spc="10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uso</a:t>
            </a:r>
            <a:r>
              <a:rPr sz="1698" spc="95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de</a:t>
            </a:r>
            <a:r>
              <a:rPr sz="1698" spc="95" dirty="0">
                <a:latin typeface="Times New Roman"/>
                <a:cs typeface="Times New Roman"/>
              </a:rPr>
              <a:t>  </a:t>
            </a:r>
            <a:r>
              <a:rPr sz="1698" spc="-10" dirty="0">
                <a:latin typeface="Century Schoolbook"/>
                <a:cs typeface="Century Schoolbook"/>
              </a:rPr>
              <a:t>processos</a:t>
            </a:r>
            <a:r>
              <a:rPr sz="1698" spc="-1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convencionais</a:t>
            </a:r>
            <a:r>
              <a:rPr sz="1698" spc="45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da</a:t>
            </a:r>
            <a:r>
              <a:rPr sz="1698" spc="4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engenharia</a:t>
            </a:r>
            <a:r>
              <a:rPr sz="1698" spc="2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</a:t>
            </a:r>
            <a:r>
              <a:rPr sz="1698" spc="30" dirty="0">
                <a:latin typeface="Times New Roman"/>
                <a:cs typeface="Times New Roman"/>
              </a:rPr>
              <a:t> </a:t>
            </a:r>
            <a:r>
              <a:rPr sz="1698" spc="-10" dirty="0">
                <a:latin typeface="Century Schoolbook"/>
                <a:cs typeface="Century Schoolbook"/>
              </a:rPr>
              <a:t>sistemas.</a:t>
            </a:r>
            <a:endParaRPr sz="1698">
              <a:latin typeface="Century Schoolbook"/>
              <a:cs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359354378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3676" y="454488"/>
            <a:ext cx="4169359" cy="1365776"/>
          </a:xfrm>
          <a:prstGeom prst="rect">
            <a:avLst/>
          </a:prstGeom>
        </p:spPr>
        <p:txBody>
          <a:bodyPr vert="horz" wrap="square" lIns="0" tIns="12688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100"/>
              </a:spcBef>
            </a:pPr>
            <a:r>
              <a:rPr cap="small" dirty="0"/>
              <a:t>Pon</a:t>
            </a:r>
            <a:r>
              <a:rPr cap="small" spc="-10" dirty="0"/>
              <a:t>t</a:t>
            </a:r>
            <a:r>
              <a:rPr cap="small" dirty="0"/>
              <a:t>os</a:t>
            </a:r>
            <a:r>
              <a:rPr sz="2398" spc="254" dirty="0">
                <a:latin typeface="Times New Roman"/>
                <a:cs typeface="Times New Roman"/>
              </a:rPr>
              <a:t> </a:t>
            </a:r>
            <a:r>
              <a:rPr cap="small" dirty="0"/>
              <a:t>I</a:t>
            </a:r>
            <a:r>
              <a:rPr cap="small" spc="-5" dirty="0"/>
              <a:t>m</a:t>
            </a:r>
            <a:r>
              <a:rPr cap="small" dirty="0"/>
              <a:t>por</a:t>
            </a:r>
            <a:r>
              <a:rPr cap="small" spc="-10" dirty="0"/>
              <a:t>t</a:t>
            </a:r>
            <a:r>
              <a:rPr cap="small" dirty="0"/>
              <a:t>an</a:t>
            </a:r>
            <a:r>
              <a:rPr cap="small" spc="-10" dirty="0"/>
              <a:t>t</a:t>
            </a:r>
            <a:r>
              <a:rPr cap="small" dirty="0"/>
              <a:t>es</a:t>
            </a:r>
            <a:endParaRPr sz="239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3676" y="1588470"/>
            <a:ext cx="7303992" cy="4766976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286762" marR="5075" indent="-274073" algn="just">
              <a:lnSpc>
                <a:spcPct val="130000"/>
              </a:lnSpc>
              <a:spcBef>
                <a:spcPts val="100"/>
              </a:spcBef>
              <a:buClr>
                <a:srgbClr val="94C600"/>
              </a:buClr>
              <a:buSzPct val="68421"/>
              <a:buFont typeface="Wingdings"/>
              <a:buChar char=""/>
              <a:tabLst>
                <a:tab pos="286762" algn="l"/>
              </a:tabLst>
            </a:pPr>
            <a:r>
              <a:rPr sz="1898" dirty="0">
                <a:latin typeface="Century Schoolbook"/>
                <a:cs typeface="Century Schoolbook"/>
              </a:rPr>
              <a:t>Um</a:t>
            </a:r>
            <a:r>
              <a:rPr sz="1898" spc="114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ponto</a:t>
            </a:r>
            <a:r>
              <a:rPr sz="1898" spc="12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particularmente</a:t>
            </a:r>
            <a:r>
              <a:rPr sz="1898" spc="13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forte</a:t>
            </a:r>
            <a:r>
              <a:rPr sz="1898" spc="12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da</a:t>
            </a:r>
            <a:r>
              <a:rPr sz="1898" spc="13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programação</a:t>
            </a:r>
            <a:r>
              <a:rPr sz="1898" spc="13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extrema</a:t>
            </a:r>
            <a:r>
              <a:rPr sz="1898" spc="12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é</a:t>
            </a:r>
            <a:r>
              <a:rPr sz="1898" spc="135" dirty="0">
                <a:latin typeface="Times New Roman"/>
                <a:cs typeface="Times New Roman"/>
              </a:rPr>
              <a:t> </a:t>
            </a:r>
            <a:r>
              <a:rPr sz="1898" spc="-50" dirty="0">
                <a:latin typeface="Century Schoolbook"/>
                <a:cs typeface="Century Schoolbook"/>
              </a:rPr>
              <a:t>o</a:t>
            </a:r>
            <a:r>
              <a:rPr sz="1898" spc="-5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desenvolvimento</a:t>
            </a:r>
            <a:r>
              <a:rPr sz="1898" spc="6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</a:t>
            </a:r>
            <a:r>
              <a:rPr sz="1898" spc="6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testes</a:t>
            </a:r>
            <a:r>
              <a:rPr sz="1898" spc="5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automatizados</a:t>
            </a:r>
            <a:r>
              <a:rPr sz="1898" spc="6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antes</a:t>
            </a:r>
            <a:r>
              <a:rPr sz="1898" spc="5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</a:t>
            </a:r>
            <a:r>
              <a:rPr sz="1898" spc="6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se</a:t>
            </a:r>
            <a:r>
              <a:rPr sz="1898" spc="5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criar</a:t>
            </a:r>
            <a:r>
              <a:rPr sz="1898" spc="55" dirty="0">
                <a:latin typeface="Times New Roman"/>
                <a:cs typeface="Times New Roman"/>
              </a:rPr>
              <a:t> </a:t>
            </a:r>
            <a:r>
              <a:rPr sz="1898" spc="-25" dirty="0">
                <a:latin typeface="Century Schoolbook"/>
                <a:cs typeface="Century Schoolbook"/>
              </a:rPr>
              <a:t>um</a:t>
            </a:r>
            <a:r>
              <a:rPr sz="1898" spc="-2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atributo</a:t>
            </a:r>
            <a:r>
              <a:rPr sz="1898" spc="1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do</a:t>
            </a:r>
            <a:r>
              <a:rPr sz="1898" spc="-15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programa.</a:t>
            </a:r>
            <a:endParaRPr sz="1898">
              <a:latin typeface="Century Schoolbook"/>
              <a:cs typeface="Century Schoolbook"/>
            </a:endParaRPr>
          </a:p>
          <a:p>
            <a:pPr marL="286762" marR="5710" indent="-274073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68421"/>
              <a:buFont typeface="Wingdings"/>
              <a:buChar char=""/>
              <a:tabLst>
                <a:tab pos="286762" algn="l"/>
              </a:tabLst>
            </a:pPr>
            <a:r>
              <a:rPr sz="1898" dirty="0">
                <a:latin typeface="Century Schoolbook"/>
                <a:cs typeface="Century Schoolbook"/>
              </a:rPr>
              <a:t>Todos</a:t>
            </a:r>
            <a:r>
              <a:rPr sz="1898" spc="1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os</a:t>
            </a:r>
            <a:r>
              <a:rPr sz="1898" spc="114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testes</a:t>
            </a:r>
            <a:r>
              <a:rPr sz="1898" spc="1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devem</a:t>
            </a:r>
            <a:r>
              <a:rPr sz="1898" spc="1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ser</a:t>
            </a:r>
            <a:r>
              <a:rPr sz="1898" spc="10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executados</a:t>
            </a:r>
            <a:r>
              <a:rPr sz="1898" spc="1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com</a:t>
            </a:r>
            <a:r>
              <a:rPr sz="1898" spc="1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sucesso</a:t>
            </a:r>
            <a:r>
              <a:rPr sz="1898" spc="114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quando</a:t>
            </a:r>
            <a:r>
              <a:rPr sz="1898" spc="110" dirty="0">
                <a:latin typeface="Times New Roman"/>
                <a:cs typeface="Times New Roman"/>
              </a:rPr>
              <a:t> </a:t>
            </a:r>
            <a:r>
              <a:rPr sz="1898" spc="-25" dirty="0">
                <a:latin typeface="Century Schoolbook"/>
                <a:cs typeface="Century Schoolbook"/>
              </a:rPr>
              <a:t>um</a:t>
            </a:r>
            <a:r>
              <a:rPr sz="1898" spc="-2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incremento</a:t>
            </a:r>
            <a:r>
              <a:rPr sz="1898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é</a:t>
            </a:r>
            <a:r>
              <a:rPr sz="1898" spc="-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integrado</a:t>
            </a:r>
            <a:r>
              <a:rPr sz="1898" spc="-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ao</a:t>
            </a:r>
            <a:r>
              <a:rPr sz="1898" spc="5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sistema.</a:t>
            </a:r>
            <a:endParaRPr sz="1898">
              <a:latin typeface="Century Schoolbook"/>
              <a:cs typeface="Century Schoolbook"/>
            </a:endParaRPr>
          </a:p>
          <a:p>
            <a:pPr marL="286762" marR="5075" indent="-274073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68421"/>
              <a:buFont typeface="Wingdings"/>
              <a:buChar char=""/>
              <a:tabLst>
                <a:tab pos="286762" algn="l"/>
              </a:tabLst>
            </a:pPr>
            <a:r>
              <a:rPr sz="1898" dirty="0">
                <a:latin typeface="Century Schoolbook"/>
                <a:cs typeface="Century Schoolbook"/>
              </a:rPr>
              <a:t>O</a:t>
            </a:r>
            <a:r>
              <a:rPr sz="1898" spc="26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método</a:t>
            </a:r>
            <a:r>
              <a:rPr sz="1898" spc="26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Scrum</a:t>
            </a:r>
            <a:r>
              <a:rPr sz="1898" spc="254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é</a:t>
            </a:r>
            <a:r>
              <a:rPr sz="1898" spc="26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um</a:t>
            </a:r>
            <a:r>
              <a:rPr sz="1898" spc="254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método</a:t>
            </a:r>
            <a:r>
              <a:rPr sz="1898" spc="26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ágil</a:t>
            </a:r>
            <a:r>
              <a:rPr sz="1898" spc="26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que</a:t>
            </a:r>
            <a:r>
              <a:rPr sz="1898" spc="27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provê</a:t>
            </a:r>
            <a:r>
              <a:rPr sz="1898" spc="26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um</a:t>
            </a:r>
            <a:r>
              <a:rPr sz="1898" spc="260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framework</a:t>
            </a:r>
            <a:r>
              <a:rPr sz="1898" spc="-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</a:t>
            </a:r>
            <a:r>
              <a:rPr sz="1898" spc="37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gerenciamento</a:t>
            </a:r>
            <a:r>
              <a:rPr sz="1898" spc="38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</a:t>
            </a:r>
            <a:r>
              <a:rPr sz="1898" spc="37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projeto.</a:t>
            </a:r>
            <a:r>
              <a:rPr sz="1898" spc="38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É</a:t>
            </a:r>
            <a:r>
              <a:rPr sz="1898" spc="38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baseado</a:t>
            </a:r>
            <a:r>
              <a:rPr sz="1898" spc="38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em</a:t>
            </a:r>
            <a:r>
              <a:rPr sz="1898" spc="37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um</a:t>
            </a:r>
            <a:r>
              <a:rPr sz="1898" spc="37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conjunto</a:t>
            </a:r>
            <a:r>
              <a:rPr sz="1898" spc="385" dirty="0">
                <a:latin typeface="Times New Roman"/>
                <a:cs typeface="Times New Roman"/>
              </a:rPr>
              <a:t> </a:t>
            </a:r>
            <a:r>
              <a:rPr sz="1898" spc="-25" dirty="0">
                <a:latin typeface="Century Schoolbook"/>
                <a:cs typeface="Century Schoolbook"/>
              </a:rPr>
              <a:t>de</a:t>
            </a:r>
            <a:r>
              <a:rPr sz="1898" spc="-2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Sprints,</a:t>
            </a:r>
            <a:r>
              <a:rPr sz="1898" spc="31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que</a:t>
            </a:r>
            <a:r>
              <a:rPr sz="1898" spc="31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são</a:t>
            </a:r>
            <a:r>
              <a:rPr sz="1898" spc="31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períodos</a:t>
            </a:r>
            <a:r>
              <a:rPr sz="1898" spc="31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fixos</a:t>
            </a:r>
            <a:r>
              <a:rPr sz="1898" spc="31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de</a:t>
            </a:r>
            <a:r>
              <a:rPr sz="1898" spc="31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tempo</a:t>
            </a:r>
            <a:r>
              <a:rPr sz="1898" spc="31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em</a:t>
            </a:r>
            <a:r>
              <a:rPr sz="1898" spc="31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que</a:t>
            </a:r>
            <a:r>
              <a:rPr sz="1898" spc="310" dirty="0">
                <a:latin typeface="Times New Roman"/>
                <a:cs typeface="Times New Roman"/>
              </a:rPr>
              <a:t>  </a:t>
            </a:r>
            <a:r>
              <a:rPr sz="1898" spc="-25" dirty="0">
                <a:latin typeface="Century Schoolbook"/>
                <a:cs typeface="Century Schoolbook"/>
              </a:rPr>
              <a:t>um</a:t>
            </a:r>
            <a:r>
              <a:rPr sz="1898" spc="-2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incremento</a:t>
            </a:r>
            <a:r>
              <a:rPr sz="1898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</a:t>
            </a:r>
            <a:r>
              <a:rPr sz="1898" spc="-2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sistema</a:t>
            </a:r>
            <a:r>
              <a:rPr sz="1898" spc="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é</a:t>
            </a:r>
            <a:r>
              <a:rPr sz="1898" spc="-10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desenvolvido.</a:t>
            </a:r>
            <a:endParaRPr sz="1898">
              <a:latin typeface="Century Schoolbook"/>
              <a:cs typeface="Century Schoolbook"/>
            </a:endParaRPr>
          </a:p>
          <a:p>
            <a:pPr marL="286762" marR="6979" indent="-274073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68421"/>
              <a:buFont typeface="Wingdings"/>
              <a:buChar char=""/>
              <a:tabLst>
                <a:tab pos="286762" algn="l"/>
              </a:tabLst>
            </a:pPr>
            <a:r>
              <a:rPr sz="1898" dirty="0">
                <a:latin typeface="Century Schoolbook"/>
                <a:cs typeface="Century Schoolbook"/>
              </a:rPr>
              <a:t>Escalamento</a:t>
            </a:r>
            <a:r>
              <a:rPr sz="1898" spc="18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</a:t>
            </a:r>
            <a:r>
              <a:rPr sz="1898" spc="17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métodos</a:t>
            </a:r>
            <a:r>
              <a:rPr sz="1898" spc="17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ágeis</a:t>
            </a:r>
            <a:r>
              <a:rPr sz="1898" spc="17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para</a:t>
            </a:r>
            <a:r>
              <a:rPr sz="1898" spc="17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sistemas</a:t>
            </a:r>
            <a:r>
              <a:rPr sz="1898" spc="17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</a:t>
            </a:r>
            <a:r>
              <a:rPr sz="1898" spc="17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grande</a:t>
            </a:r>
            <a:r>
              <a:rPr sz="1898" spc="175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porte</a:t>
            </a:r>
            <a:r>
              <a:rPr sz="1898" spc="-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é</a:t>
            </a:r>
            <a:r>
              <a:rPr sz="1898" spc="8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difícil.</a:t>
            </a:r>
            <a:r>
              <a:rPr sz="1898" spc="8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Tais</a:t>
            </a:r>
            <a:r>
              <a:rPr sz="1898" spc="8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sistemas</a:t>
            </a:r>
            <a:r>
              <a:rPr sz="1898" spc="8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precisam</a:t>
            </a:r>
            <a:r>
              <a:rPr sz="1898" spc="8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de</a:t>
            </a:r>
            <a:r>
              <a:rPr sz="1898" spc="9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mais</a:t>
            </a:r>
            <a:r>
              <a:rPr sz="1898" spc="8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projeto</a:t>
            </a:r>
            <a:r>
              <a:rPr sz="1898" spc="9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inicial</a:t>
            </a:r>
            <a:r>
              <a:rPr sz="1898" spc="85" dirty="0">
                <a:latin typeface="Times New Roman"/>
                <a:cs typeface="Times New Roman"/>
              </a:rPr>
              <a:t>  </a:t>
            </a:r>
            <a:r>
              <a:rPr sz="1898" spc="-50" dirty="0">
                <a:latin typeface="Century Schoolbook"/>
                <a:cs typeface="Century Schoolbook"/>
              </a:rPr>
              <a:t>e</a:t>
            </a:r>
            <a:r>
              <a:rPr sz="1898" spc="-5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alguma</a:t>
            </a:r>
            <a:r>
              <a:rPr sz="1898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documentação.</a:t>
            </a:r>
            <a:endParaRPr sz="1898">
              <a:latin typeface="Century Schoolbook"/>
              <a:cs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38579792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3676" y="792728"/>
            <a:ext cx="5648175" cy="689294"/>
          </a:xfrm>
          <a:prstGeom prst="rect">
            <a:avLst/>
          </a:prstGeom>
        </p:spPr>
        <p:txBody>
          <a:bodyPr vert="horz" wrap="square" lIns="0" tIns="12688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100"/>
              </a:spcBef>
            </a:pPr>
            <a:r>
              <a:rPr cap="small" dirty="0"/>
              <a:t>Re</a:t>
            </a:r>
            <a:r>
              <a:rPr cap="small" spc="-10" dirty="0"/>
              <a:t>f</a:t>
            </a:r>
            <a:r>
              <a:rPr cap="small" dirty="0"/>
              <a:t>erên</a:t>
            </a:r>
            <a:r>
              <a:rPr cap="small" spc="5" dirty="0"/>
              <a:t>c</a:t>
            </a:r>
            <a:r>
              <a:rPr cap="small" dirty="0"/>
              <a:t>ias</a:t>
            </a:r>
            <a:r>
              <a:rPr sz="2398" spc="245" dirty="0">
                <a:latin typeface="Times New Roman"/>
                <a:cs typeface="Times New Roman"/>
              </a:rPr>
              <a:t> </a:t>
            </a:r>
            <a:r>
              <a:rPr cap="small" spc="5" dirty="0"/>
              <a:t>b</a:t>
            </a:r>
            <a:r>
              <a:rPr cap="small" dirty="0"/>
              <a:t>i</a:t>
            </a:r>
            <a:r>
              <a:rPr cap="small" spc="5" dirty="0"/>
              <a:t>b</a:t>
            </a:r>
            <a:r>
              <a:rPr cap="small" spc="-10" dirty="0"/>
              <a:t>l</a:t>
            </a:r>
            <a:r>
              <a:rPr cap="small" dirty="0"/>
              <a:t>iog</a:t>
            </a:r>
            <a:r>
              <a:rPr cap="small" spc="-5" dirty="0"/>
              <a:t>r</a:t>
            </a:r>
            <a:r>
              <a:rPr cap="small" dirty="0"/>
              <a:t>á</a:t>
            </a:r>
            <a:r>
              <a:rPr cap="small" spc="-10" dirty="0"/>
              <a:t>f</a:t>
            </a:r>
            <a:r>
              <a:rPr cap="small" dirty="0"/>
              <a:t>icas</a:t>
            </a:r>
            <a:endParaRPr sz="2398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3675" y="1630187"/>
            <a:ext cx="7303358" cy="3024879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689" marR="5075" algn="just">
              <a:spcBef>
                <a:spcPts val="100"/>
              </a:spcBef>
            </a:pPr>
            <a:r>
              <a:rPr sz="2398" dirty="0">
                <a:latin typeface="Century Schoolbook"/>
                <a:cs typeface="Century Schoolbook"/>
              </a:rPr>
              <a:t>KOSCIANSKI,</a:t>
            </a:r>
            <a:r>
              <a:rPr sz="2398" spc="450" dirty="0">
                <a:latin typeface="Times New Roman"/>
                <a:cs typeface="Times New Roman"/>
              </a:rPr>
              <a:t>  </a:t>
            </a:r>
            <a:r>
              <a:rPr sz="2398" dirty="0">
                <a:latin typeface="Century Schoolbook"/>
                <a:cs typeface="Century Schoolbook"/>
              </a:rPr>
              <a:t>André.</a:t>
            </a:r>
            <a:r>
              <a:rPr sz="2398" spc="459" dirty="0">
                <a:latin typeface="Times New Roman"/>
                <a:cs typeface="Times New Roman"/>
              </a:rPr>
              <a:t>  </a:t>
            </a:r>
            <a:r>
              <a:rPr sz="2398" dirty="0">
                <a:latin typeface="Century Schoolbook"/>
                <a:cs typeface="Century Schoolbook"/>
              </a:rPr>
              <a:t>Qualidade</a:t>
            </a:r>
            <a:r>
              <a:rPr sz="2398" spc="459" dirty="0">
                <a:latin typeface="Times New Roman"/>
                <a:cs typeface="Times New Roman"/>
              </a:rPr>
              <a:t>  </a:t>
            </a:r>
            <a:r>
              <a:rPr sz="2398" dirty="0">
                <a:latin typeface="Century Schoolbook"/>
                <a:cs typeface="Century Schoolbook"/>
              </a:rPr>
              <a:t>de</a:t>
            </a:r>
            <a:r>
              <a:rPr sz="2398" spc="465" dirty="0">
                <a:latin typeface="Times New Roman"/>
                <a:cs typeface="Times New Roman"/>
              </a:rPr>
              <a:t>  </a:t>
            </a:r>
            <a:r>
              <a:rPr sz="2398" spc="-10" dirty="0">
                <a:latin typeface="Century Schoolbook"/>
                <a:cs typeface="Century Schoolbook"/>
              </a:rPr>
              <a:t>Software:</a:t>
            </a:r>
            <a:r>
              <a:rPr sz="2398" spc="-10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aprenda</a:t>
            </a:r>
            <a:r>
              <a:rPr sz="2398" spc="200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as</a:t>
            </a:r>
            <a:r>
              <a:rPr sz="2398" spc="215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metodologias</a:t>
            </a:r>
            <a:r>
              <a:rPr sz="2398" spc="210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e</a:t>
            </a:r>
            <a:r>
              <a:rPr sz="2398" spc="200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técnicas</a:t>
            </a:r>
            <a:r>
              <a:rPr sz="2398" spc="204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mais</a:t>
            </a:r>
            <a:r>
              <a:rPr sz="2398" spc="190" dirty="0">
                <a:latin typeface="Times New Roman"/>
                <a:cs typeface="Times New Roman"/>
              </a:rPr>
              <a:t> </a:t>
            </a:r>
            <a:r>
              <a:rPr sz="2398" spc="-10" dirty="0">
                <a:latin typeface="Century Schoolbook"/>
                <a:cs typeface="Century Schoolbook"/>
              </a:rPr>
              <a:t>modernas</a:t>
            </a:r>
            <a:r>
              <a:rPr sz="2398" spc="-10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para</a:t>
            </a:r>
            <a:r>
              <a:rPr sz="2398" spc="450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o</a:t>
            </a:r>
            <a:r>
              <a:rPr sz="2398" spc="455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desenvolvimento</a:t>
            </a:r>
            <a:r>
              <a:rPr sz="2398" spc="450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de</a:t>
            </a:r>
            <a:r>
              <a:rPr sz="2398" spc="450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software.</a:t>
            </a:r>
            <a:r>
              <a:rPr sz="2398" spc="450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2º</a:t>
            </a:r>
            <a:r>
              <a:rPr sz="2398" spc="445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Ed.</a:t>
            </a:r>
            <a:r>
              <a:rPr sz="2398" spc="459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–</a:t>
            </a:r>
            <a:r>
              <a:rPr sz="2398" spc="450" dirty="0">
                <a:latin typeface="Times New Roman"/>
                <a:cs typeface="Times New Roman"/>
              </a:rPr>
              <a:t> </a:t>
            </a:r>
            <a:r>
              <a:rPr sz="2398" spc="-25" dirty="0">
                <a:latin typeface="Century Schoolbook"/>
                <a:cs typeface="Century Schoolbook"/>
              </a:rPr>
              <a:t>São</a:t>
            </a:r>
            <a:r>
              <a:rPr sz="2398" spc="-25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Paulo:</a:t>
            </a:r>
            <a:r>
              <a:rPr sz="2398" spc="50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Novatec</a:t>
            </a:r>
            <a:r>
              <a:rPr sz="2398" spc="45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Editora,</a:t>
            </a:r>
            <a:r>
              <a:rPr sz="2398" spc="40" dirty="0">
                <a:latin typeface="Times New Roman"/>
                <a:cs typeface="Times New Roman"/>
              </a:rPr>
              <a:t> </a:t>
            </a:r>
            <a:r>
              <a:rPr sz="2398" spc="-20" dirty="0">
                <a:latin typeface="Century Schoolbook"/>
                <a:cs typeface="Century Schoolbook"/>
              </a:rPr>
              <a:t>2007</a:t>
            </a:r>
            <a:endParaRPr sz="2398" dirty="0">
              <a:latin typeface="Century Schoolbook"/>
              <a:cs typeface="Century Schoolbook"/>
            </a:endParaRPr>
          </a:p>
          <a:p>
            <a:pPr marL="12689" marR="5075" algn="just">
              <a:lnSpc>
                <a:spcPct val="100099"/>
              </a:lnSpc>
              <a:spcBef>
                <a:spcPts val="584"/>
              </a:spcBef>
            </a:pPr>
            <a:r>
              <a:rPr sz="2398" dirty="0">
                <a:latin typeface="Century Schoolbook"/>
                <a:cs typeface="Century Schoolbook"/>
              </a:rPr>
              <a:t>SOMMERVILLE,</a:t>
            </a:r>
            <a:r>
              <a:rPr sz="2398" spc="290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Ian.</a:t>
            </a:r>
            <a:r>
              <a:rPr sz="2398" spc="295" dirty="0">
                <a:latin typeface="Times New Roman"/>
                <a:cs typeface="Times New Roman"/>
              </a:rPr>
              <a:t> </a:t>
            </a:r>
            <a:r>
              <a:rPr sz="2398" b="1" dirty="0">
                <a:latin typeface="Century Schoolbook"/>
                <a:cs typeface="Century Schoolbook"/>
              </a:rPr>
              <a:t>Engenharia</a:t>
            </a:r>
            <a:r>
              <a:rPr sz="2398" spc="295" dirty="0">
                <a:latin typeface="Times New Roman"/>
                <a:cs typeface="Times New Roman"/>
              </a:rPr>
              <a:t> </a:t>
            </a:r>
            <a:r>
              <a:rPr sz="2398" b="1" dirty="0">
                <a:latin typeface="Century Schoolbook"/>
                <a:cs typeface="Century Schoolbook"/>
              </a:rPr>
              <a:t>de</a:t>
            </a:r>
            <a:r>
              <a:rPr sz="2398" spc="305" dirty="0">
                <a:latin typeface="Times New Roman"/>
                <a:cs typeface="Times New Roman"/>
              </a:rPr>
              <a:t> </a:t>
            </a:r>
            <a:r>
              <a:rPr sz="2398" b="1" spc="-10" dirty="0">
                <a:latin typeface="Century Schoolbook"/>
                <a:cs typeface="Century Schoolbook"/>
              </a:rPr>
              <a:t>Software</a:t>
            </a:r>
            <a:r>
              <a:rPr sz="2398" spc="-10" dirty="0">
                <a:latin typeface="Century Schoolbook"/>
                <a:cs typeface="Century Schoolbook"/>
              </a:rPr>
              <a:t>;</a:t>
            </a:r>
            <a:r>
              <a:rPr sz="2398" spc="-10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tradução</a:t>
            </a:r>
            <a:r>
              <a:rPr sz="2398" spc="70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Ivan</a:t>
            </a:r>
            <a:r>
              <a:rPr sz="2398" spc="80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Bosnic</a:t>
            </a:r>
            <a:r>
              <a:rPr sz="2398" spc="70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e</a:t>
            </a:r>
            <a:r>
              <a:rPr sz="2398" spc="70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Kalinka</a:t>
            </a:r>
            <a:r>
              <a:rPr sz="2398" spc="70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G.</a:t>
            </a:r>
            <a:r>
              <a:rPr sz="2398" spc="70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de</a:t>
            </a:r>
            <a:r>
              <a:rPr sz="2398" spc="70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O.</a:t>
            </a:r>
            <a:r>
              <a:rPr sz="2398" spc="65" dirty="0">
                <a:latin typeface="Times New Roman"/>
                <a:cs typeface="Times New Roman"/>
              </a:rPr>
              <a:t> </a:t>
            </a:r>
            <a:r>
              <a:rPr sz="2398" spc="-10" dirty="0">
                <a:latin typeface="Century Schoolbook"/>
                <a:cs typeface="Century Schoolbook"/>
              </a:rPr>
              <a:t>Gonçalves;</a:t>
            </a:r>
            <a:r>
              <a:rPr sz="2398" spc="-10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revisão</a:t>
            </a:r>
            <a:r>
              <a:rPr sz="2398" spc="345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técnica</a:t>
            </a:r>
            <a:r>
              <a:rPr sz="2398" spc="330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Kechi</a:t>
            </a:r>
            <a:r>
              <a:rPr sz="2398" spc="335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Hirama.</a:t>
            </a:r>
            <a:r>
              <a:rPr sz="2398" spc="340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9ª</a:t>
            </a:r>
            <a:r>
              <a:rPr sz="2398" spc="345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Ed.</a:t>
            </a:r>
            <a:r>
              <a:rPr sz="2398" spc="355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–</a:t>
            </a:r>
            <a:r>
              <a:rPr sz="2398" spc="345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São</a:t>
            </a:r>
            <a:r>
              <a:rPr sz="2398" spc="350" dirty="0">
                <a:latin typeface="Times New Roman"/>
                <a:cs typeface="Times New Roman"/>
              </a:rPr>
              <a:t> </a:t>
            </a:r>
            <a:r>
              <a:rPr sz="2398" spc="-10" dirty="0">
                <a:latin typeface="Century Schoolbook"/>
                <a:cs typeface="Century Schoolbook"/>
              </a:rPr>
              <a:t>Paulo:</a:t>
            </a:r>
            <a:r>
              <a:rPr sz="2398" spc="-10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Pearson</a:t>
            </a:r>
            <a:r>
              <a:rPr sz="2398" spc="35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Prentice</a:t>
            </a:r>
            <a:r>
              <a:rPr sz="2398" spc="40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Hall,</a:t>
            </a:r>
            <a:r>
              <a:rPr sz="2398" spc="45" dirty="0">
                <a:latin typeface="Times New Roman"/>
                <a:cs typeface="Times New Roman"/>
              </a:rPr>
              <a:t> </a:t>
            </a:r>
            <a:r>
              <a:rPr sz="2398" spc="-10" dirty="0">
                <a:latin typeface="Century Schoolbook"/>
                <a:cs typeface="Century Schoolbook"/>
              </a:rPr>
              <a:t>2011.</a:t>
            </a:r>
            <a:endParaRPr sz="2398" dirty="0">
              <a:latin typeface="Century Schoolbook"/>
              <a:cs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56364072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159600" y="378617"/>
            <a:ext cx="7109226" cy="1000468"/>
          </a:xfrm>
          <a:prstGeom prst="rect">
            <a:avLst/>
          </a:prstGeom>
        </p:spPr>
        <p:txBody>
          <a:bodyPr vert="horz" wrap="square" lIns="0" tIns="12688" rIns="0" bIns="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197" cap="small" spc="-5" dirty="0">
                <a:solidFill>
                  <a:srgbClr val="73A510"/>
                </a:solidFill>
              </a:rPr>
              <a:t>Dú</a:t>
            </a:r>
            <a:r>
              <a:rPr sz="3197" cap="small" spc="5" dirty="0">
                <a:solidFill>
                  <a:srgbClr val="73A510"/>
                </a:solidFill>
              </a:rPr>
              <a:t>vi</a:t>
            </a:r>
            <a:r>
              <a:rPr sz="3197" cap="small" spc="-5" dirty="0">
                <a:solidFill>
                  <a:srgbClr val="73A510"/>
                </a:solidFill>
              </a:rPr>
              <a:t>d</a:t>
            </a:r>
            <a:r>
              <a:rPr sz="3197" cap="small" spc="5" dirty="0">
                <a:solidFill>
                  <a:srgbClr val="73A510"/>
                </a:solidFill>
              </a:rPr>
              <a:t>a</a:t>
            </a:r>
            <a:r>
              <a:rPr sz="3197" cap="small" spc="-5" dirty="0">
                <a:solidFill>
                  <a:srgbClr val="73A510"/>
                </a:solidFill>
              </a:rPr>
              <a:t>s</a:t>
            </a:r>
            <a:r>
              <a:rPr sz="3197" cap="small" dirty="0">
                <a:solidFill>
                  <a:srgbClr val="73A510"/>
                </a:solidFill>
              </a:rPr>
              <a:t>?</a:t>
            </a:r>
            <a:r>
              <a:rPr sz="3197" b="0" spc="140" dirty="0">
                <a:solidFill>
                  <a:srgbClr val="73A510"/>
                </a:solidFill>
                <a:latin typeface="Times New Roman"/>
                <a:cs typeface="Times New Roman"/>
              </a:rPr>
              <a:t> </a:t>
            </a:r>
            <a:r>
              <a:rPr sz="3197" cap="small" spc="5" dirty="0">
                <a:solidFill>
                  <a:srgbClr val="73A510"/>
                </a:solidFill>
              </a:rPr>
              <a:t>Per</a:t>
            </a:r>
            <a:r>
              <a:rPr sz="3197" cap="small" spc="-5" dirty="0">
                <a:solidFill>
                  <a:srgbClr val="73A510"/>
                </a:solidFill>
              </a:rPr>
              <a:t>gun</a:t>
            </a:r>
            <a:r>
              <a:rPr sz="3197" cap="small" dirty="0">
                <a:solidFill>
                  <a:srgbClr val="73A510"/>
                </a:solidFill>
              </a:rPr>
              <a:t>t</a:t>
            </a:r>
            <a:r>
              <a:rPr sz="3197" cap="small" spc="5" dirty="0">
                <a:solidFill>
                  <a:srgbClr val="73A510"/>
                </a:solidFill>
              </a:rPr>
              <a:t>a</a:t>
            </a:r>
            <a:r>
              <a:rPr sz="3197" cap="small" spc="-5" dirty="0">
                <a:solidFill>
                  <a:srgbClr val="73A510"/>
                </a:solidFill>
              </a:rPr>
              <a:t>s</a:t>
            </a:r>
            <a:r>
              <a:rPr sz="3197" cap="small" dirty="0">
                <a:solidFill>
                  <a:srgbClr val="73A510"/>
                </a:solidFill>
              </a:rPr>
              <a:t>?</a:t>
            </a:r>
            <a:r>
              <a:rPr sz="3197" b="0" spc="150" dirty="0">
                <a:solidFill>
                  <a:srgbClr val="73A510"/>
                </a:solidFill>
                <a:latin typeface="Times New Roman"/>
                <a:cs typeface="Times New Roman"/>
              </a:rPr>
              <a:t> </a:t>
            </a:r>
            <a:r>
              <a:rPr sz="3197" cap="small" spc="5" dirty="0">
                <a:solidFill>
                  <a:srgbClr val="73A510"/>
                </a:solidFill>
              </a:rPr>
              <a:t>A</a:t>
            </a:r>
            <a:r>
              <a:rPr sz="3197" cap="small" spc="-5" dirty="0">
                <a:solidFill>
                  <a:srgbClr val="73A510"/>
                </a:solidFill>
              </a:rPr>
              <a:t>ngús</a:t>
            </a:r>
            <a:r>
              <a:rPr sz="3197" cap="small" dirty="0">
                <a:solidFill>
                  <a:srgbClr val="73A510"/>
                </a:solidFill>
              </a:rPr>
              <a:t>ti</a:t>
            </a:r>
            <a:r>
              <a:rPr sz="3197" cap="small" spc="5" dirty="0">
                <a:solidFill>
                  <a:srgbClr val="73A510"/>
                </a:solidFill>
              </a:rPr>
              <a:t>a</a:t>
            </a:r>
            <a:r>
              <a:rPr sz="3197" cap="small" spc="-5" dirty="0">
                <a:solidFill>
                  <a:srgbClr val="73A510"/>
                </a:solidFill>
              </a:rPr>
              <a:t>s</a:t>
            </a:r>
            <a:r>
              <a:rPr sz="3197" cap="small" dirty="0">
                <a:solidFill>
                  <a:srgbClr val="73A510"/>
                </a:solidFill>
              </a:rPr>
              <a:t>?</a:t>
            </a:r>
            <a:endParaRPr sz="3197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3197" cap="small" dirty="0">
                <a:solidFill>
                  <a:srgbClr val="73A510"/>
                </a:solidFill>
              </a:rPr>
              <a:t>Afl</a:t>
            </a:r>
            <a:r>
              <a:rPr sz="3197" cap="small" spc="5" dirty="0">
                <a:solidFill>
                  <a:srgbClr val="73A510"/>
                </a:solidFill>
              </a:rPr>
              <a:t>i</a:t>
            </a:r>
            <a:r>
              <a:rPr sz="3197" cap="small" dirty="0">
                <a:solidFill>
                  <a:srgbClr val="73A510"/>
                </a:solidFill>
              </a:rPr>
              <a:t>ç</a:t>
            </a:r>
            <a:r>
              <a:rPr sz="3197" cap="small" spc="-5" dirty="0">
                <a:solidFill>
                  <a:srgbClr val="73A510"/>
                </a:solidFill>
              </a:rPr>
              <a:t>õ</a:t>
            </a:r>
            <a:r>
              <a:rPr sz="3197" cap="small" spc="5" dirty="0">
                <a:solidFill>
                  <a:srgbClr val="73A510"/>
                </a:solidFill>
              </a:rPr>
              <a:t>e</a:t>
            </a:r>
            <a:r>
              <a:rPr sz="3197" cap="small" spc="-5" dirty="0">
                <a:solidFill>
                  <a:srgbClr val="73A510"/>
                </a:solidFill>
              </a:rPr>
              <a:t>s</a:t>
            </a:r>
            <a:r>
              <a:rPr sz="3197" cap="small" dirty="0">
                <a:solidFill>
                  <a:srgbClr val="73A510"/>
                </a:solidFill>
              </a:rPr>
              <a:t>?</a:t>
            </a:r>
            <a:endParaRPr sz="3197"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12445" y="4365266"/>
            <a:ext cx="2197098" cy="207376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04851" y="1857560"/>
            <a:ext cx="2018047" cy="182710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70161" y="1857560"/>
            <a:ext cx="2142284" cy="2142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93239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272612" y="3032489"/>
            <a:ext cx="5483862" cy="1110174"/>
          </a:xfrm>
          <a:prstGeom prst="rect">
            <a:avLst/>
          </a:prstGeom>
        </p:spPr>
        <p:txBody>
          <a:bodyPr vert="horz" wrap="square" lIns="0" tIns="76764" rIns="0" bIns="0" rtlCol="0">
            <a:spAutoFit/>
          </a:bodyPr>
          <a:lstStyle/>
          <a:p>
            <a:pPr algn="ctr">
              <a:spcBef>
                <a:spcPts val="604"/>
              </a:spcBef>
            </a:pPr>
            <a:r>
              <a:rPr sz="2098" dirty="0">
                <a:solidFill>
                  <a:srgbClr val="0D0D0D"/>
                </a:solidFill>
                <a:latin typeface="Arial"/>
                <a:cs typeface="Arial"/>
              </a:rPr>
              <a:t>Prof.</a:t>
            </a:r>
            <a:r>
              <a:rPr sz="2098" spc="-150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lang="pt-BR" sz="2098" spc="-150" dirty="0">
                <a:solidFill>
                  <a:srgbClr val="0D0D0D"/>
                </a:solidFill>
                <a:latin typeface="Arial"/>
                <a:cs typeface="Arial"/>
              </a:rPr>
              <a:t>Rivaldo J. Silva </a:t>
            </a:r>
            <a:endParaRPr sz="2098" dirty="0">
              <a:latin typeface="Arial"/>
              <a:cs typeface="Arial"/>
            </a:endParaRPr>
          </a:p>
          <a:p>
            <a:pPr marL="284858" marR="279149" algn="ctr">
              <a:spcBef>
                <a:spcPts val="500"/>
              </a:spcBef>
            </a:pPr>
            <a:r>
              <a:rPr sz="2098" spc="-10" dirty="0">
                <a:solidFill>
                  <a:srgbClr val="0D0D0D"/>
                </a:solidFill>
                <a:latin typeface="Arial"/>
                <a:cs typeface="Arial"/>
              </a:rPr>
              <a:t>E-</a:t>
            </a:r>
            <a:r>
              <a:rPr sz="2098" dirty="0">
                <a:solidFill>
                  <a:srgbClr val="0D0D0D"/>
                </a:solidFill>
                <a:latin typeface="Arial"/>
                <a:cs typeface="Arial"/>
              </a:rPr>
              <a:t>mail:</a:t>
            </a:r>
            <a:r>
              <a:rPr sz="2098" spc="-3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98" u="heavy" spc="-10" dirty="0">
                <a:solidFill>
                  <a:srgbClr val="E68200"/>
                </a:solidFill>
                <a:uFill>
                  <a:solidFill>
                    <a:srgbClr val="E68100"/>
                  </a:solidFill>
                </a:uFill>
                <a:latin typeface="Arial"/>
                <a:cs typeface="Arial"/>
                <a:hlinkClick r:id="rId4"/>
              </a:rPr>
              <a:t>prof.andre.luis.belini@gmail.com</a:t>
            </a:r>
            <a:r>
              <a:rPr sz="2098" spc="-65" dirty="0">
                <a:solidFill>
                  <a:srgbClr val="E68200"/>
                </a:solidFill>
                <a:latin typeface="Arial"/>
                <a:cs typeface="Arial"/>
              </a:rPr>
              <a:t> </a:t>
            </a:r>
            <a:r>
              <a:rPr sz="2098" spc="-50" dirty="0">
                <a:solidFill>
                  <a:srgbClr val="0D0D0D"/>
                </a:solidFill>
                <a:latin typeface="Arial"/>
                <a:cs typeface="Arial"/>
              </a:rPr>
              <a:t>/ </a:t>
            </a:r>
            <a:r>
              <a:rPr sz="2098" spc="-10" dirty="0">
                <a:solidFill>
                  <a:srgbClr val="009999"/>
                </a:solidFill>
                <a:latin typeface="Arial"/>
                <a:cs typeface="Arial"/>
                <a:hlinkClick r:id="rId5"/>
              </a:rPr>
              <a:t>andre.belini@ifsp.edu.br</a:t>
            </a:r>
            <a:endParaRPr sz="2098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495088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4108</Words>
  <Application>Microsoft Office PowerPoint</Application>
  <PresentationFormat>Widescreen</PresentationFormat>
  <Paragraphs>259</Paragraphs>
  <Slides>54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54</vt:i4>
      </vt:variant>
    </vt:vector>
  </HeadingPairs>
  <TitlesOfParts>
    <vt:vector size="62" baseType="lpstr">
      <vt:lpstr>Arial</vt:lpstr>
      <vt:lpstr>Calibri</vt:lpstr>
      <vt:lpstr>Calibri Light</vt:lpstr>
      <vt:lpstr>Century Schoolbook</vt:lpstr>
      <vt:lpstr>Times New Roman</vt:lpstr>
      <vt:lpstr>Wingdings</vt:lpstr>
      <vt:lpstr>Wingdings 2</vt:lpstr>
      <vt:lpstr>Tema do Office</vt:lpstr>
      <vt:lpstr>Apresentação do PowerPoint</vt:lpstr>
      <vt:lpstr>       Fatec-Faculdade de Tecnologia de Mauá</vt:lpstr>
      <vt:lpstr>Matéria: Gestão Ágil</vt:lpstr>
      <vt:lpstr>Tópicos apresentados</vt:lpstr>
      <vt:lpstr>Desenvolvimento rápido de software</vt:lpstr>
      <vt:lpstr>Desenvolvimento rápido de software</vt:lpstr>
      <vt:lpstr>Métodos ágeis</vt:lpstr>
      <vt:lpstr>Manifesto ágil</vt:lpstr>
      <vt:lpstr>Os princípios dos métodos ágeis</vt:lpstr>
      <vt:lpstr>Aplicabilidade dos métodos ágeis</vt:lpstr>
      <vt:lpstr>Problemas com métodos ágeis</vt:lpstr>
      <vt:lpstr>Métodos ágeis e manutenção de software</vt:lpstr>
      <vt:lpstr>Desenvolvimento ágil e dirigido a planos</vt:lpstr>
      <vt:lpstr>Desenvolvimento ágil e dirigido a planos</vt:lpstr>
      <vt:lpstr>Especificações dirigida a planos e ágil</vt:lpstr>
      <vt:lpstr>Questões técnicas, humanas e organizacionais</vt:lpstr>
      <vt:lpstr>Questões técnicas, humanas e organizacionais</vt:lpstr>
      <vt:lpstr>Questões técnicas, humanas e organizacionais</vt:lpstr>
      <vt:lpstr>Questões técnicas, humanas e organizacionais</vt:lpstr>
      <vt:lpstr>Extreme Programming</vt:lpstr>
      <vt:lpstr>Princípios os métodos ágeis e do XP</vt:lpstr>
      <vt:lpstr>O ciclo de um release em Extreme Programming</vt:lpstr>
      <vt:lpstr>Práticas do Extreme Programming (a)</vt:lpstr>
      <vt:lpstr>Práticas do Extreme Programming (a)</vt:lpstr>
      <vt:lpstr>Cenários de requisitos</vt:lpstr>
      <vt:lpstr>XP E MUDANÇAS</vt:lpstr>
      <vt:lpstr>Refatoração</vt:lpstr>
      <vt:lpstr>Exemplos de refatoração</vt:lpstr>
      <vt:lpstr>Pontos Importantes</vt:lpstr>
      <vt:lpstr>Testes em XP</vt:lpstr>
      <vt:lpstr>Desenvolvimento test-first</vt:lpstr>
      <vt:lpstr>Envolvimento do cliente</vt:lpstr>
      <vt:lpstr>A AUTOMAÇÃO DE TESTES</vt:lpstr>
      <vt:lpstr>Dificuldades dos testes em XP</vt:lpstr>
      <vt:lpstr>Programação em pares</vt:lpstr>
      <vt:lpstr>Programação em pares</vt:lpstr>
      <vt:lpstr>Vantagens da programação em pares</vt:lpstr>
      <vt:lpstr>Gerenciamento ágil de projetos</vt:lpstr>
      <vt:lpstr>Scrum</vt:lpstr>
      <vt:lpstr>O processo Scrum</vt:lpstr>
      <vt:lpstr>O ciclo de Sprint</vt:lpstr>
      <vt:lpstr>O ciclo de Sprint</vt:lpstr>
      <vt:lpstr>Trabalho em equipe no Scrum</vt:lpstr>
      <vt:lpstr>Benefícios do Scrum</vt:lpstr>
      <vt:lpstr>Escalamento de métodos ágeis</vt:lpstr>
      <vt:lpstr>Desenvolvimento de sistemas de grande porte</vt:lpstr>
      <vt:lpstr>Desenvolvimento de sistemas de grande porte</vt:lpstr>
      <vt:lpstr>Perspectiva scaling out e scaling up</vt:lpstr>
      <vt:lpstr>Escalamento para sistemas de grande porte</vt:lpstr>
      <vt:lpstr>Scaling out em grandes empresas</vt:lpstr>
      <vt:lpstr>Pontos Importantes</vt:lpstr>
      <vt:lpstr>Referências bibliográficas</vt:lpstr>
      <vt:lpstr>Dúvidas? Perguntas? Angústias? Aflições?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Laboratórios - W10 - Fatec Mauá</dc:creator>
  <cp:lastModifiedBy>Laboratórios - W10 - Fatec Mauá</cp:lastModifiedBy>
  <cp:revision>1</cp:revision>
  <dcterms:created xsi:type="dcterms:W3CDTF">2023-04-29T13:54:56Z</dcterms:created>
  <dcterms:modified xsi:type="dcterms:W3CDTF">2023-04-29T13:56:42Z</dcterms:modified>
</cp:coreProperties>
</file>