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diagrams/data1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6" r:id="rId5"/>
    <p:sldId id="268" r:id="rId6"/>
    <p:sldId id="269" r:id="rId7"/>
    <p:sldId id="267" r:id="rId8"/>
    <p:sldId id="270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2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6F1BDF-EA81-4B15-B740-87465DB8432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87DDC2-984F-4340-9E48-D07E09C5D1D2}">
      <dgm:prSet/>
      <dgm:spPr/>
      <dgm:t>
        <a:bodyPr/>
        <a:lstStyle/>
        <a:p>
          <a:r>
            <a:rPr lang="pt-BR" b="0" i="0"/>
            <a:t>Compreender os diferentes tipos de testes automatizados.</a:t>
          </a:r>
          <a:endParaRPr lang="en-US"/>
        </a:p>
      </dgm:t>
    </dgm:pt>
    <dgm:pt modelId="{59A6E621-CA33-4D31-8003-09D068F4DFE2}" type="parTrans" cxnId="{A74EFDF5-5F74-49CD-BF62-5B04E104A282}">
      <dgm:prSet/>
      <dgm:spPr/>
      <dgm:t>
        <a:bodyPr/>
        <a:lstStyle/>
        <a:p>
          <a:endParaRPr lang="en-US"/>
        </a:p>
      </dgm:t>
    </dgm:pt>
    <dgm:pt modelId="{04D059BA-B6FF-4C7F-A433-7B282A811A71}" type="sibTrans" cxnId="{A74EFDF5-5F74-49CD-BF62-5B04E104A282}">
      <dgm:prSet/>
      <dgm:spPr/>
      <dgm:t>
        <a:bodyPr/>
        <a:lstStyle/>
        <a:p>
          <a:endParaRPr lang="en-US"/>
        </a:p>
      </dgm:t>
    </dgm:pt>
    <dgm:pt modelId="{81723F0A-B533-4361-906C-1BC57E66561D}">
      <dgm:prSet/>
      <dgm:spPr/>
      <dgm:t>
        <a:bodyPr/>
        <a:lstStyle/>
        <a:p>
          <a:r>
            <a:rPr lang="pt-BR" b="0" i="0"/>
            <a:t>Explorar a integração de testes no processo de Integração Contínua.</a:t>
          </a:r>
          <a:endParaRPr lang="en-US"/>
        </a:p>
      </dgm:t>
    </dgm:pt>
    <dgm:pt modelId="{696602F6-9C43-4CD3-8841-6BE237271959}" type="parTrans" cxnId="{B8DA31E5-B14F-473E-901B-ECA04FA0CD11}">
      <dgm:prSet/>
      <dgm:spPr/>
      <dgm:t>
        <a:bodyPr/>
        <a:lstStyle/>
        <a:p>
          <a:endParaRPr lang="en-US"/>
        </a:p>
      </dgm:t>
    </dgm:pt>
    <dgm:pt modelId="{E25F4A08-7DE7-4BB4-94B6-20889FEF8735}" type="sibTrans" cxnId="{B8DA31E5-B14F-473E-901B-ECA04FA0CD11}">
      <dgm:prSet/>
      <dgm:spPr/>
      <dgm:t>
        <a:bodyPr/>
        <a:lstStyle/>
        <a:p>
          <a:endParaRPr lang="en-US"/>
        </a:p>
      </dgm:t>
    </dgm:pt>
    <dgm:pt modelId="{4FE62DD0-900D-4DBA-8166-D766A2DB4FA2}">
      <dgm:prSet/>
      <dgm:spPr/>
      <dgm:t>
        <a:bodyPr/>
        <a:lstStyle/>
        <a:p>
          <a:r>
            <a:rPr lang="pt-BR" b="0" i="0"/>
            <a:t>Aprender a avaliar a qualidade do código por meio de testes automatizados.</a:t>
          </a:r>
          <a:endParaRPr lang="en-US"/>
        </a:p>
      </dgm:t>
    </dgm:pt>
    <dgm:pt modelId="{2238A23A-A15C-45BB-B265-342C671CA659}" type="parTrans" cxnId="{9CEC5D00-2351-434F-84B3-B7A798879965}">
      <dgm:prSet/>
      <dgm:spPr/>
      <dgm:t>
        <a:bodyPr/>
        <a:lstStyle/>
        <a:p>
          <a:endParaRPr lang="en-US"/>
        </a:p>
      </dgm:t>
    </dgm:pt>
    <dgm:pt modelId="{42F91A1B-9666-413D-9CC9-57A146D59F82}" type="sibTrans" cxnId="{9CEC5D00-2351-434F-84B3-B7A798879965}">
      <dgm:prSet/>
      <dgm:spPr/>
      <dgm:t>
        <a:bodyPr/>
        <a:lstStyle/>
        <a:p>
          <a:endParaRPr lang="en-US"/>
        </a:p>
      </dgm:t>
    </dgm:pt>
    <dgm:pt modelId="{BA21E7D0-21EA-4A3E-B614-007A36AA325B}" type="pres">
      <dgm:prSet presAssocID="{A56F1BDF-EA81-4B15-B740-87465DB84326}" presName="linear" presStyleCnt="0">
        <dgm:presLayoutVars>
          <dgm:animLvl val="lvl"/>
          <dgm:resizeHandles val="exact"/>
        </dgm:presLayoutVars>
      </dgm:prSet>
      <dgm:spPr/>
    </dgm:pt>
    <dgm:pt modelId="{45DD6941-46E6-401A-9634-5220A5C871D0}" type="pres">
      <dgm:prSet presAssocID="{4A87DDC2-984F-4340-9E48-D07E09C5D1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FA003C1-3FD5-4EAF-9B8C-2068E4E5C7CF}" type="pres">
      <dgm:prSet presAssocID="{04D059BA-B6FF-4C7F-A433-7B282A811A71}" presName="spacer" presStyleCnt="0"/>
      <dgm:spPr/>
    </dgm:pt>
    <dgm:pt modelId="{EC779AD3-043E-4261-BEAC-AD5A2E05254E}" type="pres">
      <dgm:prSet presAssocID="{81723F0A-B533-4361-906C-1BC57E66561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41D592-BE58-42B2-851D-1DDCCCC6EB5D}" type="pres">
      <dgm:prSet presAssocID="{E25F4A08-7DE7-4BB4-94B6-20889FEF8735}" presName="spacer" presStyleCnt="0"/>
      <dgm:spPr/>
    </dgm:pt>
    <dgm:pt modelId="{D92FAF19-DB97-4FCF-9944-FD2E29518701}" type="pres">
      <dgm:prSet presAssocID="{4FE62DD0-900D-4DBA-8166-D766A2DB4FA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CEC5D00-2351-434F-84B3-B7A798879965}" srcId="{A56F1BDF-EA81-4B15-B740-87465DB84326}" destId="{4FE62DD0-900D-4DBA-8166-D766A2DB4FA2}" srcOrd="2" destOrd="0" parTransId="{2238A23A-A15C-45BB-B265-342C671CA659}" sibTransId="{42F91A1B-9666-413D-9CC9-57A146D59F82}"/>
    <dgm:cxn modelId="{BE991243-4E98-4C6B-A28E-36601F28A7C0}" type="presOf" srcId="{A56F1BDF-EA81-4B15-B740-87465DB84326}" destId="{BA21E7D0-21EA-4A3E-B614-007A36AA325B}" srcOrd="0" destOrd="0" presId="urn:microsoft.com/office/officeart/2005/8/layout/vList2"/>
    <dgm:cxn modelId="{EBD81A4C-0792-4C9D-8EA6-45608027D6CF}" type="presOf" srcId="{4FE62DD0-900D-4DBA-8166-D766A2DB4FA2}" destId="{D92FAF19-DB97-4FCF-9944-FD2E29518701}" srcOrd="0" destOrd="0" presId="urn:microsoft.com/office/officeart/2005/8/layout/vList2"/>
    <dgm:cxn modelId="{9BAE918F-0DC1-43C2-A000-B7CE7E7A83A5}" type="presOf" srcId="{81723F0A-B533-4361-906C-1BC57E66561D}" destId="{EC779AD3-043E-4261-BEAC-AD5A2E05254E}" srcOrd="0" destOrd="0" presId="urn:microsoft.com/office/officeart/2005/8/layout/vList2"/>
    <dgm:cxn modelId="{1E5190A0-C78C-4047-BFF9-FD9B92C6B932}" type="presOf" srcId="{4A87DDC2-984F-4340-9E48-D07E09C5D1D2}" destId="{45DD6941-46E6-401A-9634-5220A5C871D0}" srcOrd="0" destOrd="0" presId="urn:microsoft.com/office/officeart/2005/8/layout/vList2"/>
    <dgm:cxn modelId="{B8DA31E5-B14F-473E-901B-ECA04FA0CD11}" srcId="{A56F1BDF-EA81-4B15-B740-87465DB84326}" destId="{81723F0A-B533-4361-906C-1BC57E66561D}" srcOrd="1" destOrd="0" parTransId="{696602F6-9C43-4CD3-8841-6BE237271959}" sibTransId="{E25F4A08-7DE7-4BB4-94B6-20889FEF8735}"/>
    <dgm:cxn modelId="{A74EFDF5-5F74-49CD-BF62-5B04E104A282}" srcId="{A56F1BDF-EA81-4B15-B740-87465DB84326}" destId="{4A87DDC2-984F-4340-9E48-D07E09C5D1D2}" srcOrd="0" destOrd="0" parTransId="{59A6E621-CA33-4D31-8003-09D068F4DFE2}" sibTransId="{04D059BA-B6FF-4C7F-A433-7B282A811A71}"/>
    <dgm:cxn modelId="{CCD193A0-D81A-42FB-B711-D844C75EA754}" type="presParOf" srcId="{BA21E7D0-21EA-4A3E-B614-007A36AA325B}" destId="{45DD6941-46E6-401A-9634-5220A5C871D0}" srcOrd="0" destOrd="0" presId="urn:microsoft.com/office/officeart/2005/8/layout/vList2"/>
    <dgm:cxn modelId="{7B8D3D99-7982-41A7-932E-D24DD2C80692}" type="presParOf" srcId="{BA21E7D0-21EA-4A3E-B614-007A36AA325B}" destId="{AFA003C1-3FD5-4EAF-9B8C-2068E4E5C7CF}" srcOrd="1" destOrd="0" presId="urn:microsoft.com/office/officeart/2005/8/layout/vList2"/>
    <dgm:cxn modelId="{04E4CE7C-8A9E-43DE-8AFA-052B818F0A63}" type="presParOf" srcId="{BA21E7D0-21EA-4A3E-B614-007A36AA325B}" destId="{EC779AD3-043E-4261-BEAC-AD5A2E05254E}" srcOrd="2" destOrd="0" presId="urn:microsoft.com/office/officeart/2005/8/layout/vList2"/>
    <dgm:cxn modelId="{0FBEC28D-BB1F-4626-BF37-120BA49E6020}" type="presParOf" srcId="{BA21E7D0-21EA-4A3E-B614-007A36AA325B}" destId="{E741D592-BE58-42B2-851D-1DDCCCC6EB5D}" srcOrd="3" destOrd="0" presId="urn:microsoft.com/office/officeart/2005/8/layout/vList2"/>
    <dgm:cxn modelId="{8D1D3188-DB48-482C-B499-CD25A382E96B}" type="presParOf" srcId="{BA21E7D0-21EA-4A3E-B614-007A36AA325B}" destId="{D92FAF19-DB97-4FCF-9944-FD2E295187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D6941-46E6-401A-9634-5220A5C871D0}">
      <dsp:nvSpPr>
        <dsp:cNvPr id="0" name=""/>
        <dsp:cNvSpPr/>
      </dsp:nvSpPr>
      <dsp:spPr>
        <a:xfrm>
          <a:off x="0" y="18714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Compreender os diferentes tipos de testes automatizados.</a:t>
          </a:r>
          <a:endParaRPr lang="en-US" sz="2900" kern="1200"/>
        </a:p>
      </dsp:txBody>
      <dsp:txXfrm>
        <a:off x="75156" y="93870"/>
        <a:ext cx="6542501" cy="1389261"/>
      </dsp:txXfrm>
    </dsp:sp>
    <dsp:sp modelId="{EC779AD3-043E-4261-BEAC-AD5A2E05254E}">
      <dsp:nvSpPr>
        <dsp:cNvPr id="0" name=""/>
        <dsp:cNvSpPr/>
      </dsp:nvSpPr>
      <dsp:spPr>
        <a:xfrm>
          <a:off x="0" y="1641808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Explorar a integração de testes no processo de Integração Contínua.</a:t>
          </a:r>
          <a:endParaRPr lang="en-US" sz="2900" kern="1200"/>
        </a:p>
      </dsp:txBody>
      <dsp:txXfrm>
        <a:off x="75156" y="1716964"/>
        <a:ext cx="6542501" cy="1389261"/>
      </dsp:txXfrm>
    </dsp:sp>
    <dsp:sp modelId="{D92FAF19-DB97-4FCF-9944-FD2E29518701}">
      <dsp:nvSpPr>
        <dsp:cNvPr id="0" name=""/>
        <dsp:cNvSpPr/>
      </dsp:nvSpPr>
      <dsp:spPr>
        <a:xfrm>
          <a:off x="0" y="3264901"/>
          <a:ext cx="6692813" cy="1539573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0" i="0" kern="1200"/>
            <a:t>Aprender a avaliar a qualidade do código por meio de testes automatizados.</a:t>
          </a:r>
          <a:endParaRPr lang="en-US" sz="2900" kern="1200"/>
        </a:p>
      </dsp:txBody>
      <dsp:txXfrm>
        <a:off x="75156" y="3340057"/>
        <a:ext cx="6542501" cy="13892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11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56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945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30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330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780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152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407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72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711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5772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061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44810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345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1403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530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4FBC6-548E-49B0-A434-DC3482BBAC08}" type="datetimeFigureOut">
              <a:rPr lang="pt-BR" smtClean="0"/>
              <a:t>21/08/2023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A2D376-51B9-409C-B4AE-7FDE96E5364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34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3FBE7-60E7-AF47-0252-0A955AE2FC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b="1" i="0" dirty="0">
                <a:effectLst/>
                <a:latin typeface="Söhne"/>
              </a:rPr>
              <a:t>Testes Automatizados e Qualidade do Código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59CDB9-468F-B93A-E561-45FC70B7E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0254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5C3212B-501A-545B-A7F1-F9C1A3705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pt-BR" sz="4400" b="0" i="1">
                <a:solidFill>
                  <a:schemeClr val="accent1">
                    <a:lumMod val="75000"/>
                  </a:schemeClr>
                </a:solidFill>
                <a:effectLst/>
                <a:latin typeface="Söhne"/>
              </a:rPr>
              <a:t>Objetivos da Aula</a:t>
            </a:r>
            <a:endParaRPr lang="pt-BR" sz="44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9BCAF27-EFB3-7C92-244A-E54EB491FD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574498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6114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Unitários: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Testam componentes individuais do código.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Focam em pequenas unidades funcionais.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Garantem que cada unidade funcione corretamente.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292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em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Python oferece uma variedade de ferramentas para testes de software, incluindo: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unittest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 módulo de teste interno inspirado no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pytest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biblioteca de teste popular, conhecida por sua simplicidade e poder.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nose2: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extensão do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unittest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com recursos adicionais.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doctest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Permite escrever testes diretamente nas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docstrings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570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 err="1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 (Node.js)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 ecossistema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JavaScript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oferece várias opções para testes: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Mocha: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 framework de teste flexível e expansível.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Jest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Conhecido pela simplicidade e configuração zero, com recursos abrangentes.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Jasmine: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Estrutura de teste BDD (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Behavior-Driven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Development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) com sintaxe legível.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Cypress: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integração e ponta a ponta em navegadores.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648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Java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Java possui ferramentas de teste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robustas:</a:t>
            </a: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O padrão de fato para testes de unidade em Java.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TestNG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Inspirado no 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, oferece recursos avançados, como agrupamento de testes.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Mockito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Biblioteca para criação de objetos simulados (</a:t>
            </a:r>
            <a:r>
              <a:rPr lang="pt-BR" sz="3200" b="0" i="0" dirty="0" err="1">
                <a:solidFill>
                  <a:srgbClr val="374151"/>
                </a:solidFill>
                <a:effectLst/>
                <a:latin typeface="Söhne"/>
              </a:rPr>
              <a:t>mocks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) em testes.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Selenium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interface do usuário em navegadores.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326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9F203-123C-13CE-B78F-3A9C08577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C# (</a:t>
            </a:r>
            <a:r>
              <a:rPr lang="pt-BR" b="0" i="1" dirty="0" err="1">
                <a:solidFill>
                  <a:srgbClr val="374151"/>
                </a:solidFill>
                <a:effectLst/>
                <a:latin typeface="Söhne"/>
              </a:rPr>
              <a:t>CSharp</a:t>
            </a:r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)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A1BBF17-1106-6F53-EB87-60AE7F107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Testes em C#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A comunidade C# tem suas próprias opções de testes: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NUnit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Inspirado no </a:t>
            </a:r>
            <a:r>
              <a:rPr lang="pt-BR" sz="2800" b="0" i="0" dirty="0" err="1">
                <a:solidFill>
                  <a:srgbClr val="374151"/>
                </a:solidFill>
                <a:effectLst/>
                <a:latin typeface="Söhne"/>
              </a:rPr>
              <a:t>JUnit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, é amplamente utilizado para testes de unidade.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xUnit.net: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Estrutura de teste moderna com recursos de paralelismo.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Moq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Biblioteca de simulação para testes de unidade.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2800" b="1" i="0" dirty="0" err="1">
                <a:solidFill>
                  <a:srgbClr val="374151"/>
                </a:solidFill>
                <a:effectLst/>
                <a:latin typeface="Söhne"/>
              </a:rPr>
              <a:t>SpecFlow</a:t>
            </a:r>
            <a:r>
              <a:rPr lang="pt-BR" sz="28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2800" b="0" i="0" dirty="0">
                <a:solidFill>
                  <a:srgbClr val="374151"/>
                </a:solidFill>
                <a:effectLst/>
                <a:latin typeface="Söhne"/>
              </a:rPr>
              <a:t> Para teste de aceitação automatizado usando linguagem natural.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9316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CFD88-F629-4703-2B0D-81F9121A2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Ruby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94406C-8A82-6639-5541-FB381D454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Testes em Ruby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Descrição: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Ruby também tem um ecossistema de testes bem estabelecido: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RSpec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Framework de testes BDD com sintaxe legível.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MiniTest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Uma estrutura de teste simples e integrada.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Capybara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Para testes de interface do usuário e integração.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200" b="1" i="0" dirty="0" err="1">
                <a:solidFill>
                  <a:srgbClr val="374151"/>
                </a:solidFill>
                <a:effectLst/>
                <a:latin typeface="Söhne"/>
              </a:rPr>
              <a:t>FactoryBot</a:t>
            </a:r>
            <a:r>
              <a:rPr lang="pt-BR" sz="3200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r>
              <a:rPr lang="pt-BR" sz="3200" b="0" i="0" dirty="0">
                <a:solidFill>
                  <a:srgbClr val="374151"/>
                </a:solidFill>
                <a:effectLst/>
                <a:latin typeface="Söhne"/>
              </a:rPr>
              <a:t> Biblioteca para criação de dados de teste.</a:t>
            </a:r>
          </a:p>
        </p:txBody>
      </p:sp>
    </p:spTree>
    <p:extLst>
      <p:ext uri="{BB962C8B-B14F-4D97-AF65-F5344CB8AC3E}">
        <p14:creationId xmlns:p14="http://schemas.microsoft.com/office/powerpoint/2010/main" val="201937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de Integração: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Testam a interação entre diferentes partes do sistema.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Identificam problemas de integração entre módulos.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Verificam se as partes se comunicam corretamente.</a:t>
            </a:r>
          </a:p>
        </p:txBody>
      </p:sp>
    </p:spTree>
    <p:extLst>
      <p:ext uri="{BB962C8B-B14F-4D97-AF65-F5344CB8AC3E}">
        <p14:creationId xmlns:p14="http://schemas.microsoft.com/office/powerpoint/2010/main" val="3037322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E7950-8CDB-B33E-8D89-C98BEC3E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Tipos de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02639-7CBF-C3E5-0A4D-88DFAD89F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3600" b="1" i="0" dirty="0">
                <a:solidFill>
                  <a:srgbClr val="374151"/>
                </a:solidFill>
                <a:effectLst/>
                <a:latin typeface="Söhne"/>
              </a:rPr>
              <a:t>Testes de Aceitação:</a:t>
            </a:r>
            <a:endParaRPr lang="pt-BR" sz="3600" b="0" i="0" dirty="0">
              <a:solidFill>
                <a:srgbClr val="374151"/>
              </a:solidFill>
              <a:effectLst/>
              <a:latin typeface="Söhne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Verificam se o software atende aos requisitos do cliente.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Avaliam se o sistema está funcionando conforme as expectativas.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Garantem que o software seja útil para os usuários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12803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91BB68-58C0-AE85-5236-F2416AD0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Integração de Testes na Integração Contínua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DE0587-E33A-F5C5-20A9-946EA238A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Integração Contínua: prática de integrar código frequentemente.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Testes automatizados são executados após cada integração.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Benefícios: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Detectar problemas rapidamente.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Garantir a estabilidade do código.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400" b="0" i="0" dirty="0">
                <a:solidFill>
                  <a:srgbClr val="374151"/>
                </a:solidFill>
                <a:effectLst/>
                <a:latin typeface="Söhne"/>
              </a:rPr>
              <a:t>Facilitar a identificação de regressões.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4887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D2B53-5E3F-C390-A906-A4B48E32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Avaliação da Qualidade do Código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0300F3-AA16-B2AB-AAB3-50758786F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Testes automatizados como indicadores de qualidade.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Métricas que podem ser obtidas: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Cobertura de código: quais partes são testadas.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Taxa de sucesso dos testes: quantos testes passam.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Tempo de execução dos testes: eficiência dos testes.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7833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9108D-C9CD-AA7B-E7DE-1EDCEED8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Benefícios dos Testes Automatizados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C67476-8B53-4BBA-E79F-44E31D6C9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Identificação precoce de bugs.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Facilitação da manutenção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Maior confiança nas mudanças no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3600" b="0" i="0" dirty="0">
                <a:solidFill>
                  <a:srgbClr val="374151"/>
                </a:solidFill>
                <a:effectLst/>
                <a:latin typeface="Söhne"/>
              </a:rPr>
              <a:t>Redução de riscos em atualizações do software.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1909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3BAF84-7615-09C5-695C-2006CF18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0" i="1" dirty="0">
                <a:solidFill>
                  <a:srgbClr val="374151"/>
                </a:solidFill>
                <a:effectLst/>
                <a:latin typeface="Söhne"/>
              </a:rPr>
              <a:t>Considerações Finais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3CA96D-ABB5-B9BF-08A1-1CEE80E17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Os testes automatizados são essenciais para garantir a qualidade do código.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Eles abrangem desde unidades individuais até a funcionalidade completa.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integração contínua amplifica os benefícios dos testes automatizados.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80068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AD90B6065A33E4CB93C766564BC6AAE" ma:contentTypeVersion="0" ma:contentTypeDescription="Crie um novo documento." ma:contentTypeScope="" ma:versionID="44fc78580af5d7cfd061395ec302a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13A912-2193-46EA-A04A-87B5B03C6C34}"/>
</file>

<file path=customXml/itemProps2.xml><?xml version="1.0" encoding="utf-8"?>
<ds:datastoreItem xmlns:ds="http://schemas.openxmlformats.org/officeDocument/2006/customXml" ds:itemID="{E71629ED-9356-4830-B01A-237B66A71A68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610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Söhne</vt:lpstr>
      <vt:lpstr>Trebuchet MS</vt:lpstr>
      <vt:lpstr>Wingdings 3</vt:lpstr>
      <vt:lpstr>Facetado</vt:lpstr>
      <vt:lpstr>Testes Automatizados e Qualidade do Código</vt:lpstr>
      <vt:lpstr>Objetivos da Aula</vt:lpstr>
      <vt:lpstr>Tipos de Testes Automatizados</vt:lpstr>
      <vt:lpstr>Testes em Python</vt:lpstr>
      <vt:lpstr>JavaScript (Node.js)</vt:lpstr>
      <vt:lpstr>Java</vt:lpstr>
      <vt:lpstr>C# (CSharp)</vt:lpstr>
      <vt:lpstr>Ruby</vt:lpstr>
      <vt:lpstr>Tipos de Testes Automatizados</vt:lpstr>
      <vt:lpstr>Tipos de Testes Automatizados</vt:lpstr>
      <vt:lpstr>Integração de Testes na Integração Contínua</vt:lpstr>
      <vt:lpstr>Avaliação da Qualidade do Código</vt:lpstr>
      <vt:lpstr>Benefícios dos Testes Automatizados</vt:lpstr>
      <vt:lpstr>Considerações Finais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Testes Automatizados e Qualidade do Código</dc:title>
  <dc:creator>CARLOS RONNY DE SOUSA</dc:creator>
  <cp:lastModifiedBy>CARLOS RONNY DE SOUSA</cp:lastModifiedBy>
  <cp:revision>1</cp:revision>
  <dcterms:created xsi:type="dcterms:W3CDTF">2023-08-21T17:02:19Z</dcterms:created>
  <dcterms:modified xsi:type="dcterms:W3CDTF">2023-08-21T17:39:26Z</dcterms:modified>
</cp:coreProperties>
</file>