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0" r:id="rId2"/>
    <p:sldId id="264" r:id="rId3"/>
    <p:sldId id="269" r:id="rId4"/>
    <p:sldId id="261" r:id="rId5"/>
    <p:sldId id="257" r:id="rId6"/>
    <p:sldId id="259" r:id="rId7"/>
    <p:sldId id="258" r:id="rId8"/>
    <p:sldId id="27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2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768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06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57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68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54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80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14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7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56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6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B6493-2FF7-441D-9521-F1AC79454819}" type="datetimeFigureOut">
              <a:rPr lang="pt-BR" smtClean="0"/>
              <a:t>14/09/2021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84E8-1FB7-417B-9E05-279440B5F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8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6362B4-43B1-4FBF-A3C3-0447EB85BE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r="22463"/>
          <a:stretch/>
        </p:blipFill>
        <p:spPr>
          <a:xfrm>
            <a:off x="4200966" y="-1820"/>
            <a:ext cx="79910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C8D80F6-2D0A-447C-AF42-E3AB33F51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r="28758"/>
          <a:stretch/>
        </p:blipFill>
        <p:spPr>
          <a:xfrm flipH="1">
            <a:off x="0" y="-1820"/>
            <a:ext cx="73433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A708355-ECE1-4FB6-B4FE-EB581B2D7CEB}"/>
              </a:ext>
            </a:extLst>
          </p:cNvPr>
          <p:cNvSpPr/>
          <p:nvPr/>
        </p:nvSpPr>
        <p:spPr>
          <a:xfrm>
            <a:off x="3276600" y="1587500"/>
            <a:ext cx="5041900" cy="1193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DA9D50F-BADE-441E-AB09-11668F006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00" y="1174750"/>
            <a:ext cx="41783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31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1749A73-C32D-4BE2-81B3-51E2BF62F1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216920D-F37D-4FA6-819B-216123F6E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5B110A0-698B-4D83-8404-3127F7F463A3}"/>
              </a:ext>
            </a:extLst>
          </p:cNvPr>
          <p:cNvSpPr txBox="1"/>
          <p:nvPr/>
        </p:nvSpPr>
        <p:spPr>
          <a:xfrm>
            <a:off x="948190" y="1123488"/>
            <a:ext cx="70147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Segoe UI" panose="020B0502040204020203" pitchFamily="34" charset="0"/>
                <a:cs typeface="Segoe UI" panose="020B0502040204020203" pitchFamily="34" charset="0"/>
              </a:rPr>
              <a:t>ENTRADA DA CASA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2C7192F-15D9-4AA2-86D8-8C738E809EC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48190" y="1892929"/>
          <a:ext cx="7014710" cy="40950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07355">
                  <a:extLst>
                    <a:ext uri="{9D8B030D-6E8A-4147-A177-3AD203B41FA5}">
                      <a16:colId xmlns:a16="http://schemas.microsoft.com/office/drawing/2014/main" val="2652724113"/>
                    </a:ext>
                  </a:extLst>
                </a:gridCol>
                <a:gridCol w="3507355">
                  <a:extLst>
                    <a:ext uri="{9D8B030D-6E8A-4147-A177-3AD203B41FA5}">
                      <a16:colId xmlns:a16="http://schemas.microsoft.com/office/drawing/2014/main" val="1525479664"/>
                    </a:ext>
                  </a:extLst>
                </a:gridCol>
              </a:tblGrid>
              <a:tr h="51967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Padrão de entrada</a:t>
                      </a:r>
                      <a:endParaRPr lang="pt-BR" sz="28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48681"/>
                  </a:ext>
                </a:extLst>
              </a:tr>
              <a:tr h="763914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valor de demanda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14224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724707590"/>
                  </a:ext>
                </a:extLst>
              </a:tr>
              <a:tr h="763914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 do projeto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64,65454545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124957101"/>
                  </a:ext>
                </a:extLst>
              </a:tr>
              <a:tr h="763914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Disjuntor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70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42055190"/>
                  </a:ext>
                </a:extLst>
              </a:tr>
              <a:tr h="763914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Cabo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25mm²= 89Amperes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064694461"/>
                  </a:ext>
                </a:extLst>
              </a:tr>
              <a:tr h="51967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Terra = 16mm²/ Neutro =25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624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607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8267A3E-EA4B-45AF-82B9-3487242A2A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5B110A0-698B-4D83-8404-3127F7F463A3}"/>
              </a:ext>
            </a:extLst>
          </p:cNvPr>
          <p:cNvSpPr txBox="1"/>
          <p:nvPr/>
        </p:nvSpPr>
        <p:spPr>
          <a:xfrm>
            <a:off x="2447693" y="123328"/>
            <a:ext cx="6256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Segoe UI" panose="020B0502040204020203" pitchFamily="34" charset="0"/>
                <a:cs typeface="Segoe UI" panose="020B0502040204020203" pitchFamily="34" charset="0"/>
              </a:rPr>
              <a:t>PROTEÇÃO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B3869E-D3C1-4020-952D-435BE4879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6F2AB0F-9565-4577-B857-0FFA0FFE9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862372"/>
              </p:ext>
            </p:extLst>
          </p:nvPr>
        </p:nvGraphicFramePr>
        <p:xfrm>
          <a:off x="165100" y="1225870"/>
          <a:ext cx="12026898" cy="533830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631264">
                  <a:extLst>
                    <a:ext uri="{9D8B030D-6E8A-4147-A177-3AD203B41FA5}">
                      <a16:colId xmlns:a16="http://schemas.microsoft.com/office/drawing/2014/main" val="1229730605"/>
                    </a:ext>
                  </a:extLst>
                </a:gridCol>
                <a:gridCol w="3018232">
                  <a:extLst>
                    <a:ext uri="{9D8B030D-6E8A-4147-A177-3AD203B41FA5}">
                      <a16:colId xmlns:a16="http://schemas.microsoft.com/office/drawing/2014/main" val="4263955056"/>
                    </a:ext>
                  </a:extLst>
                </a:gridCol>
                <a:gridCol w="946897">
                  <a:extLst>
                    <a:ext uri="{9D8B030D-6E8A-4147-A177-3AD203B41FA5}">
                      <a16:colId xmlns:a16="http://schemas.microsoft.com/office/drawing/2014/main" val="3077752788"/>
                    </a:ext>
                  </a:extLst>
                </a:gridCol>
                <a:gridCol w="887716">
                  <a:extLst>
                    <a:ext uri="{9D8B030D-6E8A-4147-A177-3AD203B41FA5}">
                      <a16:colId xmlns:a16="http://schemas.microsoft.com/office/drawing/2014/main" val="4239677486"/>
                    </a:ext>
                  </a:extLst>
                </a:gridCol>
                <a:gridCol w="996212">
                  <a:extLst>
                    <a:ext uri="{9D8B030D-6E8A-4147-A177-3AD203B41FA5}">
                      <a16:colId xmlns:a16="http://schemas.microsoft.com/office/drawing/2014/main" val="2834254370"/>
                    </a:ext>
                  </a:extLst>
                </a:gridCol>
                <a:gridCol w="631264">
                  <a:extLst>
                    <a:ext uri="{9D8B030D-6E8A-4147-A177-3AD203B41FA5}">
                      <a16:colId xmlns:a16="http://schemas.microsoft.com/office/drawing/2014/main" val="4098028272"/>
                    </a:ext>
                  </a:extLst>
                </a:gridCol>
                <a:gridCol w="724315">
                  <a:extLst>
                    <a:ext uri="{9D8B030D-6E8A-4147-A177-3AD203B41FA5}">
                      <a16:colId xmlns:a16="http://schemas.microsoft.com/office/drawing/2014/main" val="3201149137"/>
                    </a:ext>
                  </a:extLst>
                </a:gridCol>
                <a:gridCol w="538213">
                  <a:extLst>
                    <a:ext uri="{9D8B030D-6E8A-4147-A177-3AD203B41FA5}">
                      <a16:colId xmlns:a16="http://schemas.microsoft.com/office/drawing/2014/main" val="2410613911"/>
                    </a:ext>
                  </a:extLst>
                </a:gridCol>
                <a:gridCol w="631264">
                  <a:extLst>
                    <a:ext uri="{9D8B030D-6E8A-4147-A177-3AD203B41FA5}">
                      <a16:colId xmlns:a16="http://schemas.microsoft.com/office/drawing/2014/main" val="4262903844"/>
                    </a:ext>
                  </a:extLst>
                </a:gridCol>
                <a:gridCol w="887923">
                  <a:extLst>
                    <a:ext uri="{9D8B030D-6E8A-4147-A177-3AD203B41FA5}">
                      <a16:colId xmlns:a16="http://schemas.microsoft.com/office/drawing/2014/main" val="1451358140"/>
                    </a:ext>
                  </a:extLst>
                </a:gridCol>
                <a:gridCol w="792161">
                  <a:extLst>
                    <a:ext uri="{9D8B030D-6E8A-4147-A177-3AD203B41FA5}">
                      <a16:colId xmlns:a16="http://schemas.microsoft.com/office/drawing/2014/main" val="1640546617"/>
                    </a:ext>
                  </a:extLst>
                </a:gridCol>
                <a:gridCol w="631264">
                  <a:extLst>
                    <a:ext uri="{9D8B030D-6E8A-4147-A177-3AD203B41FA5}">
                      <a16:colId xmlns:a16="http://schemas.microsoft.com/office/drawing/2014/main" val="3536344117"/>
                    </a:ext>
                  </a:extLst>
                </a:gridCol>
                <a:gridCol w="710173">
                  <a:extLst>
                    <a:ext uri="{9D8B030D-6E8A-4147-A177-3AD203B41FA5}">
                      <a16:colId xmlns:a16="http://schemas.microsoft.com/office/drawing/2014/main" val="3096630616"/>
                    </a:ext>
                  </a:extLst>
                </a:gridCol>
              </a:tblGrid>
              <a:tr h="199027"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pt-BR" sz="6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Circuitos</a:t>
                      </a:r>
                      <a:endParaRPr lang="pt-BR" sz="6600" b="0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</a:t>
                      </a:r>
                      <a:endParaRPr lang="pt-BR" sz="1100" b="0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Disjuntor </a:t>
                      </a:r>
                      <a:endParaRPr lang="pt-B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5" marR="8705" marT="8705" marB="41784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DPS</a:t>
                      </a:r>
                      <a:endParaRPr lang="pt-B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5" marR="8705" marT="8705" marB="41784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DR</a:t>
                      </a:r>
                      <a:endParaRPr lang="pt-B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5" marR="8705" marT="8705" marB="41784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Cabo(mm²)</a:t>
                      </a:r>
                      <a:endParaRPr lang="pt-BR" sz="1100" b="0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3918364410"/>
                  </a:ext>
                </a:extLst>
              </a:tr>
              <a:tr h="1003735"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 de curva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 de circuito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tensão </a:t>
                      </a:r>
                      <a:b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Máxima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 </a:t>
                      </a:r>
                      <a:b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máxima de descargar 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classe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 de </a:t>
                      </a:r>
                      <a:b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pt-B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fuga</a:t>
                      </a:r>
                      <a:endParaRPr lang="pt-BR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correte</a:t>
                      </a:r>
                      <a:endParaRPr lang="pt-BR" sz="1100" b="0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940199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sala de jantar, estar, Dormitório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175VCA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40k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596028136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Iluminação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175VCA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795961083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Chuveiro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275VCA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Bipolar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4171776559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micro-ondas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175VCA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814607662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sala de estar, corredor, aréa de serviço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175VCA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45621917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cozinha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175VCA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3382484922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Corneira elétrica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24,7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275VCA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4032448029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banheiro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5,1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175VCA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monopolar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&gt;=30mA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05" marR="8705" marT="8705" marB="41784" anchor="b"/>
                </a:tc>
                <a:extLst>
                  <a:ext uri="{0D108BD9-81ED-4DB2-BD59-A6C34878D82A}">
                    <a16:rowId xmlns:a16="http://schemas.microsoft.com/office/drawing/2014/main" val="3628767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84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B4A5F06-0446-40B6-A652-771E352AB0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65B6DB8-7E4E-450A-B6CA-94CF1DFDB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6BFD923-183D-47EB-B947-E40312D34664}"/>
              </a:ext>
            </a:extLst>
          </p:cNvPr>
          <p:cNvSpPr txBox="1"/>
          <p:nvPr/>
        </p:nvSpPr>
        <p:spPr>
          <a:xfrm>
            <a:off x="357188" y="761410"/>
            <a:ext cx="1059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Segoe UI" panose="020B0502040204020203" pitchFamily="34" charset="0"/>
                <a:cs typeface="Segoe UI" panose="020B0502040204020203" pitchFamily="34" charset="0"/>
              </a:rPr>
              <a:t>DIMENSIONAMENTO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0F1F94B-8A5B-4063-BE48-2A8E9024C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33882"/>
              </p:ext>
            </p:extLst>
          </p:nvPr>
        </p:nvGraphicFramePr>
        <p:xfrm>
          <a:off x="357189" y="1530849"/>
          <a:ext cx="10551531" cy="363936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62929">
                  <a:extLst>
                    <a:ext uri="{9D8B030D-6E8A-4147-A177-3AD203B41FA5}">
                      <a16:colId xmlns:a16="http://schemas.microsoft.com/office/drawing/2014/main" val="3193812682"/>
                    </a:ext>
                  </a:extLst>
                </a:gridCol>
                <a:gridCol w="3409481">
                  <a:extLst>
                    <a:ext uri="{9D8B030D-6E8A-4147-A177-3AD203B41FA5}">
                      <a16:colId xmlns:a16="http://schemas.microsoft.com/office/drawing/2014/main" val="3213003494"/>
                    </a:ext>
                  </a:extLst>
                </a:gridCol>
                <a:gridCol w="917507">
                  <a:extLst>
                    <a:ext uri="{9D8B030D-6E8A-4147-A177-3AD203B41FA5}">
                      <a16:colId xmlns:a16="http://schemas.microsoft.com/office/drawing/2014/main" val="1196076737"/>
                    </a:ext>
                  </a:extLst>
                </a:gridCol>
                <a:gridCol w="1079419">
                  <a:extLst>
                    <a:ext uri="{9D8B030D-6E8A-4147-A177-3AD203B41FA5}">
                      <a16:colId xmlns:a16="http://schemas.microsoft.com/office/drawing/2014/main" val="1377946814"/>
                    </a:ext>
                  </a:extLst>
                </a:gridCol>
                <a:gridCol w="1268318">
                  <a:extLst>
                    <a:ext uri="{9D8B030D-6E8A-4147-A177-3AD203B41FA5}">
                      <a16:colId xmlns:a16="http://schemas.microsoft.com/office/drawing/2014/main" val="2087862794"/>
                    </a:ext>
                  </a:extLst>
                </a:gridCol>
                <a:gridCol w="1187361">
                  <a:extLst>
                    <a:ext uri="{9D8B030D-6E8A-4147-A177-3AD203B41FA5}">
                      <a16:colId xmlns:a16="http://schemas.microsoft.com/office/drawing/2014/main" val="3603089539"/>
                    </a:ext>
                  </a:extLst>
                </a:gridCol>
                <a:gridCol w="1487576">
                  <a:extLst>
                    <a:ext uri="{9D8B030D-6E8A-4147-A177-3AD203B41FA5}">
                      <a16:colId xmlns:a16="http://schemas.microsoft.com/office/drawing/2014/main" val="2683165536"/>
                    </a:ext>
                  </a:extLst>
                </a:gridCol>
                <a:gridCol w="1038940">
                  <a:extLst>
                    <a:ext uri="{9D8B030D-6E8A-4147-A177-3AD203B41FA5}">
                      <a16:colId xmlns:a16="http://schemas.microsoft.com/office/drawing/2014/main" val="3429267253"/>
                    </a:ext>
                  </a:extLst>
                </a:gridCol>
              </a:tblGrid>
              <a:tr h="3365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circuitos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tensão(volts)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Potência(walts)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Corrente(Ampére)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Fator de Potência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Fator de agrupamento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temperatura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8426718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sala de jantar, sala estar e Dormitório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4,7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1,9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2,4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263763226"/>
                  </a:ext>
                </a:extLst>
              </a:tr>
              <a:tr h="327837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Iluminação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780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6,1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3,1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3,3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0830189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Chuveiro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7800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35,5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29,8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37,7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40,1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17963152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micro-ondas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6,8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5,7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7,1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7,5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2056321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sala de estar, corredor, área de serviço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15,7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6,3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8,5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50960351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cozinha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15,0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7,6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8,1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8462284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Corneira</a:t>
                      </a:r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elétrica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4800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18,3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23,2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24,7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55760242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banheiro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9,4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5,1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23494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223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1477A76-D6FF-4C2E-89EB-F53B46359D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872B30-7110-4B22-90EE-5AC6CD2C6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4E3AB20-F952-4664-A001-226775FFB07E}"/>
              </a:ext>
            </a:extLst>
          </p:cNvPr>
          <p:cNvSpPr txBox="1"/>
          <p:nvPr/>
        </p:nvSpPr>
        <p:spPr>
          <a:xfrm>
            <a:off x="-1282701" y="1191286"/>
            <a:ext cx="105918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Segoe UI" panose="020B0502040204020203" pitchFamily="34" charset="0"/>
                <a:cs typeface="Segoe UI" panose="020B0502040204020203" pitchFamily="34" charset="0"/>
              </a:rPr>
              <a:t>UTILIZAÇÃO DOS FATORES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8BFE02E-4DC7-4D31-9B94-9B6A28FC3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517874"/>
              </p:ext>
            </p:extLst>
          </p:nvPr>
        </p:nvGraphicFramePr>
        <p:xfrm>
          <a:off x="285693" y="1960727"/>
          <a:ext cx="10834105" cy="364807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0058">
                  <a:extLst>
                    <a:ext uri="{9D8B030D-6E8A-4147-A177-3AD203B41FA5}">
                      <a16:colId xmlns:a16="http://schemas.microsoft.com/office/drawing/2014/main" val="3193812682"/>
                    </a:ext>
                  </a:extLst>
                </a:gridCol>
                <a:gridCol w="3401548">
                  <a:extLst>
                    <a:ext uri="{9D8B030D-6E8A-4147-A177-3AD203B41FA5}">
                      <a16:colId xmlns:a16="http://schemas.microsoft.com/office/drawing/2014/main" val="3213003494"/>
                    </a:ext>
                  </a:extLst>
                </a:gridCol>
                <a:gridCol w="942929">
                  <a:extLst>
                    <a:ext uri="{9D8B030D-6E8A-4147-A177-3AD203B41FA5}">
                      <a16:colId xmlns:a16="http://schemas.microsoft.com/office/drawing/2014/main" val="1196076737"/>
                    </a:ext>
                  </a:extLst>
                </a:gridCol>
                <a:gridCol w="1109328">
                  <a:extLst>
                    <a:ext uri="{9D8B030D-6E8A-4147-A177-3AD203B41FA5}">
                      <a16:colId xmlns:a16="http://schemas.microsoft.com/office/drawing/2014/main" val="1377946814"/>
                    </a:ext>
                  </a:extLst>
                </a:gridCol>
                <a:gridCol w="1303461">
                  <a:extLst>
                    <a:ext uri="{9D8B030D-6E8A-4147-A177-3AD203B41FA5}">
                      <a16:colId xmlns:a16="http://schemas.microsoft.com/office/drawing/2014/main" val="2087862794"/>
                    </a:ext>
                  </a:extLst>
                </a:gridCol>
                <a:gridCol w="1220260">
                  <a:extLst>
                    <a:ext uri="{9D8B030D-6E8A-4147-A177-3AD203B41FA5}">
                      <a16:colId xmlns:a16="http://schemas.microsoft.com/office/drawing/2014/main" val="3603089539"/>
                    </a:ext>
                  </a:extLst>
                </a:gridCol>
                <a:gridCol w="1293823">
                  <a:extLst>
                    <a:ext uri="{9D8B030D-6E8A-4147-A177-3AD203B41FA5}">
                      <a16:colId xmlns:a16="http://schemas.microsoft.com/office/drawing/2014/main" val="2683165536"/>
                    </a:ext>
                  </a:extLst>
                </a:gridCol>
                <a:gridCol w="1302698">
                  <a:extLst>
                    <a:ext uri="{9D8B030D-6E8A-4147-A177-3AD203B41FA5}">
                      <a16:colId xmlns:a16="http://schemas.microsoft.com/office/drawing/2014/main" val="3429267253"/>
                    </a:ext>
                  </a:extLst>
                </a:gridCol>
              </a:tblGrid>
              <a:tr h="3365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circuitos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tensão(volts)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Potência(walts)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Corrente(Ampére)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Fator de Potência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Fator de agrupamento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Fator de Temperatura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8426718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sala de jantar, estar, Dormitório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4,7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1,9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2,4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26376322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Iluminação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780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6,1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2,5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3,1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3,3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0830189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Chuveiro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7800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35,5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29,8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37,7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40,1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17963152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micro-ondas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5,7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7,1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7,5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2056321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sala de estar, corredor, área de serviço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15,7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6,3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8,5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50960351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cozinha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15,0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6,0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7,6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8,1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8462284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Torneira elétrica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4800</a:t>
                      </a:r>
                      <a:endParaRPr lang="pt-BR" sz="1600" u="none" strike="noStrike" kern="120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18,3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23,2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24,7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55760242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Tomadas banheiro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1200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9,4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4,8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5,1</a:t>
                      </a:r>
                      <a:endParaRPr lang="pt-BR" sz="1600" u="none" strike="noStrike" kern="1200" dirty="0">
                        <a:solidFill>
                          <a:schemeClr val="dk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23494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05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D601211-5129-4115-8573-F5ADD77122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A24AF5-D1C8-4C0B-ADE8-BAD7D11AD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A31408F-FF82-4737-9232-7786EE6E2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674171"/>
              </p:ext>
            </p:extLst>
          </p:nvPr>
        </p:nvGraphicFramePr>
        <p:xfrm>
          <a:off x="395288" y="1829709"/>
          <a:ext cx="10882314" cy="38862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83139">
                  <a:extLst>
                    <a:ext uri="{9D8B030D-6E8A-4147-A177-3AD203B41FA5}">
                      <a16:colId xmlns:a16="http://schemas.microsoft.com/office/drawing/2014/main" val="1488022822"/>
                    </a:ext>
                  </a:extLst>
                </a:gridCol>
                <a:gridCol w="1013848">
                  <a:extLst>
                    <a:ext uri="{9D8B030D-6E8A-4147-A177-3AD203B41FA5}">
                      <a16:colId xmlns:a16="http://schemas.microsoft.com/office/drawing/2014/main" val="2925876685"/>
                    </a:ext>
                  </a:extLst>
                </a:gridCol>
                <a:gridCol w="1016435">
                  <a:extLst>
                    <a:ext uri="{9D8B030D-6E8A-4147-A177-3AD203B41FA5}">
                      <a16:colId xmlns:a16="http://schemas.microsoft.com/office/drawing/2014/main" val="1185977754"/>
                    </a:ext>
                  </a:extLst>
                </a:gridCol>
                <a:gridCol w="1283139">
                  <a:extLst>
                    <a:ext uri="{9D8B030D-6E8A-4147-A177-3AD203B41FA5}">
                      <a16:colId xmlns:a16="http://schemas.microsoft.com/office/drawing/2014/main" val="921611440"/>
                    </a:ext>
                  </a:extLst>
                </a:gridCol>
                <a:gridCol w="1589504">
                  <a:extLst>
                    <a:ext uri="{9D8B030D-6E8A-4147-A177-3AD203B41FA5}">
                      <a16:colId xmlns:a16="http://schemas.microsoft.com/office/drawing/2014/main" val="3865587008"/>
                    </a:ext>
                  </a:extLst>
                </a:gridCol>
                <a:gridCol w="1252889">
                  <a:extLst>
                    <a:ext uri="{9D8B030D-6E8A-4147-A177-3AD203B41FA5}">
                      <a16:colId xmlns:a16="http://schemas.microsoft.com/office/drawing/2014/main" val="3377818287"/>
                    </a:ext>
                  </a:extLst>
                </a:gridCol>
                <a:gridCol w="1221028">
                  <a:extLst>
                    <a:ext uri="{9D8B030D-6E8A-4147-A177-3AD203B41FA5}">
                      <a16:colId xmlns:a16="http://schemas.microsoft.com/office/drawing/2014/main" val="2811732446"/>
                    </a:ext>
                  </a:extLst>
                </a:gridCol>
                <a:gridCol w="894523">
                  <a:extLst>
                    <a:ext uri="{9D8B030D-6E8A-4147-A177-3AD203B41FA5}">
                      <a16:colId xmlns:a16="http://schemas.microsoft.com/office/drawing/2014/main" val="1870182999"/>
                    </a:ext>
                  </a:extLst>
                </a:gridCol>
                <a:gridCol w="1327809">
                  <a:extLst>
                    <a:ext uri="{9D8B030D-6E8A-4147-A177-3AD203B41FA5}">
                      <a16:colId xmlns:a16="http://schemas.microsoft.com/office/drawing/2014/main" val="78380684"/>
                    </a:ext>
                  </a:extLst>
                </a:gridCol>
              </a:tblGrid>
              <a:tr h="6174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LOCAL 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AREA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PERIMETRO 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QTD ILUMINAÇÃO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 ILUMINAÇÃO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QTD TOMADAS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 TOMADAS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 TOTAL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TUE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644043409"/>
                  </a:ext>
                </a:extLst>
              </a:tr>
              <a:tr h="45528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Sala de jantar e </a:t>
                      </a:r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estar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Chuveiro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110028081"/>
                  </a:ext>
                </a:extLst>
              </a:tr>
              <a:tr h="23170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Dormitório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7500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919833251"/>
                  </a:ext>
                </a:extLst>
              </a:tr>
              <a:tr h="38170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W.C. (banheiro)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2x600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Micro-ondas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584115462"/>
                  </a:ext>
                </a:extLst>
              </a:tr>
              <a:tr h="4245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Cozinha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3x600;2x100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216165757"/>
                  </a:ext>
                </a:extLst>
              </a:tr>
              <a:tr h="23170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Lavanderia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3x600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Torneiras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725332647"/>
                  </a:ext>
                </a:extLst>
              </a:tr>
              <a:tr h="23170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corredor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4800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457657983"/>
                  </a:ext>
                </a:extLst>
              </a:tr>
              <a:tr h="23170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</a:t>
                      </a:r>
                      <a:endParaRPr lang="pt-BR" sz="16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</a:t>
                      </a:r>
                      <a:endParaRPr lang="pt-BR" sz="1800" u="none" strike="noStrike" kern="12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312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2320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800" u="none" strike="noStrike" kern="12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11592</a:t>
                      </a:r>
                      <a:endParaRPr lang="pt-BR" sz="180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454354345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E6BFD923-183D-47EB-B947-E40312D34664}"/>
              </a:ext>
            </a:extLst>
          </p:cNvPr>
          <p:cNvSpPr txBox="1"/>
          <p:nvPr/>
        </p:nvSpPr>
        <p:spPr>
          <a:xfrm>
            <a:off x="395288" y="1060268"/>
            <a:ext cx="1088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Segoe UI" panose="020B0502040204020203" pitchFamily="34" charset="0"/>
                <a:cs typeface="Segoe UI" panose="020B0502040204020203" pitchFamily="34" charset="0"/>
              </a:rPr>
              <a:t>DIMENSIONAMENTO</a:t>
            </a:r>
          </a:p>
        </p:txBody>
      </p:sp>
    </p:spTree>
    <p:extLst>
      <p:ext uri="{BB962C8B-B14F-4D97-AF65-F5344CB8AC3E}">
        <p14:creationId xmlns:p14="http://schemas.microsoft.com/office/powerpoint/2010/main" val="169045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6CA901F-4BA5-425B-9037-E1045F9D53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712A4B-2B42-4C39-80EA-F2258E9BA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BF335C7-696F-45D0-90DA-E5D154232D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" t="18419" r="9056" b="6737"/>
          <a:stretch/>
        </p:blipFill>
        <p:spPr>
          <a:xfrm>
            <a:off x="1236210" y="2037597"/>
            <a:ext cx="8677275" cy="386899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B93FB82-9DAE-4946-BFF6-F42E40B79FF5}"/>
              </a:ext>
            </a:extLst>
          </p:cNvPr>
          <p:cNvSpPr txBox="1"/>
          <p:nvPr/>
        </p:nvSpPr>
        <p:spPr>
          <a:xfrm>
            <a:off x="1236211" y="951412"/>
            <a:ext cx="86772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Segoe UI" panose="020B0502040204020203" pitchFamily="34" charset="0"/>
                <a:cs typeface="Segoe UI" panose="020B0502040204020203" pitchFamily="34" charset="0"/>
              </a:rPr>
              <a:t>DIFERENCIAL</a:t>
            </a:r>
          </a:p>
        </p:txBody>
      </p:sp>
    </p:spTree>
    <p:extLst>
      <p:ext uri="{BB962C8B-B14F-4D97-AF65-F5344CB8AC3E}">
        <p14:creationId xmlns:p14="http://schemas.microsoft.com/office/powerpoint/2010/main" val="3458921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6CA901F-4BA5-425B-9037-E1045F9D53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712A4B-2B42-4C39-80EA-F2258E9BA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8F82221-1EDD-4D19-8DBF-02559DF90F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916" t="14074" r="34271" b="9445"/>
          <a:stretch/>
        </p:blipFill>
        <p:spPr>
          <a:xfrm>
            <a:off x="1704974" y="1419531"/>
            <a:ext cx="4492625" cy="511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0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BBFB7E5-6C1C-4679-9040-E68E5FE6D5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r="1"/>
          <a:stretch/>
        </p:blipFill>
        <p:spPr>
          <a:xfrm>
            <a:off x="1889566" y="0"/>
            <a:ext cx="10302434" cy="6859820"/>
          </a:xfrm>
          <a:custGeom>
            <a:avLst/>
            <a:gdLst>
              <a:gd name="connsiteX0" fmla="*/ 533400 w 10299700"/>
              <a:gd name="connsiteY0" fmla="*/ 1739900 h 6858000"/>
              <a:gd name="connsiteX1" fmla="*/ 533400 w 10299700"/>
              <a:gd name="connsiteY1" fmla="*/ 2641600 h 6858000"/>
              <a:gd name="connsiteX2" fmla="*/ 3937000 w 10299700"/>
              <a:gd name="connsiteY2" fmla="*/ 2641600 h 6858000"/>
              <a:gd name="connsiteX3" fmla="*/ 3937000 w 10299700"/>
              <a:gd name="connsiteY3" fmla="*/ 1739900 h 6858000"/>
              <a:gd name="connsiteX4" fmla="*/ 0 w 10299700"/>
              <a:gd name="connsiteY4" fmla="*/ 0 h 6858000"/>
              <a:gd name="connsiteX5" fmla="*/ 10299700 w 10299700"/>
              <a:gd name="connsiteY5" fmla="*/ 0 h 6858000"/>
              <a:gd name="connsiteX6" fmla="*/ 10299700 w 10299700"/>
              <a:gd name="connsiteY6" fmla="*/ 6858000 h 6858000"/>
              <a:gd name="connsiteX7" fmla="*/ 0 w 102997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9700" h="6858000">
                <a:moveTo>
                  <a:pt x="533400" y="1739900"/>
                </a:moveTo>
                <a:lnTo>
                  <a:pt x="533400" y="2641600"/>
                </a:lnTo>
                <a:lnTo>
                  <a:pt x="3937000" y="2641600"/>
                </a:lnTo>
                <a:lnTo>
                  <a:pt x="3937000" y="1739900"/>
                </a:lnTo>
                <a:close/>
                <a:moveTo>
                  <a:pt x="0" y="0"/>
                </a:moveTo>
                <a:lnTo>
                  <a:pt x="10299700" y="0"/>
                </a:lnTo>
                <a:lnTo>
                  <a:pt x="102997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A5CEBC4-8147-4417-BC2E-345F5CE8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0176"/>
            <a:ext cx="1071110" cy="107111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63B55E3-BC26-4CAD-A617-EE95B96F489E}"/>
              </a:ext>
            </a:extLst>
          </p:cNvPr>
          <p:cNvSpPr txBox="1"/>
          <p:nvPr/>
        </p:nvSpPr>
        <p:spPr>
          <a:xfrm>
            <a:off x="1276351" y="1686170"/>
            <a:ext cx="86772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err="1">
                <a:latin typeface="Segoe UI" panose="020B0502040204020203" pitchFamily="34" charset="0"/>
                <a:cs typeface="Segoe UI" panose="020B0502040204020203" pitchFamily="34" charset="0"/>
              </a:rPr>
              <a:t>Bibliográfia</a:t>
            </a:r>
            <a:endParaRPr lang="pt-BR" sz="4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D322FC-3347-470C-BF74-1C49753435E5}"/>
              </a:ext>
            </a:extLst>
          </p:cNvPr>
          <p:cNvSpPr txBox="1"/>
          <p:nvPr/>
        </p:nvSpPr>
        <p:spPr>
          <a:xfrm>
            <a:off x="571500" y="2933701"/>
            <a:ext cx="1062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="https://br.freepik.com/vetores/abstrato"&gt;Abstrato vetor criado por </a:t>
            </a:r>
            <a:r>
              <a:rPr lang="pt-BR" dirty="0" err="1"/>
              <a:t>vectorjuice</a:t>
            </a:r>
            <a:r>
              <a:rPr lang="pt-BR" dirty="0"/>
              <a:t> - br.freepik.com&lt;/a&gt;</a:t>
            </a:r>
          </a:p>
          <a:p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='https://br.freepik.com/vetores/abstrato'&gt;Abstrato vetor criado por </a:t>
            </a:r>
            <a:r>
              <a:rPr lang="pt-BR" dirty="0" err="1"/>
              <a:t>Harryarts</a:t>
            </a:r>
            <a:r>
              <a:rPr lang="pt-BR" dirty="0"/>
              <a:t> - br.freepik.com&lt;/a&gt;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85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546</Words>
  <Application>Microsoft Office PowerPoint</Application>
  <PresentationFormat>Widescreen</PresentationFormat>
  <Paragraphs>345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NILTON DIONISIO GUERRA</dc:creator>
  <cp:lastModifiedBy>NILTON DIONISIO GUERRA</cp:lastModifiedBy>
  <cp:revision>18</cp:revision>
  <dcterms:created xsi:type="dcterms:W3CDTF">2021-09-13T19:41:10Z</dcterms:created>
  <dcterms:modified xsi:type="dcterms:W3CDTF">2021-09-14T19:15:39Z</dcterms:modified>
</cp:coreProperties>
</file>