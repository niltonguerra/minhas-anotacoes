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entation.xml" ContentType="application/vnd.openxmlformats-officedocument.presentationml.presentation.main+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1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0.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7"/>
  </p:notesMasterIdLst>
  <p:sldIdLst>
    <p:sldId id="256" r:id="rId2"/>
    <p:sldId id="257" r:id="rId3"/>
    <p:sldId id="281" r:id="rId4"/>
    <p:sldId id="284" r:id="rId5"/>
    <p:sldId id="285" r:id="rId6"/>
    <p:sldId id="293" r:id="rId7"/>
    <p:sldId id="286" r:id="rId8"/>
    <p:sldId id="287" r:id="rId9"/>
    <p:sldId id="307" r:id="rId10"/>
    <p:sldId id="288" r:id="rId11"/>
    <p:sldId id="294" r:id="rId12"/>
    <p:sldId id="295" r:id="rId13"/>
    <p:sldId id="289" r:id="rId14"/>
    <p:sldId id="290" r:id="rId15"/>
    <p:sldId id="296" r:id="rId16"/>
    <p:sldId id="297" r:id="rId17"/>
    <p:sldId id="298" r:id="rId18"/>
    <p:sldId id="291" r:id="rId19"/>
    <p:sldId id="292" r:id="rId20"/>
    <p:sldId id="300" r:id="rId21"/>
    <p:sldId id="302" r:id="rId22"/>
    <p:sldId id="301" r:id="rId23"/>
    <p:sldId id="303" r:id="rId24"/>
    <p:sldId id="305" r:id="rId25"/>
    <p:sldId id="304" r:id="rId26"/>
    <p:sldId id="308" r:id="rId27"/>
    <p:sldId id="309" r:id="rId28"/>
    <p:sldId id="310" r:id="rId29"/>
    <p:sldId id="311" r:id="rId30"/>
    <p:sldId id="312" r:id="rId31"/>
    <p:sldId id="319" r:id="rId32"/>
    <p:sldId id="320" r:id="rId33"/>
    <p:sldId id="313" r:id="rId34"/>
    <p:sldId id="321" r:id="rId35"/>
    <p:sldId id="306"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4E9B87-E91F-44FC-A726-91EF9D624ED4}">
  <a:tblStyle styleId="{CB4E9B87-E91F-44FC-A726-91EF9D624ED4}"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41" autoAdjust="0"/>
    <p:restoredTop sz="94660"/>
  </p:normalViewPr>
  <p:slideViewPr>
    <p:cSldViewPr snapToGrid="0">
      <p:cViewPr varScale="1">
        <p:scale>
          <a:sx n="106" d="100"/>
          <a:sy n="106" d="100"/>
        </p:scale>
        <p:origin x="136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2" name="Shape 8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7166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dirty="0"/>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8896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731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6034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659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9558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2953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835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82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3055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5558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612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30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207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992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31553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3762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3108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586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624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0215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2070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59427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1332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9914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5921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7238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13756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1907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54394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9067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0029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9" name="Shape 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9892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pt-BR"/>
              <a:t>Clique para editar o título mestre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83270073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pt-BR"/>
              <a:t>Clique para editar o título mestre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5722938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59008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918218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a:t>Clique para editar o título mestre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endParaRPr lang="pt-BR"/>
          </a:p>
        </p:txBody>
      </p:sp>
      <p:sp>
        <p:nvSpPr>
          <p:cNvPr id="8" name="Footer Placeholder 7"/>
          <p:cNvSpPr>
            <a:spLocks noGrp="1"/>
          </p:cNvSpPr>
          <p:nvPr>
            <p:ph type="ftr" sz="quarter" idx="11"/>
          </p:nvPr>
        </p:nvSpPr>
        <p:spPr/>
        <p:txBody>
          <a:bodyPr/>
          <a:lstStyle/>
          <a:p>
            <a:endParaRPr lang="pt-B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4045655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endParaRPr lang="pt-BR"/>
          </a:p>
        </p:txBody>
      </p:sp>
      <p:sp>
        <p:nvSpPr>
          <p:cNvPr id="4" name="Footer Placeholder 3"/>
          <p:cNvSpPr>
            <a:spLocks noGrp="1"/>
          </p:cNvSpPr>
          <p:nvPr>
            <p:ph type="ftr" sz="quarter" idx="11"/>
          </p:nvPr>
        </p:nvSpPr>
        <p:spPr/>
        <p:txBody>
          <a:bodyPr/>
          <a:lstStyle/>
          <a:p>
            <a:endParaRPr lang="pt-B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9152741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pt-BR"/>
          </a:p>
        </p:txBody>
      </p:sp>
      <p:sp>
        <p:nvSpPr>
          <p:cNvPr id="3" name="Footer Placeholder 2"/>
          <p:cNvSpPr>
            <a:spLocks noGrp="1"/>
          </p:cNvSpPr>
          <p:nvPr>
            <p:ph type="ftr" sz="quarter" idx="11"/>
          </p:nvPr>
        </p:nvSpPr>
        <p:spPr/>
        <p:txBody>
          <a:bodyPr/>
          <a:lstStyle/>
          <a:p>
            <a:endParaRPr lang="pt-B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1781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pt-BR"/>
              <a:t>Clique para editar o título mestre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83598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481955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pt-BR"/>
              <a:t>Clique para editar o título mestre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0023886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pt-BR"/>
              <a:t>Clique para editar o título mestre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956884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pt-BR"/>
              <a:t>Clique para editar o título mestre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Editar estilos de texto Mestre</a:t>
            </a:r>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0248365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pt-BR"/>
              <a:t>Clique para editar o título mestre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Editar estilos de texto Mestre</a:t>
            </a:r>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109417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pt-BR"/>
              <a:t>Clique para editar o título mestre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Editar estilos de texto Mestre</a:t>
            </a:r>
          </a:p>
        </p:txBody>
      </p:sp>
      <p:sp>
        <p:nvSpPr>
          <p:cNvPr id="5" name="Date Placeholder 4"/>
          <p:cNvSpPr>
            <a:spLocks noGrp="1"/>
          </p:cNvSpPr>
          <p:nvPr>
            <p:ph type="dt" sz="half" idx="10"/>
          </p:nvPr>
        </p:nvSpPr>
        <p:spPr/>
        <p:txBody>
          <a:bodyPr/>
          <a:lstStyle/>
          <a:p>
            <a:endParaRPr lang="pt-BR"/>
          </a:p>
        </p:txBody>
      </p:sp>
      <p:sp>
        <p:nvSpPr>
          <p:cNvPr id="6" name="Footer Placeholder 5"/>
          <p:cNvSpPr>
            <a:spLocks noGrp="1"/>
          </p:cNvSpPr>
          <p:nvPr>
            <p:ph type="ftr" sz="quarter" idx="11"/>
          </p:nvPr>
        </p:nvSpPr>
        <p:spPr/>
        <p:txBody>
          <a:bodyPr/>
          <a:lstStyle/>
          <a:p>
            <a:endParaRPr lang="pt-B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6601433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0660115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endParaRPr lang="pt-BR"/>
          </a:p>
        </p:txBody>
      </p:sp>
      <p:sp>
        <p:nvSpPr>
          <p:cNvPr id="5" name="Footer Placeholder 4"/>
          <p:cNvSpPr>
            <a:spLocks noGrp="1"/>
          </p:cNvSpPr>
          <p:nvPr>
            <p:ph type="ftr" sz="quarter" idx="11"/>
          </p:nvPr>
        </p:nvSpPr>
        <p:spPr/>
        <p:txBody>
          <a:bodyPr/>
          <a:lstStyle/>
          <a:p>
            <a:endParaRPr lang="pt-B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58923401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pt-B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‹nº›</a:t>
            </a:fld>
            <a:endParaRPr lang="en-US" sz="120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477081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Shape 85"/>
          <p:cNvSpPr txBox="1"/>
          <p:nvPr/>
        </p:nvSpPr>
        <p:spPr>
          <a:xfrm>
            <a:off x="988142" y="595744"/>
            <a:ext cx="8155858" cy="2999555"/>
          </a:xfrm>
          <a:prstGeom prst="rect">
            <a:avLst/>
          </a:prstGeom>
          <a:noFill/>
          <a:ln>
            <a:noFill/>
          </a:ln>
        </p:spPr>
        <p:txBody>
          <a:bodyPr lIns="91425" tIns="91425" rIns="91425" bIns="91425" anchor="t" anchorCtr="0">
            <a:noAutofit/>
          </a:bodyPr>
          <a:lstStyle/>
          <a:p>
            <a:pPr lvl="0" algn="ctr" rtl="0">
              <a:lnSpc>
                <a:spcPct val="115000"/>
              </a:lnSpc>
              <a:spcBef>
                <a:spcPts val="0"/>
              </a:spcBef>
              <a:buNone/>
            </a:pPr>
            <a:endParaRPr sz="2800" b="1" dirty="0">
              <a:solidFill>
                <a:schemeClr val="dk1"/>
              </a:solidFill>
              <a:latin typeface="Cambria" panose="02040503050406030204" pitchFamily="18" charset="0"/>
              <a:ea typeface="Cambria"/>
              <a:cs typeface="Cambria"/>
              <a:sym typeface="Cambria"/>
            </a:endParaRPr>
          </a:p>
          <a:p>
            <a:pPr lvl="0" algn="ctr" rtl="0">
              <a:lnSpc>
                <a:spcPct val="115000"/>
              </a:lnSpc>
              <a:spcBef>
                <a:spcPts val="0"/>
              </a:spcBef>
              <a:buNone/>
            </a:pPr>
            <a:endParaRPr sz="2800" b="1" dirty="0">
              <a:solidFill>
                <a:schemeClr val="dk1"/>
              </a:solidFill>
              <a:latin typeface="Cambria" panose="02040503050406030204" pitchFamily="18" charset="0"/>
              <a:ea typeface="Cambria"/>
              <a:cs typeface="Cambria"/>
              <a:sym typeface="Cambria"/>
            </a:endParaRPr>
          </a:p>
          <a:p>
            <a:pPr lvl="0" algn="ctr" rtl="0">
              <a:lnSpc>
                <a:spcPct val="115000"/>
              </a:lnSpc>
              <a:spcBef>
                <a:spcPts val="0"/>
              </a:spcBef>
              <a:buNone/>
            </a:pPr>
            <a:endParaRPr sz="2800" b="1" dirty="0">
              <a:solidFill>
                <a:schemeClr val="dk1"/>
              </a:solidFill>
              <a:latin typeface="Cambria" panose="02040503050406030204" pitchFamily="18" charset="0"/>
              <a:ea typeface="Cambria"/>
              <a:cs typeface="Cambria"/>
              <a:sym typeface="Cambria"/>
            </a:endParaRPr>
          </a:p>
          <a:p>
            <a:pPr marL="1254125" lvl="0" indent="-1254125">
              <a:lnSpc>
                <a:spcPct val="115000"/>
              </a:lnSpc>
              <a:buClr>
                <a:schemeClr val="dk1"/>
              </a:buClr>
              <a:buSzPct val="45833"/>
            </a:pPr>
            <a:r>
              <a:rPr lang="en-US" sz="2800" b="1" dirty="0">
                <a:solidFill>
                  <a:schemeClr val="dk1"/>
                </a:solidFill>
                <a:latin typeface="Cambria" panose="02040503050406030204" pitchFamily="18" charset="0"/>
                <a:ea typeface="Cambria"/>
                <a:cs typeface="Cambria"/>
                <a:sym typeface="Cambria"/>
              </a:rPr>
              <a:t>DSM -</a:t>
            </a:r>
            <a:r>
              <a:rPr lang="pt-BR" sz="2800" b="1" dirty="0">
                <a:latin typeface="Cambria" panose="02040503050406030204" pitchFamily="18" charset="0"/>
              </a:rPr>
              <a:t> Computação em Nuvem</a:t>
            </a:r>
          </a:p>
          <a:p>
            <a:pPr marL="1254125" lvl="0" indent="-1254125">
              <a:lnSpc>
                <a:spcPct val="115000"/>
              </a:lnSpc>
              <a:buClr>
                <a:schemeClr val="dk1"/>
              </a:buClr>
              <a:buSzPct val="45833"/>
            </a:pPr>
            <a:endParaRPr lang="pt-BR" sz="1600" i="1" dirty="0">
              <a:latin typeface="Cambria" panose="02040503050406030204" pitchFamily="18" charset="0"/>
            </a:endParaRPr>
          </a:p>
          <a:p>
            <a:pPr marL="1254125" lvl="0" indent="-1254125">
              <a:lnSpc>
                <a:spcPct val="115000"/>
              </a:lnSpc>
              <a:buClr>
                <a:schemeClr val="dk1"/>
              </a:buClr>
              <a:buSzPct val="45833"/>
            </a:pPr>
            <a:endParaRPr lang="pt-BR" sz="1600" i="1" dirty="0">
              <a:latin typeface="Cambria" panose="02040503050406030204" pitchFamily="18" charset="0"/>
            </a:endParaRPr>
          </a:p>
          <a:p>
            <a:pPr marL="1254125" lvl="0" indent="-1254125">
              <a:lnSpc>
                <a:spcPct val="115000"/>
              </a:lnSpc>
              <a:buClr>
                <a:schemeClr val="dk1"/>
              </a:buClr>
              <a:buSzPct val="45833"/>
            </a:pPr>
            <a:endParaRPr lang="en-US" sz="2400" b="1" dirty="0">
              <a:solidFill>
                <a:schemeClr val="dk1"/>
              </a:solidFill>
              <a:latin typeface="Cambria" panose="02040503050406030204" pitchFamily="18" charset="0"/>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3" name="Shape 93"/>
          <p:cNvSpPr txBox="1"/>
          <p:nvPr/>
        </p:nvSpPr>
        <p:spPr>
          <a:xfrm>
            <a:off x="2675415" y="1836057"/>
            <a:ext cx="8631900" cy="4102200"/>
          </a:xfrm>
          <a:prstGeom prst="rect">
            <a:avLst/>
          </a:prstGeom>
          <a:noFill/>
          <a:ln>
            <a:noFill/>
          </a:ln>
        </p:spPr>
        <p:txBody>
          <a:bodyPr lIns="91425" tIns="91425" rIns="91425" bIns="91425" anchor="t" anchorCtr="0">
            <a:noAutofit/>
          </a:bodyPr>
          <a:lstStyle/>
          <a:p>
            <a:pPr lvl="0">
              <a:spcBef>
                <a:spcPts val="0"/>
              </a:spcBef>
              <a:buNone/>
            </a:pPr>
            <a:endParaRPr/>
          </a:p>
        </p:txBody>
      </p:sp>
      <p:sp>
        <p:nvSpPr>
          <p:cNvPr id="8"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Roteiro</a:t>
            </a:r>
            <a:endParaRPr sz="2900" i="1" dirty="0">
              <a:latin typeface="Cambria" panose="02040503050406030204" pitchFamily="18" charset="0"/>
            </a:endParaRPr>
          </a:p>
        </p:txBody>
      </p:sp>
      <p:sp>
        <p:nvSpPr>
          <p:cNvPr id="9"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342900" lvl="0" indent="-342900">
              <a:lnSpc>
                <a:spcPct val="115000"/>
              </a:lnSpc>
              <a:buClr>
                <a:schemeClr val="dk1"/>
              </a:buClr>
              <a:buSzPct val="73333"/>
              <a:buFont typeface="+mj-lt"/>
              <a:buAutoNum type="arabicPeriod"/>
            </a:pPr>
            <a:endParaRPr lang="pt-BR" sz="1800" dirty="0">
              <a:solidFill>
                <a:srgbClr val="222222"/>
              </a:solidFill>
              <a:latin typeface="Cambria"/>
              <a:ea typeface="Cambria"/>
              <a:cs typeface="Cambria"/>
              <a:sym typeface="Cambria"/>
            </a:endParaRP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Computação em Nuvem</a:t>
            </a: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História</a:t>
            </a: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Infraestrutura</a:t>
            </a: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Características</a:t>
            </a: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Modelos</a:t>
            </a:r>
          </a:p>
          <a:p>
            <a:pPr marL="342900" lvl="0" indent="-342900">
              <a:lnSpc>
                <a:spcPct val="115000"/>
              </a:lnSpc>
              <a:buClr>
                <a:schemeClr val="dk1"/>
              </a:buClr>
              <a:buSzPct val="73333"/>
              <a:buFont typeface="+mj-lt"/>
              <a:buAutoNum type="arabicPeriod"/>
            </a:pPr>
            <a:r>
              <a:rPr lang="pt-BR" sz="1800" dirty="0">
                <a:solidFill>
                  <a:srgbClr val="222222"/>
                </a:solidFill>
                <a:latin typeface="Cambria"/>
                <a:ea typeface="Cambria"/>
                <a:cs typeface="Cambria"/>
                <a:sym typeface="Cambria"/>
              </a:rPr>
              <a:t>Bancos de Dados na Nuvem</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err="1">
                <a:latin typeface="Cambria" panose="02040503050406030204" pitchFamily="18" charset="0"/>
              </a:rPr>
              <a:t>Cloud</a:t>
            </a:r>
            <a:r>
              <a:rPr lang="pt-BR" sz="2900" i="1" dirty="0">
                <a:latin typeface="Cambria" panose="02040503050406030204" pitchFamily="18" charset="0"/>
              </a:rPr>
              <a:t> </a:t>
            </a:r>
            <a:r>
              <a:rPr lang="pt-BR" sz="2900" i="1" dirty="0" err="1">
                <a:latin typeface="Cambria" panose="02040503050406030204" pitchFamily="18" charset="0"/>
              </a:rPr>
              <a:t>computing</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lvl="0" algn="just"/>
            <a:r>
              <a:rPr lang="pt-BR" sz="1800" dirty="0">
                <a:latin typeface="Cambria" panose="02040503050406030204" pitchFamily="18" charset="0"/>
              </a:rPr>
              <a:t>Conceito surgiu em 1960 - J.C.R. </a:t>
            </a:r>
            <a:r>
              <a:rPr lang="pt-BR" sz="1800" dirty="0" err="1">
                <a:latin typeface="Cambria" panose="02040503050406030204" pitchFamily="18" charset="0"/>
              </a:rPr>
              <a:t>Licklider</a:t>
            </a:r>
            <a:r>
              <a:rPr lang="pt-BR" sz="1800" dirty="0">
                <a:latin typeface="Cambria" panose="02040503050406030204" pitchFamily="18" charset="0"/>
              </a:rPr>
              <a:t> e </a:t>
            </a:r>
            <a:r>
              <a:rPr lang="sv-SE" sz="1800" dirty="0">
                <a:latin typeface="Cambria" panose="02040503050406030204" pitchFamily="18" charset="0"/>
              </a:rPr>
              <a:t>com Joseph Carl Robnett Licklider  </a:t>
            </a:r>
            <a:r>
              <a:rPr lang="pt-BR" sz="1800" dirty="0">
                <a:latin typeface="Cambria" panose="02040503050406030204" pitchFamily="18" charset="0"/>
              </a:rPr>
              <a:t>(que imaginavam a computação na forma de uma rede global)</a:t>
            </a:r>
          </a:p>
          <a:p>
            <a:pPr marL="530225" lvl="3" indent="-265113" algn="just">
              <a:buFont typeface="Wingdings" panose="05000000000000000000" pitchFamily="2" charset="2"/>
              <a:buChar char="q"/>
            </a:pPr>
            <a:endParaRPr lang="pt-BR" sz="1800" dirty="0">
              <a:latin typeface="Cambria" panose="02040503050406030204" pitchFamily="18" charset="0"/>
            </a:endParaRPr>
          </a:p>
          <a:p>
            <a:pPr marL="550862" lvl="3" indent="-285750" algn="just">
              <a:buFont typeface="Wingdings" panose="05000000000000000000" pitchFamily="2" charset="2"/>
              <a:buChar char="§"/>
            </a:pPr>
            <a:r>
              <a:rPr lang="pt-BR" sz="1800" dirty="0">
                <a:latin typeface="Cambria" panose="02040503050406030204" pitchFamily="18" charset="0"/>
              </a:rPr>
              <a:t>Grande influência na ARPANET - interligava as bases militares e os departamentos de pesquisa do governo americano.</a:t>
            </a:r>
          </a:p>
          <a:p>
            <a:pPr marL="550862" lvl="3" indent="-285750" algn="just">
              <a:buFont typeface="Wingdings" panose="05000000000000000000" pitchFamily="2" charset="2"/>
              <a:buChar char="§"/>
            </a:pPr>
            <a:r>
              <a:rPr lang="pt-BR" sz="1800" dirty="0">
                <a:latin typeface="Cambria" panose="02040503050406030204" pitchFamily="18" charset="0"/>
              </a:rPr>
              <a:t>Já imaginavam uma rede em que todos  acessariam programas e dados de qualquer lugar.</a:t>
            </a:r>
          </a:p>
          <a:p>
            <a:pPr marL="550862" lvl="3" indent="-285750" algn="just">
              <a:buFont typeface="Wingdings" panose="05000000000000000000" pitchFamily="2" charset="2"/>
              <a:buChar char="§"/>
            </a:pPr>
            <a:r>
              <a:rPr lang="pt-BR" sz="1800" dirty="0">
                <a:latin typeface="Cambria" panose="02040503050406030204" pitchFamily="18" charset="0"/>
              </a:rPr>
              <a:t>Pesquisador John McCarthy já imaginava que um a computação deveria ser disponibilizada como um serviço de utilidade pública (Água , energia, etc.)</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71918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err="1">
                <a:latin typeface="Cambria" panose="02040503050406030204" pitchFamily="18" charset="0"/>
              </a:rPr>
              <a:t>Cloud</a:t>
            </a:r>
            <a:r>
              <a:rPr lang="pt-BR" sz="2900" i="1" dirty="0">
                <a:latin typeface="Cambria" panose="02040503050406030204" pitchFamily="18" charset="0"/>
              </a:rPr>
              <a:t> </a:t>
            </a:r>
            <a:r>
              <a:rPr lang="pt-BR" sz="2900" i="1" dirty="0" err="1">
                <a:latin typeface="Cambria" panose="02040503050406030204" pitchFamily="18" charset="0"/>
              </a:rPr>
              <a:t>computing</a:t>
            </a:r>
            <a:endParaRPr sz="2900" i="1" dirty="0">
              <a:latin typeface="Cambria" panose="02040503050406030204" pitchFamily="18" charset="0"/>
            </a:endParaRPr>
          </a:p>
        </p:txBody>
      </p:sp>
      <p:sp>
        <p:nvSpPr>
          <p:cNvPr id="93" name="Shape 93"/>
          <p:cNvSpPr txBox="1"/>
          <p:nvPr/>
        </p:nvSpPr>
        <p:spPr>
          <a:xfrm>
            <a:off x="796413" y="2654709"/>
            <a:ext cx="7521677" cy="3528928"/>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lvl="0" algn="just"/>
            <a:r>
              <a:rPr lang="pt-BR" sz="1800" dirty="0">
                <a:latin typeface="Cambria" panose="02040503050406030204" pitchFamily="18" charset="0"/>
              </a:rPr>
              <a:t>Em 1997 o professor de sistemas da informação </a:t>
            </a:r>
            <a:r>
              <a:rPr lang="pt-BR" sz="1800" dirty="0" err="1">
                <a:latin typeface="Cambria" panose="02040503050406030204" pitchFamily="18" charset="0"/>
              </a:rPr>
              <a:t>Ramnath</a:t>
            </a:r>
            <a:r>
              <a:rPr lang="pt-BR" sz="1800" dirty="0">
                <a:latin typeface="Cambria" panose="02040503050406030204" pitchFamily="18" charset="0"/>
              </a:rPr>
              <a:t> </a:t>
            </a:r>
            <a:r>
              <a:rPr lang="pt-BR" sz="1800" dirty="0" err="1">
                <a:latin typeface="Cambria" panose="02040503050406030204" pitchFamily="18" charset="0"/>
              </a:rPr>
              <a:t>Chellappa</a:t>
            </a:r>
            <a:r>
              <a:rPr lang="pt-BR" sz="1800" dirty="0">
                <a:latin typeface="Cambria" panose="02040503050406030204" pitchFamily="18" charset="0"/>
              </a:rPr>
              <a:t> mencionou o termo computação em nuvem numa palestra acadêmica.</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Só em  1999 surgiu a </a:t>
            </a:r>
            <a:r>
              <a:rPr lang="pt-BR" sz="1800" dirty="0" err="1">
                <a:latin typeface="Cambria" panose="02040503050406030204" pitchFamily="18" charset="0"/>
              </a:rPr>
              <a:t>Salesforce</a:t>
            </a:r>
            <a:r>
              <a:rPr lang="pt-BR" sz="1800" dirty="0">
                <a:latin typeface="Cambria" panose="02040503050406030204" pitchFamily="18" charset="0"/>
              </a:rPr>
              <a:t>, primeira empresa a disponibilizar aplicações na internet.</a:t>
            </a:r>
          </a:p>
          <a:p>
            <a:pPr marL="285750" lvl="0" indent="-285750" algn="just">
              <a:buFont typeface="Arial" panose="020B0604020202020204" pitchFamily="34" charset="0"/>
              <a:buChar char="•"/>
            </a:pPr>
            <a:r>
              <a:rPr lang="pt-BR" sz="1800" dirty="0">
                <a:latin typeface="Cambria" panose="02040503050406030204" pitchFamily="18" charset="0"/>
              </a:rPr>
              <a:t>Em 2006 a </a:t>
            </a:r>
            <a:r>
              <a:rPr lang="pt-BR" sz="1800" dirty="0" err="1">
                <a:latin typeface="Cambria" panose="02040503050406030204" pitchFamily="18" charset="0"/>
              </a:rPr>
              <a:t>Amazon</a:t>
            </a:r>
            <a:r>
              <a:rPr lang="pt-BR" sz="1800" dirty="0">
                <a:latin typeface="Cambria" panose="02040503050406030204" pitchFamily="18" charset="0"/>
              </a:rPr>
              <a:t> lança a AWS (</a:t>
            </a:r>
            <a:r>
              <a:rPr lang="pt-BR" sz="1800" dirty="0" err="1">
                <a:latin typeface="Cambria" panose="02040503050406030204" pitchFamily="18" charset="0"/>
              </a:rPr>
              <a:t>Amazon</a:t>
            </a:r>
            <a:r>
              <a:rPr lang="pt-BR" sz="1800" dirty="0">
                <a:latin typeface="Cambria" panose="02040503050406030204" pitchFamily="18" charset="0"/>
              </a:rPr>
              <a:t> Web Services)</a:t>
            </a:r>
          </a:p>
          <a:p>
            <a:pPr marL="285750" lvl="0" indent="-285750" algn="just">
              <a:buFont typeface="Arial" panose="020B0604020202020204" pitchFamily="34" charset="0"/>
              <a:buChar char="•"/>
            </a:pPr>
            <a:r>
              <a:rPr lang="pt-BR" sz="1800" dirty="0">
                <a:latin typeface="Cambria" panose="02040503050406030204" pitchFamily="18" charset="0"/>
              </a:rPr>
              <a:t>Em 2008 surgem as plataformas de implementação de nuvem (</a:t>
            </a:r>
            <a:r>
              <a:rPr lang="pt-BR" sz="1800" dirty="0" err="1">
                <a:latin typeface="Cambria" panose="02040503050406030204" pitchFamily="18" charset="0"/>
              </a:rPr>
              <a:t>OpenNebula</a:t>
            </a:r>
            <a:r>
              <a:rPr lang="pt-BR" sz="1800" dirty="0">
                <a:latin typeface="Cambria" panose="02040503050406030204" pitchFamily="18" charset="0"/>
              </a:rPr>
              <a:t> e </a:t>
            </a:r>
            <a:r>
              <a:rPr lang="pt-BR" sz="1800" dirty="0" err="1">
                <a:latin typeface="Cambria" panose="02040503050406030204" pitchFamily="18" charset="0"/>
              </a:rPr>
              <a:t>Eucalyptus</a:t>
            </a:r>
            <a:r>
              <a:rPr lang="pt-BR" sz="1800" dirty="0">
                <a:latin typeface="Cambria" panose="02040503050406030204" pitchFamily="18" charset="0"/>
              </a:rPr>
              <a:t>) Open </a:t>
            </a:r>
            <a:r>
              <a:rPr lang="pt-BR" sz="1800" dirty="0" err="1">
                <a:latin typeface="Cambria" panose="02040503050406030204" pitchFamily="18" charset="0"/>
              </a:rPr>
              <a:t>Source</a:t>
            </a:r>
            <a:r>
              <a:rPr lang="pt-BR" sz="1800" dirty="0">
                <a:latin typeface="Cambria" panose="02040503050406030204" pitchFamily="18" charset="0"/>
              </a:rPr>
              <a:t>, além, do surgimento do </a:t>
            </a:r>
            <a:r>
              <a:rPr lang="pt-BR" sz="1800" dirty="0" err="1">
                <a:latin typeface="Cambria" panose="02040503050406030204" pitchFamily="18" charset="0"/>
              </a:rPr>
              <a:t>Ap</a:t>
            </a:r>
            <a:r>
              <a:rPr lang="pt-BR" sz="1800" dirty="0">
                <a:latin typeface="Cambria" panose="02040503050406030204" pitchFamily="18" charset="0"/>
              </a:rPr>
              <a:t> </a:t>
            </a:r>
            <a:r>
              <a:rPr lang="pt-BR" sz="1800" dirty="0" err="1">
                <a:latin typeface="Cambria" panose="02040503050406030204" pitchFamily="18" charset="0"/>
              </a:rPr>
              <a:t>Engine</a:t>
            </a:r>
            <a:r>
              <a:rPr lang="pt-BR" sz="1800" dirty="0">
                <a:latin typeface="Cambria" panose="02040503050406030204" pitchFamily="18" charset="0"/>
              </a:rPr>
              <a:t> Google.</a:t>
            </a:r>
          </a:p>
          <a:p>
            <a:pPr marL="285750" lvl="0" indent="-285750" algn="just">
              <a:buFont typeface="Arial" panose="020B0604020202020204" pitchFamily="34" charset="0"/>
              <a:buChar char="•"/>
            </a:pPr>
            <a:r>
              <a:rPr lang="pt-BR" sz="1800" dirty="0">
                <a:latin typeface="Cambria" panose="02040503050406030204" pitchFamily="18" charset="0"/>
              </a:rPr>
              <a:t>IBM</a:t>
            </a:r>
          </a:p>
          <a:p>
            <a:pPr marL="285750" lvl="0" indent="-285750" algn="just">
              <a:buFont typeface="Arial" panose="020B0604020202020204" pitchFamily="34" charset="0"/>
              <a:buChar char="•"/>
            </a:pPr>
            <a:r>
              <a:rPr lang="pt-BR" sz="1800" dirty="0">
                <a:latin typeface="Cambria" panose="02040503050406030204" pitchFamily="18" charset="0"/>
              </a:rPr>
              <a:t>Microsoft</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
        <p:nvSpPr>
          <p:cNvPr id="6" name="Shape 86"/>
          <p:cNvSpPr txBox="1"/>
          <p:nvPr/>
        </p:nvSpPr>
        <p:spPr>
          <a:xfrm>
            <a:off x="663677" y="1742226"/>
            <a:ext cx="7904973" cy="868240"/>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3333"/>
              <a:buFont typeface="Arial"/>
              <a:buNone/>
            </a:pPr>
            <a:endParaRPr lang="en-US" sz="1500" b="1" dirty="0">
              <a:solidFill>
                <a:srgbClr val="222222"/>
              </a:solidFill>
              <a:latin typeface="Cambria"/>
              <a:ea typeface="Cambria"/>
              <a:cs typeface="Cambria"/>
              <a:sym typeface="Cambria"/>
            </a:endParaRPr>
          </a:p>
        </p:txBody>
      </p:sp>
    </p:spTree>
    <p:extLst>
      <p:ext uri="{BB962C8B-B14F-4D97-AF65-F5344CB8AC3E}">
        <p14:creationId xmlns:p14="http://schemas.microsoft.com/office/powerpoint/2010/main" val="166440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Definição</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A computação em nuvem pode ser entendida como um ambiente de computação formado por diversos servidores sejam esses virtuais ou físicos, ou um conjunto de serviços com capacidade de processamento, armazenamento, aplicações, plataformas e serviços disponibilizados na internet [</a:t>
            </a:r>
            <a:r>
              <a:rPr lang="pt-BR" sz="1800" dirty="0" err="1">
                <a:latin typeface="Cambria" panose="02040503050406030204" pitchFamily="18" charset="0"/>
              </a:rPr>
              <a:t>Taurion</a:t>
            </a:r>
            <a:r>
              <a:rPr lang="pt-BR" sz="1800" dirty="0">
                <a:latin typeface="Cambria" panose="02040503050406030204" pitchFamily="18" charset="0"/>
              </a:rPr>
              <a:t> 2009]. </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65113" lvl="0" algn="just"/>
            <a:endParaRPr lang="pt-BR" sz="1800" dirty="0">
              <a:latin typeface="Cambria" panose="02040503050406030204" pitchFamily="18" charset="0"/>
            </a:endParaRPr>
          </a:p>
          <a:p>
            <a:pPr marL="265113" lvl="0" algn="just"/>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29969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Definição</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r>
              <a:rPr lang="pt-BR" sz="1800" dirty="0" err="1">
                <a:latin typeface="Cambria" panose="02040503050406030204" pitchFamily="18" charset="0"/>
              </a:rPr>
              <a:t>Amazon</a:t>
            </a:r>
            <a:endParaRPr lang="pt-BR" sz="1800" dirty="0">
              <a:latin typeface="Cambria" panose="02040503050406030204" pitchFamily="18" charset="0"/>
            </a:endParaRPr>
          </a:p>
          <a:p>
            <a:pPr marL="265113" lvl="0" algn="just"/>
            <a:r>
              <a:rPr lang="pt-BR" sz="1800" dirty="0">
                <a:latin typeface="Cambria" panose="02040503050406030204" pitchFamily="18" charset="0"/>
              </a:rPr>
              <a:t>"Computação em nuvem", por definição, diz respeito à entrega sob demanda de recursos de TI e aplicativos pela Internet, com modelo de definição de preço conforme a utilização.</a:t>
            </a:r>
          </a:p>
          <a:p>
            <a:pPr marL="265113" lvl="0" algn="just"/>
            <a:endParaRPr lang="pt-BR" sz="1800" dirty="0">
              <a:latin typeface="Cambria" panose="02040503050406030204" pitchFamily="18" charset="0"/>
            </a:endParaRPr>
          </a:p>
          <a:p>
            <a:pPr marL="265113" lvl="0" algn="just"/>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75602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p>
          <a:p>
            <a:pPr lvl="0"/>
            <a:r>
              <a:rPr lang="pt-BR" sz="2900" i="1" dirty="0">
                <a:latin typeface="Cambria" panose="02040503050406030204" pitchFamily="18" charset="0"/>
              </a:rPr>
              <a:t>Serviços em nuvem</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r>
              <a:rPr lang="pt-BR" sz="1800" dirty="0">
                <a:latin typeface="Cambria" panose="02040503050406030204" pitchFamily="18" charset="0"/>
              </a:rPr>
              <a:t>Google</a:t>
            </a:r>
          </a:p>
          <a:p>
            <a:pPr marL="530225" lvl="0" indent="-265113" algn="just">
              <a:spcBef>
                <a:spcPts val="0"/>
              </a:spcBef>
              <a:buFont typeface="Wingdings" panose="05000000000000000000" pitchFamily="2" charset="2"/>
              <a:buChar char="§"/>
              <a:tabLst>
                <a:tab pos="530225" algn="l"/>
              </a:tabLst>
            </a:pPr>
            <a:r>
              <a:rPr lang="pt-BR" sz="1800" dirty="0">
                <a:latin typeface="Cambria" panose="02040503050406030204" pitchFamily="18" charset="0"/>
              </a:rPr>
              <a:t>Gmail, Drive, Google </a:t>
            </a:r>
            <a:r>
              <a:rPr lang="pt-BR" sz="1800" dirty="0" err="1">
                <a:latin typeface="Cambria" panose="02040503050406030204" pitchFamily="18" charset="0"/>
              </a:rPr>
              <a:t>Docs</a:t>
            </a:r>
            <a:r>
              <a:rPr lang="pt-BR" sz="1800" dirty="0">
                <a:latin typeface="Cambria" panose="02040503050406030204" pitchFamily="18" charset="0"/>
              </a:rPr>
              <a:t>, </a:t>
            </a:r>
            <a:r>
              <a:rPr lang="pt-BR" sz="1800" dirty="0" err="1">
                <a:latin typeface="Cambria" panose="02040503050406030204" pitchFamily="18" charset="0"/>
              </a:rPr>
              <a:t>App</a:t>
            </a:r>
            <a:r>
              <a:rPr lang="pt-BR" sz="1800" dirty="0">
                <a:latin typeface="Cambria" panose="02040503050406030204" pitchFamily="18" charset="0"/>
              </a:rPr>
              <a:t> </a:t>
            </a:r>
            <a:r>
              <a:rPr lang="pt-BR" sz="1800" dirty="0" err="1">
                <a:latin typeface="Cambria" panose="02040503050406030204" pitchFamily="18" charset="0"/>
              </a:rPr>
              <a:t>Engine</a:t>
            </a:r>
            <a:r>
              <a:rPr lang="pt-BR" sz="1800" dirty="0">
                <a:latin typeface="Cambria" panose="02040503050406030204" pitchFamily="18" charset="0"/>
              </a:rPr>
              <a:t>, Google </a:t>
            </a:r>
            <a:r>
              <a:rPr lang="pt-BR" sz="1800" dirty="0" err="1">
                <a:latin typeface="Cambria" panose="02040503050406030204" pitchFamily="18" charset="0"/>
              </a:rPr>
              <a:t>maps</a:t>
            </a:r>
            <a:endParaRPr lang="pt-BR" sz="1800" dirty="0">
              <a:latin typeface="Cambria" panose="02040503050406030204" pitchFamily="18" charset="0"/>
            </a:endParaRPr>
          </a:p>
          <a:p>
            <a:pPr marL="265112" lvl="0" algn="just">
              <a:spcBef>
                <a:spcPts val="0"/>
              </a:spcBef>
              <a:tabLst>
                <a:tab pos="530225" algn="l"/>
              </a:tabLst>
            </a:pPr>
            <a:endParaRPr lang="pt-BR" sz="500" dirty="0">
              <a:latin typeface="Cambria" panose="02040503050406030204" pitchFamily="18" charset="0"/>
            </a:endParaRP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Microsoft</a:t>
            </a:r>
          </a:p>
          <a:p>
            <a:pPr marL="530225" lvl="0" indent="-285750" algn="just">
              <a:spcBef>
                <a:spcPts val="0"/>
              </a:spcBef>
              <a:buFont typeface="Wingdings" panose="05000000000000000000" pitchFamily="2" charset="2"/>
              <a:buChar char="§"/>
            </a:pPr>
            <a:r>
              <a:rPr lang="pt-BR" sz="1800" dirty="0">
                <a:latin typeface="Cambria" panose="02040503050406030204" pitchFamily="18" charset="0"/>
              </a:rPr>
              <a:t>Outlook, </a:t>
            </a:r>
            <a:r>
              <a:rPr lang="pt-BR" sz="1800" dirty="0" err="1">
                <a:latin typeface="Cambria" panose="02040503050406030204" pitchFamily="18" charset="0"/>
              </a:rPr>
              <a:t>One</a:t>
            </a:r>
            <a:r>
              <a:rPr lang="pt-BR" sz="1800" dirty="0">
                <a:latin typeface="Cambria" panose="02040503050406030204" pitchFamily="18" charset="0"/>
              </a:rPr>
              <a:t> drive, </a:t>
            </a:r>
            <a:r>
              <a:rPr lang="pt-BR" sz="1800" dirty="0" err="1">
                <a:latin typeface="Cambria" panose="02040503050406030204" pitchFamily="18" charset="0"/>
              </a:rPr>
              <a:t>Azure</a:t>
            </a:r>
            <a:r>
              <a:rPr lang="pt-BR" sz="1800" dirty="0">
                <a:latin typeface="Cambria" panose="02040503050406030204" pitchFamily="18" charset="0"/>
              </a:rPr>
              <a:t>, Office 365, Visual Studio Online, TFS</a:t>
            </a:r>
          </a:p>
          <a:p>
            <a:pPr marL="244475" lvl="0" algn="just">
              <a:spcBef>
                <a:spcPts val="0"/>
              </a:spcBef>
            </a:pPr>
            <a:endParaRPr lang="pt-BR" sz="600" dirty="0">
              <a:latin typeface="Cambria" panose="02040503050406030204" pitchFamily="18" charset="0"/>
            </a:endParaRPr>
          </a:p>
          <a:p>
            <a:pPr marL="285750" lvl="0" indent="-285750" algn="just">
              <a:spcBef>
                <a:spcPts val="0"/>
              </a:spcBef>
              <a:buFont typeface="Arial" panose="020B0604020202020204" pitchFamily="34" charset="0"/>
              <a:buChar char="•"/>
            </a:pPr>
            <a:r>
              <a:rPr lang="pt-BR" sz="1800" dirty="0" err="1">
                <a:latin typeface="Cambria" panose="02040503050406030204" pitchFamily="18" charset="0"/>
              </a:rPr>
              <a:t>Dropbox</a:t>
            </a:r>
            <a:endParaRPr lang="pt-BR" sz="1800" dirty="0">
              <a:latin typeface="Cambria" panose="02040503050406030204" pitchFamily="18" charset="0"/>
            </a:endParaRPr>
          </a:p>
          <a:p>
            <a:pPr marL="530225" lvl="0" indent="-265113" algn="just">
              <a:spcBef>
                <a:spcPts val="0"/>
              </a:spcBef>
              <a:buFont typeface="Wingdings" panose="05000000000000000000" pitchFamily="2" charset="2"/>
              <a:buChar char="§"/>
            </a:pPr>
            <a:r>
              <a:rPr lang="pt-BR" sz="1800" dirty="0">
                <a:latin typeface="Cambria" panose="02040503050406030204" pitchFamily="18" charset="0"/>
              </a:rPr>
              <a:t>Armazenamento, serviços para desenvolvedores</a:t>
            </a:r>
          </a:p>
          <a:p>
            <a:pPr marL="530225" lvl="0" indent="-265113" algn="just">
              <a:spcBef>
                <a:spcPts val="0"/>
              </a:spcBef>
              <a:buFont typeface="Wingdings" panose="05000000000000000000" pitchFamily="2" charset="2"/>
              <a:buChar char="§"/>
            </a:pPr>
            <a:endParaRPr lang="pt-BR" sz="500" dirty="0">
              <a:latin typeface="Cambria" panose="02040503050406030204" pitchFamily="18" charset="0"/>
            </a:endParaRP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Apple</a:t>
            </a:r>
          </a:p>
          <a:p>
            <a:pPr marL="530225" lvl="0" indent="-285750" algn="just">
              <a:spcBef>
                <a:spcPts val="0"/>
              </a:spcBef>
              <a:buFont typeface="Wingdings" panose="05000000000000000000" pitchFamily="2" charset="2"/>
              <a:buChar char="§"/>
            </a:pPr>
            <a:r>
              <a:rPr lang="pt-BR" sz="1800" dirty="0">
                <a:latin typeface="Cambria" panose="02040503050406030204" pitchFamily="18" charset="0"/>
              </a:rPr>
              <a:t>Streaming, games</a:t>
            </a:r>
          </a:p>
          <a:p>
            <a:pPr marL="285750" lvl="0" indent="-285750" algn="just">
              <a:spcBef>
                <a:spcPts val="0"/>
              </a:spcBef>
              <a:buFont typeface="Arial" panose="020B0604020202020204" pitchFamily="34" charset="0"/>
              <a:buChar char="•"/>
            </a:pPr>
            <a:r>
              <a:rPr lang="pt-BR" sz="1800" dirty="0" err="1">
                <a:latin typeface="Cambria" panose="02040503050406030204" pitchFamily="18" charset="0"/>
              </a:rPr>
              <a:t>Amazon</a:t>
            </a:r>
            <a:endParaRPr lang="pt-BR" sz="1800" dirty="0">
              <a:latin typeface="Cambria" panose="02040503050406030204" pitchFamily="18" charset="0"/>
            </a:endParaRPr>
          </a:p>
          <a:p>
            <a:pPr marL="530225" lvl="0" indent="-285750" algn="just">
              <a:spcBef>
                <a:spcPts val="0"/>
              </a:spcBef>
              <a:buFont typeface="Wingdings" panose="05000000000000000000" pitchFamily="2" charset="2"/>
              <a:buChar char="§"/>
            </a:pPr>
            <a:r>
              <a:rPr lang="pt-BR" sz="1800" dirty="0">
                <a:latin typeface="Cambria" panose="02040503050406030204" pitchFamily="18" charset="0"/>
              </a:rPr>
              <a:t>Infraestrutura e serviço de TI</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777745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Representação</a:t>
            </a:r>
            <a:endParaRPr sz="2900" i="1" dirty="0">
              <a:latin typeface="Cambria" panose="02040503050406030204" pitchFamily="18" charset="0"/>
            </a:endParaRPr>
          </a:p>
        </p:txBody>
      </p:sp>
      <p:pic>
        <p:nvPicPr>
          <p:cNvPr id="1028" name="Picture 4" descr="http://blogbringit.com.br/wp-content/uploads/2015/05/armazenamento-em-nuven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7898" y="2610465"/>
            <a:ext cx="5139096" cy="3854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36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Arquitetura distribuída</a:t>
            </a:r>
            <a:endParaRPr sz="2900" i="1" dirty="0">
              <a:latin typeface="Cambria" panose="02040503050406030204" pitchFamily="18" charset="0"/>
            </a:endParaRPr>
          </a:p>
        </p:txBody>
      </p:sp>
      <p:pic>
        <p:nvPicPr>
          <p:cNvPr id="2" name="Imagem 1"/>
          <p:cNvPicPr>
            <a:picLocks noChangeAspect="1"/>
          </p:cNvPicPr>
          <p:nvPr/>
        </p:nvPicPr>
        <p:blipFill>
          <a:blip r:embed="rId4"/>
          <a:stretch>
            <a:fillRect/>
          </a:stretch>
        </p:blipFill>
        <p:spPr>
          <a:xfrm>
            <a:off x="309336" y="2610465"/>
            <a:ext cx="4683578" cy="3835371"/>
          </a:xfrm>
          <a:prstGeom prst="rect">
            <a:avLst/>
          </a:prstGeom>
        </p:spPr>
      </p:pic>
      <p:sp>
        <p:nvSpPr>
          <p:cNvPr id="3" name="Retângulo 2"/>
          <p:cNvSpPr/>
          <p:nvPr/>
        </p:nvSpPr>
        <p:spPr>
          <a:xfrm>
            <a:off x="4760685" y="2989943"/>
            <a:ext cx="3744685" cy="2633343"/>
          </a:xfrm>
          <a:prstGeom prst="rect">
            <a:avLst/>
          </a:prstGeom>
        </p:spPr>
        <p:txBody>
          <a:bodyPr wrap="square">
            <a:spAutoFit/>
          </a:bodyPr>
          <a:lstStyle/>
          <a:p>
            <a:r>
              <a:rPr lang="pt-BR" sz="1800" dirty="0">
                <a:latin typeface="Cambria" panose="02040503050406030204" pitchFamily="18" charset="0"/>
              </a:rPr>
              <a:t>Para [</a:t>
            </a:r>
            <a:r>
              <a:rPr lang="pt-BR" sz="1800" dirty="0" err="1">
                <a:latin typeface="Cambria" panose="02040503050406030204" pitchFamily="18" charset="0"/>
              </a:rPr>
              <a:t>Buyya</a:t>
            </a:r>
            <a:r>
              <a:rPr lang="pt-BR" sz="1800" dirty="0">
                <a:latin typeface="Cambria" panose="02040503050406030204" pitchFamily="18" charset="0"/>
              </a:rPr>
              <a:t>, 2008], uma nuvem é um tipo de sistema paralelo e distribuído que consiste de uma coleção de computadores virtualizados e interconectados que são provisionados de forma dinâmica e apresentados como um ou mais recursos computacionais unificados</a:t>
            </a:r>
          </a:p>
        </p:txBody>
      </p:sp>
    </p:spTree>
    <p:extLst>
      <p:ext uri="{BB962C8B-B14F-4D97-AF65-F5344CB8AC3E}">
        <p14:creationId xmlns:p14="http://schemas.microsoft.com/office/powerpoint/2010/main" val="3951149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Características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Agilidade</a:t>
            </a:r>
          </a:p>
          <a:p>
            <a:pPr marL="285750" lvl="0" indent="-285750" algn="just">
              <a:buFont typeface="Arial" panose="020B0604020202020204" pitchFamily="34" charset="0"/>
              <a:buChar char="•"/>
            </a:pPr>
            <a:r>
              <a:rPr lang="pt-BR" sz="1800" dirty="0">
                <a:latin typeface="Cambria" panose="02040503050406030204" pitchFamily="18" charset="0"/>
              </a:rPr>
              <a:t>API (</a:t>
            </a:r>
            <a:r>
              <a:rPr lang="pt-BR" sz="1800" dirty="0" err="1">
                <a:latin typeface="Cambria" panose="02040503050406030204" pitchFamily="18" charset="0"/>
              </a:rPr>
              <a:t>Application</a:t>
            </a:r>
            <a:r>
              <a:rPr lang="pt-BR" sz="1800" dirty="0">
                <a:latin typeface="Cambria" panose="02040503050406030204" pitchFamily="18" charset="0"/>
              </a:rPr>
              <a:t> </a:t>
            </a:r>
            <a:r>
              <a:rPr lang="pt-BR" sz="1800" dirty="0" err="1">
                <a:latin typeface="Cambria" panose="02040503050406030204" pitchFamily="18" charset="0"/>
              </a:rPr>
              <a:t>Programming</a:t>
            </a:r>
            <a:r>
              <a:rPr lang="pt-BR" sz="1800" dirty="0">
                <a:latin typeface="Cambria" panose="02040503050406030204" pitchFamily="18" charset="0"/>
              </a:rPr>
              <a:t> Interface)</a:t>
            </a:r>
          </a:p>
          <a:p>
            <a:pPr marL="530225" lvl="0" indent="-265113" algn="just">
              <a:buFont typeface="Wingdings" panose="05000000000000000000" pitchFamily="2" charset="2"/>
              <a:buChar char="§"/>
            </a:pPr>
            <a:r>
              <a:rPr lang="pt-BR" sz="1800" dirty="0">
                <a:latin typeface="Cambria" panose="02040503050406030204" pitchFamily="18" charset="0"/>
              </a:rPr>
              <a:t>Acesso a recursos de softwares</a:t>
            </a:r>
          </a:p>
          <a:p>
            <a:pPr marL="285750" lvl="0" indent="-285750" algn="just">
              <a:buFont typeface="Arial" panose="020B0604020202020204" pitchFamily="34" charset="0"/>
              <a:buChar char="•"/>
            </a:pPr>
            <a:r>
              <a:rPr lang="pt-BR" sz="1800" dirty="0">
                <a:latin typeface="Cambria" panose="02040503050406030204" pitchFamily="18" charset="0"/>
              </a:rPr>
              <a:t>Autoatendimento sob demanda</a:t>
            </a:r>
          </a:p>
          <a:p>
            <a:pPr marL="530225" lvl="2" indent="-265113" algn="just">
              <a:buFont typeface="Wingdings" panose="05000000000000000000" pitchFamily="2" charset="2"/>
              <a:buChar char="§"/>
            </a:pPr>
            <a:r>
              <a:rPr lang="pt-BR" sz="1800" dirty="0">
                <a:latin typeface="Cambria" panose="02040503050406030204" pitchFamily="18" charset="0"/>
              </a:rPr>
              <a:t>O usuário pode usufruir das funcionalidades computacionais sem a necessidade da interação humana com o provedor de serviço.</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pic>
        <p:nvPicPr>
          <p:cNvPr id="2050" name="Picture 2" descr="http://www.dsc.ufcg.edu.br/~pet/jornal/agosto2012/images/materias/historia_da_computacao/conexo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7381" y="603665"/>
            <a:ext cx="1923948" cy="1403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Características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Virtualização e amplo acesso a serviços de rede</a:t>
            </a:r>
          </a:p>
          <a:p>
            <a:pPr marL="530225" lvl="0" indent="-265113" algn="just">
              <a:buFont typeface="Wingdings" panose="05000000000000000000" pitchFamily="2" charset="2"/>
              <a:buChar char="§"/>
            </a:pPr>
            <a:r>
              <a:rPr lang="pt-BR" sz="1800" dirty="0">
                <a:latin typeface="Cambria" panose="02040503050406030204" pitchFamily="18" charset="0"/>
              </a:rPr>
              <a:t>Os recursos computacionais são acessados através da internet</a:t>
            </a:r>
          </a:p>
          <a:p>
            <a:pPr marL="285750" lvl="0" indent="-285750" algn="just">
              <a:buFont typeface="Arial" panose="020B0604020202020204" pitchFamily="34" charset="0"/>
              <a:buChar char="•"/>
            </a:pPr>
            <a:r>
              <a:rPr lang="pt-BR" sz="1800" dirty="0">
                <a:latin typeface="Cambria" panose="02040503050406030204" pitchFamily="18" charset="0"/>
              </a:rPr>
              <a:t>Serviços automatizado</a:t>
            </a:r>
          </a:p>
          <a:p>
            <a:pPr marL="530225" lvl="0" indent="-265113" algn="just">
              <a:buFont typeface="Wingdings" panose="05000000000000000000" pitchFamily="2" charset="2"/>
              <a:buChar char="§"/>
            </a:pPr>
            <a:r>
              <a:rPr lang="pt-BR" sz="1800" dirty="0">
                <a:latin typeface="Cambria" panose="02040503050406030204" pitchFamily="18" charset="0"/>
              </a:rPr>
              <a:t>Os sistemas em nuvem automaticamente controlam e monitoram os recursos necessários para cada tipo de serviço, tais como armazenamento, processamento e largura de banda</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pic>
        <p:nvPicPr>
          <p:cNvPr id="2050" name="Picture 2" descr="http://www.dsc.ufcg.edu.br/~pet/jornal/agosto2012/images/materias/historia_da_computacao/conexo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7381" y="603665"/>
            <a:ext cx="1923948" cy="1403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600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Características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Confiabilidade</a:t>
            </a:r>
          </a:p>
          <a:p>
            <a:pPr marL="533400" lvl="0" indent="-266700" algn="just">
              <a:buFont typeface="Wingdings" panose="05000000000000000000" pitchFamily="2" charset="2"/>
              <a:buChar char="§"/>
            </a:pPr>
            <a:r>
              <a:rPr lang="pt-BR" sz="1800" dirty="0">
                <a:latin typeface="Cambria" panose="02040503050406030204" pitchFamily="18" charset="0"/>
              </a:rPr>
              <a:t>Redundância de dados</a:t>
            </a:r>
          </a:p>
          <a:p>
            <a:pPr marL="285750" lvl="0" indent="-285750" algn="just">
              <a:buFont typeface="Arial" panose="020B0604020202020204" pitchFamily="34" charset="0"/>
              <a:buChar char="•"/>
            </a:pPr>
            <a:r>
              <a:rPr lang="pt-BR" sz="1800" dirty="0">
                <a:latin typeface="Cambria" panose="02040503050406030204" pitchFamily="18" charset="0"/>
              </a:rPr>
              <a:t>Escalabilidade e elasticidade rápida</a:t>
            </a:r>
          </a:p>
          <a:p>
            <a:pPr marL="533400" lvl="0" indent="-266700" algn="just">
              <a:buFont typeface="Wingdings" panose="05000000000000000000" pitchFamily="2" charset="2"/>
              <a:buChar char="§"/>
            </a:pPr>
            <a:r>
              <a:rPr lang="pt-BR" sz="1800" dirty="0">
                <a:latin typeface="Cambria" panose="02040503050406030204" pitchFamily="18" charset="0"/>
              </a:rPr>
              <a:t>As funcionalidades computacionais devem ser rápidas e elásticas, assim como rapidamente liberadas, podendo em alguns casos serem liberadas automaticamente caso haja necessidade devido a demanda</a:t>
            </a:r>
          </a:p>
          <a:p>
            <a:pPr lvl="0" algn="just"/>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pic>
        <p:nvPicPr>
          <p:cNvPr id="2050" name="Picture 2" descr="http://www.dsc.ufcg.edu.br/~pet/jornal/agosto2012/images/materias/historia_da_computacao/conexo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7381" y="603665"/>
            <a:ext cx="1923948" cy="1403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362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Modelos de Serviços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IaaS</a:t>
            </a:r>
            <a:r>
              <a:rPr lang="pt-BR" sz="1800" dirty="0">
                <a:latin typeface="Cambria" panose="02040503050406030204" pitchFamily="18" charset="0"/>
              </a:rPr>
              <a:t> – </a:t>
            </a:r>
            <a:r>
              <a:rPr lang="pt-BR" sz="1800" dirty="0" err="1">
                <a:latin typeface="Cambria" panose="02040503050406030204" pitchFamily="18" charset="0"/>
              </a:rPr>
              <a:t>Infrastructure</a:t>
            </a:r>
            <a:r>
              <a:rPr lang="pt-BR" sz="1800" dirty="0">
                <a:latin typeface="Cambria" panose="02040503050406030204" pitchFamily="18" charset="0"/>
              </a:rPr>
              <a:t> as a Service (Infraestrutura como Serviço)</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PaaS</a:t>
            </a:r>
            <a:r>
              <a:rPr lang="pt-BR" sz="1800" dirty="0">
                <a:latin typeface="Cambria" panose="02040503050406030204" pitchFamily="18" charset="0"/>
              </a:rPr>
              <a:t> – Platform as a Service (Plataforma como Serviço)</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SaaS – Software as a Service (Software como Serviço)</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DaaS</a:t>
            </a:r>
            <a:r>
              <a:rPr lang="pt-BR" sz="1800" dirty="0">
                <a:latin typeface="Cambria" panose="02040503050406030204" pitchFamily="18" charset="0"/>
              </a:rPr>
              <a:t>  - Desktop as a servisse (Desktop como Serviço)</a:t>
            </a:r>
          </a:p>
        </p:txBody>
      </p:sp>
    </p:spTree>
    <p:extLst>
      <p:ext uri="{BB962C8B-B14F-4D97-AF65-F5344CB8AC3E}">
        <p14:creationId xmlns:p14="http://schemas.microsoft.com/office/powerpoint/2010/main" val="439977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Modelos de Serviços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r>
              <a:rPr lang="pt-BR" sz="1800" dirty="0" err="1">
                <a:latin typeface="Cambria" panose="02040503050406030204" pitchFamily="18" charset="0"/>
              </a:rPr>
              <a:t>IaaS</a:t>
            </a:r>
            <a:r>
              <a:rPr lang="pt-BR" sz="1800" dirty="0">
                <a:latin typeface="Cambria" panose="02040503050406030204" pitchFamily="18" charset="0"/>
              </a:rPr>
              <a:t> – </a:t>
            </a:r>
            <a:r>
              <a:rPr lang="pt-BR" sz="1800" dirty="0" err="1">
                <a:latin typeface="Cambria" panose="02040503050406030204" pitchFamily="18" charset="0"/>
              </a:rPr>
              <a:t>Infrastructure</a:t>
            </a:r>
            <a:r>
              <a:rPr lang="pt-BR" sz="1800" dirty="0">
                <a:latin typeface="Cambria" panose="02040503050406030204" pitchFamily="18" charset="0"/>
              </a:rPr>
              <a:t> as a Service (Infraestrutura como Serviço)</a:t>
            </a:r>
          </a:p>
          <a:p>
            <a:pPr algn="just">
              <a:tabLst>
                <a:tab pos="266700" algn="l"/>
              </a:tabLst>
            </a:pPr>
            <a:r>
              <a:rPr lang="pt-BR" sz="1800" dirty="0">
                <a:latin typeface="Cambria" panose="02040503050406030204" pitchFamily="18" charset="0"/>
              </a:rPr>
              <a:t>	Consiste no fornecimento de infraestrutura de processamento, armazenamento, redes, entre outros [VERAS 2012]..</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66700" lvl="0" indent="-26670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2035092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Modelos de Serviços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PaaS</a:t>
            </a:r>
            <a:r>
              <a:rPr lang="pt-BR" sz="1800" dirty="0">
                <a:latin typeface="Cambria" panose="02040503050406030204" pitchFamily="18" charset="0"/>
              </a:rPr>
              <a:t> – Platform as a Service (Plataforma como Serviço)</a:t>
            </a:r>
          </a:p>
          <a:p>
            <a:pPr algn="just">
              <a:tabLst>
                <a:tab pos="266700" algn="l"/>
              </a:tabLst>
            </a:pPr>
            <a:r>
              <a:rPr lang="pt-BR" sz="1800" dirty="0">
                <a:latin typeface="Cambria" panose="02040503050406030204" pitchFamily="18" charset="0"/>
              </a:rPr>
              <a:t>	É a disponibilização de plataformas de desenvolvimento que facilitam a implantação de aplicações assim como o gerenciamento do hardware subjacente e das camadas de software [NOGUEIRA 2010].</a:t>
            </a:r>
          </a:p>
          <a:p>
            <a:pPr marL="266700" lvl="0" indent="-26670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637456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Modelos de Serviços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SaaS – Software as a Service (Software como Serviço)</a:t>
            </a:r>
          </a:p>
          <a:p>
            <a:pPr algn="just">
              <a:tabLst>
                <a:tab pos="266700" algn="l"/>
              </a:tabLst>
            </a:pPr>
            <a:r>
              <a:rPr lang="pt-BR" sz="1800" dirty="0">
                <a:latin typeface="Cambria" panose="02040503050406030204" pitchFamily="18" charset="0"/>
              </a:rPr>
              <a:t>	Um aplicativo pode ser utilizado por uma grande quantidade de usuários simultaneamente. Esse tipo de serviço é disponibilizado por provedores e acessado pelos usuários através de aplicações como o navegador [</a:t>
            </a:r>
            <a:r>
              <a:rPr lang="pt-BR" sz="1800" dirty="0" err="1">
                <a:latin typeface="Cambria" panose="02040503050406030204" pitchFamily="18" charset="0"/>
              </a:rPr>
              <a:t>Aulbach</a:t>
            </a:r>
            <a:r>
              <a:rPr lang="pt-BR" sz="1800" dirty="0">
                <a:latin typeface="Cambria" panose="02040503050406030204" pitchFamily="18" charset="0"/>
              </a:rPr>
              <a:t> 2009].</a:t>
            </a:r>
          </a:p>
          <a:p>
            <a:pPr marL="266700" lvl="0" indent="-26670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654241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Modelos de Serviços</a:t>
            </a:r>
            <a:endParaRPr sz="2900" i="1" dirty="0">
              <a:latin typeface="Cambria" panose="02040503050406030204" pitchFamily="18" charset="0"/>
            </a:endParaRPr>
          </a:p>
        </p:txBody>
      </p:sp>
      <p:sp>
        <p:nvSpPr>
          <p:cNvPr id="93" name="Shape 93"/>
          <p:cNvSpPr txBox="1"/>
          <p:nvPr/>
        </p:nvSpPr>
        <p:spPr>
          <a:xfrm>
            <a:off x="796413" y="2610464"/>
            <a:ext cx="7624916" cy="3601649"/>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DaaS</a:t>
            </a:r>
            <a:r>
              <a:rPr lang="pt-BR" sz="1800" dirty="0">
                <a:latin typeface="Cambria" panose="02040503050406030204" pitchFamily="18" charset="0"/>
              </a:rPr>
              <a:t> - Desktop as a Service (Desktop como Serviço)</a:t>
            </a:r>
          </a:p>
          <a:p>
            <a:pPr algn="just">
              <a:tabLst>
                <a:tab pos="266700" algn="l"/>
              </a:tabLst>
            </a:pPr>
            <a:r>
              <a:rPr lang="pt-BR" sz="1800" dirty="0">
                <a:latin typeface="Cambria" panose="02040503050406030204" pitchFamily="18" charset="0"/>
              </a:rPr>
              <a:t>	Diretamente associado a recursos de Virtualização de Desktops. Paralelo ao SaaS e ao </a:t>
            </a:r>
            <a:r>
              <a:rPr lang="pt-BR" sz="1800" dirty="0" err="1">
                <a:latin typeface="Cambria" panose="02040503050406030204" pitchFamily="18" charset="0"/>
              </a:rPr>
              <a:t>IaaS</a:t>
            </a:r>
            <a:r>
              <a:rPr lang="pt-BR" sz="1800" dirty="0">
                <a:latin typeface="Cambria" panose="02040503050406030204" pitchFamily="18" charset="0"/>
              </a:rPr>
              <a:t>, além da aquisição do software, adquire-se o hardware como serviço, pagando pela utilização ao invés de comprar ou alugar.</a:t>
            </a:r>
          </a:p>
          <a:p>
            <a:pPr algn="just">
              <a:tabLst>
                <a:tab pos="266700" algn="l"/>
              </a:tabLst>
            </a:pPr>
            <a:endParaRPr lang="pt-BR" sz="1800" dirty="0">
              <a:latin typeface="Cambria" panose="02040503050406030204" pitchFamily="18" charset="0"/>
            </a:endParaRPr>
          </a:p>
          <a:p>
            <a:pPr marL="285750" lvl="0" indent="-285750" algn="just">
              <a:buFont typeface="Arial" panose="020B0604020202020204" pitchFamily="34" charset="0"/>
              <a:buChar char="•"/>
              <a:tabLst>
                <a:tab pos="266700" algn="l"/>
              </a:tabLst>
            </a:pPr>
            <a:r>
              <a:rPr lang="pt-BR" sz="1800" dirty="0" err="1">
                <a:latin typeface="Cambria" panose="02040503050406030204" pitchFamily="18" charset="0"/>
              </a:rPr>
              <a:t>DaaS</a:t>
            </a:r>
            <a:r>
              <a:rPr lang="pt-BR" sz="1800" dirty="0">
                <a:latin typeface="Cambria" panose="02040503050406030204" pitchFamily="18" charset="0"/>
              </a:rPr>
              <a:t> - Data as a Service (Dados como Serviço)</a:t>
            </a:r>
          </a:p>
          <a:p>
            <a:pPr lvl="0" algn="just">
              <a:tabLst>
                <a:tab pos="266700" algn="l"/>
              </a:tabLst>
            </a:pPr>
            <a:r>
              <a:rPr lang="pt-BR" sz="1800" dirty="0">
                <a:latin typeface="Cambria" panose="02040503050406030204" pitchFamily="18" charset="0"/>
              </a:rPr>
              <a:t>	Sistemas  de Bancos de dados como Serviço</a:t>
            </a:r>
          </a:p>
          <a:p>
            <a:pPr algn="just">
              <a:tabLst>
                <a:tab pos="266700" algn="l"/>
              </a:tabLst>
            </a:pPr>
            <a:endParaRPr lang="pt-BR" sz="1800" dirty="0">
              <a:latin typeface="Cambria" panose="02040503050406030204" pitchFamily="18" charset="0"/>
            </a:endParaRPr>
          </a:p>
          <a:p>
            <a:pPr algn="just">
              <a:tabLst>
                <a:tab pos="266700" algn="l"/>
              </a:tabLst>
            </a:pPr>
            <a:r>
              <a:rPr lang="pt-BR" sz="1800" dirty="0">
                <a:latin typeface="Cambria" panose="02040503050406030204" pitchFamily="18" charset="0"/>
              </a:rPr>
              <a:t>	</a:t>
            </a:r>
            <a:r>
              <a:rPr lang="pt-BR" sz="1800" dirty="0" err="1">
                <a:latin typeface="Cambria" panose="02040503050406030204" pitchFamily="18" charset="0"/>
              </a:rPr>
              <a:t>MaaS</a:t>
            </a:r>
            <a:r>
              <a:rPr lang="pt-BR" sz="1800" dirty="0">
                <a:latin typeface="Cambria" panose="02040503050406030204" pitchFamily="18" charset="0"/>
              </a:rPr>
              <a:t> (Contratação de servidores inteiros ou invés de maquinas virtuais) </a:t>
            </a:r>
          </a:p>
          <a:p>
            <a:pPr algn="just">
              <a:tabLst>
                <a:tab pos="266700" algn="l"/>
              </a:tabLst>
            </a:pPr>
            <a:endParaRPr lang="pt-BR" sz="1800" dirty="0">
              <a:latin typeface="Cambria" panose="02040503050406030204" pitchFamily="18" charset="0"/>
            </a:endParaRPr>
          </a:p>
          <a:p>
            <a:pPr algn="just">
              <a:tabLst>
                <a:tab pos="266700" algn="l"/>
              </a:tabLst>
            </a:pPr>
            <a:r>
              <a:rPr lang="pt-BR" sz="1800" dirty="0">
                <a:latin typeface="Cambria" panose="02040503050406030204" pitchFamily="18" charset="0"/>
              </a:rPr>
              <a:t>	</a:t>
            </a:r>
            <a:r>
              <a:rPr lang="pt-BR" sz="1800" dirty="0" err="1">
                <a:latin typeface="Cambria" panose="02040503050406030204" pitchFamily="18" charset="0"/>
              </a:rPr>
              <a:t>DraaS</a:t>
            </a:r>
            <a:r>
              <a:rPr lang="pt-BR" sz="1800" dirty="0">
                <a:latin typeface="Cambria" panose="02040503050406030204" pitchFamily="18" charset="0"/>
              </a:rPr>
              <a:t> (Recuperação e desastres)</a:t>
            </a:r>
          </a:p>
          <a:p>
            <a:pPr algn="just">
              <a:tabLst>
                <a:tab pos="266700" algn="l"/>
              </a:tabLst>
            </a:pPr>
            <a:endParaRPr lang="pt-BR" sz="1800" b="1" dirty="0">
              <a:latin typeface="Cambria" panose="02040503050406030204" pitchFamily="18" charset="0"/>
            </a:endParaRPr>
          </a:p>
          <a:p>
            <a:pPr algn="just">
              <a:tabLst>
                <a:tab pos="266700" algn="l"/>
              </a:tabLst>
            </a:pPr>
            <a:endParaRPr lang="pt-BR" sz="1800" dirty="0">
              <a:latin typeface="Cambria" panose="02040503050406030204" pitchFamily="18" charset="0"/>
            </a:endParaRPr>
          </a:p>
          <a:p>
            <a:pPr marL="266700" lvl="0" indent="-26670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238000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Distribuição de papéis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pic>
        <p:nvPicPr>
          <p:cNvPr id="2" name="Imagem 1"/>
          <p:cNvPicPr>
            <a:picLocks noChangeAspect="1"/>
          </p:cNvPicPr>
          <p:nvPr/>
        </p:nvPicPr>
        <p:blipFill>
          <a:blip r:embed="rId4"/>
          <a:stretch>
            <a:fillRect/>
          </a:stretch>
        </p:blipFill>
        <p:spPr>
          <a:xfrm>
            <a:off x="1966451" y="2510625"/>
            <a:ext cx="5018549" cy="3321099"/>
          </a:xfrm>
          <a:prstGeom prst="rect">
            <a:avLst/>
          </a:prstGeom>
        </p:spPr>
      </p:pic>
    </p:spTree>
    <p:extLst>
      <p:ext uri="{BB962C8B-B14F-4D97-AF65-F5344CB8AC3E}">
        <p14:creationId xmlns:p14="http://schemas.microsoft.com/office/powerpoint/2010/main" val="1949319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Distribuição de papéis</a:t>
            </a:r>
          </a:p>
        </p:txBody>
      </p:sp>
      <p:pic>
        <p:nvPicPr>
          <p:cNvPr id="3074" name="Picture 2" descr="http://www.firstattribute.com/media/221632/cloud-software-comparison.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3639" y="2750164"/>
            <a:ext cx="5547223" cy="3698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146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Tipo de Implantação</a:t>
            </a:r>
            <a:endParaRPr sz="2900" i="1" dirty="0">
              <a:latin typeface="Cambria" panose="02040503050406030204" pitchFamily="18" charset="0"/>
            </a:endParaRPr>
          </a:p>
        </p:txBody>
      </p:sp>
      <p:sp>
        <p:nvSpPr>
          <p:cNvPr id="93" name="Shape 93"/>
          <p:cNvSpPr txBox="1"/>
          <p:nvPr/>
        </p:nvSpPr>
        <p:spPr>
          <a:xfrm>
            <a:off x="796413" y="2610465"/>
            <a:ext cx="7624916" cy="3616164"/>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r>
              <a:rPr lang="pt-BR" sz="1800" dirty="0">
                <a:latin typeface="Cambria" panose="02040503050406030204" pitchFamily="18" charset="0"/>
              </a:rPr>
              <a:t>Nuvem privada: Infraestrutura em nuvem operada e disponibilidade exclusivamente para uma organização. Seja ela implantada e hospedada internamente  ou por terceiros.</a:t>
            </a:r>
          </a:p>
          <a:p>
            <a:pPr marL="285750" indent="-285750" algn="just">
              <a:buFont typeface="Arial" panose="020B0604020202020204" pitchFamily="34" charset="0"/>
              <a:buChar char="•"/>
            </a:pPr>
            <a:endParaRPr lang="pt-BR" sz="1050" dirty="0">
              <a:latin typeface="Cambria" panose="02040503050406030204" pitchFamily="18" charset="0"/>
            </a:endParaRPr>
          </a:p>
          <a:p>
            <a:pPr marL="285750" indent="-285750" algn="just">
              <a:buFont typeface="Arial" panose="020B0604020202020204" pitchFamily="34" charset="0"/>
              <a:buChar char="•"/>
            </a:pPr>
            <a:r>
              <a:rPr lang="pt-BR" sz="1800" dirty="0">
                <a:latin typeface="Cambria" panose="02040503050406030204" pitchFamily="18" charset="0"/>
              </a:rPr>
              <a:t>Comunidade: Compartilhamento de infraestrutura em várias organizações com interesses em comum.</a:t>
            </a:r>
          </a:p>
          <a:p>
            <a:pPr marL="285750" lvl="0" indent="-285750" algn="just">
              <a:spcBef>
                <a:spcPts val="0"/>
              </a:spcBef>
              <a:buFont typeface="Arial" panose="020B0604020202020204" pitchFamily="34" charset="0"/>
              <a:buChar char="•"/>
            </a:pPr>
            <a:endParaRPr lang="pt-BR" sz="1100" dirty="0">
              <a:latin typeface="Cambria" panose="02040503050406030204" pitchFamily="18" charset="0"/>
            </a:endParaRP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Pública: Prestadores de serviços disponibilizam aplicativos, recursos de armazenamento e outros recursos ao público geral de forma gratuita.</a:t>
            </a:r>
          </a:p>
          <a:p>
            <a:pPr marL="285750" lvl="0" indent="-285750" algn="just">
              <a:spcBef>
                <a:spcPts val="0"/>
              </a:spcBef>
              <a:buFont typeface="Arial" panose="020B0604020202020204" pitchFamily="34" charset="0"/>
              <a:buChar char="•"/>
            </a:pPr>
            <a:endParaRPr lang="pt-BR" sz="1200" dirty="0">
              <a:latin typeface="Cambria" panose="02040503050406030204" pitchFamily="18" charset="0"/>
            </a:endParaRPr>
          </a:p>
          <a:p>
            <a:pPr marL="285750" indent="-285750" algn="just">
              <a:buFont typeface="Arial" panose="020B0604020202020204" pitchFamily="34" charset="0"/>
              <a:buChar char="•"/>
            </a:pPr>
            <a:r>
              <a:rPr lang="pt-BR" sz="1800" dirty="0">
                <a:latin typeface="Cambria" panose="02040503050406030204" pitchFamily="18" charset="0"/>
              </a:rPr>
              <a:t>Híbrida: É uma composição de duas ou mais nuvens que podem ser comunidade pública ou privada oferecendo os benefícios dos modelos de implantação.</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251325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Vantagens</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Diminuição de recursos de máquina.</a:t>
            </a:r>
          </a:p>
          <a:p>
            <a:pPr marL="285750" lvl="0" indent="-285750" algn="just">
              <a:buFont typeface="Arial" panose="020B0604020202020204" pitchFamily="34" charset="0"/>
              <a:buChar char="•"/>
            </a:pPr>
            <a:r>
              <a:rPr lang="pt-BR" sz="1800" dirty="0">
                <a:latin typeface="Cambria" panose="02040503050406030204" pitchFamily="18" charset="0"/>
              </a:rPr>
              <a:t>Mobilidade - Acesso a dados de diferentes equipamentos e em diferentes locais, apenas conectado à internet.</a:t>
            </a:r>
          </a:p>
          <a:p>
            <a:pPr marL="285750" lvl="0" indent="-285750" algn="just">
              <a:buFont typeface="Arial" panose="020B0604020202020204" pitchFamily="34" charset="0"/>
              <a:buChar char="•"/>
            </a:pPr>
            <a:r>
              <a:rPr lang="pt-BR" sz="1800" dirty="0">
                <a:latin typeface="Cambria" panose="02040503050406030204" pitchFamily="18" charset="0"/>
              </a:rPr>
              <a:t>Diminuição de custos com pessoal, energia, servidores ou datacenters, implantação, manutenção e treinamento</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Controle sob demanda</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Seja global;</a:t>
            </a: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162103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Desvantagens ( e ou desconfiança)</a:t>
            </a:r>
            <a:endParaRPr sz="2900" i="1" dirty="0">
              <a:latin typeface="Cambria" panose="02040503050406030204" pitchFamily="18" charset="0"/>
            </a:endParaRPr>
          </a:p>
        </p:txBody>
      </p:sp>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Provedores de nuvens inadequados</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Garantia de segurança</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Quem tem a informação? Privacidade</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Internet (Estável e rápida)</a:t>
            </a:r>
          </a:p>
          <a:p>
            <a:pPr marL="285750" lvl="0" indent="-285750" algn="just">
              <a:spcBef>
                <a:spcPts val="0"/>
              </a:spcBef>
              <a:buFont typeface="Arial" panose="020B0604020202020204" pitchFamily="34" charset="0"/>
              <a:buChar char="•"/>
            </a:pPr>
            <a:r>
              <a:rPr lang="pt-BR" sz="1800" dirty="0">
                <a:latin typeface="Cambria" panose="02040503050406030204" pitchFamily="18" charset="0"/>
              </a:rPr>
              <a:t>Não acessíveis </a:t>
            </a:r>
            <a:r>
              <a:rPr lang="pt-BR" sz="1800" dirty="0" err="1">
                <a:latin typeface="Cambria" panose="02040503050406030204" pitchFamily="18" charset="0"/>
              </a:rPr>
              <a:t>offline</a:t>
            </a: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Custo</a:t>
            </a:r>
          </a:p>
        </p:txBody>
      </p:sp>
    </p:spTree>
    <p:extLst>
      <p:ext uri="{BB962C8B-B14F-4D97-AF65-F5344CB8AC3E}">
        <p14:creationId xmlns:p14="http://schemas.microsoft.com/office/powerpoint/2010/main" val="3719268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3" name="Shape 93"/>
          <p:cNvSpPr txBox="1"/>
          <p:nvPr/>
        </p:nvSpPr>
        <p:spPr>
          <a:xfrm>
            <a:off x="796413" y="2610465"/>
            <a:ext cx="7624916" cy="323396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spcBef>
                <a:spcPts val="0"/>
              </a:spcBef>
              <a:buFont typeface="Arial" panose="020B0604020202020204" pitchFamily="34" charset="0"/>
              <a:buChar char="•"/>
            </a:pPr>
            <a:endParaRPr lang="pt-BR" sz="1800" dirty="0">
              <a:latin typeface="Cambria" panose="02040503050406030204" pitchFamily="18" charset="0"/>
            </a:endParaRPr>
          </a:p>
        </p:txBody>
      </p:sp>
      <p:sp>
        <p:nvSpPr>
          <p:cNvPr id="92" name="Shape 92"/>
          <p:cNvSpPr txBox="1"/>
          <p:nvPr/>
        </p:nvSpPr>
        <p:spPr>
          <a:xfrm>
            <a:off x="796413" y="2610465"/>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p>
          <a:p>
            <a:pPr lvl="0"/>
            <a:r>
              <a:rPr lang="pt-BR" sz="2900" i="1" dirty="0">
                <a:latin typeface="Cambria" panose="02040503050406030204" pitchFamily="18" charset="0"/>
              </a:rPr>
              <a:t>Bancos de Dados</a:t>
            </a:r>
            <a:endParaRPr sz="2900" i="1" dirty="0">
              <a:latin typeface="Cambria" panose="02040503050406030204" pitchFamily="18" charset="0"/>
            </a:endParaRPr>
          </a:p>
        </p:txBody>
      </p:sp>
    </p:spTree>
    <p:extLst>
      <p:ext uri="{BB962C8B-B14F-4D97-AF65-F5344CB8AC3E}">
        <p14:creationId xmlns:p14="http://schemas.microsoft.com/office/powerpoint/2010/main" val="1105581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Gerenciamento de dados</a:t>
            </a:r>
            <a:endParaRPr sz="2900" i="1" dirty="0">
              <a:latin typeface="Cambria" panose="02040503050406030204" pitchFamily="18" charset="0"/>
            </a:endParaRPr>
          </a:p>
        </p:txBody>
      </p:sp>
      <p:sp>
        <p:nvSpPr>
          <p:cNvPr id="93" name="Shape 93"/>
          <p:cNvSpPr txBox="1"/>
          <p:nvPr/>
        </p:nvSpPr>
        <p:spPr>
          <a:xfrm>
            <a:off x="796413" y="2610465"/>
            <a:ext cx="7624916" cy="3659706"/>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endParaRPr lang="pt-BR" sz="1800" dirty="0">
              <a:latin typeface="Cambria" panose="02040503050406030204" pitchFamily="18" charset="0"/>
            </a:endParaRPr>
          </a:p>
          <a:p>
            <a:pPr lvl="0" algn="just"/>
            <a:r>
              <a:rPr lang="pt-BR" sz="1800" dirty="0">
                <a:latin typeface="Cambria" panose="02040503050406030204" pitchFamily="18" charset="0"/>
              </a:rPr>
              <a:t>Vantagens:</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(i) previsibilidade e custos mais baixos, proporcional à qualidade do serviço (</a:t>
            </a:r>
            <a:r>
              <a:rPr lang="pt-BR" sz="1800" dirty="0" err="1">
                <a:latin typeface="Cambria" panose="02040503050406030204" pitchFamily="18" charset="0"/>
              </a:rPr>
              <a:t>QoS</a:t>
            </a:r>
            <a:r>
              <a:rPr lang="pt-BR" sz="1800" dirty="0">
                <a:latin typeface="Cambria" panose="02040503050406030204" pitchFamily="18" charset="0"/>
              </a:rPr>
              <a:t>) e cargas de trabalho reais, </a:t>
            </a:r>
          </a:p>
          <a:p>
            <a:pPr marL="285750" lvl="0" indent="-285750" algn="just">
              <a:buFont typeface="Arial" panose="020B0604020202020204" pitchFamily="34" charset="0"/>
              <a:buChar char="•"/>
            </a:pPr>
            <a:r>
              <a:rPr lang="pt-BR" sz="1800" dirty="0">
                <a:latin typeface="Cambria" panose="02040503050406030204" pitchFamily="18" charset="0"/>
              </a:rPr>
              <a:t>(</a:t>
            </a:r>
            <a:r>
              <a:rPr lang="pt-BR" sz="1800" dirty="0" err="1">
                <a:latin typeface="Cambria" panose="02040503050406030204" pitchFamily="18" charset="0"/>
              </a:rPr>
              <a:t>ii</a:t>
            </a:r>
            <a:r>
              <a:rPr lang="pt-BR" sz="1800" dirty="0">
                <a:latin typeface="Cambria" panose="02040503050406030204" pitchFamily="18" charset="0"/>
              </a:rPr>
              <a:t>) complexidade técnica reduzida, graças a interfaces de acesso unificado e a delegação de </a:t>
            </a:r>
            <a:r>
              <a:rPr lang="pt-BR" sz="1800" dirty="0" err="1">
                <a:latin typeface="Cambria" panose="02040503050406030204" pitchFamily="18" charset="0"/>
              </a:rPr>
              <a:t>tuning</a:t>
            </a:r>
            <a:r>
              <a:rPr lang="pt-BR" sz="1800" dirty="0">
                <a:latin typeface="Cambria" panose="02040503050406030204" pitchFamily="18" charset="0"/>
              </a:rPr>
              <a:t> e administração de </a:t>
            </a:r>
            <a:r>
              <a:rPr lang="pt-BR" sz="1800" dirty="0" err="1">
                <a:latin typeface="Cambria" panose="02040503050406030204" pitchFamily="18" charset="0"/>
              </a:rPr>
              <a:t>SGBDs</a:t>
            </a:r>
            <a:r>
              <a:rPr lang="pt-BR" sz="1800" dirty="0">
                <a:latin typeface="Cambria" panose="02040503050406030204" pitchFamily="18" charset="0"/>
              </a:rPr>
              <a:t> e </a:t>
            </a:r>
          </a:p>
          <a:p>
            <a:pPr marL="285750" lvl="0" indent="-285750" algn="just">
              <a:buFont typeface="Arial" panose="020B0604020202020204" pitchFamily="34" charset="0"/>
              <a:buChar char="•"/>
            </a:pPr>
            <a:r>
              <a:rPr lang="pt-BR" sz="1800" dirty="0">
                <a:latin typeface="Cambria" panose="02040503050406030204" pitchFamily="18" charset="0"/>
              </a:rPr>
              <a:t>(</a:t>
            </a:r>
            <a:r>
              <a:rPr lang="pt-BR" sz="1800" dirty="0" err="1">
                <a:latin typeface="Cambria" panose="02040503050406030204" pitchFamily="18" charset="0"/>
              </a:rPr>
              <a:t>iii</a:t>
            </a:r>
            <a:r>
              <a:rPr lang="pt-BR" sz="1800" dirty="0">
                <a:latin typeface="Cambria" panose="02040503050406030204" pitchFamily="18" charset="0"/>
              </a:rPr>
              <a:t>) a elasticidade e escalabilidade, proporcionando a percepção de recursos quase infinitos. </a:t>
            </a:r>
            <a:r>
              <a:rPr lang="pt-BR" sz="1800" dirty="0"/>
              <a:t>[</a:t>
            </a:r>
            <a:r>
              <a:rPr lang="pt-BR" sz="1800" dirty="0" err="1"/>
              <a:t>Curino</a:t>
            </a:r>
            <a:r>
              <a:rPr lang="pt-BR" sz="1800" dirty="0"/>
              <a:t> et al. 2010]</a:t>
            </a: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667377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a:t>
            </a:r>
            <a:endParaRPr sz="2900" i="1" dirty="0">
              <a:latin typeface="Cambria" panose="02040503050406030204" pitchFamily="18" charset="0"/>
            </a:endParaRPr>
          </a:p>
        </p:txBody>
      </p:sp>
      <p:sp>
        <p:nvSpPr>
          <p:cNvPr id="93" name="Shape 93"/>
          <p:cNvSpPr txBox="1"/>
          <p:nvPr/>
        </p:nvSpPr>
        <p:spPr>
          <a:xfrm>
            <a:off x="796413" y="2610465"/>
            <a:ext cx="7624916" cy="3659706"/>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Por outro lado, o provedor tem que garantir </a:t>
            </a:r>
          </a:p>
          <a:p>
            <a:pPr marL="285750" lvl="0" indent="-285750" algn="just">
              <a:buFont typeface="Arial" panose="020B0604020202020204" pitchFamily="34" charset="0"/>
              <a:buChar char="•"/>
            </a:pPr>
            <a:r>
              <a:rPr lang="pt-BR" sz="1800" dirty="0">
                <a:latin typeface="Cambria" panose="02040503050406030204" pitchFamily="18" charset="0"/>
              </a:rPr>
              <a:t>(i) a ilusão de recursos infinitos, sob cargas de trabalho dinâmicas e </a:t>
            </a:r>
          </a:p>
          <a:p>
            <a:pPr marL="285750" lvl="0" indent="-285750" algn="just">
              <a:buFont typeface="Arial" panose="020B0604020202020204" pitchFamily="34" charset="0"/>
              <a:buChar char="•"/>
            </a:pPr>
            <a:r>
              <a:rPr lang="pt-BR" sz="1800" dirty="0">
                <a:latin typeface="Cambria" panose="02040503050406030204" pitchFamily="18" charset="0"/>
              </a:rPr>
              <a:t>(</a:t>
            </a:r>
            <a:r>
              <a:rPr lang="pt-BR" sz="1800" dirty="0" err="1">
                <a:latin typeface="Cambria" panose="02040503050406030204" pitchFamily="18" charset="0"/>
              </a:rPr>
              <a:t>ii</a:t>
            </a:r>
            <a:r>
              <a:rPr lang="pt-BR" sz="1800" dirty="0">
                <a:latin typeface="Cambria" panose="02040503050406030204" pitchFamily="18" charset="0"/>
              </a:rPr>
              <a:t>) minimizar os custos operacionais associados a cada usuário [</a:t>
            </a:r>
            <a:r>
              <a:rPr lang="pt-BR" sz="1800" dirty="0" err="1">
                <a:latin typeface="Cambria" panose="02040503050406030204" pitchFamily="18" charset="0"/>
              </a:rPr>
              <a:t>Curino</a:t>
            </a:r>
            <a:r>
              <a:rPr lang="pt-BR" sz="1800" dirty="0">
                <a:latin typeface="Cambria" panose="02040503050406030204" pitchFamily="18" charset="0"/>
              </a:rPr>
              <a:t> et al. 2010]</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2583797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Requisitos</a:t>
            </a:r>
            <a:endParaRPr sz="2900" i="1" dirty="0">
              <a:latin typeface="Cambria" panose="02040503050406030204" pitchFamily="18" charset="0"/>
            </a:endParaRPr>
          </a:p>
        </p:txBody>
      </p:sp>
      <p:sp>
        <p:nvSpPr>
          <p:cNvPr id="93" name="Shape 93"/>
          <p:cNvSpPr txBox="1"/>
          <p:nvPr/>
        </p:nvSpPr>
        <p:spPr>
          <a:xfrm>
            <a:off x="796413" y="2610465"/>
            <a:ext cx="7624916" cy="3659706"/>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Wingdings" panose="05000000000000000000" pitchFamily="2" charset="2"/>
              <a:buChar char="§"/>
            </a:pPr>
            <a:endParaRPr lang="pt-BR" sz="1800" dirty="0">
              <a:latin typeface="Cambria" panose="02040503050406030204" pitchFamily="18" charset="0"/>
            </a:endParaRPr>
          </a:p>
          <a:p>
            <a:pPr marL="285750" lvl="0" indent="-285750" algn="just">
              <a:buFont typeface="Wingdings" panose="05000000000000000000" pitchFamily="2" charset="2"/>
              <a:buChar char="§"/>
            </a:pPr>
            <a:endParaRPr lang="pt-BR" sz="1800" dirty="0">
              <a:latin typeface="Cambria" panose="02040503050406030204" pitchFamily="18" charset="0"/>
            </a:endParaRPr>
          </a:p>
          <a:p>
            <a:pPr marL="285750" lvl="0" indent="-285750" algn="just">
              <a:buFont typeface="Wingdings" panose="05000000000000000000" pitchFamily="2" charset="2"/>
              <a:buChar char="§"/>
            </a:pPr>
            <a:r>
              <a:rPr lang="pt-BR" sz="1800" dirty="0">
                <a:latin typeface="Cambria" panose="02040503050406030204" pitchFamily="18" charset="0"/>
              </a:rPr>
              <a:t>API simples com pouca configuração e administração</a:t>
            </a:r>
          </a:p>
          <a:p>
            <a:pPr marL="285750" lvl="0" indent="-285750" algn="just">
              <a:buFont typeface="Wingdings" panose="05000000000000000000" pitchFamily="2" charset="2"/>
              <a:buChar char="§"/>
            </a:pPr>
            <a:r>
              <a:rPr lang="pt-BR" sz="1800" dirty="0">
                <a:latin typeface="Cambria" panose="02040503050406030204" pitchFamily="18" charset="0"/>
              </a:rPr>
              <a:t>Alto desempenho</a:t>
            </a:r>
          </a:p>
          <a:p>
            <a:pPr marL="285750" lvl="0" indent="-285750" algn="just">
              <a:buFont typeface="Wingdings" panose="05000000000000000000" pitchFamily="2" charset="2"/>
              <a:buChar char="§"/>
            </a:pPr>
            <a:r>
              <a:rPr lang="pt-BR" sz="1800" dirty="0">
                <a:latin typeface="Cambria" panose="02040503050406030204" pitchFamily="18" charset="0"/>
              </a:rPr>
              <a:t>Alta disponibilidade e confiança</a:t>
            </a:r>
          </a:p>
          <a:p>
            <a:pPr marL="285750" lvl="0" indent="-285750" algn="just">
              <a:buFont typeface="Wingdings" panose="05000000000000000000" pitchFamily="2" charset="2"/>
              <a:buChar char="§"/>
            </a:pPr>
            <a:r>
              <a:rPr lang="pt-BR" sz="1800" dirty="0">
                <a:latin typeface="Cambria" panose="02040503050406030204" pitchFamily="18" charset="0"/>
              </a:rPr>
              <a:t>Acesso fácil à características avançadas </a:t>
            </a:r>
          </a:p>
          <a:p>
            <a:pPr marL="285750" lvl="0" indent="-285750" algn="just">
              <a:buFont typeface="Wingdings" panose="05000000000000000000" pitchFamily="2" charset="2"/>
              <a:buChar char="§"/>
            </a:pPr>
            <a:r>
              <a:rPr lang="pt-BR" sz="1800" dirty="0">
                <a:latin typeface="Cambria" panose="02040503050406030204" pitchFamily="18" charset="0"/>
              </a:rPr>
              <a:t>Limitar hardware e custo de energia </a:t>
            </a:r>
          </a:p>
          <a:p>
            <a:pPr marL="285750" lvl="0" indent="-285750" algn="just">
              <a:buFont typeface="Wingdings" panose="05000000000000000000" pitchFamily="2" charset="2"/>
              <a:buChar char="§"/>
            </a:pPr>
            <a:r>
              <a:rPr lang="pt-BR" sz="1800" dirty="0">
                <a:latin typeface="Cambria" panose="02040503050406030204" pitchFamily="18" charset="0"/>
              </a:rPr>
              <a:t>Limitar custo de administração (ex. custo com pessoal) </a:t>
            </a:r>
          </a:p>
          <a:p>
            <a:pPr marL="285750" lvl="0" indent="-285750" algn="just">
              <a:buFont typeface="Wingdings" panose="05000000000000000000" pitchFamily="2" charset="2"/>
              <a:buChar char="§"/>
            </a:pPr>
            <a:r>
              <a:rPr lang="pt-BR" sz="1800" dirty="0">
                <a:latin typeface="Cambria" panose="02040503050406030204" pitchFamily="18" charset="0"/>
              </a:rPr>
              <a:t>Esquema de preço: barato, previsível e proporcional ao uso (elasticidade) </a:t>
            </a:r>
          </a:p>
          <a:p>
            <a:pPr marL="285750" lvl="0" indent="-285750" algn="just">
              <a:buFont typeface="Wingdings" panose="05000000000000000000" pitchFamily="2" charset="2"/>
              <a:buChar char="§"/>
            </a:pPr>
            <a:r>
              <a:rPr lang="pt-BR" sz="1800" dirty="0">
                <a:latin typeface="Cambria" panose="02040503050406030204" pitchFamily="18" charset="0"/>
              </a:rPr>
              <a:t>Garantias de segurança e privacidade </a:t>
            </a:r>
          </a:p>
          <a:p>
            <a:pPr marL="285750" lvl="0" indent="-285750" algn="just">
              <a:buFont typeface="Wingdings" panose="05000000000000000000" pitchFamily="2" charset="2"/>
              <a:buChar char="§"/>
            </a:pPr>
            <a:r>
              <a:rPr lang="pt-BR" sz="1800" dirty="0">
                <a:latin typeface="Cambria" panose="02040503050406030204" pitchFamily="18" charset="0"/>
              </a:rPr>
              <a:t>Baixa latência</a:t>
            </a: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461955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a:t>
            </a:r>
            <a:r>
              <a:rPr lang="pt-BR" sz="2900" i="1" dirty="0" err="1">
                <a:latin typeface="Cambria" panose="02040503050406030204" pitchFamily="18" charset="0"/>
              </a:rPr>
              <a:t>DaaS</a:t>
            </a:r>
            <a:endParaRPr sz="2900" i="1" dirty="0">
              <a:latin typeface="Cambria" panose="02040503050406030204" pitchFamily="18" charset="0"/>
            </a:endParaRPr>
          </a:p>
        </p:txBody>
      </p:sp>
      <p:sp>
        <p:nvSpPr>
          <p:cNvPr id="93" name="Shape 93"/>
          <p:cNvSpPr txBox="1"/>
          <p:nvPr/>
        </p:nvSpPr>
        <p:spPr>
          <a:xfrm>
            <a:off x="796412" y="2610465"/>
            <a:ext cx="4617417" cy="3659706"/>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r>
              <a:rPr lang="pt-BR" sz="1800" dirty="0">
                <a:latin typeface="Cambria" panose="02040503050406030204" pitchFamily="18" charset="0"/>
              </a:rPr>
              <a:t>Devido as necessidades de segurança, gerenciamento de recursos compartilhados e a extensibilidade.</a:t>
            </a:r>
          </a:p>
          <a:p>
            <a:pPr lvl="0" algn="just"/>
            <a:endParaRPr lang="pt-BR" sz="700" dirty="0">
              <a:latin typeface="Cambria" panose="02040503050406030204" pitchFamily="18" charset="0"/>
            </a:endParaRPr>
          </a:p>
          <a:p>
            <a:pPr lvl="0"/>
            <a:r>
              <a:rPr lang="pt-BR" sz="1800" dirty="0">
                <a:latin typeface="Cambria" panose="02040503050406030204" pitchFamily="18" charset="0"/>
              </a:rPr>
              <a:t>Surge o </a:t>
            </a:r>
            <a:r>
              <a:rPr lang="pt-BR" sz="1800" dirty="0" err="1">
                <a:latin typeface="Cambria" panose="02040503050406030204" pitchFamily="18" charset="0"/>
              </a:rPr>
              <a:t>DaaS</a:t>
            </a:r>
            <a:r>
              <a:rPr lang="pt-BR" sz="1800" dirty="0">
                <a:latin typeface="Cambria" panose="02040503050406030204" pitchFamily="18" charset="0"/>
              </a:rPr>
              <a:t> como plataforma que hospedada bancos de dados e fornece como serviço.</a:t>
            </a:r>
          </a:p>
          <a:p>
            <a:pPr lvl="0"/>
            <a:endParaRPr lang="pt-BR" sz="105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Multi-inquilino</a:t>
            </a: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Instâncias independentes</a:t>
            </a:r>
          </a:p>
          <a:p>
            <a:pPr marL="285750" lvl="0" indent="-285750">
              <a:buFont typeface="Arial" panose="020B0604020202020204" pitchFamily="34" charset="0"/>
              <a:buChar char="•"/>
            </a:pPr>
            <a:r>
              <a:rPr lang="pt-BR" sz="1800" dirty="0">
                <a:latin typeface="Cambria" panose="02040503050406030204" pitchFamily="18" charset="0"/>
              </a:rPr>
              <a:t>Tabelas independentes e banco compartilhados</a:t>
            </a:r>
          </a:p>
          <a:p>
            <a:pPr marL="285750" lvl="0" indent="-285750" algn="just">
              <a:buFont typeface="Arial" panose="020B0604020202020204" pitchFamily="34" charset="0"/>
              <a:buChar char="•"/>
            </a:pPr>
            <a:r>
              <a:rPr lang="pt-BR" sz="1800" dirty="0">
                <a:latin typeface="Cambria" panose="02040503050406030204" pitchFamily="18" charset="0"/>
              </a:rPr>
              <a:t>Tabelas compartilhas</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pic>
        <p:nvPicPr>
          <p:cNvPr id="2" name="Imagem 1"/>
          <p:cNvPicPr>
            <a:picLocks noChangeAspect="1"/>
          </p:cNvPicPr>
          <p:nvPr/>
        </p:nvPicPr>
        <p:blipFill>
          <a:blip r:embed="rId4"/>
          <a:stretch>
            <a:fillRect/>
          </a:stretch>
        </p:blipFill>
        <p:spPr>
          <a:xfrm>
            <a:off x="5227995" y="2721737"/>
            <a:ext cx="3503050" cy="3437162"/>
          </a:xfrm>
          <a:prstGeom prst="rect">
            <a:avLst/>
          </a:prstGeom>
        </p:spPr>
      </p:pic>
    </p:spTree>
    <p:extLst>
      <p:ext uri="{BB962C8B-B14F-4D97-AF65-F5344CB8AC3E}">
        <p14:creationId xmlns:p14="http://schemas.microsoft.com/office/powerpoint/2010/main" val="2257944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Características</a:t>
            </a:r>
            <a:endParaRPr sz="2900" i="1" dirty="0">
              <a:latin typeface="Cambria" panose="02040503050406030204" pitchFamily="18" charset="0"/>
            </a:endParaRPr>
          </a:p>
        </p:txBody>
      </p:sp>
      <p:pic>
        <p:nvPicPr>
          <p:cNvPr id="2" name="Imagem 1"/>
          <p:cNvPicPr>
            <a:picLocks noChangeAspect="1"/>
          </p:cNvPicPr>
          <p:nvPr/>
        </p:nvPicPr>
        <p:blipFill>
          <a:blip r:embed="rId4"/>
          <a:stretch>
            <a:fillRect/>
          </a:stretch>
        </p:blipFill>
        <p:spPr>
          <a:xfrm>
            <a:off x="683717" y="2699498"/>
            <a:ext cx="7634373" cy="2931054"/>
          </a:xfrm>
          <a:prstGeom prst="rect">
            <a:avLst/>
          </a:prstGeom>
        </p:spPr>
      </p:pic>
    </p:spTree>
    <p:extLst>
      <p:ext uri="{BB962C8B-B14F-4D97-AF65-F5344CB8AC3E}">
        <p14:creationId xmlns:p14="http://schemas.microsoft.com/office/powerpoint/2010/main" val="2080629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a:t>
            </a:r>
            <a:endParaRPr sz="2900" i="1" dirty="0">
              <a:latin typeface="Cambria" panose="02040503050406030204" pitchFamily="18" charset="0"/>
            </a:endParaRPr>
          </a:p>
        </p:txBody>
      </p:sp>
      <p:pic>
        <p:nvPicPr>
          <p:cNvPr id="2" name="Imagem 1"/>
          <p:cNvPicPr>
            <a:picLocks noChangeAspect="1"/>
          </p:cNvPicPr>
          <p:nvPr/>
        </p:nvPicPr>
        <p:blipFill>
          <a:blip r:embed="rId4"/>
          <a:stretch>
            <a:fillRect/>
          </a:stretch>
        </p:blipFill>
        <p:spPr>
          <a:xfrm>
            <a:off x="1769806" y="2481943"/>
            <a:ext cx="5320545" cy="3788228"/>
          </a:xfrm>
          <a:prstGeom prst="rect">
            <a:avLst/>
          </a:prstGeom>
        </p:spPr>
      </p:pic>
    </p:spTree>
    <p:extLst>
      <p:ext uri="{BB962C8B-B14F-4D97-AF65-F5344CB8AC3E}">
        <p14:creationId xmlns:p14="http://schemas.microsoft.com/office/powerpoint/2010/main" val="1713196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494970"/>
            <a:ext cx="7521677" cy="111549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r>
              <a:rPr lang="pt-BR" sz="2900" i="1" dirty="0">
                <a:latin typeface="Cambria" panose="02040503050406030204" pitchFamily="18" charset="0"/>
              </a:rPr>
              <a:t>Bancos de Dados - Microsoft SQL </a:t>
            </a:r>
            <a:r>
              <a:rPr lang="pt-BR" sz="2900" i="1" dirty="0" err="1">
                <a:latin typeface="Cambria" panose="02040503050406030204" pitchFamily="18" charset="0"/>
              </a:rPr>
              <a:t>Azure</a:t>
            </a:r>
            <a:endParaRPr lang="pt-BR" sz="2900" i="1" dirty="0">
              <a:latin typeface="Cambria" panose="02040503050406030204" pitchFamily="18" charset="0"/>
            </a:endParaRPr>
          </a:p>
        </p:txBody>
      </p:sp>
      <p:sp>
        <p:nvSpPr>
          <p:cNvPr id="93" name="Shape 93"/>
          <p:cNvSpPr txBox="1"/>
          <p:nvPr/>
        </p:nvSpPr>
        <p:spPr>
          <a:xfrm>
            <a:off x="796413" y="2610466"/>
            <a:ext cx="7624916" cy="3659705"/>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O Microsoft SQL </a:t>
            </a:r>
            <a:r>
              <a:rPr lang="pt-BR" sz="1800" dirty="0" err="1">
                <a:latin typeface="Cambria" panose="02040503050406030204" pitchFamily="18" charset="0"/>
              </a:rPr>
              <a:t>Azure</a:t>
            </a:r>
            <a:r>
              <a:rPr lang="pt-BR" sz="1800" dirty="0">
                <a:latin typeface="Cambria" panose="02040503050406030204" pitchFamily="18" charset="0"/>
              </a:rPr>
              <a:t> é composto por um conjunto de serviços para o armazenamento e processamento de dados em nuvem [</a:t>
            </a:r>
            <a:r>
              <a:rPr lang="pt-BR" sz="1800" dirty="0" err="1">
                <a:latin typeface="Cambria" panose="02040503050406030204" pitchFamily="18" charset="0"/>
              </a:rPr>
              <a:t>Azure</a:t>
            </a:r>
            <a:r>
              <a:rPr lang="pt-BR" sz="1800" dirty="0">
                <a:latin typeface="Cambria" panose="02040503050406030204" pitchFamily="18" charset="0"/>
              </a:rPr>
              <a:t> 2011].</a:t>
            </a: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O SQL </a:t>
            </a:r>
            <a:r>
              <a:rPr lang="pt-BR" sz="1800" dirty="0" err="1">
                <a:latin typeface="Cambria" panose="02040503050406030204" pitchFamily="18" charset="0"/>
              </a:rPr>
              <a:t>Azure</a:t>
            </a:r>
            <a:r>
              <a:rPr lang="pt-BR" sz="1800" dirty="0">
                <a:latin typeface="Cambria" panose="02040503050406030204" pitchFamily="18" charset="0"/>
              </a:rPr>
              <a:t> juntamente com o Windows </a:t>
            </a:r>
            <a:r>
              <a:rPr lang="pt-BR" sz="1800" dirty="0" err="1">
                <a:latin typeface="Cambria" panose="02040503050406030204" pitchFamily="18" charset="0"/>
              </a:rPr>
              <a:t>Azure</a:t>
            </a:r>
            <a:r>
              <a:rPr lang="pt-BR" sz="1800" dirty="0">
                <a:latin typeface="Cambria" panose="02040503050406030204" pitchFamily="18" charset="0"/>
              </a:rPr>
              <a:t> </a:t>
            </a:r>
            <a:r>
              <a:rPr lang="pt-BR" sz="1800" dirty="0" err="1">
                <a:latin typeface="Cambria" panose="02040503050406030204" pitchFamily="18" charset="0"/>
              </a:rPr>
              <a:t>Storage</a:t>
            </a:r>
            <a:r>
              <a:rPr lang="pt-BR" sz="1800" dirty="0">
                <a:latin typeface="Cambria" panose="02040503050406030204" pitchFamily="18" charset="0"/>
              </a:rPr>
              <a:t> compõem a solução de gerenciamento de dados em nuvem da Microsoft.</a:t>
            </a: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303464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465942"/>
            <a:ext cx="7521677" cy="1144523"/>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r>
              <a:rPr lang="pt-BR" sz="2900" i="1" dirty="0">
                <a:latin typeface="Cambria" panose="02040503050406030204" pitchFamily="18" charset="0"/>
              </a:rPr>
              <a:t>Bancos de Dados - Microsoft SQL </a:t>
            </a:r>
            <a:r>
              <a:rPr lang="pt-BR" sz="2900" i="1" dirty="0" err="1">
                <a:latin typeface="Cambria" panose="02040503050406030204" pitchFamily="18" charset="0"/>
              </a:rPr>
              <a:t>Azure</a:t>
            </a:r>
            <a:endParaRPr lang="pt-BR" sz="2900" i="1" dirty="0">
              <a:latin typeface="Cambria" panose="02040503050406030204" pitchFamily="18" charset="0"/>
            </a:endParaRPr>
          </a:p>
        </p:txBody>
      </p:sp>
      <p:sp>
        <p:nvSpPr>
          <p:cNvPr id="93" name="Shape 93"/>
          <p:cNvSpPr txBox="1"/>
          <p:nvPr/>
        </p:nvSpPr>
        <p:spPr>
          <a:xfrm>
            <a:off x="796413" y="2714171"/>
            <a:ext cx="7624916" cy="355600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O Windows </a:t>
            </a:r>
            <a:r>
              <a:rPr lang="pt-BR" sz="1800" dirty="0" err="1">
                <a:latin typeface="Cambria" panose="02040503050406030204" pitchFamily="18" charset="0"/>
              </a:rPr>
              <a:t>Azure</a:t>
            </a:r>
            <a:r>
              <a:rPr lang="pt-BR" sz="1800" dirty="0">
                <a:latin typeface="Cambria" panose="02040503050406030204" pitchFamily="18" charset="0"/>
              </a:rPr>
              <a:t> </a:t>
            </a:r>
            <a:r>
              <a:rPr lang="pt-BR" sz="1800" dirty="0" err="1">
                <a:latin typeface="Cambria" panose="02040503050406030204" pitchFamily="18" charset="0"/>
              </a:rPr>
              <a:t>Storage</a:t>
            </a:r>
            <a:r>
              <a:rPr lang="pt-BR" sz="1800" dirty="0">
                <a:latin typeface="Cambria" panose="02040503050406030204" pitchFamily="18" charset="0"/>
              </a:rPr>
              <a:t> inclui armazenamento persistente por meio de </a:t>
            </a:r>
            <a:r>
              <a:rPr lang="pt-BR" sz="1800" dirty="0" err="1">
                <a:latin typeface="Cambria" panose="02040503050406030204" pitchFamily="18" charset="0"/>
              </a:rPr>
              <a:t>blobs</a:t>
            </a:r>
            <a:r>
              <a:rPr lang="pt-BR" sz="1800" dirty="0">
                <a:latin typeface="Cambria" panose="02040503050406030204" pitchFamily="18" charset="0"/>
              </a:rPr>
              <a:t>, </a:t>
            </a:r>
            <a:r>
              <a:rPr lang="pt-BR" sz="1800" dirty="0" err="1">
                <a:latin typeface="Cambria" panose="02040503050406030204" pitchFamily="18" charset="0"/>
              </a:rPr>
              <a:t>tables</a:t>
            </a:r>
            <a:r>
              <a:rPr lang="pt-BR" sz="1800" dirty="0">
                <a:latin typeface="Cambria" panose="02040503050406030204" pitchFamily="18" charset="0"/>
              </a:rPr>
              <a:t> e filas. Um </a:t>
            </a:r>
            <a:r>
              <a:rPr lang="pt-BR" sz="1800" dirty="0" err="1">
                <a:latin typeface="Cambria" panose="02040503050406030204" pitchFamily="18" charset="0"/>
              </a:rPr>
              <a:t>blob</a:t>
            </a:r>
            <a:r>
              <a:rPr lang="pt-BR" sz="1800" dirty="0">
                <a:latin typeface="Cambria" panose="02040503050406030204" pitchFamily="18" charset="0"/>
              </a:rPr>
              <a:t> é um par nome, objeto que permite armazenar objetos de até 50 GB.</a:t>
            </a:r>
          </a:p>
          <a:p>
            <a:pPr lvl="0" algn="just"/>
            <a:endParaRPr lang="pt-BR" sz="1800" dirty="0">
              <a:latin typeface="Cambria" panose="02040503050406030204" pitchFamily="18" charset="0"/>
            </a:endParaRPr>
          </a:p>
          <a:p>
            <a:pPr lvl="0" algn="just"/>
            <a:r>
              <a:rPr lang="pt-BR" sz="1800" dirty="0" err="1">
                <a:latin typeface="Cambria" panose="02040503050406030204" pitchFamily="18" charset="0"/>
              </a:rPr>
              <a:t>Tables</a:t>
            </a:r>
            <a:r>
              <a:rPr lang="pt-BR" sz="1800" dirty="0">
                <a:latin typeface="Cambria" panose="02040503050406030204" pitchFamily="18" charset="0"/>
              </a:rPr>
              <a:t> são diferentes das tabelas relacionais e são compostas de entidades. Elas não são acessadas usando a linguagem SQL, mas por serviços de dados. Já as filas fornecem um serviço de troca de mensagens persistentes e confiável</a:t>
            </a: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1212502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465942"/>
            <a:ext cx="7521677" cy="1144523"/>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r>
              <a:rPr lang="pt-BR" sz="2900" i="1" dirty="0">
                <a:latin typeface="Cambria" panose="02040503050406030204" pitchFamily="18" charset="0"/>
              </a:rPr>
              <a:t>Bancos de Dados - Microsoft SQL </a:t>
            </a:r>
            <a:r>
              <a:rPr lang="pt-BR" sz="2900" i="1" dirty="0" err="1">
                <a:latin typeface="Cambria" panose="02040503050406030204" pitchFamily="18" charset="0"/>
              </a:rPr>
              <a:t>Azure</a:t>
            </a:r>
            <a:endParaRPr lang="pt-BR" sz="2900" i="1" dirty="0">
              <a:latin typeface="Cambria" panose="02040503050406030204" pitchFamily="18" charset="0"/>
            </a:endParaRPr>
          </a:p>
        </p:txBody>
      </p:sp>
      <p:sp>
        <p:nvSpPr>
          <p:cNvPr id="93" name="Shape 93"/>
          <p:cNvSpPr txBox="1"/>
          <p:nvPr/>
        </p:nvSpPr>
        <p:spPr>
          <a:xfrm>
            <a:off x="796413" y="2714171"/>
            <a:ext cx="7624916" cy="3556000"/>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O SQL </a:t>
            </a:r>
            <a:r>
              <a:rPr lang="pt-BR" sz="1800" dirty="0" err="1">
                <a:latin typeface="Cambria" panose="02040503050406030204" pitchFamily="18" charset="0"/>
              </a:rPr>
              <a:t>Azure</a:t>
            </a:r>
            <a:r>
              <a:rPr lang="pt-BR" sz="1800" dirty="0">
                <a:latin typeface="Cambria" panose="02040503050406030204" pitchFamily="18" charset="0"/>
              </a:rPr>
              <a:t> </a:t>
            </a:r>
            <a:r>
              <a:rPr lang="pt-BR" sz="1800" dirty="0" err="1">
                <a:latin typeface="Cambria" panose="02040503050406030204" pitchFamily="18" charset="0"/>
              </a:rPr>
              <a:t>Database</a:t>
            </a:r>
            <a:r>
              <a:rPr lang="pt-BR" sz="1800" dirty="0">
                <a:latin typeface="Cambria" panose="02040503050406030204" pitchFamily="18" charset="0"/>
              </a:rPr>
              <a:t> (SAD) é o principal componente do SQL </a:t>
            </a:r>
            <a:r>
              <a:rPr lang="pt-BR" sz="1800" dirty="0" err="1">
                <a:latin typeface="Cambria" panose="02040503050406030204" pitchFamily="18" charset="0"/>
              </a:rPr>
              <a:t>Azure</a:t>
            </a:r>
            <a:r>
              <a:rPr lang="pt-BR" sz="1800" dirty="0">
                <a:latin typeface="Cambria" panose="02040503050406030204" pitchFamily="18" charset="0"/>
              </a:rPr>
              <a:t> e foi construído com base na tecnologia do SGBD relacional SQL Server, suporta os principais comandos da linguagem </a:t>
            </a:r>
            <a:r>
              <a:rPr lang="pt-BR" sz="1800" dirty="0" err="1">
                <a:latin typeface="Cambria" panose="02040503050406030204" pitchFamily="18" charset="0"/>
              </a:rPr>
              <a:t>Transact</a:t>
            </a:r>
            <a:r>
              <a:rPr lang="pt-BR" sz="1800" dirty="0">
                <a:latin typeface="Cambria" panose="02040503050406030204" pitchFamily="18" charset="0"/>
              </a:rPr>
              <a:t>-SQL (T-SQL)</a:t>
            </a: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No SQL </a:t>
            </a:r>
            <a:r>
              <a:rPr lang="pt-BR" sz="1800" dirty="0" err="1">
                <a:latin typeface="Cambria" panose="02040503050406030204" pitchFamily="18" charset="0"/>
              </a:rPr>
              <a:t>Azure</a:t>
            </a:r>
            <a:r>
              <a:rPr lang="pt-BR" sz="1800" dirty="0">
                <a:latin typeface="Cambria" panose="02040503050406030204" pitchFamily="18" charset="0"/>
              </a:rPr>
              <a:t> </a:t>
            </a:r>
            <a:r>
              <a:rPr lang="pt-BR" sz="1800" dirty="0" err="1">
                <a:latin typeface="Cambria" panose="02040503050406030204" pitchFamily="18" charset="0"/>
              </a:rPr>
              <a:t>Database</a:t>
            </a:r>
            <a:r>
              <a:rPr lang="pt-BR" sz="1800" dirty="0">
                <a:latin typeface="Cambria" panose="02040503050406030204" pitchFamily="18" charset="0"/>
              </a:rPr>
              <a:t>, um banco de dados individual possui um tamanho limitado a 50 GB.</a:t>
            </a:r>
          </a:p>
          <a:p>
            <a:pPr lvl="0" algn="just"/>
            <a:endParaRPr lang="pt-BR" sz="1800" dirty="0">
              <a:latin typeface="Cambria" panose="02040503050406030204" pitchFamily="18" charset="0"/>
            </a:endParaRPr>
          </a:p>
          <a:p>
            <a:pPr lvl="0" algn="just"/>
            <a:r>
              <a:rPr lang="pt-BR" sz="1800" dirty="0">
                <a:latin typeface="Cambria" panose="02040503050406030204" pitchFamily="18" charset="0"/>
              </a:rPr>
              <a:t>Caso necessite de mais dados, deve ser realizada uma fragmentação dos dados de forma manual.</a:t>
            </a: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983449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14514"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Destaques</a:t>
            </a:r>
            <a:endParaRPr sz="2900" i="1" dirty="0">
              <a:latin typeface="Cambria" panose="02040503050406030204" pitchFamily="18" charset="0"/>
            </a:endParaRPr>
          </a:p>
        </p:txBody>
      </p:sp>
      <p:sp>
        <p:nvSpPr>
          <p:cNvPr id="93" name="Shape 93"/>
          <p:cNvSpPr txBox="1"/>
          <p:nvPr/>
        </p:nvSpPr>
        <p:spPr>
          <a:xfrm>
            <a:off x="796413" y="2525486"/>
            <a:ext cx="7624916" cy="3744685"/>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lvl="0" algn="just"/>
            <a:r>
              <a:rPr lang="pt-BR" sz="1800" dirty="0">
                <a:latin typeface="Cambria" panose="02040503050406030204" pitchFamily="18" charset="0"/>
              </a:rPr>
              <a:t>Outros serviços</a:t>
            </a:r>
          </a:p>
          <a:p>
            <a:pPr marL="285750" lvl="0" indent="-285750" algn="just">
              <a:buFont typeface="Wingdings" panose="05000000000000000000" pitchFamily="2" charset="2"/>
              <a:buChar char="§"/>
            </a:pPr>
            <a:r>
              <a:rPr lang="pt-BR" sz="1800" dirty="0" err="1">
                <a:latin typeface="Cambria" panose="02040503050406030204" pitchFamily="18" charset="0"/>
              </a:rPr>
              <a:t>Bigdata</a:t>
            </a:r>
            <a:r>
              <a:rPr lang="pt-BR" sz="1800" dirty="0">
                <a:latin typeface="Cambria" panose="02040503050406030204" pitchFamily="18" charset="0"/>
              </a:rPr>
              <a:t> da IBM</a:t>
            </a:r>
          </a:p>
          <a:p>
            <a:pPr marL="285750" indent="-285750" algn="just">
              <a:buFont typeface="Wingdings" panose="05000000000000000000" pitchFamily="2" charset="2"/>
              <a:buChar char="§"/>
            </a:pPr>
            <a:r>
              <a:rPr lang="pt-BR" sz="1800" dirty="0">
                <a:latin typeface="Cambria" panose="02040503050406030204" pitchFamily="18" charset="0"/>
              </a:rPr>
              <a:t>IBM </a:t>
            </a:r>
            <a:r>
              <a:rPr lang="pt-BR" sz="1800" dirty="0" err="1">
                <a:latin typeface="Cambria" panose="02040503050406030204" pitchFamily="18" charset="0"/>
              </a:rPr>
              <a:t>Warehouse</a:t>
            </a:r>
            <a:endParaRPr lang="pt-BR" sz="1800" dirty="0">
              <a:latin typeface="Cambria" panose="02040503050406030204" pitchFamily="18" charset="0"/>
            </a:endParaRPr>
          </a:p>
          <a:p>
            <a:pPr marL="285750" indent="-285750" algn="just">
              <a:buFont typeface="Wingdings" panose="05000000000000000000" pitchFamily="2" charset="2"/>
              <a:buChar char="§"/>
            </a:pPr>
            <a:r>
              <a:rPr lang="pt-BR" sz="1800" dirty="0" err="1">
                <a:latin typeface="Cambria" panose="02040503050406030204" pitchFamily="18" charset="0"/>
              </a:rPr>
              <a:t>Amazon</a:t>
            </a:r>
            <a:r>
              <a:rPr lang="pt-BR" sz="1800" dirty="0">
                <a:latin typeface="Cambria" panose="02040503050406030204" pitchFamily="18" charset="0"/>
              </a:rPr>
              <a:t> RDS</a:t>
            </a:r>
          </a:p>
          <a:p>
            <a:pPr marL="285750" indent="-285750" algn="just">
              <a:buFont typeface="Wingdings" panose="05000000000000000000" pitchFamily="2" charset="2"/>
              <a:buChar char="§"/>
            </a:pPr>
            <a:r>
              <a:rPr lang="pt-BR" sz="1800" dirty="0" err="1">
                <a:latin typeface="Cambria" panose="02040503050406030204" pitchFamily="18" charset="0"/>
              </a:rPr>
              <a:t>Amazon</a:t>
            </a:r>
            <a:r>
              <a:rPr lang="pt-BR" sz="1800" dirty="0">
                <a:latin typeface="Cambria" panose="02040503050406030204" pitchFamily="18" charset="0"/>
              </a:rPr>
              <a:t> </a:t>
            </a:r>
            <a:r>
              <a:rPr lang="pt-BR" sz="1800" dirty="0" err="1">
                <a:latin typeface="Cambria" panose="02040503050406030204" pitchFamily="18" charset="0"/>
              </a:rPr>
              <a:t>Redshift</a:t>
            </a:r>
            <a:r>
              <a:rPr lang="pt-BR" sz="1800" dirty="0">
                <a:latin typeface="Cambria" panose="02040503050406030204" pitchFamily="18" charset="0"/>
              </a:rPr>
              <a:t> Data </a:t>
            </a:r>
            <a:r>
              <a:rPr lang="pt-BR" sz="1800" dirty="0" err="1">
                <a:latin typeface="Cambria" panose="02040503050406030204" pitchFamily="18" charset="0"/>
              </a:rPr>
              <a:t>Warehouse</a:t>
            </a:r>
            <a:r>
              <a:rPr lang="pt-BR" sz="1800" dirty="0">
                <a:latin typeface="Cambria" panose="02040503050406030204" pitchFamily="18" charset="0"/>
              </a:rPr>
              <a:t>	</a:t>
            </a:r>
          </a:p>
          <a:p>
            <a:pPr marL="285750" lvl="0" indent="-285750" algn="just">
              <a:buFont typeface="Wingdings" panose="05000000000000000000" pitchFamily="2" charset="2"/>
              <a:buChar char="§"/>
            </a:pPr>
            <a:r>
              <a:rPr lang="pt-BR" sz="1800" dirty="0">
                <a:latin typeface="Cambria" panose="02040503050406030204" pitchFamily="18" charset="0"/>
              </a:rPr>
              <a:t>Microsoft SQL Data </a:t>
            </a:r>
            <a:r>
              <a:rPr lang="pt-BR" sz="1800" dirty="0" err="1">
                <a:latin typeface="Cambria" panose="02040503050406030204" pitchFamily="18" charset="0"/>
              </a:rPr>
              <a:t>Warehouse</a:t>
            </a:r>
            <a:endParaRPr lang="pt-BR" sz="1800" dirty="0">
              <a:latin typeface="Cambria" panose="02040503050406030204" pitchFamily="18" charset="0"/>
            </a:endParaRPr>
          </a:p>
          <a:p>
            <a:pPr marL="285750" indent="-285750" algn="just">
              <a:buFont typeface="Wingdings" panose="05000000000000000000" pitchFamily="2" charset="2"/>
              <a:buChar char="§"/>
            </a:pPr>
            <a:r>
              <a:rPr lang="pt-BR" sz="1800" dirty="0">
                <a:latin typeface="Cambria" panose="02040503050406030204" pitchFamily="18" charset="0"/>
              </a:rPr>
              <a:t>Microsoft SQL Server Web</a:t>
            </a:r>
          </a:p>
          <a:p>
            <a:pPr marL="285750" indent="-285750" algn="just">
              <a:buFont typeface="Wingdings" panose="05000000000000000000" pitchFamily="2" charset="2"/>
              <a:buChar char="§"/>
            </a:pPr>
            <a:r>
              <a:rPr lang="pt-BR" sz="1800" dirty="0" err="1">
                <a:latin typeface="Cambria" panose="02040503050406030204" pitchFamily="18" charset="0"/>
              </a:rPr>
              <a:t>DynamoDB</a:t>
            </a:r>
            <a:endParaRPr lang="pt-BR" sz="1800" dirty="0">
              <a:latin typeface="Cambria" panose="02040503050406030204" pitchFamily="18" charset="0"/>
            </a:endParaRPr>
          </a:p>
          <a:p>
            <a:pPr marL="285750" indent="-285750" algn="just">
              <a:buFont typeface="Wingdings" panose="05000000000000000000" pitchFamily="2" charset="2"/>
              <a:buChar char="§"/>
            </a:pPr>
            <a:r>
              <a:rPr lang="pt-BR" sz="1800" dirty="0">
                <a:latin typeface="Cambria" panose="02040503050406030204" pitchFamily="18" charset="0"/>
              </a:rPr>
              <a:t>Cassandra</a:t>
            </a:r>
          </a:p>
          <a:p>
            <a:pPr marL="285750" indent="-285750" algn="just">
              <a:buFont typeface="Wingdings" panose="05000000000000000000" pitchFamily="2" charset="2"/>
              <a:buChar char="§"/>
            </a:pPr>
            <a:r>
              <a:rPr lang="pt-BR" sz="1800" dirty="0" err="1">
                <a:latin typeface="Cambria" panose="02040503050406030204" pitchFamily="18" charset="0"/>
              </a:rPr>
              <a:t>MongoDB</a:t>
            </a:r>
            <a:endParaRPr lang="pt-BR" sz="1800" dirty="0">
              <a:latin typeface="Cambria" panose="02040503050406030204" pitchFamily="18" charset="0"/>
            </a:endParaRPr>
          </a:p>
          <a:p>
            <a:pPr marL="285750" indent="-285750" algn="just">
              <a:buFont typeface="Wingdings" panose="05000000000000000000" pitchFamily="2" charset="2"/>
              <a:buChar char="§"/>
            </a:pPr>
            <a:r>
              <a:rPr lang="pt-BR" sz="1800" dirty="0">
                <a:latin typeface="Cambria" panose="02040503050406030204" pitchFamily="18" charset="0"/>
              </a:rPr>
              <a:t>Oracle </a:t>
            </a:r>
            <a:r>
              <a:rPr lang="pt-BR" sz="1800" dirty="0" err="1">
                <a:latin typeface="Cambria" panose="02040503050406030204" pitchFamily="18" charset="0"/>
              </a:rPr>
              <a:t>DaaS</a:t>
            </a:r>
            <a:endParaRPr lang="pt-BR" sz="1800" dirty="0">
              <a:latin typeface="Cambria" panose="02040503050406030204" pitchFamily="18" charset="0"/>
            </a:endParaRPr>
          </a:p>
          <a:p>
            <a:pPr marL="285750" lvl="0" indent="-285750" algn="just">
              <a:buFont typeface="Wingdings" panose="05000000000000000000" pitchFamily="2" charset="2"/>
              <a:buChar char="§"/>
            </a:pPr>
            <a:r>
              <a:rPr lang="pt-BR" sz="1800" dirty="0">
                <a:latin typeface="Cambria" panose="02040503050406030204" pitchFamily="18" charset="0"/>
              </a:rPr>
              <a:t>Google </a:t>
            </a:r>
            <a:r>
              <a:rPr lang="pt-BR" sz="1800" dirty="0" err="1">
                <a:latin typeface="Cambria" panose="02040503050406030204" pitchFamily="18" charset="0"/>
              </a:rPr>
              <a:t>Bigtable</a:t>
            </a:r>
            <a:r>
              <a:rPr lang="pt-BR" sz="1800" dirty="0">
                <a:latin typeface="Cambria" panose="02040503050406030204" pitchFamily="18" charset="0"/>
              </a:rPr>
              <a:t>, </a:t>
            </a:r>
            <a:r>
              <a:rPr lang="pt-BR" sz="1800" dirty="0" err="1">
                <a:latin typeface="Cambria" panose="02040503050406030204" pitchFamily="18" charset="0"/>
              </a:rPr>
              <a:t>Bigquery</a:t>
            </a:r>
            <a:r>
              <a:rPr lang="pt-BR" sz="1800" dirty="0">
                <a:latin typeface="Cambria" panose="02040503050406030204" pitchFamily="18" charset="0"/>
              </a:rPr>
              <a:t> e </a:t>
            </a:r>
            <a:r>
              <a:rPr lang="pt-BR" sz="1800" dirty="0" err="1">
                <a:latin typeface="Cambria" panose="02040503050406030204" pitchFamily="18" charset="0"/>
              </a:rPr>
              <a:t>Dataflow</a:t>
            </a:r>
            <a:endParaRPr lang="pt-BR" sz="1800" dirty="0">
              <a:latin typeface="Cambria" panose="02040503050406030204" pitchFamily="18" charset="0"/>
            </a:endParaRPr>
          </a:p>
          <a:p>
            <a:pPr marL="285750" lvl="0" indent="-285750" algn="just">
              <a:buFont typeface="Wingdings" panose="05000000000000000000" pitchFamily="2" charset="2"/>
              <a:buChar char="§"/>
            </a:pPr>
            <a:r>
              <a:rPr lang="pt-BR" sz="1800" dirty="0">
                <a:latin typeface="Cambria" panose="02040503050406030204" pitchFamily="18" charset="0"/>
              </a:rPr>
              <a:t>Google </a:t>
            </a:r>
            <a:r>
              <a:rPr lang="pt-BR" sz="1800" dirty="0" err="1">
                <a:latin typeface="Cambria" panose="02040503050406030204" pitchFamily="18" charset="0"/>
              </a:rPr>
              <a:t>Cloud</a:t>
            </a:r>
            <a:r>
              <a:rPr lang="pt-BR" sz="1800" dirty="0">
                <a:latin typeface="Cambria" panose="02040503050406030204" pitchFamily="18" charset="0"/>
              </a:rPr>
              <a:t> </a:t>
            </a:r>
            <a:r>
              <a:rPr lang="pt-BR" sz="1800" dirty="0" err="1">
                <a:latin typeface="Cambria" panose="02040503050406030204" pitchFamily="18" charset="0"/>
              </a:rPr>
              <a:t>Datastore</a:t>
            </a:r>
            <a:endParaRPr lang="pt-BR" sz="1800" dirty="0">
              <a:latin typeface="Cambria" panose="02040503050406030204" pitchFamily="18" charset="0"/>
            </a:endParaRPr>
          </a:p>
          <a:p>
            <a:pPr marL="285750" lvl="0" indent="-285750" algn="just">
              <a:buFont typeface="Wingdings" panose="05000000000000000000" pitchFamily="2" charset="2"/>
              <a:buChar char="§"/>
            </a:pPr>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218286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14514" y="0"/>
            <a:ext cx="9144000" cy="6858000"/>
          </a:xfrm>
          <a:prstGeom prst="rect">
            <a:avLst/>
          </a:prstGeom>
          <a:noFill/>
          <a:ln>
            <a:noFill/>
          </a:ln>
        </p:spPr>
      </p:pic>
      <p:sp>
        <p:nvSpPr>
          <p:cNvPr id="92" name="Shape 92"/>
          <p:cNvSpPr txBox="1"/>
          <p:nvPr/>
        </p:nvSpPr>
        <p:spPr>
          <a:xfrm>
            <a:off x="796413" y="1554560"/>
            <a:ext cx="7521677" cy="1055905"/>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Computação</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em</a:t>
            </a:r>
            <a:r>
              <a:rPr lang="en-US" sz="2900" b="1" dirty="0">
                <a:solidFill>
                  <a:schemeClr val="dk1"/>
                </a:solidFill>
                <a:latin typeface="Cambria" panose="02040503050406030204" pitchFamily="18" charset="0"/>
                <a:ea typeface="Cambria"/>
                <a:cs typeface="Cambria"/>
                <a:sym typeface="Cambria"/>
              </a:rPr>
              <a:t> </a:t>
            </a:r>
            <a:r>
              <a:rPr lang="en-US" sz="2900" b="1" dirty="0" err="1">
                <a:solidFill>
                  <a:schemeClr val="dk1"/>
                </a:solidFill>
                <a:latin typeface="Cambria" panose="02040503050406030204" pitchFamily="18" charset="0"/>
                <a:ea typeface="Cambria"/>
                <a:cs typeface="Cambria"/>
                <a:sym typeface="Cambria"/>
              </a:rPr>
              <a:t>Nuvem</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Destaques</a:t>
            </a:r>
            <a:endParaRPr sz="2900" i="1" dirty="0">
              <a:latin typeface="Cambria" panose="02040503050406030204" pitchFamily="18" charset="0"/>
            </a:endParaRPr>
          </a:p>
        </p:txBody>
      </p:sp>
      <p:sp>
        <p:nvSpPr>
          <p:cNvPr id="93" name="Shape 93"/>
          <p:cNvSpPr txBox="1"/>
          <p:nvPr/>
        </p:nvSpPr>
        <p:spPr>
          <a:xfrm>
            <a:off x="796413" y="2525486"/>
            <a:ext cx="7624916" cy="3744685"/>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Wingdings" panose="05000000000000000000" pitchFamily="2" charset="2"/>
              <a:buChar char="§"/>
            </a:pPr>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lvl="0" algn="just"/>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2126152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Shape 9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2" name="Shape 92"/>
          <p:cNvSpPr txBox="1"/>
          <p:nvPr/>
        </p:nvSpPr>
        <p:spPr>
          <a:xfrm>
            <a:off x="796413" y="1103086"/>
            <a:ext cx="7521677" cy="1507379"/>
          </a:xfrm>
          <a:prstGeom prst="rect">
            <a:avLst/>
          </a:prstGeom>
          <a:noFill/>
          <a:ln>
            <a:noFill/>
          </a:ln>
        </p:spPr>
        <p:txBody>
          <a:bodyPr lIns="91425" tIns="91425" rIns="91425" bIns="91425" anchor="t" anchorCtr="0">
            <a:noAutofit/>
          </a:bodyPr>
          <a:lstStyle/>
          <a:p>
            <a:pPr lvl="0" rtl="0">
              <a:spcBef>
                <a:spcPts val="0"/>
              </a:spcBef>
              <a:buNone/>
            </a:pPr>
            <a:r>
              <a:rPr lang="en-US" sz="2900" b="1" dirty="0" err="1">
                <a:solidFill>
                  <a:schemeClr val="dk1"/>
                </a:solidFill>
                <a:latin typeface="Cambria" panose="02040503050406030204" pitchFamily="18" charset="0"/>
                <a:ea typeface="Cambria"/>
                <a:cs typeface="Cambria"/>
                <a:sym typeface="Cambria"/>
              </a:rPr>
              <a:t>Referências</a:t>
            </a:r>
            <a:endParaRPr lang="en-US" sz="2900" b="1" dirty="0">
              <a:solidFill>
                <a:schemeClr val="dk1"/>
              </a:solidFill>
              <a:latin typeface="Cambria" panose="02040503050406030204" pitchFamily="18" charset="0"/>
              <a:ea typeface="Cambria"/>
              <a:cs typeface="Cambria"/>
              <a:sym typeface="Cambria"/>
            </a:endParaRPr>
          </a:p>
          <a:p>
            <a:pPr lvl="0"/>
            <a:r>
              <a:rPr lang="pt-BR" sz="2900" i="1" dirty="0">
                <a:latin typeface="Cambria" panose="02040503050406030204" pitchFamily="18" charset="0"/>
              </a:rPr>
              <a:t>Bancos de Dados - Vantagens</a:t>
            </a:r>
            <a:endParaRPr sz="2900" i="1" dirty="0">
              <a:latin typeface="Cambria" panose="02040503050406030204" pitchFamily="18" charset="0"/>
            </a:endParaRPr>
          </a:p>
        </p:txBody>
      </p:sp>
      <p:sp>
        <p:nvSpPr>
          <p:cNvPr id="93" name="Shape 93"/>
          <p:cNvSpPr txBox="1"/>
          <p:nvPr/>
        </p:nvSpPr>
        <p:spPr>
          <a:xfrm>
            <a:off x="796413" y="2061029"/>
            <a:ext cx="7624916" cy="4209142"/>
          </a:xfrm>
          <a:prstGeom prst="rect">
            <a:avLst/>
          </a:prstGeom>
          <a:noFill/>
          <a:ln cap="rnd">
            <a:gradFill>
              <a:gsLst>
                <a:gs pos="0">
                  <a:schemeClr val="accent1">
                    <a:lumMod val="50000"/>
                  </a:scheme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lIns="91425" tIns="91425" rIns="91425" bIns="91425" anchor="t" anchorCtr="0">
            <a:noAutofit/>
          </a:bodyPr>
          <a:lstStyle/>
          <a:p>
            <a:pPr marL="285750" lvl="0" indent="-285750" algn="just">
              <a:buFont typeface="Arial" panose="020B0604020202020204" pitchFamily="34" charset="0"/>
              <a:buChar char="•"/>
            </a:pPr>
            <a:r>
              <a:rPr lang="pt-BR" sz="1800" dirty="0">
                <a:latin typeface="Cambria" panose="02040503050406030204" pitchFamily="18" charset="0"/>
              </a:rPr>
              <a:t>Nogueira, Matheus Cadori1; PEZZI, Daniel da Cunha (2010) “A Computação Agora é nas Nuvens” Universidade de Cruz Alta (UNICRUZ) – Cruz Alta, RS – Brasil. </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Aulbach</a:t>
            </a:r>
            <a:r>
              <a:rPr lang="pt-BR" sz="1800" dirty="0">
                <a:latin typeface="Cambria" panose="02040503050406030204" pitchFamily="18" charset="0"/>
              </a:rPr>
              <a:t>, Stefan; JACOBS, Dean; KEMPER, </a:t>
            </a:r>
            <a:r>
              <a:rPr lang="pt-BR" sz="1800" dirty="0" err="1">
                <a:latin typeface="Cambria" panose="02040503050406030204" pitchFamily="18" charset="0"/>
              </a:rPr>
              <a:t>Alfons</a:t>
            </a:r>
            <a:r>
              <a:rPr lang="pt-BR" sz="1800" dirty="0">
                <a:latin typeface="Cambria" panose="02040503050406030204" pitchFamily="18" charset="0"/>
              </a:rPr>
              <a:t>; et al. (2009) “A </a:t>
            </a:r>
            <a:r>
              <a:rPr lang="pt-BR" sz="1800" dirty="0" err="1">
                <a:latin typeface="Cambria" panose="02040503050406030204" pitchFamily="18" charset="0"/>
              </a:rPr>
              <a:t>Comparison</a:t>
            </a:r>
            <a:r>
              <a:rPr lang="pt-BR" sz="1800" dirty="0">
                <a:latin typeface="Cambria" panose="02040503050406030204" pitchFamily="18" charset="0"/>
              </a:rPr>
              <a:t> </a:t>
            </a:r>
            <a:r>
              <a:rPr lang="pt-BR" sz="1800" dirty="0" err="1">
                <a:latin typeface="Cambria" panose="02040503050406030204" pitchFamily="18" charset="0"/>
              </a:rPr>
              <a:t>of</a:t>
            </a:r>
            <a:r>
              <a:rPr lang="pt-BR" sz="1800" dirty="0">
                <a:latin typeface="Cambria" panose="02040503050406030204" pitchFamily="18" charset="0"/>
              </a:rPr>
              <a:t> </a:t>
            </a:r>
            <a:r>
              <a:rPr lang="pt-BR" sz="1800" dirty="0" err="1">
                <a:latin typeface="Cambria" panose="02040503050406030204" pitchFamily="18" charset="0"/>
              </a:rPr>
              <a:t>Flexible</a:t>
            </a:r>
            <a:r>
              <a:rPr lang="pt-BR" sz="1800" dirty="0">
                <a:latin typeface="Cambria" panose="02040503050406030204" pitchFamily="18" charset="0"/>
              </a:rPr>
              <a:t> </a:t>
            </a:r>
            <a:r>
              <a:rPr lang="pt-BR" sz="1800" dirty="0" err="1">
                <a:latin typeface="Cambria" panose="02040503050406030204" pitchFamily="18" charset="0"/>
              </a:rPr>
              <a:t>Schemas</a:t>
            </a:r>
            <a:r>
              <a:rPr lang="pt-BR" sz="1800" dirty="0">
                <a:latin typeface="Cambria" panose="02040503050406030204" pitchFamily="18" charset="0"/>
              </a:rPr>
              <a:t> for Software as a Service.” 35th SIGMOD - </a:t>
            </a:r>
            <a:r>
              <a:rPr lang="pt-BR" sz="1800" dirty="0" err="1">
                <a:latin typeface="Cambria" panose="02040503050406030204" pitchFamily="18" charset="0"/>
              </a:rPr>
              <a:t>International</a:t>
            </a:r>
            <a:r>
              <a:rPr lang="pt-BR" sz="1800" dirty="0">
                <a:latin typeface="Cambria" panose="02040503050406030204" pitchFamily="18" charset="0"/>
              </a:rPr>
              <a:t> </a:t>
            </a:r>
            <a:r>
              <a:rPr lang="pt-BR" sz="1800" dirty="0" err="1">
                <a:latin typeface="Cambria" panose="02040503050406030204" pitchFamily="18" charset="0"/>
              </a:rPr>
              <a:t>Conference</a:t>
            </a:r>
            <a:r>
              <a:rPr lang="pt-BR" sz="1800" dirty="0">
                <a:latin typeface="Cambria" panose="02040503050406030204" pitchFamily="18" charset="0"/>
              </a:rPr>
              <a:t> </a:t>
            </a:r>
            <a:r>
              <a:rPr lang="pt-BR" sz="1800" dirty="0" err="1">
                <a:latin typeface="Cambria" panose="02040503050406030204" pitchFamily="18" charset="0"/>
              </a:rPr>
              <a:t>on</a:t>
            </a:r>
            <a:r>
              <a:rPr lang="pt-BR" sz="1800" dirty="0">
                <a:latin typeface="Cambria" panose="02040503050406030204" pitchFamily="18" charset="0"/>
              </a:rPr>
              <a:t> Management </a:t>
            </a:r>
            <a:r>
              <a:rPr lang="pt-BR" sz="1800" dirty="0" err="1">
                <a:latin typeface="Cambria" panose="02040503050406030204" pitchFamily="18" charset="0"/>
              </a:rPr>
              <a:t>of</a:t>
            </a:r>
            <a:r>
              <a:rPr lang="pt-BR" sz="1800" dirty="0">
                <a:latin typeface="Cambria" panose="02040503050406030204" pitchFamily="18" charset="0"/>
              </a:rPr>
              <a:t> Data, 2009.</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err="1">
                <a:latin typeface="Cambria" panose="02040503050406030204" pitchFamily="18" charset="0"/>
              </a:rPr>
              <a:t>Taurion</a:t>
            </a:r>
            <a:r>
              <a:rPr lang="pt-BR" sz="1800" dirty="0">
                <a:latin typeface="Cambria" panose="02040503050406030204" pitchFamily="18" charset="0"/>
              </a:rPr>
              <a:t>, C. (2009) “</a:t>
            </a:r>
            <a:r>
              <a:rPr lang="pt-BR" sz="1800" dirty="0" err="1">
                <a:latin typeface="Cambria" panose="02040503050406030204" pitchFamily="18" charset="0"/>
              </a:rPr>
              <a:t>Cloud</a:t>
            </a:r>
            <a:r>
              <a:rPr lang="pt-BR" sz="1800" dirty="0">
                <a:latin typeface="Cambria" panose="02040503050406030204" pitchFamily="18" charset="0"/>
              </a:rPr>
              <a:t> </a:t>
            </a:r>
            <a:r>
              <a:rPr lang="pt-BR" sz="1800" dirty="0" err="1">
                <a:latin typeface="Cambria" panose="02040503050406030204" pitchFamily="18" charset="0"/>
              </a:rPr>
              <a:t>Computing</a:t>
            </a:r>
            <a:r>
              <a:rPr lang="pt-BR" sz="1800" dirty="0">
                <a:latin typeface="Cambria" panose="02040503050406030204" pitchFamily="18" charset="0"/>
              </a:rPr>
              <a:t>: computação em nuvem: transformando o mundo da tecnologia da informação”, Editora </a:t>
            </a:r>
            <a:r>
              <a:rPr lang="pt-BR" sz="1800" dirty="0" err="1">
                <a:latin typeface="Cambria" panose="02040503050406030204" pitchFamily="18" charset="0"/>
              </a:rPr>
              <a:t>Brasport</a:t>
            </a:r>
            <a:r>
              <a:rPr lang="pt-BR" sz="1800" dirty="0">
                <a:latin typeface="Cambria" panose="02040503050406030204" pitchFamily="18" charset="0"/>
              </a:rPr>
              <a:t>: Rio de Janeiro, Brasil;</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r>
              <a:rPr lang="pt-BR" sz="1800" dirty="0">
                <a:latin typeface="Cambria" panose="02040503050406030204" pitchFamily="18" charset="0"/>
              </a:rPr>
              <a:t>Veras, Manoel.(2012)”</a:t>
            </a:r>
            <a:r>
              <a:rPr lang="pt-BR" sz="1800" dirty="0" err="1">
                <a:latin typeface="Cambria" panose="02040503050406030204" pitchFamily="18" charset="0"/>
              </a:rPr>
              <a:t>Cloud</a:t>
            </a:r>
            <a:r>
              <a:rPr lang="pt-BR" sz="1800" dirty="0">
                <a:latin typeface="Cambria" panose="02040503050406030204" pitchFamily="18" charset="0"/>
              </a:rPr>
              <a:t> </a:t>
            </a:r>
            <a:r>
              <a:rPr lang="pt-BR" sz="1800" dirty="0" err="1">
                <a:latin typeface="Cambria" panose="02040503050406030204" pitchFamily="18" charset="0"/>
              </a:rPr>
              <a:t>Computing</a:t>
            </a:r>
            <a:r>
              <a:rPr lang="pt-BR" sz="1800" dirty="0">
                <a:latin typeface="Cambria" panose="02040503050406030204" pitchFamily="18" charset="0"/>
              </a:rPr>
              <a:t>: Nova Arquitetura da TI”. Editora </a:t>
            </a:r>
            <a:r>
              <a:rPr lang="pt-BR" sz="1800" dirty="0" err="1">
                <a:latin typeface="Cambria" panose="02040503050406030204" pitchFamily="18" charset="0"/>
              </a:rPr>
              <a:t>Brasport</a:t>
            </a:r>
            <a:r>
              <a:rPr lang="pt-BR" sz="1800" dirty="0">
                <a:latin typeface="Cambria" panose="02040503050406030204" pitchFamily="18" charset="0"/>
              </a:rPr>
              <a:t>: Rio de Janeiro, Brasil.</a:t>
            </a:r>
          </a:p>
          <a:p>
            <a:pPr marL="285750" lvl="0" indent="-285750" algn="just">
              <a:buFont typeface="Arial" panose="020B0604020202020204" pitchFamily="34" charset="0"/>
              <a:buChar char="•"/>
            </a:pPr>
            <a:endParaRPr lang="pt-BR" sz="1800" dirty="0">
              <a:latin typeface="Cambria" panose="02040503050406030204" pitchFamily="18" charset="0"/>
            </a:endParaRPr>
          </a:p>
          <a:p>
            <a:pPr marL="285750" lvl="0" indent="-285750" algn="just">
              <a:buFont typeface="Arial" panose="020B0604020202020204" pitchFamily="34" charset="0"/>
              <a:buChar char="•"/>
            </a:pPr>
            <a:endParaRPr lang="pt-BR" sz="1800" dirty="0">
              <a:latin typeface="Cambria" panose="02040503050406030204" pitchFamily="18" charset="0"/>
            </a:endParaRPr>
          </a:p>
        </p:txBody>
      </p:sp>
    </p:spTree>
    <p:extLst>
      <p:ext uri="{BB962C8B-B14F-4D97-AF65-F5344CB8AC3E}">
        <p14:creationId xmlns:p14="http://schemas.microsoft.com/office/powerpoint/2010/main" val="3300386158"/>
      </p:ext>
    </p:extLst>
  </p:cSld>
  <p:clrMapOvr>
    <a:masterClrMapping/>
  </p:clrMapOvr>
</p:sld>
</file>

<file path=ppt/theme/theme1.xml><?xml version="1.0" encoding="utf-8"?>
<a:theme xmlns:a="http://schemas.openxmlformats.org/drawingml/2006/main" name="Cacho">
  <a:themeElements>
    <a:clrScheme name="Cacho">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acho">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cho">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6F23E4A1D20904AB31190BEE0AA6548" ma:contentTypeVersion="0" ma:contentTypeDescription="Crie um novo documento." ma:contentTypeScope="" ma:versionID="eb8827b28b969150ceb9ef1d774e3241">
  <xsd:schema xmlns:xsd="http://www.w3.org/2001/XMLSchema" xmlns:xs="http://www.w3.org/2001/XMLSchema" xmlns:p="http://schemas.microsoft.com/office/2006/metadata/properties" targetNamespace="http://schemas.microsoft.com/office/2006/metadata/properties" ma:root="true" ma:fieldsID="574c6ccb71ee63fbc30cff3237551ec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78C7C68-FE3E-4974-A27B-31C0F0BFBF78}"/>
</file>

<file path=customXml/itemProps2.xml><?xml version="1.0" encoding="utf-8"?>
<ds:datastoreItem xmlns:ds="http://schemas.openxmlformats.org/officeDocument/2006/customXml" ds:itemID="{5153C19F-DE63-417F-B73F-F7C7E6C19230}"/>
</file>

<file path=customXml/itemProps3.xml><?xml version="1.0" encoding="utf-8"?>
<ds:datastoreItem xmlns:ds="http://schemas.openxmlformats.org/officeDocument/2006/customXml" ds:itemID="{F68BC85D-7E5B-4D1B-A5B2-D16851979E06}"/>
</file>

<file path=docProps/app.xml><?xml version="1.0" encoding="utf-8"?>
<Properties xmlns="http://schemas.openxmlformats.org/officeDocument/2006/extended-properties" xmlns:vt="http://schemas.openxmlformats.org/officeDocument/2006/docPropsVTypes">
  <Template/>
  <TotalTime>370</TotalTime>
  <Words>1644</Words>
  <Application>Microsoft Office PowerPoint</Application>
  <PresentationFormat>Apresentação na tela (4:3)</PresentationFormat>
  <Paragraphs>293</Paragraphs>
  <Slides>35</Slides>
  <Notes>35</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35</vt:i4>
      </vt:variant>
    </vt:vector>
  </HeadingPairs>
  <TitlesOfParts>
    <vt:vector size="42" baseType="lpstr">
      <vt:lpstr>Arial</vt:lpstr>
      <vt:lpstr>Calibri</vt:lpstr>
      <vt:lpstr>Cambria</vt:lpstr>
      <vt:lpstr>Century Gothic</vt:lpstr>
      <vt:lpstr>Wingdings</vt:lpstr>
      <vt:lpstr>Wingdings 3</vt:lpstr>
      <vt:lpstr>Cacho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Marcus Urbano</dc:creator>
  <cp:lastModifiedBy>BRUNO ZOLOTAREFF DOS SANTOS</cp:lastModifiedBy>
  <cp:revision>43</cp:revision>
  <dcterms:modified xsi:type="dcterms:W3CDTF">2024-08-15T20:53:57Z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0x01010036F23E4A1D20904AB31190BEE0AA6548</vt:lpwstr>
  </property>
</Properties>
</file>