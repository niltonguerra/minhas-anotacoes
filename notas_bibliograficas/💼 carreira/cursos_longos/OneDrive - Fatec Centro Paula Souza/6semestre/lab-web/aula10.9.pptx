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0"/>
  </p:notesMasterIdLst>
  <p:sldIdLst>
    <p:sldId id="256" r:id="rId2"/>
    <p:sldId id="300" r:id="rId3"/>
    <p:sldId id="302" r:id="rId4"/>
    <p:sldId id="259" r:id="rId5"/>
    <p:sldId id="261" r:id="rId6"/>
    <p:sldId id="309" r:id="rId7"/>
    <p:sldId id="310" r:id="rId8"/>
    <p:sldId id="311" r:id="rId9"/>
    <p:sldId id="313" r:id="rId10"/>
    <p:sldId id="314" r:id="rId11"/>
    <p:sldId id="315" r:id="rId12"/>
    <p:sldId id="316" r:id="rId13"/>
    <p:sldId id="317" r:id="rId14"/>
    <p:sldId id="303" r:id="rId15"/>
    <p:sldId id="318" r:id="rId16"/>
    <p:sldId id="320" r:id="rId17"/>
    <p:sldId id="321" r:id="rId18"/>
    <p:sldId id="322" r:id="rId19"/>
    <p:sldId id="323" r:id="rId20"/>
    <p:sldId id="324" r:id="rId21"/>
    <p:sldId id="325" r:id="rId22"/>
    <p:sldId id="304" r:id="rId23"/>
    <p:sldId id="326" r:id="rId24"/>
    <p:sldId id="328" r:id="rId25"/>
    <p:sldId id="329" r:id="rId26"/>
    <p:sldId id="306" r:id="rId27"/>
    <p:sldId id="330" r:id="rId28"/>
    <p:sldId id="278" r:id="rId29"/>
  </p:sldIdLst>
  <p:sldSz cx="9144000" cy="5143500" type="screen16x9"/>
  <p:notesSz cx="6858000" cy="9144000"/>
  <p:embeddedFontLst>
    <p:embeddedFont>
      <p:font typeface="Fira Code" pitchFamily="1" charset="0"/>
      <p:regular r:id="rId31"/>
      <p:bold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FA08CF-782B-43C5-B46E-5C80DE8926E8}">
  <a:tblStyle styleId="{5DFA08CF-782B-43C5-B46E-5C80DE8926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807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95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06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53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614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996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186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118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319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684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891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764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780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79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210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199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906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672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498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138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5903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3336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e7f9c668d6_0_1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e7f9c668d6_0_1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1416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050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e7f9c668d6_0_1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e7f9c668d6_0_1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32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26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01878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82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823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71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019334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68669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9" r:id="rId5"/>
    <p:sldLayoutId id="2147483670" r:id="rId6"/>
    <p:sldLayoutId id="2147483675" r:id="rId7"/>
    <p:sldLayoutId id="2147483676" r:id="rId8"/>
    <p:sldLayoutId id="2147483678" r:id="rId9"/>
    <p:sldLayoutId id="2147483679" r:id="rId10"/>
    <p:sldLayoutId id="2147483684" r:id="rId11"/>
    <p:sldLayoutId id="214748369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ltonguerra/trabalho6semestre/tree/branch-de-backend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ltonguerra/backend5semestr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552225" y="1139176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protocolos de mensageria para intercomunicação de sistemas </a:t>
            </a:r>
            <a:br>
              <a:rPr lang="pt-BR" sz="1600" dirty="0"/>
            </a:br>
            <a:r>
              <a:rPr lang="en" sz="1600" dirty="0"/>
              <a:t> </a:t>
            </a:r>
            <a:br>
              <a:rPr lang="en" sz="1600" dirty="0"/>
            </a:br>
            <a:r>
              <a:rPr lang="pt-BR" sz="1600" dirty="0">
                <a:solidFill>
                  <a:schemeClr val="accent2"/>
                </a:solidFill>
              </a:rPr>
              <a:t>técnicas de mineração de dados em tempo real</a:t>
            </a:r>
            <a:r>
              <a:rPr lang="en" sz="1600" dirty="0">
                <a:solidFill>
                  <a:schemeClr val="accent2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802975" y="2365897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2400" dirty="0">
                <a:solidFill>
                  <a:schemeClr val="accent6"/>
                </a:solidFill>
              </a:rPr>
              <a:t>[</a:t>
            </a:r>
            <a:r>
              <a:rPr lang="pt-BR" sz="1400" dirty="0">
                <a:solidFill>
                  <a:schemeClr val="accent1"/>
                </a:solidFill>
              </a:rPr>
              <a:t>APLICATIVO DE MOBILIDADE URBANA INTELIGENTE</a:t>
            </a:r>
            <a:r>
              <a:rPr lang="pt-BR" sz="2400" dirty="0">
                <a:solidFill>
                  <a:schemeClr val="accent6"/>
                </a:solidFill>
              </a:rPr>
              <a:t>]</a:t>
            </a:r>
            <a:endParaRPr lang="pt-BR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lt2"/>
                </a:solidFill>
              </a:rPr>
              <a:t>Nilton Guerra</a:t>
            </a:r>
            <a:r>
              <a:rPr lang="pt-BR" dirty="0">
                <a:solidFill>
                  <a:schemeClr val="accent6"/>
                </a:solidFill>
              </a:rPr>
              <a:t> </a:t>
            </a: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accent3"/>
                </a:solidFill>
              </a:rPr>
              <a:t>forbeginners.html</a:t>
            </a:r>
          </a:p>
        </p:txBody>
      </p:sp>
      <p:sp>
        <p:nvSpPr>
          <p:cNvPr id="7" name="Google Shape;495;p29">
            <a:extLst>
              <a:ext uri="{FF2B5EF4-FFF2-40B4-BE49-F238E27FC236}">
                <a16:creationId xmlns:a16="http://schemas.microsoft.com/office/drawing/2014/main" id="{7C213480-67D0-755D-23DE-BFEF8B50C11E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pt-BR" sz="1400"/>
              <a:t>workshop.css</a:t>
            </a:r>
            <a:endParaRPr lang="pt-B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49" y="1436725"/>
            <a:ext cx="400109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Teoria sobre protocolos de mensageria </a:t>
            </a:r>
            <a:r>
              <a:rPr lang="pt-BR" sz="1800" dirty="0">
                <a:solidFill>
                  <a:schemeClr val="accent1"/>
                </a:solidFill>
              </a:rPr>
              <a:t>de forma resumida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5" y="2306314"/>
            <a:ext cx="4001099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sobre </a:t>
            </a:r>
            <a:r>
              <a:rPr lang="pt-BR" dirty="0"/>
              <a:t>mineração de dados em tempo real</a:t>
            </a:r>
            <a:r>
              <a:rPr lang="en" dirty="0"/>
              <a:t> </a:t>
            </a:r>
            <a:endParaRPr dirty="0"/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 do contexto do projeto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Cronograma Da </a:t>
            </a:r>
            <a:r>
              <a:rPr lang="en" dirty="0">
                <a:solidFill>
                  <a:schemeClr val="accent2"/>
                </a:solidFill>
              </a:rPr>
              <a:t>Apresentação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forbeginners.html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workshop.css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44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49" y="1436725"/>
            <a:ext cx="400109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Demonstração prática </a:t>
            </a:r>
            <a:r>
              <a:rPr lang="pt-BR" dirty="0"/>
              <a:t>de um sistema de mensageria simples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4" y="2178756"/>
            <a:ext cx="4001099" cy="7822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Demonstração prática de um sistema de coleta de dados em tempo real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Cronograma Da </a:t>
            </a:r>
            <a:r>
              <a:rPr lang="en" dirty="0">
                <a:solidFill>
                  <a:schemeClr val="accent2"/>
                </a:solidFill>
              </a:rPr>
              <a:t>Apresentação</a:t>
            </a:r>
            <a:r>
              <a:rPr lang="en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64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618825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800" dirty="0">
                <a:solidFill>
                  <a:schemeClr val="accent6"/>
                </a:solidFill>
              </a:rPr>
              <a:t>[</a:t>
            </a:r>
            <a:r>
              <a:rPr lang="pt-BR" sz="1800" dirty="0">
                <a:solidFill>
                  <a:schemeClr val="accent1"/>
                </a:solidFill>
              </a:rPr>
              <a:t>Teoria sobre protocolos de mensageria de forma resumida</a:t>
            </a:r>
            <a:r>
              <a:rPr lang="pt-BR" sz="1800" dirty="0">
                <a:solidFill>
                  <a:schemeClr val="accent6"/>
                </a:solidFill>
              </a:rPr>
              <a:t>]</a:t>
            </a:r>
            <a:r>
              <a:rPr lang="pt-BR" sz="2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7BCBA4-56DF-A713-4A63-41796FB33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596479" y="1409512"/>
            <a:ext cx="5539200" cy="20172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</a:t>
            </a:r>
            <a:r>
              <a:rPr lang="pt-BR" dirty="0">
                <a:solidFill>
                  <a:schemeClr val="accent2"/>
                </a:solidFill>
              </a:rPr>
              <a:t>Protocolos de mensageria para intercomunicação de sistemas são utilizados para permitir a troca de informações entre aplicações distribuídas de maneira eficiente, confiável e muitas vezes assíncrona.</a:t>
            </a:r>
            <a:r>
              <a:rPr lang="en" dirty="0">
                <a:solidFill>
                  <a:schemeClr val="accent2"/>
                </a:solidFill>
              </a:rPr>
              <a:t>’</a:t>
            </a:r>
            <a:endParaRPr dirty="0">
              <a:solidFill>
                <a:schemeClr val="accent2"/>
              </a:solidFill>
            </a:endParaRPr>
          </a:p>
          <a:p>
            <a:pPr marL="449116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&lt;</a:t>
            </a:r>
            <a:r>
              <a:rPr lang="en" dirty="0">
                <a:solidFill>
                  <a:schemeClr val="accent1"/>
                </a:solidFill>
              </a:rPr>
              <a:t>p</a:t>
            </a:r>
            <a:r>
              <a:rPr lang="en" dirty="0">
                <a:solidFill>
                  <a:schemeClr val="accent3"/>
                </a:solidFill>
              </a:rPr>
              <a:t> por exemplo, </a:t>
            </a:r>
            <a:r>
              <a:rPr lang="pt-BR" dirty="0">
                <a:solidFill>
                  <a:schemeClr val="accent3"/>
                </a:solidFill>
              </a:rPr>
              <a:t>AMQP, JMS, STOMP, MQTT, Kafka </a:t>
            </a:r>
            <a:r>
              <a:rPr lang="pt-BR" dirty="0" err="1">
                <a:solidFill>
                  <a:schemeClr val="accent3"/>
                </a:solidFill>
              </a:rPr>
              <a:t>Protocol</a:t>
            </a:r>
            <a:r>
              <a:rPr lang="pt-BR" dirty="0">
                <a:solidFill>
                  <a:schemeClr val="accent3"/>
                </a:solidFill>
              </a:rPr>
              <a:t>, </a:t>
            </a:r>
            <a:r>
              <a:rPr lang="pt-BR" dirty="0" err="1">
                <a:solidFill>
                  <a:schemeClr val="accent3"/>
                </a:solidFill>
              </a:rPr>
              <a:t>ZeroMQ</a:t>
            </a:r>
            <a:r>
              <a:rPr lang="pt-BR" dirty="0">
                <a:solidFill>
                  <a:schemeClr val="accent3"/>
                </a:solidFill>
              </a:rPr>
              <a:t>, HTTP, Redis e vários outros...</a:t>
            </a:r>
            <a:r>
              <a:rPr lang="en" dirty="0">
                <a:solidFill>
                  <a:schemeClr val="accent3"/>
                </a:solidFill>
              </a:rPr>
              <a:t>&gt;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6" name="Google Shape;566;p32"/>
          <p:cNvGrpSpPr/>
          <p:nvPr/>
        </p:nvGrpSpPr>
        <p:grpSpPr>
          <a:xfrm>
            <a:off x="1849528" y="3158012"/>
            <a:ext cx="667800" cy="902750"/>
            <a:chOff x="2008321" y="2971150"/>
            <a:chExt cx="667800" cy="902750"/>
          </a:xfrm>
        </p:grpSpPr>
        <p:cxnSp>
          <p:nvCxnSpPr>
            <p:cNvPr id="567" name="Google Shape;567;p32"/>
            <p:cNvCxnSpPr/>
            <p:nvPr/>
          </p:nvCxnSpPr>
          <p:spPr>
            <a:xfrm>
              <a:off x="2280025" y="2971150"/>
              <a:ext cx="0" cy="52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68" name="Google Shape;568;p32"/>
            <p:cNvSpPr txBox="1"/>
            <p:nvPr/>
          </p:nvSpPr>
          <p:spPr>
            <a:xfrm>
              <a:off x="2008321" y="3473700"/>
              <a:ext cx="667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rPr>
                <a:t>/p</a:t>
              </a:r>
              <a:r>
                <a:rPr lang="en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12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AMQP </a:t>
            </a:r>
            <a:r>
              <a:rPr lang="en" sz="2000" dirty="0">
                <a:solidFill>
                  <a:schemeClr val="accent2"/>
                </a:solidFill>
              </a:rPr>
              <a:t>(</a:t>
            </a:r>
            <a:r>
              <a:rPr lang="pt-BR" sz="2000" dirty="0" err="1">
                <a:solidFill>
                  <a:schemeClr val="accent2"/>
                </a:solidFill>
              </a:rPr>
              <a:t>Advanced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 err="1">
                <a:solidFill>
                  <a:schemeClr val="accent2"/>
                </a:solidFill>
              </a:rPr>
              <a:t>Message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 err="1">
                <a:solidFill>
                  <a:schemeClr val="accent2"/>
                </a:solidFill>
              </a:rPr>
              <a:t>Queuing</a:t>
            </a:r>
            <a:r>
              <a:rPr lang="pt-BR" sz="2000" dirty="0">
                <a:solidFill>
                  <a:schemeClr val="accent2"/>
                </a:solidFill>
              </a:rPr>
              <a:t> </a:t>
            </a:r>
            <a:r>
              <a:rPr lang="pt-BR" sz="2000" dirty="0" err="1">
                <a:solidFill>
                  <a:schemeClr val="accent2"/>
                </a:solidFill>
              </a:rPr>
              <a:t>Protocol</a:t>
            </a:r>
            <a:r>
              <a:rPr lang="en" sz="2000" dirty="0">
                <a:solidFill>
                  <a:schemeClr val="accent2"/>
                </a:solidFill>
              </a:rPr>
              <a:t>)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386455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 protocolo aberto e padronizado para mensageria assíncrona.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Suporte a filas, roteamento, publicação/assinatura, e confirmações de entrega.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20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Fiabilidade e persistência das mensagens.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Sistemas financeiros, comunicação crítica onde a entrega garantida de mensagens é necessária.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5" y="352759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RabbitMQ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Apache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Qpid</a:t>
            </a:r>
            <a:r>
              <a:rPr lang="pt-BR" dirty="0"/>
              <a:t>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91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JMS </a:t>
            </a:r>
            <a:r>
              <a:rPr lang="en" sz="2000" dirty="0">
                <a:solidFill>
                  <a:schemeClr val="accent2"/>
                </a:solidFill>
              </a:rPr>
              <a:t>(</a:t>
            </a:r>
            <a:r>
              <a:rPr lang="pt-BR" sz="2000" dirty="0">
                <a:solidFill>
                  <a:schemeClr val="accent2"/>
                </a:solidFill>
              </a:rPr>
              <a:t>Java </a:t>
            </a:r>
            <a:r>
              <a:rPr lang="pt-BR" sz="2000" dirty="0" err="1">
                <a:solidFill>
                  <a:schemeClr val="accent2"/>
                </a:solidFill>
              </a:rPr>
              <a:t>Message</a:t>
            </a:r>
            <a:r>
              <a:rPr lang="pt-BR" sz="2000" dirty="0">
                <a:solidFill>
                  <a:schemeClr val="accent2"/>
                </a:solidFill>
              </a:rPr>
              <a:t> Service</a:t>
            </a:r>
            <a:r>
              <a:rPr lang="en" sz="2000" dirty="0">
                <a:solidFill>
                  <a:schemeClr val="accent2"/>
                </a:solidFill>
              </a:rPr>
              <a:t>)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37516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Uma API baseada em Java que permite enviar mensagens entre dois ou mais clientes..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Orientado a filas ou tópicos (pub/sub).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Alta integração com o ecossistema Java.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Aplicações corporativas em Java que precisam de comunicação entre sistemas.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5" y="352759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ActiveMQ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HornetQ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43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STOMP </a:t>
            </a:r>
            <a:r>
              <a:rPr lang="en" sz="1800" dirty="0">
                <a:solidFill>
                  <a:schemeClr val="accent2"/>
                </a:solidFill>
              </a:rPr>
              <a:t>(</a:t>
            </a:r>
            <a:r>
              <a:rPr lang="en-US" sz="1800" dirty="0">
                <a:solidFill>
                  <a:schemeClr val="accent2"/>
                </a:solidFill>
              </a:rPr>
              <a:t>Simple Text Oriented Messaging Protocol</a:t>
            </a:r>
            <a:r>
              <a:rPr lang="en" sz="1800" dirty="0">
                <a:solidFill>
                  <a:schemeClr val="accent2"/>
                </a:solidFill>
              </a:rPr>
              <a:t>)</a:t>
            </a:r>
            <a:r>
              <a:rPr lang="en" sz="2000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38645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 protocolo simples de mensagens baseado em texto, fácil de usar e implementar.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Texto simples e legível, adequado para aplicações de baixo overhead.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Trabalha bem com vários brokers de mensagens.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Comunicação leve entre sistemas, geralmente em sistemas com pouco tráfego de mensagens.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5" y="352759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ActiveMQ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RabbitMQ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(com suporte a STOMP).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55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MQTT</a:t>
            </a:r>
            <a:r>
              <a:rPr lang="pt-BR" sz="1800" dirty="0"/>
              <a:t> </a:t>
            </a:r>
            <a:r>
              <a:rPr lang="en" sz="1800" dirty="0">
                <a:solidFill>
                  <a:schemeClr val="accent2"/>
                </a:solidFill>
              </a:rPr>
              <a:t>(</a:t>
            </a:r>
            <a:r>
              <a:rPr lang="pt-BR" sz="1800" dirty="0" err="1">
                <a:solidFill>
                  <a:schemeClr val="accent2"/>
                </a:solidFill>
              </a:rPr>
              <a:t>Message</a:t>
            </a:r>
            <a:r>
              <a:rPr lang="pt-BR" sz="1800" dirty="0">
                <a:solidFill>
                  <a:schemeClr val="accent2"/>
                </a:solidFill>
              </a:rPr>
              <a:t> </a:t>
            </a:r>
            <a:r>
              <a:rPr lang="pt-BR" sz="1800" dirty="0" err="1">
                <a:solidFill>
                  <a:schemeClr val="accent2"/>
                </a:solidFill>
              </a:rPr>
              <a:t>Queuing</a:t>
            </a:r>
            <a:r>
              <a:rPr lang="pt-BR" sz="1800" dirty="0">
                <a:solidFill>
                  <a:schemeClr val="accent2"/>
                </a:solidFill>
              </a:rPr>
              <a:t> </a:t>
            </a:r>
            <a:r>
              <a:rPr lang="pt-BR" sz="1800" dirty="0" err="1">
                <a:solidFill>
                  <a:schemeClr val="accent2"/>
                </a:solidFill>
              </a:rPr>
              <a:t>Telemetry</a:t>
            </a:r>
            <a:r>
              <a:rPr lang="pt-BR" sz="1800" dirty="0">
                <a:solidFill>
                  <a:schemeClr val="accent2"/>
                </a:solidFill>
              </a:rPr>
              <a:t> </a:t>
            </a:r>
            <a:r>
              <a:rPr lang="pt-BR" sz="1800" dirty="0" err="1">
                <a:solidFill>
                  <a:schemeClr val="accent2"/>
                </a:solidFill>
              </a:rPr>
              <a:t>Transport</a:t>
            </a:r>
            <a:r>
              <a:rPr lang="en" sz="1800" dirty="0">
                <a:solidFill>
                  <a:schemeClr val="accent2"/>
                </a:solidFill>
              </a:rPr>
              <a:t>)</a:t>
            </a:r>
            <a:r>
              <a:rPr lang="en" sz="2000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48627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 protocolo leve para comunicação de mensagens, ideal para redes de baixa largura de banda.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Comunicação pub/sub eficiente com baixa sobrecarga.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Suporte a </a:t>
            </a:r>
            <a:r>
              <a:rPr lang="pt-BR" sz="12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Quality</a:t>
            </a: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pt-BR" sz="12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of</a:t>
            </a: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Service (</a:t>
            </a:r>
            <a:r>
              <a:rPr lang="pt-BR" sz="12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QoS</a:t>
            </a: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) para garantir entrega de mensagens.</a:t>
            </a: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accent6"/>
              </a:buClr>
              <a:buSzPct val="150000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Internet das Coisas (IoT), dispositivos móveis ou remotos com conectividade limitada.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5" y="352759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Mosquitto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, EMQX.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497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Kafka </a:t>
            </a:r>
            <a:r>
              <a:rPr lang="pt-BR" sz="2000" dirty="0" err="1">
                <a:solidFill>
                  <a:schemeClr val="accent2"/>
                </a:solidFill>
              </a:rPr>
              <a:t>Protocol</a:t>
            </a:r>
            <a:r>
              <a:rPr lang="pt-BR" sz="1800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16067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 protocolo usado pelo Apache Kafka para processamento de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streams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e mensagens.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Alta taxa de transferência e persistência de dados.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Design baseado em logs de eventos distribuídos.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accent6"/>
              </a:buClr>
              <a:buSzPct val="150000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Grandes volumes de dados, sistemas de processamento de eventos em tempo real,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analytics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5" y="3527591"/>
            <a:ext cx="39813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Apache Kafka.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04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 err="1"/>
              <a:t>Zero</a:t>
            </a:r>
            <a:r>
              <a:rPr lang="pt-BR" sz="2000" dirty="0" err="1">
                <a:solidFill>
                  <a:schemeClr val="accent2"/>
                </a:solidFill>
              </a:rPr>
              <a:t>MQ</a:t>
            </a:r>
            <a:r>
              <a:rPr lang="pt-BR" sz="2000" dirty="0"/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16067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Um protocolo de mensagens de baixa latência que atua como uma biblioteca de comunicação.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Baixo overhead e alta flexibilidade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Suporte para vários padrões de mensageria (fila, pub/sub, </a:t>
            </a: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req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/rep).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accent6"/>
              </a:buClr>
              <a:buSzPct val="150000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Aplicações com requisitos de desempenho muito altos e baixa latência</a:t>
            </a:r>
            <a:r>
              <a:rPr lang="pt-BR" dirty="0"/>
              <a:t>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4" y="3527591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ZeroMQ</a:t>
            </a: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(é tanto o protocolo quanto a biblioteca).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00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/>
              <a:t>Redis</a:t>
            </a:r>
            <a:r>
              <a:rPr lang="pt-BR" sz="1600" b="1" dirty="0"/>
              <a:t> </a:t>
            </a:r>
            <a:r>
              <a:rPr lang="pt-BR" sz="2000" dirty="0">
                <a:solidFill>
                  <a:schemeClr val="accent2"/>
                </a:solidFill>
              </a:rPr>
              <a:t>Pub/Sub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6" name="Google Shape;636;p34"/>
          <p:cNvSpPr txBox="1"/>
          <p:nvPr/>
        </p:nvSpPr>
        <p:spPr>
          <a:xfrm>
            <a:off x="1318575" y="1132654"/>
            <a:ext cx="12945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 que é:</a:t>
            </a:r>
            <a:endParaRPr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7" name="Google Shape;637;p34"/>
          <p:cNvSpPr txBox="1"/>
          <p:nvPr/>
        </p:nvSpPr>
        <p:spPr>
          <a:xfrm>
            <a:off x="2362431" y="1204804"/>
            <a:ext cx="616067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Mecanismo nativo de publicação/assinatura do Redis.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8" name="Google Shape;638;p34"/>
          <p:cNvSpPr txBox="1"/>
          <p:nvPr/>
        </p:nvSpPr>
        <p:spPr>
          <a:xfrm>
            <a:off x="1311676" y="1838729"/>
            <a:ext cx="202505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Características</a:t>
            </a:r>
            <a:r>
              <a:rPr lang="pt-BR" sz="1600" dirty="0">
                <a:solidFill>
                  <a:schemeClr val="lt2"/>
                </a:solidFill>
                <a:latin typeface="Fira Code"/>
                <a:ea typeface="Fira Code"/>
                <a:cs typeface="Fira Code"/>
              </a:rPr>
              <a:t>:</a:t>
            </a:r>
            <a:endParaRPr lang="pt-BR" sz="1600" dirty="0">
              <a:solidFill>
                <a:schemeClr val="l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9" name="Google Shape;639;p34"/>
          <p:cNvSpPr txBox="1"/>
          <p:nvPr/>
        </p:nvSpPr>
        <p:spPr>
          <a:xfrm>
            <a:off x="3099042" y="1744108"/>
            <a:ext cx="5886914" cy="101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Simples, rápido, e de baixa latência.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5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Não oferece persistência de mensagens.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1377629" y="2713663"/>
            <a:ext cx="168166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Casos de uso:</a:t>
            </a:r>
            <a:endParaRPr lang="pt-BR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1" name="Google Shape;641;p34"/>
          <p:cNvSpPr txBox="1"/>
          <p:nvPr/>
        </p:nvSpPr>
        <p:spPr>
          <a:xfrm>
            <a:off x="3057505" y="2838363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accent6"/>
              </a:buClr>
              <a:buSzPct val="150000"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Notificações em tempo real, transmissão de eventos entre sistemas de baixa complexidade.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1385974" y="3478297"/>
            <a:ext cx="1538899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Ferramentas:</a:t>
            </a:r>
            <a:endParaRPr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3057504" y="3527591"/>
            <a:ext cx="5791197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Redis.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4"/>
          <p:cNvCxnSpPr>
            <a:cxnSpLocks/>
          </p:cNvCxnSpPr>
          <p:nvPr/>
        </p:nvCxnSpPr>
        <p:spPr>
          <a:xfrm>
            <a:off x="1337875" y="1553675"/>
            <a:ext cx="576000" cy="1150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4"/>
          <p:cNvCxnSpPr/>
          <p:nvPr/>
        </p:nvCxnSpPr>
        <p:spPr>
          <a:xfrm>
            <a:off x="1337875" y="2276200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1" name="Google Shape;651;p34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2" name="Google Shape;652;p34"/>
          <p:cNvCxnSpPr/>
          <p:nvPr/>
        </p:nvCxnSpPr>
        <p:spPr>
          <a:xfrm>
            <a:off x="1337875" y="324171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4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1337875" y="3933500"/>
            <a:ext cx="158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4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092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990111" y="1357306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158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b="1" dirty="0">
                <a:solidFill>
                  <a:schemeClr val="accent3"/>
                </a:solidFill>
                <a:sym typeface="Arial"/>
              </a:rPr>
              <a:t>Mensageria assíncrona</a:t>
            </a:r>
            <a:r>
              <a:rPr lang="pt-BR" dirty="0">
                <a:solidFill>
                  <a:schemeClr val="accent3"/>
                </a:solidFill>
                <a:sym typeface="Arial"/>
              </a:rPr>
              <a:t>: AMQP, JMS, e Kafka </a:t>
            </a:r>
            <a:r>
              <a:rPr lang="pt-BR" dirty="0" err="1">
                <a:solidFill>
                  <a:schemeClr val="accent3"/>
                </a:solidFill>
                <a:sym typeface="Arial"/>
              </a:rPr>
              <a:t>Protocol</a:t>
            </a:r>
            <a:endParaRPr dirty="0">
              <a:solidFill>
                <a:schemeClr val="accent3"/>
              </a:solidFill>
              <a:sym typeface="Arial"/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Resumo Geral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775111" y="1501981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/1 &gt;</a:t>
            </a:r>
            <a:endParaRPr/>
          </a:p>
        </p:txBody>
      </p:sp>
      <p:sp>
        <p:nvSpPr>
          <p:cNvPr id="785" name="Google Shape;785;p37"/>
          <p:cNvSpPr txBox="1">
            <a:spLocks noGrp="1"/>
          </p:cNvSpPr>
          <p:nvPr>
            <p:ph type="body" idx="3"/>
          </p:nvPr>
        </p:nvSpPr>
        <p:spPr>
          <a:xfrm>
            <a:off x="3423511" y="2294143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158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b="1" dirty="0">
                <a:solidFill>
                  <a:schemeClr val="accent3"/>
                </a:solidFill>
                <a:sym typeface="Arial"/>
              </a:rPr>
              <a:t>Publicação/Assinatura (Pub/Sub): </a:t>
            </a:r>
            <a:r>
              <a:rPr lang="pt-BR" dirty="0">
                <a:solidFill>
                  <a:schemeClr val="accent3"/>
                </a:solidFill>
                <a:sym typeface="Arial"/>
              </a:rPr>
              <a:t>Protocolos como MQTT, Redis Pub/Sub, e STOMP</a:t>
            </a:r>
            <a:endParaRPr dirty="0">
              <a:solidFill>
                <a:schemeClr val="accent3"/>
              </a:solidFill>
              <a:sym typeface="Arial"/>
            </a:endParaRPr>
          </a:p>
        </p:txBody>
      </p:sp>
      <p:sp>
        <p:nvSpPr>
          <p:cNvPr id="786" name="Google Shape;786;p37"/>
          <p:cNvSpPr txBox="1">
            <a:spLocks noGrp="1"/>
          </p:cNvSpPr>
          <p:nvPr>
            <p:ph type="title" idx="4"/>
          </p:nvPr>
        </p:nvSpPr>
        <p:spPr>
          <a:xfrm flipH="1">
            <a:off x="2208511" y="243889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/2 &gt;</a:t>
            </a:r>
            <a:endParaRPr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Google Shape;782;p37">
            <a:extLst>
              <a:ext uri="{FF2B5EF4-FFF2-40B4-BE49-F238E27FC236}">
                <a16:creationId xmlns:a16="http://schemas.microsoft.com/office/drawing/2014/main" id="{BCCD364D-B9A8-6F2F-37C7-766D5433D580}"/>
              </a:ext>
            </a:extLst>
          </p:cNvPr>
          <p:cNvSpPr txBox="1">
            <a:spLocks/>
          </p:cNvSpPr>
          <p:nvPr/>
        </p:nvSpPr>
        <p:spPr>
          <a:xfrm>
            <a:off x="3841050" y="316193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76158" indent="0">
              <a:buNone/>
            </a:pPr>
            <a:r>
              <a:rPr lang="pt-BR" b="1" dirty="0">
                <a:solidFill>
                  <a:schemeClr val="accent3"/>
                </a:solidFill>
                <a:sym typeface="Arial"/>
              </a:rPr>
              <a:t>Baixa Latência</a:t>
            </a:r>
            <a:r>
              <a:rPr lang="pt-BR" dirty="0">
                <a:solidFill>
                  <a:schemeClr val="accent3"/>
                </a:solidFill>
                <a:sym typeface="Arial"/>
              </a:rPr>
              <a:t>: </a:t>
            </a:r>
            <a:r>
              <a:rPr lang="pt-BR" dirty="0" err="1">
                <a:solidFill>
                  <a:schemeClr val="accent3"/>
                </a:solidFill>
                <a:sym typeface="Arial"/>
              </a:rPr>
              <a:t>ZeroMQ</a:t>
            </a:r>
            <a:r>
              <a:rPr lang="pt-BR" dirty="0">
                <a:solidFill>
                  <a:schemeClr val="accent3"/>
                </a:solidFill>
                <a:sym typeface="Arial"/>
              </a:rPr>
              <a:t> e Redis</a:t>
            </a:r>
            <a:endParaRPr lang="en-US" dirty="0">
              <a:solidFill>
                <a:schemeClr val="accent3"/>
              </a:solidFill>
              <a:sym typeface="Arial"/>
            </a:endParaRPr>
          </a:p>
        </p:txBody>
      </p:sp>
      <p:sp>
        <p:nvSpPr>
          <p:cNvPr id="5" name="Google Shape;784;p37">
            <a:extLst>
              <a:ext uri="{FF2B5EF4-FFF2-40B4-BE49-F238E27FC236}">
                <a16:creationId xmlns:a16="http://schemas.microsoft.com/office/drawing/2014/main" id="{1386FE88-0DB8-2010-9314-730B7EBB52EA}"/>
              </a:ext>
            </a:extLst>
          </p:cNvPr>
          <p:cNvSpPr txBox="1">
            <a:spLocks/>
          </p:cNvSpPr>
          <p:nvPr/>
        </p:nvSpPr>
        <p:spPr>
          <a:xfrm flipH="1">
            <a:off x="2626050" y="3306610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/>
              <a:t>&lt; /3 &gt;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9484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02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618825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800" dirty="0">
                <a:solidFill>
                  <a:schemeClr val="accent6"/>
                </a:solidFill>
              </a:rPr>
              <a:t>[</a:t>
            </a:r>
            <a:r>
              <a:rPr lang="pt-BR" sz="1600" dirty="0">
                <a:solidFill>
                  <a:schemeClr val="lt2"/>
                </a:solidFill>
              </a:rPr>
              <a:t>Teoria sobre mineração de dados em tempo real</a:t>
            </a:r>
            <a:r>
              <a:rPr lang="pt-BR" sz="1800" dirty="0">
                <a:solidFill>
                  <a:schemeClr val="accent6"/>
                </a:solidFill>
              </a:rPr>
              <a:t>]</a:t>
            </a:r>
            <a:endParaRPr lang="pt-BR" sz="2800" dirty="0">
              <a:solidFill>
                <a:schemeClr val="accent1"/>
              </a:solidFill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7BCBA4-56DF-A713-4A63-41796FB33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36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596479" y="1409512"/>
            <a:ext cx="5539200" cy="20172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</a:t>
            </a:r>
            <a:r>
              <a:rPr lang="pt-BR" dirty="0">
                <a:solidFill>
                  <a:schemeClr val="accent2"/>
                </a:solidFill>
              </a:rPr>
              <a:t>A mineração de dados em tempo real envolve a extração e análise contínua de dados à medida que eles são gerados, permitindo insights imediatos e ações rápidas. Esse tipo de mineração é muito utilizado em áreas como monitoramento de redes, análise de </a:t>
            </a:r>
            <a:r>
              <a:rPr lang="pt-BR" dirty="0" err="1">
                <a:solidFill>
                  <a:schemeClr val="accent2"/>
                </a:solidFill>
              </a:rPr>
              <a:t>streams</a:t>
            </a:r>
            <a:r>
              <a:rPr lang="pt-BR" dirty="0">
                <a:solidFill>
                  <a:schemeClr val="accent2"/>
                </a:solidFill>
              </a:rPr>
              <a:t> de redes sociais, detecção de fraudes, recomendações personalizadas e IoT.</a:t>
            </a:r>
            <a:r>
              <a:rPr lang="en" dirty="0">
                <a:solidFill>
                  <a:schemeClr val="accent2"/>
                </a:solidFill>
              </a:rPr>
              <a:t>’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73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94725" y="1923961"/>
            <a:ext cx="2330700" cy="12777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Foca na análise de fluxos contínuos de dados (</a:t>
            </a:r>
            <a:r>
              <a:rPr lang="pt-BR" sz="1200" dirty="0" err="1"/>
              <a:t>streams</a:t>
            </a:r>
            <a:r>
              <a:rPr lang="pt-BR" sz="1200" dirty="0"/>
              <a:t>), que podem ser infinitos. Em vez de esperar que todos os dados sejam coletados, eles são processados assim que chegam.</a:t>
            </a:r>
            <a:endParaRPr sz="1200" dirty="0"/>
          </a:p>
        </p:txBody>
      </p:sp>
      <p:sp>
        <p:nvSpPr>
          <p:cNvPr id="713" name="Google Shape;713;p36"/>
          <p:cNvSpPr txBox="1">
            <a:spLocks noGrp="1"/>
          </p:cNvSpPr>
          <p:nvPr>
            <p:ph type="subTitle" idx="1"/>
          </p:nvPr>
        </p:nvSpPr>
        <p:spPr>
          <a:xfrm>
            <a:off x="5328694" y="1835632"/>
            <a:ext cx="3431484" cy="24075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Janela deslizante (</a:t>
            </a:r>
            <a:r>
              <a:rPr lang="pt-BR" sz="1200" b="1" dirty="0" err="1"/>
              <a:t>Sliding</a:t>
            </a:r>
            <a:r>
              <a:rPr lang="pt-BR" sz="1200" b="1" dirty="0"/>
              <a:t> </a:t>
            </a:r>
            <a:r>
              <a:rPr lang="pt-BR" sz="1200" b="1" dirty="0" err="1"/>
              <a:t>Window</a:t>
            </a:r>
            <a:r>
              <a:rPr lang="pt-BR" sz="1200" b="1" dirty="0"/>
              <a:t>)</a:t>
            </a:r>
            <a:r>
              <a:rPr lang="pt-BR" sz="1200" dirty="0"/>
              <a:t>: Processa apenas uma janela de dados recentes, definindo uma faixa temporal ou quantidade de eventos para análise contínua.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Agregações incrementais</a:t>
            </a:r>
            <a:r>
              <a:rPr lang="pt-BR" sz="1200" dirty="0"/>
              <a:t>: Permitem que estatísticas ou modelos sejam atualizados continuamente à medida que novos dados chegam, sem recalcular desde o início.</a:t>
            </a:r>
            <a:endParaRPr sz="12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3868170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Apache Kafka Streams, Apache </a:t>
            </a:r>
            <a:r>
              <a:rPr lang="en-US" sz="1200" dirty="0" err="1"/>
              <a:t>Flink</a:t>
            </a:r>
            <a:r>
              <a:rPr lang="en-US" sz="1200" dirty="0"/>
              <a:t>, Apache Spark Streaming.</a:t>
            </a:r>
            <a:endParaRPr sz="120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573256" y="3567674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Processamento </a:t>
            </a:r>
            <a:r>
              <a:rPr lang="pt-BR" dirty="0">
                <a:solidFill>
                  <a:schemeClr val="accent2"/>
                </a:solidFill>
              </a:rPr>
              <a:t>de </a:t>
            </a:r>
            <a:r>
              <a:rPr lang="pt-BR" dirty="0" err="1">
                <a:solidFill>
                  <a:schemeClr val="accent2"/>
                </a:solidFill>
              </a:rPr>
              <a:t>Streams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2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94725" y="1761846"/>
            <a:ext cx="2330700" cy="1736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Consiste em identificar padrões ou eventos de interesse em tempo real, como detecção de picos de tráfego ou comportamentos anômalos.</a:t>
            </a:r>
            <a:endParaRPr sz="1050" dirty="0"/>
          </a:p>
        </p:txBody>
      </p:sp>
      <p:sp>
        <p:nvSpPr>
          <p:cNvPr id="713" name="Google Shape;713;p36"/>
          <p:cNvSpPr txBox="1">
            <a:spLocks noGrp="1"/>
          </p:cNvSpPr>
          <p:nvPr>
            <p:ph type="subTitle" idx="1"/>
          </p:nvPr>
        </p:nvSpPr>
        <p:spPr>
          <a:xfrm>
            <a:off x="5328694" y="1835632"/>
            <a:ext cx="3431484" cy="24075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 dirty="0"/>
              <a:t>Detecção de Anomalias: </a:t>
            </a:r>
            <a:r>
              <a:rPr lang="pt-BR" sz="1200" dirty="0"/>
              <a:t>Algoritmos que monitoram </a:t>
            </a:r>
            <a:r>
              <a:rPr lang="pt-BR" sz="1200" dirty="0" err="1"/>
              <a:t>streams</a:t>
            </a:r>
            <a:r>
              <a:rPr lang="pt-BR" sz="1200" dirty="0"/>
              <a:t> de dados e identificam eventos fora do comum em tempo real, usando técnicas de estatísticas ou machine learning.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200" b="1" dirty="0" err="1"/>
              <a:t>Matching</a:t>
            </a:r>
            <a:r>
              <a:rPr lang="pt-BR" sz="1200" b="1" dirty="0"/>
              <a:t> de Padrões (</a:t>
            </a:r>
            <a:r>
              <a:rPr lang="pt-BR" sz="1200" b="1" dirty="0" err="1"/>
              <a:t>Pattern</a:t>
            </a:r>
            <a:r>
              <a:rPr lang="pt-BR" sz="1200" b="1" dirty="0"/>
              <a:t> </a:t>
            </a:r>
            <a:r>
              <a:rPr lang="pt-BR" sz="1200" b="1" dirty="0" err="1"/>
              <a:t>Matching</a:t>
            </a:r>
            <a:r>
              <a:rPr lang="pt-BR" sz="1200" b="1" dirty="0"/>
              <a:t>): </a:t>
            </a:r>
            <a:r>
              <a:rPr lang="pt-BR" sz="1200" dirty="0"/>
              <a:t>Algoritmos que encontram sequências específicas de eventos ou ações em um fluxo de dados.</a:t>
            </a:r>
            <a:endParaRPr sz="12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3868170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200" dirty="0"/>
              <a:t>Complex Event Processing (CEP), Apache </a:t>
            </a:r>
            <a:r>
              <a:rPr lang="en-US" sz="1200" dirty="0" err="1"/>
              <a:t>Flink</a:t>
            </a:r>
            <a:r>
              <a:rPr lang="en-US" sz="1200" dirty="0"/>
              <a:t>, Esper.</a:t>
            </a:r>
            <a:endParaRPr sz="105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573256" y="3567674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Detecção de Padrões </a:t>
            </a:r>
            <a:r>
              <a:rPr lang="pt-BR" sz="2400" dirty="0">
                <a:solidFill>
                  <a:schemeClr val="accent2"/>
                </a:solidFill>
              </a:rPr>
              <a:t>em Tempo Real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987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94725" y="1761846"/>
            <a:ext cx="2330700" cy="1736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100" dirty="0"/>
              <a:t>Diferente do aprendizado tradicional (batch learning), onde os modelos são treinados com todos os dados disponíveis de uma só vez, o </a:t>
            </a:r>
            <a:r>
              <a:rPr lang="pt-BR" sz="1100" b="1" dirty="0"/>
              <a:t>online learning</a:t>
            </a:r>
            <a:r>
              <a:rPr lang="pt-BR" sz="1100" dirty="0"/>
              <a:t> ajusta modelos continuamente conforme novos dados chegam.</a:t>
            </a:r>
            <a:endParaRPr sz="10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3868170"/>
            <a:ext cx="2613562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200" dirty="0" err="1"/>
              <a:t>Vowpal</a:t>
            </a:r>
            <a:r>
              <a:rPr lang="pt-BR" sz="1200" dirty="0"/>
              <a:t> </a:t>
            </a:r>
            <a:r>
              <a:rPr lang="pt-BR" sz="1200" dirty="0" err="1"/>
              <a:t>Wabbit</a:t>
            </a:r>
            <a:r>
              <a:rPr lang="pt-BR" sz="1200" dirty="0"/>
              <a:t>, River</a:t>
            </a:r>
            <a:endParaRPr lang="pt-BR" sz="105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573256" y="3567674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Aprendizado Online </a:t>
            </a:r>
            <a:r>
              <a:rPr lang="pt-BR" sz="2400" dirty="0">
                <a:solidFill>
                  <a:schemeClr val="accent2"/>
                </a:solidFill>
              </a:rPr>
              <a:t>(Online Learning)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7292B-800B-6AD0-50E6-2AA3143EEC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29238" y="1977440"/>
            <a:ext cx="359366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altLang="pt-BR" sz="1200" b="1" dirty="0" err="1"/>
              <a:t>Perceptron</a:t>
            </a:r>
            <a:r>
              <a:rPr lang="pt-BR" altLang="pt-BR" sz="1200" dirty="0"/>
              <a:t>: Um algoritmo de classificação que pode ser atualizado incrementalmente à medida que os dados chegam.</a:t>
            </a:r>
          </a:p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endParaRPr lang="pt-BR" altLang="pt-BR" sz="1200" dirty="0"/>
          </a:p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altLang="pt-BR" sz="1200" b="1" dirty="0"/>
              <a:t>Algoritmos de Regressão e Classificação Online</a:t>
            </a:r>
            <a:r>
              <a:rPr lang="pt-BR" altLang="pt-BR" sz="1200" dirty="0"/>
              <a:t>: Técnicas como regressão linear e SVM podem ser adaptadas para um cenário de aprendizado online, ajustando seus pesos dinamicamente. </a:t>
            </a:r>
          </a:p>
        </p:txBody>
      </p:sp>
    </p:spTree>
    <p:extLst>
      <p:ext uri="{BB962C8B-B14F-4D97-AF65-F5344CB8AC3E}">
        <p14:creationId xmlns:p14="http://schemas.microsoft.com/office/powerpoint/2010/main" val="136781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62069" y="1804779"/>
            <a:ext cx="2330700" cy="1736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050" dirty="0"/>
              <a:t>Trata da análise de grandes quantidades de dados em fluxo contínuo, que são muitas vezes impossíveis de armazenar completamente. Os algoritmos de </a:t>
            </a:r>
            <a:r>
              <a:rPr lang="pt-BR" sz="1050" dirty="0" err="1"/>
              <a:t>stream</a:t>
            </a:r>
            <a:r>
              <a:rPr lang="pt-BR" sz="1050" dirty="0"/>
              <a:t> mining lidam com essa limitação processando os dados à medida que eles passam, sem manter todos os dados em memória.</a:t>
            </a:r>
            <a:endParaRPr sz="7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4006630"/>
            <a:ext cx="6047096" cy="5077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200" dirty="0"/>
              <a:t>MOA (Massive Online Analysis), </a:t>
            </a:r>
          </a:p>
          <a:p>
            <a:pPr marL="0" indent="0"/>
            <a:r>
              <a:rPr lang="en-US" sz="1200" dirty="0"/>
              <a:t>SAMOA (Scalable Advanced Massive Online Analysis).</a:t>
            </a:r>
            <a:endParaRPr lang="pt-BR" sz="90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601558" y="37450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Mineração de </a:t>
            </a:r>
            <a:r>
              <a:rPr lang="pt-BR" sz="2400" dirty="0">
                <a:solidFill>
                  <a:schemeClr val="accent2"/>
                </a:solidFill>
              </a:rPr>
              <a:t>fluxos de dados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7292B-800B-6AD0-50E6-2AA3143EEC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29238" y="2069773"/>
            <a:ext cx="35936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 err="1"/>
              <a:t>Clustering</a:t>
            </a:r>
            <a:r>
              <a:rPr lang="pt-BR" sz="1200" b="1" dirty="0"/>
              <a:t> Incremental</a:t>
            </a:r>
            <a:r>
              <a:rPr lang="pt-BR" sz="1200" dirty="0"/>
              <a:t>: Agrupamento contínuo de dados à medida que novos pontos de dados são gerados, como em técnicas de </a:t>
            </a:r>
            <a:r>
              <a:rPr lang="pt-BR" sz="1200" dirty="0" err="1"/>
              <a:t>clustering</a:t>
            </a:r>
            <a:r>
              <a:rPr lang="pt-BR" sz="1200" dirty="0"/>
              <a:t> como K-</a:t>
            </a:r>
            <a:r>
              <a:rPr lang="pt-BR" sz="1200" dirty="0" err="1"/>
              <a:t>means</a:t>
            </a:r>
            <a:r>
              <a:rPr lang="pt-BR" sz="1200" dirty="0"/>
              <a:t> adaptado para </a:t>
            </a:r>
            <a:r>
              <a:rPr lang="pt-BR" sz="1200" dirty="0" err="1"/>
              <a:t>stream</a:t>
            </a:r>
            <a:r>
              <a:rPr lang="pt-BR" sz="1200" dirty="0"/>
              <a:t> mining.</a:t>
            </a:r>
          </a:p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/>
              <a:t>Regras de Associação Online</a:t>
            </a:r>
            <a:r>
              <a:rPr lang="pt-BR" sz="1200" dirty="0"/>
              <a:t>: Algoritmos para descobrir relações frequentes entre itens de dados em tempo real.</a:t>
            </a:r>
            <a:endParaRPr lang="pt-BR" altLang="pt-BR" sz="1050" dirty="0"/>
          </a:p>
        </p:txBody>
      </p:sp>
    </p:spTree>
    <p:extLst>
      <p:ext uri="{BB962C8B-B14F-4D97-AF65-F5344CB8AC3E}">
        <p14:creationId xmlns:p14="http://schemas.microsoft.com/office/powerpoint/2010/main" val="2984700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62069" y="1804779"/>
            <a:ext cx="2330700" cy="1736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200" dirty="0"/>
              <a:t>Foca em identificar eventos ou padrões de eventos em grandes volumes de dados, muitas vezes com múltiplas fontes de eventos (como sensores em IoT, logs de redes, etc.).</a:t>
            </a:r>
            <a:endParaRPr sz="10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4006630"/>
            <a:ext cx="6047096" cy="5077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200" dirty="0"/>
              <a:t>Apache </a:t>
            </a:r>
            <a:r>
              <a:rPr lang="en-US" sz="1200" dirty="0" err="1"/>
              <a:t>Flink</a:t>
            </a:r>
            <a:r>
              <a:rPr lang="en-US" sz="1200" dirty="0"/>
              <a:t>, Esper, TIBCO </a:t>
            </a:r>
            <a:r>
              <a:rPr lang="en-US" sz="1200" dirty="0" err="1"/>
              <a:t>StreamBase</a:t>
            </a:r>
            <a:r>
              <a:rPr lang="en-US" sz="1200" dirty="0"/>
              <a:t>.</a:t>
            </a:r>
            <a:endParaRPr lang="pt-BR" sz="70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601558" y="37450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Mineração de </a:t>
            </a:r>
            <a:r>
              <a:rPr lang="pt-BR" sz="2400" dirty="0">
                <a:solidFill>
                  <a:schemeClr val="accent2"/>
                </a:solidFill>
              </a:rPr>
              <a:t>Eventos Complexos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7292B-800B-6AD0-50E6-2AA3143EEC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29238" y="2254438"/>
            <a:ext cx="35936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/>
              <a:t>Filtragem de Eventos</a:t>
            </a:r>
            <a:r>
              <a:rPr lang="pt-BR" sz="1200" dirty="0"/>
              <a:t>: Identificar quais eventos são relevantes ou ignorar ruídos.</a:t>
            </a:r>
          </a:p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/>
              <a:t>Correlação de Eventos</a:t>
            </a:r>
            <a:r>
              <a:rPr lang="pt-BR" sz="1200" dirty="0"/>
              <a:t>: Unir múltiplos eventos diferentes para descobrir eventos compostos ou detectar padrões complexos em tempo real.</a:t>
            </a:r>
            <a:endParaRPr lang="pt-BR" altLang="pt-BR" sz="900" dirty="0"/>
          </a:p>
        </p:txBody>
      </p:sp>
    </p:spTree>
    <p:extLst>
      <p:ext uri="{BB962C8B-B14F-4D97-AF65-F5344CB8AC3E}">
        <p14:creationId xmlns:p14="http://schemas.microsoft.com/office/powerpoint/2010/main" val="148327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62069" y="1804779"/>
            <a:ext cx="2330700" cy="17360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BR" sz="1200" dirty="0"/>
              <a:t>Foca em identificar eventos ou padrões de eventos em grandes volumes de dados, muitas vezes com múltiplas fontes de eventos (como sensores em IoT, logs de redes, etc.).</a:t>
            </a:r>
            <a:endParaRPr sz="1200"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</a:t>
            </a:r>
            <a:endParaRPr dirty="0"/>
          </a:p>
        </p:txBody>
      </p:sp>
      <p:sp>
        <p:nvSpPr>
          <p:cNvPr id="715" name="Google Shape;715;p36"/>
          <p:cNvSpPr txBox="1">
            <a:spLocks noGrp="1"/>
          </p:cNvSpPr>
          <p:nvPr>
            <p:ph type="subTitle" idx="4"/>
          </p:nvPr>
        </p:nvSpPr>
        <p:spPr>
          <a:xfrm>
            <a:off x="5475419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Técnicas</a:t>
            </a:r>
            <a:endParaRPr dirty="0"/>
          </a:p>
        </p:txBody>
      </p:sp>
      <p:sp>
        <p:nvSpPr>
          <p:cNvPr id="717" name="Google Shape;717;p36"/>
          <p:cNvSpPr txBox="1">
            <a:spLocks noGrp="1"/>
          </p:cNvSpPr>
          <p:nvPr>
            <p:ph type="subTitle" idx="6"/>
          </p:nvPr>
        </p:nvSpPr>
        <p:spPr>
          <a:xfrm>
            <a:off x="2601005" y="4006630"/>
            <a:ext cx="6047096" cy="5077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Spark Streaming, SAS Fraud Management.</a:t>
            </a:r>
            <a:endParaRPr lang="pt-BR" sz="400" dirty="0"/>
          </a:p>
        </p:txBody>
      </p:sp>
      <p:sp>
        <p:nvSpPr>
          <p:cNvPr id="718" name="Google Shape;718;p36"/>
          <p:cNvSpPr txBox="1">
            <a:spLocks noGrp="1"/>
          </p:cNvSpPr>
          <p:nvPr>
            <p:ph type="subTitle" idx="7"/>
          </p:nvPr>
        </p:nvSpPr>
        <p:spPr>
          <a:xfrm>
            <a:off x="2601558" y="37450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Técnicas de Detecção </a:t>
            </a:r>
            <a:r>
              <a:rPr lang="pt-BR" sz="1800" dirty="0">
                <a:solidFill>
                  <a:schemeClr val="accent2"/>
                </a:solidFill>
              </a:rPr>
              <a:t>de Fraude em Tempo Real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4" name="Google Shape;724;p36"/>
          <p:cNvGrpSpPr/>
          <p:nvPr/>
        </p:nvGrpSpPr>
        <p:grpSpPr>
          <a:xfrm>
            <a:off x="1877955" y="1732523"/>
            <a:ext cx="365741" cy="365755"/>
            <a:chOff x="5165638" y="1291400"/>
            <a:chExt cx="431400" cy="431875"/>
          </a:xfrm>
        </p:grpSpPr>
        <p:sp>
          <p:nvSpPr>
            <p:cNvPr id="725" name="Google Shape;725;p36"/>
            <p:cNvSpPr/>
            <p:nvPr/>
          </p:nvSpPr>
          <p:spPr>
            <a:xfrm>
              <a:off x="5173688" y="1299925"/>
              <a:ext cx="414800" cy="252700"/>
            </a:xfrm>
            <a:custGeom>
              <a:avLst/>
              <a:gdLst/>
              <a:ahLst/>
              <a:cxnLst/>
              <a:rect l="l" t="t" r="r" b="b"/>
              <a:pathLst>
                <a:path w="16592" h="10108" extrusionOk="0">
                  <a:moveTo>
                    <a:pt x="8998" y="1"/>
                  </a:moveTo>
                  <a:cubicBezTo>
                    <a:pt x="8970" y="1"/>
                    <a:pt x="8941" y="1"/>
                    <a:pt x="8912" y="1"/>
                  </a:cubicBezTo>
                  <a:cubicBezTo>
                    <a:pt x="6789" y="20"/>
                    <a:pt x="4911" y="1423"/>
                    <a:pt x="4324" y="3471"/>
                  </a:cubicBezTo>
                  <a:cubicBezTo>
                    <a:pt x="4039" y="3395"/>
                    <a:pt x="3755" y="3376"/>
                    <a:pt x="3470" y="3376"/>
                  </a:cubicBezTo>
                  <a:cubicBezTo>
                    <a:pt x="1612" y="3376"/>
                    <a:pt x="0" y="4874"/>
                    <a:pt x="0" y="6752"/>
                  </a:cubicBezTo>
                  <a:cubicBezTo>
                    <a:pt x="0" y="8610"/>
                    <a:pt x="1612" y="10108"/>
                    <a:pt x="3470" y="10108"/>
                  </a:cubicBezTo>
                  <a:lnTo>
                    <a:pt x="13122" y="10108"/>
                  </a:lnTo>
                  <a:cubicBezTo>
                    <a:pt x="14980" y="10108"/>
                    <a:pt x="16592" y="8610"/>
                    <a:pt x="16592" y="6752"/>
                  </a:cubicBezTo>
                  <a:cubicBezTo>
                    <a:pt x="16592" y="5045"/>
                    <a:pt x="15245" y="3642"/>
                    <a:pt x="13596" y="3395"/>
                  </a:cubicBezTo>
                  <a:lnTo>
                    <a:pt x="13596" y="3376"/>
                  </a:lnTo>
                  <a:cubicBezTo>
                    <a:pt x="12960" y="1375"/>
                    <a:pt x="11105" y="1"/>
                    <a:pt x="8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5313538" y="1485300"/>
              <a:ext cx="135125" cy="229450"/>
            </a:xfrm>
            <a:custGeom>
              <a:avLst/>
              <a:gdLst/>
              <a:ahLst/>
              <a:cxnLst/>
              <a:rect l="l" t="t" r="r" b="b"/>
              <a:pathLst>
                <a:path w="5405" h="9178" extrusionOk="0">
                  <a:moveTo>
                    <a:pt x="2693" y="0"/>
                  </a:moveTo>
                  <a:lnTo>
                    <a:pt x="0" y="4039"/>
                  </a:lnTo>
                  <a:lnTo>
                    <a:pt x="1688" y="4039"/>
                  </a:lnTo>
                  <a:lnTo>
                    <a:pt x="1688" y="9178"/>
                  </a:lnTo>
                  <a:lnTo>
                    <a:pt x="3717" y="9178"/>
                  </a:lnTo>
                  <a:lnTo>
                    <a:pt x="3717" y="4039"/>
                  </a:lnTo>
                  <a:lnTo>
                    <a:pt x="5404" y="4039"/>
                  </a:lnTo>
                  <a:lnTo>
                    <a:pt x="26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5406438" y="1426525"/>
              <a:ext cx="19925" cy="16650"/>
            </a:xfrm>
            <a:custGeom>
              <a:avLst/>
              <a:gdLst/>
              <a:ahLst/>
              <a:cxnLst/>
              <a:rect l="l" t="t" r="r" b="b"/>
              <a:pathLst>
                <a:path w="797" h="666" extrusionOk="0">
                  <a:moveTo>
                    <a:pt x="437" y="0"/>
                  </a:moveTo>
                  <a:cubicBezTo>
                    <a:pt x="133" y="0"/>
                    <a:pt x="1" y="360"/>
                    <a:pt x="209" y="569"/>
                  </a:cubicBezTo>
                  <a:cubicBezTo>
                    <a:pt x="282" y="635"/>
                    <a:pt x="368" y="665"/>
                    <a:pt x="451" y="665"/>
                  </a:cubicBezTo>
                  <a:cubicBezTo>
                    <a:pt x="630" y="665"/>
                    <a:pt x="797" y="529"/>
                    <a:pt x="797" y="322"/>
                  </a:cubicBezTo>
                  <a:cubicBezTo>
                    <a:pt x="778" y="133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5165638" y="1291400"/>
              <a:ext cx="431400" cy="431875"/>
            </a:xfrm>
            <a:custGeom>
              <a:avLst/>
              <a:gdLst/>
              <a:ahLst/>
              <a:cxnLst/>
              <a:rect l="l" t="t" r="r" b="b"/>
              <a:pathLst>
                <a:path w="17256" h="17275" extrusionOk="0">
                  <a:moveTo>
                    <a:pt x="9287" y="680"/>
                  </a:moveTo>
                  <a:cubicBezTo>
                    <a:pt x="10957" y="680"/>
                    <a:pt x="12629" y="1572"/>
                    <a:pt x="13425" y="3376"/>
                  </a:cubicBezTo>
                  <a:cubicBezTo>
                    <a:pt x="12439" y="3376"/>
                    <a:pt x="11491" y="3774"/>
                    <a:pt x="10808" y="4457"/>
                  </a:cubicBezTo>
                  <a:cubicBezTo>
                    <a:pt x="10522" y="4700"/>
                    <a:pt x="10754" y="5062"/>
                    <a:pt x="11024" y="5062"/>
                  </a:cubicBezTo>
                  <a:cubicBezTo>
                    <a:pt x="11111" y="5062"/>
                    <a:pt x="11203" y="5024"/>
                    <a:pt x="11282" y="4931"/>
                  </a:cubicBezTo>
                  <a:cubicBezTo>
                    <a:pt x="11851" y="4362"/>
                    <a:pt x="12609" y="4040"/>
                    <a:pt x="13406" y="4040"/>
                  </a:cubicBezTo>
                  <a:cubicBezTo>
                    <a:pt x="13558" y="4040"/>
                    <a:pt x="13709" y="4059"/>
                    <a:pt x="13842" y="4078"/>
                  </a:cubicBezTo>
                  <a:cubicBezTo>
                    <a:pt x="15378" y="4248"/>
                    <a:pt x="16553" y="5538"/>
                    <a:pt x="16591" y="7093"/>
                  </a:cubicBezTo>
                  <a:cubicBezTo>
                    <a:pt x="16591" y="8723"/>
                    <a:pt x="15169" y="10126"/>
                    <a:pt x="13444" y="10126"/>
                  </a:cubicBezTo>
                  <a:lnTo>
                    <a:pt x="10600" y="10126"/>
                  </a:lnTo>
                  <a:lnTo>
                    <a:pt x="8912" y="7567"/>
                  </a:lnTo>
                  <a:cubicBezTo>
                    <a:pt x="8836" y="7472"/>
                    <a:pt x="8727" y="7424"/>
                    <a:pt x="8620" y="7424"/>
                  </a:cubicBezTo>
                  <a:cubicBezTo>
                    <a:pt x="8514" y="7424"/>
                    <a:pt x="8409" y="7472"/>
                    <a:pt x="8343" y="7567"/>
                  </a:cubicBezTo>
                  <a:lnTo>
                    <a:pt x="6637" y="10126"/>
                  </a:lnTo>
                  <a:lnTo>
                    <a:pt x="3792" y="10126"/>
                  </a:lnTo>
                  <a:cubicBezTo>
                    <a:pt x="2105" y="10126"/>
                    <a:pt x="664" y="8723"/>
                    <a:pt x="664" y="7093"/>
                  </a:cubicBezTo>
                  <a:cubicBezTo>
                    <a:pt x="664" y="5443"/>
                    <a:pt x="2086" y="4040"/>
                    <a:pt x="3792" y="4040"/>
                  </a:cubicBezTo>
                  <a:cubicBezTo>
                    <a:pt x="4608" y="4059"/>
                    <a:pt x="5366" y="4362"/>
                    <a:pt x="5935" y="4931"/>
                  </a:cubicBezTo>
                  <a:cubicBezTo>
                    <a:pt x="6009" y="5024"/>
                    <a:pt x="6099" y="5062"/>
                    <a:pt x="6185" y="5062"/>
                  </a:cubicBezTo>
                  <a:cubicBezTo>
                    <a:pt x="6452" y="5062"/>
                    <a:pt x="6695" y="4700"/>
                    <a:pt x="6409" y="4457"/>
                  </a:cubicBezTo>
                  <a:cubicBezTo>
                    <a:pt x="6030" y="4078"/>
                    <a:pt x="5556" y="3793"/>
                    <a:pt x="5044" y="3604"/>
                  </a:cubicBezTo>
                  <a:cubicBezTo>
                    <a:pt x="5782" y="1662"/>
                    <a:pt x="7534" y="680"/>
                    <a:pt x="9287" y="680"/>
                  </a:cubicBezTo>
                  <a:close/>
                  <a:moveTo>
                    <a:pt x="8628" y="8363"/>
                  </a:moveTo>
                  <a:lnTo>
                    <a:pt x="10694" y="11473"/>
                  </a:lnTo>
                  <a:lnTo>
                    <a:pt x="9633" y="11473"/>
                  </a:lnTo>
                  <a:cubicBezTo>
                    <a:pt x="9443" y="11473"/>
                    <a:pt x="9291" y="11624"/>
                    <a:pt x="9291" y="11795"/>
                  </a:cubicBezTo>
                  <a:lnTo>
                    <a:pt x="9291" y="16592"/>
                  </a:lnTo>
                  <a:lnTo>
                    <a:pt x="7945" y="16592"/>
                  </a:lnTo>
                  <a:lnTo>
                    <a:pt x="7945" y="11795"/>
                  </a:lnTo>
                  <a:cubicBezTo>
                    <a:pt x="7945" y="11624"/>
                    <a:pt x="7793" y="11473"/>
                    <a:pt x="7604" y="11473"/>
                  </a:cubicBezTo>
                  <a:lnTo>
                    <a:pt x="6561" y="11473"/>
                  </a:lnTo>
                  <a:lnTo>
                    <a:pt x="8628" y="8363"/>
                  </a:lnTo>
                  <a:close/>
                  <a:moveTo>
                    <a:pt x="9298" y="1"/>
                  </a:moveTo>
                  <a:cubicBezTo>
                    <a:pt x="7268" y="1"/>
                    <a:pt x="5241" y="1143"/>
                    <a:pt x="4418" y="3433"/>
                  </a:cubicBezTo>
                  <a:cubicBezTo>
                    <a:pt x="4210" y="3395"/>
                    <a:pt x="4001" y="3376"/>
                    <a:pt x="3811" y="3376"/>
                  </a:cubicBezTo>
                  <a:cubicBezTo>
                    <a:pt x="1801" y="3376"/>
                    <a:pt x="0" y="5007"/>
                    <a:pt x="0" y="7093"/>
                  </a:cubicBezTo>
                  <a:cubicBezTo>
                    <a:pt x="0" y="9159"/>
                    <a:pt x="1801" y="10790"/>
                    <a:pt x="3811" y="10790"/>
                  </a:cubicBezTo>
                  <a:lnTo>
                    <a:pt x="6200" y="10790"/>
                  </a:lnTo>
                  <a:lnTo>
                    <a:pt x="5651" y="11624"/>
                  </a:lnTo>
                  <a:cubicBezTo>
                    <a:pt x="5499" y="11833"/>
                    <a:pt x="5651" y="12136"/>
                    <a:pt x="5916" y="12136"/>
                  </a:cubicBezTo>
                  <a:lnTo>
                    <a:pt x="7262" y="12136"/>
                  </a:lnTo>
                  <a:lnTo>
                    <a:pt x="7262" y="16934"/>
                  </a:lnTo>
                  <a:cubicBezTo>
                    <a:pt x="7262" y="17123"/>
                    <a:pt x="7414" y="17256"/>
                    <a:pt x="7604" y="17275"/>
                  </a:cubicBezTo>
                  <a:lnTo>
                    <a:pt x="9633" y="17275"/>
                  </a:lnTo>
                  <a:cubicBezTo>
                    <a:pt x="9803" y="17256"/>
                    <a:pt x="9955" y="17123"/>
                    <a:pt x="9955" y="16934"/>
                  </a:cubicBezTo>
                  <a:lnTo>
                    <a:pt x="9955" y="12136"/>
                  </a:lnTo>
                  <a:lnTo>
                    <a:pt x="11320" y="12136"/>
                  </a:lnTo>
                  <a:cubicBezTo>
                    <a:pt x="11328" y="12137"/>
                    <a:pt x="11336" y="12137"/>
                    <a:pt x="11344" y="12137"/>
                  </a:cubicBezTo>
                  <a:cubicBezTo>
                    <a:pt x="11595" y="12137"/>
                    <a:pt x="11752" y="11845"/>
                    <a:pt x="11605" y="11624"/>
                  </a:cubicBezTo>
                  <a:lnTo>
                    <a:pt x="11055" y="10790"/>
                  </a:lnTo>
                  <a:lnTo>
                    <a:pt x="13444" y="10790"/>
                  </a:lnTo>
                  <a:cubicBezTo>
                    <a:pt x="15454" y="10790"/>
                    <a:pt x="17255" y="9159"/>
                    <a:pt x="17255" y="7093"/>
                  </a:cubicBezTo>
                  <a:cubicBezTo>
                    <a:pt x="17217" y="5310"/>
                    <a:pt x="15947" y="3793"/>
                    <a:pt x="14202" y="3452"/>
                  </a:cubicBezTo>
                  <a:cubicBezTo>
                    <a:pt x="13376" y="1153"/>
                    <a:pt x="11335" y="1"/>
                    <a:pt x="9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4903956" y="1732509"/>
            <a:ext cx="271150" cy="365781"/>
            <a:chOff x="4786863" y="4248100"/>
            <a:chExt cx="390650" cy="525850"/>
          </a:xfrm>
        </p:grpSpPr>
        <p:sp>
          <p:nvSpPr>
            <p:cNvPr id="741" name="Google Shape;741;p36"/>
            <p:cNvSpPr/>
            <p:nvPr/>
          </p:nvSpPr>
          <p:spPr>
            <a:xfrm>
              <a:off x="4797288" y="4258400"/>
              <a:ext cx="369775" cy="505225"/>
            </a:xfrm>
            <a:custGeom>
              <a:avLst/>
              <a:gdLst/>
              <a:ahLst/>
              <a:cxnLst/>
              <a:rect l="l" t="t" r="r" b="b"/>
              <a:pathLst>
                <a:path w="14791" h="20209" extrusionOk="0">
                  <a:moveTo>
                    <a:pt x="7396" y="1"/>
                  </a:moveTo>
                  <a:lnTo>
                    <a:pt x="1" y="1650"/>
                  </a:lnTo>
                  <a:lnTo>
                    <a:pt x="1" y="11491"/>
                  </a:lnTo>
                  <a:cubicBezTo>
                    <a:pt x="1" y="13956"/>
                    <a:pt x="1233" y="16270"/>
                    <a:pt x="3300" y="17654"/>
                  </a:cubicBezTo>
                  <a:lnTo>
                    <a:pt x="6941" y="20081"/>
                  </a:lnTo>
                  <a:cubicBezTo>
                    <a:pt x="7074" y="20166"/>
                    <a:pt x="7230" y="20209"/>
                    <a:pt x="7389" y="20209"/>
                  </a:cubicBezTo>
                  <a:cubicBezTo>
                    <a:pt x="7548" y="20209"/>
                    <a:pt x="7709" y="20166"/>
                    <a:pt x="7851" y="20081"/>
                  </a:cubicBezTo>
                  <a:lnTo>
                    <a:pt x="11492" y="17654"/>
                  </a:lnTo>
                  <a:cubicBezTo>
                    <a:pt x="13558" y="16289"/>
                    <a:pt x="14791" y="13975"/>
                    <a:pt x="14791" y="11491"/>
                  </a:cubicBezTo>
                  <a:lnTo>
                    <a:pt x="14791" y="1650"/>
                  </a:lnTo>
                  <a:lnTo>
                    <a:pt x="73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4838063" y="4300600"/>
              <a:ext cx="287775" cy="418125"/>
            </a:xfrm>
            <a:custGeom>
              <a:avLst/>
              <a:gdLst/>
              <a:ahLst/>
              <a:cxnLst/>
              <a:rect l="l" t="t" r="r" b="b"/>
              <a:pathLst>
                <a:path w="11511" h="16725" extrusionOk="0">
                  <a:moveTo>
                    <a:pt x="5765" y="0"/>
                  </a:moveTo>
                  <a:lnTo>
                    <a:pt x="1" y="1271"/>
                  </a:lnTo>
                  <a:lnTo>
                    <a:pt x="1" y="9803"/>
                  </a:lnTo>
                  <a:cubicBezTo>
                    <a:pt x="1" y="11737"/>
                    <a:pt x="968" y="13539"/>
                    <a:pt x="2560" y="14601"/>
                  </a:cubicBezTo>
                  <a:lnTo>
                    <a:pt x="5765" y="16724"/>
                  </a:lnTo>
                  <a:lnTo>
                    <a:pt x="8950" y="14601"/>
                  </a:lnTo>
                  <a:cubicBezTo>
                    <a:pt x="10543" y="13539"/>
                    <a:pt x="11510" y="11737"/>
                    <a:pt x="11510" y="9803"/>
                  </a:cubicBezTo>
                  <a:lnTo>
                    <a:pt x="11510" y="1271"/>
                  </a:lnTo>
                  <a:lnTo>
                    <a:pt x="5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920538" y="4470300"/>
              <a:ext cx="123275" cy="123275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1" y="1"/>
                  </a:moveTo>
                  <a:lnTo>
                    <a:pt x="1" y="4931"/>
                  </a:lnTo>
                  <a:lnTo>
                    <a:pt x="4931" y="4931"/>
                  </a:lnTo>
                  <a:lnTo>
                    <a:pt x="49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971738" y="4330200"/>
              <a:ext cx="24200" cy="20675"/>
            </a:xfrm>
            <a:custGeom>
              <a:avLst/>
              <a:gdLst/>
              <a:ahLst/>
              <a:cxnLst/>
              <a:rect l="l" t="t" r="r" b="b"/>
              <a:pathLst>
                <a:path w="968" h="827" extrusionOk="0">
                  <a:moveTo>
                    <a:pt x="413" y="1"/>
                  </a:moveTo>
                  <a:cubicBezTo>
                    <a:pt x="201" y="1"/>
                    <a:pt x="1" y="171"/>
                    <a:pt x="1" y="428"/>
                  </a:cubicBezTo>
                  <a:cubicBezTo>
                    <a:pt x="1" y="637"/>
                    <a:pt x="190" y="826"/>
                    <a:pt x="418" y="826"/>
                  </a:cubicBezTo>
                  <a:cubicBezTo>
                    <a:pt x="778" y="826"/>
                    <a:pt x="968" y="390"/>
                    <a:pt x="702" y="125"/>
                  </a:cubicBezTo>
                  <a:cubicBezTo>
                    <a:pt x="617" y="39"/>
                    <a:pt x="514" y="1"/>
                    <a:pt x="4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786863" y="4248100"/>
              <a:ext cx="390650" cy="525850"/>
            </a:xfrm>
            <a:custGeom>
              <a:avLst/>
              <a:gdLst/>
              <a:ahLst/>
              <a:cxnLst/>
              <a:rect l="l" t="t" r="r" b="b"/>
              <a:pathLst>
                <a:path w="15626" h="21034" extrusionOk="0">
                  <a:moveTo>
                    <a:pt x="7813" y="830"/>
                  </a:moveTo>
                  <a:lnTo>
                    <a:pt x="14791" y="2385"/>
                  </a:lnTo>
                  <a:lnTo>
                    <a:pt x="14791" y="11903"/>
                  </a:lnTo>
                  <a:cubicBezTo>
                    <a:pt x="14791" y="14236"/>
                    <a:pt x="13615" y="16416"/>
                    <a:pt x="11681" y="17725"/>
                  </a:cubicBezTo>
                  <a:lnTo>
                    <a:pt x="8040" y="20152"/>
                  </a:lnTo>
                  <a:cubicBezTo>
                    <a:pt x="7965" y="20199"/>
                    <a:pt x="7884" y="20223"/>
                    <a:pt x="7806" y="20223"/>
                  </a:cubicBezTo>
                  <a:cubicBezTo>
                    <a:pt x="7728" y="20223"/>
                    <a:pt x="7652" y="20199"/>
                    <a:pt x="7585" y="20152"/>
                  </a:cubicBezTo>
                  <a:lnTo>
                    <a:pt x="3926" y="17725"/>
                  </a:lnTo>
                  <a:cubicBezTo>
                    <a:pt x="1992" y="16416"/>
                    <a:pt x="816" y="14236"/>
                    <a:pt x="816" y="11903"/>
                  </a:cubicBezTo>
                  <a:lnTo>
                    <a:pt x="816" y="2385"/>
                  </a:lnTo>
                  <a:lnTo>
                    <a:pt x="7813" y="830"/>
                  </a:lnTo>
                  <a:close/>
                  <a:moveTo>
                    <a:pt x="7803" y="0"/>
                  </a:moveTo>
                  <a:cubicBezTo>
                    <a:pt x="7775" y="0"/>
                    <a:pt x="7747" y="5"/>
                    <a:pt x="7718" y="15"/>
                  </a:cubicBezTo>
                  <a:lnTo>
                    <a:pt x="323" y="1664"/>
                  </a:lnTo>
                  <a:cubicBezTo>
                    <a:pt x="134" y="1702"/>
                    <a:pt x="1" y="1873"/>
                    <a:pt x="1" y="2062"/>
                  </a:cubicBezTo>
                  <a:lnTo>
                    <a:pt x="1" y="11922"/>
                  </a:lnTo>
                  <a:cubicBezTo>
                    <a:pt x="1" y="14520"/>
                    <a:pt x="1309" y="16966"/>
                    <a:pt x="3471" y="18407"/>
                  </a:cubicBezTo>
                  <a:lnTo>
                    <a:pt x="7130" y="20834"/>
                  </a:lnTo>
                  <a:cubicBezTo>
                    <a:pt x="7329" y="20967"/>
                    <a:pt x="7566" y="21033"/>
                    <a:pt x="7806" y="21033"/>
                  </a:cubicBezTo>
                  <a:cubicBezTo>
                    <a:pt x="8045" y="21033"/>
                    <a:pt x="8287" y="20967"/>
                    <a:pt x="8496" y="20834"/>
                  </a:cubicBezTo>
                  <a:lnTo>
                    <a:pt x="12136" y="18407"/>
                  </a:lnTo>
                  <a:cubicBezTo>
                    <a:pt x="14317" y="16947"/>
                    <a:pt x="15625" y="14520"/>
                    <a:pt x="15625" y="11903"/>
                  </a:cubicBezTo>
                  <a:lnTo>
                    <a:pt x="15625" y="2062"/>
                  </a:lnTo>
                  <a:cubicBezTo>
                    <a:pt x="15625" y="1873"/>
                    <a:pt x="15473" y="1702"/>
                    <a:pt x="15303" y="1664"/>
                  </a:cubicBezTo>
                  <a:lnTo>
                    <a:pt x="7889" y="15"/>
                  </a:lnTo>
                  <a:cubicBezTo>
                    <a:pt x="7860" y="5"/>
                    <a:pt x="7832" y="0"/>
                    <a:pt x="78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827638" y="4290275"/>
              <a:ext cx="308150" cy="438400"/>
            </a:xfrm>
            <a:custGeom>
              <a:avLst/>
              <a:gdLst/>
              <a:ahLst/>
              <a:cxnLst/>
              <a:rect l="l" t="t" r="r" b="b"/>
              <a:pathLst>
                <a:path w="12326" h="17536" extrusionOk="0">
                  <a:moveTo>
                    <a:pt x="6182" y="830"/>
                  </a:moveTo>
                  <a:lnTo>
                    <a:pt x="11510" y="2025"/>
                  </a:lnTo>
                  <a:lnTo>
                    <a:pt x="11510" y="10216"/>
                  </a:lnTo>
                  <a:cubicBezTo>
                    <a:pt x="11510" y="11999"/>
                    <a:pt x="10638" y="13667"/>
                    <a:pt x="9140" y="14672"/>
                  </a:cubicBezTo>
                  <a:lnTo>
                    <a:pt x="6182" y="16644"/>
                  </a:lnTo>
                  <a:lnTo>
                    <a:pt x="3205" y="14672"/>
                  </a:lnTo>
                  <a:cubicBezTo>
                    <a:pt x="1726" y="13686"/>
                    <a:pt x="835" y="12018"/>
                    <a:pt x="835" y="10235"/>
                  </a:cubicBezTo>
                  <a:lnTo>
                    <a:pt x="835" y="10216"/>
                  </a:lnTo>
                  <a:lnTo>
                    <a:pt x="835" y="2025"/>
                  </a:lnTo>
                  <a:lnTo>
                    <a:pt x="6182" y="830"/>
                  </a:lnTo>
                  <a:close/>
                  <a:moveTo>
                    <a:pt x="6163" y="1"/>
                  </a:moveTo>
                  <a:cubicBezTo>
                    <a:pt x="6130" y="1"/>
                    <a:pt x="6097" y="6"/>
                    <a:pt x="6068" y="15"/>
                  </a:cubicBezTo>
                  <a:lnTo>
                    <a:pt x="323" y="1286"/>
                  </a:lnTo>
                  <a:cubicBezTo>
                    <a:pt x="133" y="1323"/>
                    <a:pt x="1" y="1494"/>
                    <a:pt x="1" y="1684"/>
                  </a:cubicBezTo>
                  <a:lnTo>
                    <a:pt x="1" y="10216"/>
                  </a:lnTo>
                  <a:cubicBezTo>
                    <a:pt x="1" y="12283"/>
                    <a:pt x="1024" y="14198"/>
                    <a:pt x="2750" y="15355"/>
                  </a:cubicBezTo>
                  <a:lnTo>
                    <a:pt x="5954" y="17479"/>
                  </a:lnTo>
                  <a:cubicBezTo>
                    <a:pt x="6011" y="17517"/>
                    <a:pt x="6106" y="17536"/>
                    <a:pt x="6182" y="17536"/>
                  </a:cubicBezTo>
                  <a:cubicBezTo>
                    <a:pt x="6258" y="17536"/>
                    <a:pt x="6353" y="17517"/>
                    <a:pt x="6428" y="17479"/>
                  </a:cubicBezTo>
                  <a:lnTo>
                    <a:pt x="9614" y="15336"/>
                  </a:lnTo>
                  <a:cubicBezTo>
                    <a:pt x="11321" y="14198"/>
                    <a:pt x="12325" y="12264"/>
                    <a:pt x="12325" y="10216"/>
                  </a:cubicBezTo>
                  <a:lnTo>
                    <a:pt x="12325" y="1684"/>
                  </a:lnTo>
                  <a:cubicBezTo>
                    <a:pt x="12325" y="1494"/>
                    <a:pt x="12193" y="1323"/>
                    <a:pt x="12003" y="1286"/>
                  </a:cubicBezTo>
                  <a:lnTo>
                    <a:pt x="6258" y="15"/>
                  </a:lnTo>
                  <a:cubicBezTo>
                    <a:pt x="6229" y="6"/>
                    <a:pt x="6196" y="1"/>
                    <a:pt x="6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007413" y="4341225"/>
              <a:ext cx="91400" cy="34775"/>
            </a:xfrm>
            <a:custGeom>
              <a:avLst/>
              <a:gdLst/>
              <a:ahLst/>
              <a:cxnLst/>
              <a:rect l="l" t="t" r="r" b="b"/>
              <a:pathLst>
                <a:path w="3656" h="1391" extrusionOk="0">
                  <a:moveTo>
                    <a:pt x="587" y="1"/>
                  </a:moveTo>
                  <a:cubicBezTo>
                    <a:pt x="133" y="1"/>
                    <a:pt x="1" y="677"/>
                    <a:pt x="470" y="821"/>
                  </a:cubicBezTo>
                  <a:lnTo>
                    <a:pt x="489" y="821"/>
                  </a:lnTo>
                  <a:cubicBezTo>
                    <a:pt x="3125" y="1390"/>
                    <a:pt x="3011" y="1390"/>
                    <a:pt x="3087" y="1390"/>
                  </a:cubicBezTo>
                  <a:cubicBezTo>
                    <a:pt x="3580" y="1390"/>
                    <a:pt x="3655" y="670"/>
                    <a:pt x="3181" y="575"/>
                  </a:cubicBezTo>
                  <a:lnTo>
                    <a:pt x="660" y="6"/>
                  </a:lnTo>
                  <a:cubicBezTo>
                    <a:pt x="635" y="2"/>
                    <a:pt x="611" y="1"/>
                    <a:pt x="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910113" y="4396350"/>
              <a:ext cx="143675" cy="207650"/>
            </a:xfrm>
            <a:custGeom>
              <a:avLst/>
              <a:gdLst/>
              <a:ahLst/>
              <a:cxnLst/>
              <a:rect l="l" t="t" r="r" b="b"/>
              <a:pathLst>
                <a:path w="5747" h="8306" extrusionOk="0">
                  <a:moveTo>
                    <a:pt x="2883" y="906"/>
                  </a:moveTo>
                  <a:cubicBezTo>
                    <a:pt x="3499" y="906"/>
                    <a:pt x="4115" y="1318"/>
                    <a:pt x="4115" y="2143"/>
                  </a:cubicBezTo>
                  <a:lnTo>
                    <a:pt x="4115" y="2541"/>
                  </a:lnTo>
                  <a:lnTo>
                    <a:pt x="1650" y="2541"/>
                  </a:lnTo>
                  <a:lnTo>
                    <a:pt x="1650" y="2143"/>
                  </a:lnTo>
                  <a:cubicBezTo>
                    <a:pt x="1650" y="1318"/>
                    <a:pt x="2267" y="906"/>
                    <a:pt x="2883" y="906"/>
                  </a:cubicBezTo>
                  <a:close/>
                  <a:moveTo>
                    <a:pt x="4931" y="3376"/>
                  </a:moveTo>
                  <a:lnTo>
                    <a:pt x="4931" y="7471"/>
                  </a:lnTo>
                  <a:lnTo>
                    <a:pt x="816" y="7471"/>
                  </a:lnTo>
                  <a:lnTo>
                    <a:pt x="816" y="3376"/>
                  </a:lnTo>
                  <a:close/>
                  <a:moveTo>
                    <a:pt x="2883" y="1"/>
                  </a:moveTo>
                  <a:cubicBezTo>
                    <a:pt x="1707" y="1"/>
                    <a:pt x="778" y="968"/>
                    <a:pt x="816" y="2143"/>
                  </a:cubicBezTo>
                  <a:lnTo>
                    <a:pt x="816" y="2541"/>
                  </a:lnTo>
                  <a:lnTo>
                    <a:pt x="418" y="2541"/>
                  </a:lnTo>
                  <a:cubicBezTo>
                    <a:pt x="190" y="2541"/>
                    <a:pt x="1" y="2731"/>
                    <a:pt x="1" y="2959"/>
                  </a:cubicBezTo>
                  <a:lnTo>
                    <a:pt x="1" y="7889"/>
                  </a:lnTo>
                  <a:cubicBezTo>
                    <a:pt x="1" y="8116"/>
                    <a:pt x="190" y="8306"/>
                    <a:pt x="418" y="8306"/>
                  </a:cubicBezTo>
                  <a:lnTo>
                    <a:pt x="5348" y="8306"/>
                  </a:lnTo>
                  <a:cubicBezTo>
                    <a:pt x="5575" y="8287"/>
                    <a:pt x="5746" y="8116"/>
                    <a:pt x="5746" y="7889"/>
                  </a:cubicBezTo>
                  <a:lnTo>
                    <a:pt x="5746" y="2959"/>
                  </a:lnTo>
                  <a:cubicBezTo>
                    <a:pt x="5746" y="2731"/>
                    <a:pt x="5575" y="2541"/>
                    <a:pt x="5348" y="2541"/>
                  </a:cubicBezTo>
                  <a:lnTo>
                    <a:pt x="4931" y="2541"/>
                  </a:lnTo>
                  <a:lnTo>
                    <a:pt x="4931" y="2143"/>
                  </a:lnTo>
                  <a:cubicBezTo>
                    <a:pt x="4969" y="968"/>
                    <a:pt x="4040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971738" y="4501075"/>
              <a:ext cx="20425" cy="60850"/>
            </a:xfrm>
            <a:custGeom>
              <a:avLst/>
              <a:gdLst/>
              <a:ahLst/>
              <a:cxnLst/>
              <a:rect l="l" t="t" r="r" b="b"/>
              <a:pathLst>
                <a:path w="817" h="2434" extrusionOk="0">
                  <a:moveTo>
                    <a:pt x="387" y="1"/>
                  </a:moveTo>
                  <a:cubicBezTo>
                    <a:pt x="173" y="1"/>
                    <a:pt x="1" y="183"/>
                    <a:pt x="1" y="400"/>
                  </a:cubicBezTo>
                  <a:lnTo>
                    <a:pt x="1" y="2050"/>
                  </a:lnTo>
                  <a:cubicBezTo>
                    <a:pt x="20" y="2306"/>
                    <a:pt x="214" y="2434"/>
                    <a:pt x="408" y="2434"/>
                  </a:cubicBezTo>
                  <a:cubicBezTo>
                    <a:pt x="603" y="2434"/>
                    <a:pt x="797" y="2306"/>
                    <a:pt x="816" y="2050"/>
                  </a:cubicBezTo>
                  <a:lnTo>
                    <a:pt x="816" y="400"/>
                  </a:lnTo>
                  <a:cubicBezTo>
                    <a:pt x="816" y="173"/>
                    <a:pt x="645" y="2"/>
                    <a:pt x="418" y="2"/>
                  </a:cubicBezTo>
                  <a:cubicBezTo>
                    <a:pt x="407" y="1"/>
                    <a:pt x="397" y="1"/>
                    <a:pt x="3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36"/>
          <p:cNvGrpSpPr/>
          <p:nvPr/>
        </p:nvGrpSpPr>
        <p:grpSpPr>
          <a:xfrm>
            <a:off x="1984251" y="3848238"/>
            <a:ext cx="365750" cy="302447"/>
            <a:chOff x="4667413" y="5261950"/>
            <a:chExt cx="475000" cy="389200"/>
          </a:xfrm>
        </p:grpSpPr>
        <p:sp>
          <p:nvSpPr>
            <p:cNvPr id="751" name="Google Shape;751;p36"/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6"/>
          <p:cNvGrpSpPr/>
          <p:nvPr/>
        </p:nvGrpSpPr>
        <p:grpSpPr>
          <a:xfrm>
            <a:off x="4750369" y="1671650"/>
            <a:ext cx="578325" cy="487500"/>
            <a:chOff x="4764875" y="1706700"/>
            <a:chExt cx="578325" cy="487500"/>
          </a:xfrm>
        </p:grpSpPr>
        <p:sp>
          <p:nvSpPr>
            <p:cNvPr id="767" name="Google Shape;767;p36"/>
            <p:cNvSpPr/>
            <p:nvPr/>
          </p:nvSpPr>
          <p:spPr>
            <a:xfrm flipH="1">
              <a:off x="5274500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764875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36"/>
          <p:cNvGrpSpPr/>
          <p:nvPr/>
        </p:nvGrpSpPr>
        <p:grpSpPr>
          <a:xfrm>
            <a:off x="1877955" y="3755712"/>
            <a:ext cx="578325" cy="487500"/>
            <a:chOff x="2099175" y="3289450"/>
            <a:chExt cx="578325" cy="487500"/>
          </a:xfrm>
        </p:grpSpPr>
        <p:sp>
          <p:nvSpPr>
            <p:cNvPr id="773" name="Google Shape;773;p36"/>
            <p:cNvSpPr/>
            <p:nvPr/>
          </p:nvSpPr>
          <p:spPr>
            <a:xfrm flipH="1">
              <a:off x="2608800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2099175" y="328945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7292B-800B-6AD0-50E6-2AA3143EEC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29238" y="2069772"/>
            <a:ext cx="35936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/>
              <a:t>Modelos Supervisionados</a:t>
            </a:r>
            <a:r>
              <a:rPr lang="pt-BR" sz="1200" dirty="0"/>
              <a:t>: Algoritmos de aprendizado supervisionado que são treinados com dados de transações passadas para identificar atividades suspeitas.</a:t>
            </a:r>
          </a:p>
          <a:p>
            <a:pPr marL="171450" indent="-171450" defTabSz="914400" eaLnBrk="0" fontAlgn="base" latinLnBrk="0" hangingPunct="0">
              <a:buFont typeface="Arial" panose="020B0604020202020204" pitchFamily="34" charset="0"/>
              <a:buChar char="•"/>
              <a:tabLst/>
            </a:pPr>
            <a:r>
              <a:rPr lang="pt-BR" sz="1200" b="1" dirty="0"/>
              <a:t>Redes Bayesianas e Redes Neurais</a:t>
            </a:r>
            <a:r>
              <a:rPr lang="pt-BR" sz="1200" dirty="0"/>
              <a:t>: Analisam probabilidades e padrões para identificar desvios do comportamento normal.</a:t>
            </a:r>
            <a:endParaRPr lang="pt-BR" altLang="pt-BR" sz="700" dirty="0"/>
          </a:p>
        </p:txBody>
      </p:sp>
    </p:spTree>
    <p:extLst>
      <p:ext uri="{BB962C8B-B14F-4D97-AF65-F5344CB8AC3E}">
        <p14:creationId xmlns:p14="http://schemas.microsoft.com/office/powerpoint/2010/main" val="212677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03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618825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800" dirty="0">
                <a:solidFill>
                  <a:schemeClr val="accent6"/>
                </a:solidFill>
              </a:rPr>
              <a:t>[</a:t>
            </a:r>
            <a:r>
              <a:rPr lang="pt-BR" sz="1800" dirty="0"/>
              <a:t>Introdução do contexto do projeto</a:t>
            </a:r>
            <a:r>
              <a:rPr lang="pt-BR" sz="1800" dirty="0">
                <a:solidFill>
                  <a:schemeClr val="accent6"/>
                </a:solidFill>
              </a:rPr>
              <a:t>]</a:t>
            </a:r>
            <a:r>
              <a:rPr lang="pt-BR" sz="2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7BCBA4-56DF-A713-4A63-41796FB33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737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Aplicativo De Mobilidade</a:t>
            </a:r>
            <a:r>
              <a:rPr lang="pt-BR" sz="2000" dirty="0">
                <a:solidFill>
                  <a:schemeClr val="accent2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 Urbana Inteligente</a:t>
            </a:r>
            <a:r>
              <a:rPr lang="pt-BR" sz="2000" kern="100" dirty="0">
                <a:solidFill>
                  <a:srgbClr val="000000"/>
                </a:solidFill>
                <a:latin typeface="Fira Code" pitchFamily="1" charset="0"/>
                <a:ea typeface="Fira Code" pitchFamily="1" charset="0"/>
                <a:cs typeface="Fira Code" pitchFamily="1" charset="0"/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3" name="Google Shape;583;p33"/>
          <p:cNvSpPr txBox="1"/>
          <p:nvPr/>
        </p:nvSpPr>
        <p:spPr>
          <a:xfrm>
            <a:off x="1642225" y="1276463"/>
            <a:ext cx="3531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Objetivo geral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4" name="Google Shape;584;p33"/>
          <p:cNvSpPr txBox="1"/>
          <p:nvPr/>
        </p:nvSpPr>
        <p:spPr>
          <a:xfrm>
            <a:off x="1642225" y="2982667"/>
            <a:ext cx="3531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Create a mobile app</a:t>
            </a:r>
            <a:endParaRPr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6" name="Google Shape;586;p33"/>
          <p:cNvSpPr txBox="1"/>
          <p:nvPr/>
        </p:nvSpPr>
        <p:spPr>
          <a:xfrm>
            <a:off x="2049383" y="1701800"/>
            <a:ext cx="6712583" cy="7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</a:t>
            </a:r>
            <a:r>
              <a:rPr lang="pt-BR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Desenvolver um aplicativo de mobilidade urbana inteligente que utilize dados em tempo real para otimizar rotas de transporte privado, promovendo caronas compartilhadas de forma eficiente e sustentável na cidade de São Paulo </a:t>
            </a:r>
            <a:r>
              <a:rPr lang="en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592" name="Google Shape;592;p33"/>
          <p:cNvGrpSpPr/>
          <p:nvPr/>
        </p:nvGrpSpPr>
        <p:grpSpPr>
          <a:xfrm>
            <a:off x="4288657" y="3527161"/>
            <a:ext cx="365741" cy="365763"/>
            <a:chOff x="1776263" y="1291425"/>
            <a:chExt cx="431400" cy="431375"/>
          </a:xfrm>
        </p:grpSpPr>
        <p:sp>
          <p:nvSpPr>
            <p:cNvPr id="593" name="Google Shape;593;p33"/>
            <p:cNvSpPr/>
            <p:nvPr/>
          </p:nvSpPr>
          <p:spPr>
            <a:xfrm>
              <a:off x="1784313" y="1367250"/>
              <a:ext cx="414800" cy="347500"/>
            </a:xfrm>
            <a:custGeom>
              <a:avLst/>
              <a:gdLst/>
              <a:ahLst/>
              <a:cxnLst/>
              <a:rect l="l" t="t" r="r" b="b"/>
              <a:pathLst>
                <a:path w="16592" h="13900" extrusionOk="0">
                  <a:moveTo>
                    <a:pt x="1" y="1"/>
                  </a:moveTo>
                  <a:lnTo>
                    <a:pt x="1" y="13217"/>
                  </a:lnTo>
                  <a:cubicBezTo>
                    <a:pt x="1" y="13596"/>
                    <a:pt x="304" y="13900"/>
                    <a:pt x="683" y="13900"/>
                  </a:cubicBezTo>
                  <a:lnTo>
                    <a:pt x="15928" y="13900"/>
                  </a:lnTo>
                  <a:cubicBezTo>
                    <a:pt x="16289" y="13900"/>
                    <a:pt x="16592" y="13596"/>
                    <a:pt x="16592" y="13217"/>
                  </a:cubicBezTo>
                  <a:lnTo>
                    <a:pt x="165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784313" y="1299950"/>
              <a:ext cx="414800" cy="67325"/>
            </a:xfrm>
            <a:custGeom>
              <a:avLst/>
              <a:gdLst/>
              <a:ahLst/>
              <a:cxnLst/>
              <a:rect l="l" t="t" r="r" b="b"/>
              <a:pathLst>
                <a:path w="16592" h="2693" extrusionOk="0">
                  <a:moveTo>
                    <a:pt x="683" y="0"/>
                  </a:moveTo>
                  <a:cubicBezTo>
                    <a:pt x="304" y="0"/>
                    <a:pt x="1" y="304"/>
                    <a:pt x="1" y="664"/>
                  </a:cubicBezTo>
                  <a:lnTo>
                    <a:pt x="1" y="2693"/>
                  </a:lnTo>
                  <a:lnTo>
                    <a:pt x="16592" y="2693"/>
                  </a:lnTo>
                  <a:lnTo>
                    <a:pt x="16592" y="664"/>
                  </a:lnTo>
                  <a:cubicBezTo>
                    <a:pt x="16592" y="304"/>
                    <a:pt x="16289" y="0"/>
                    <a:pt x="15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840263" y="1422725"/>
              <a:ext cx="303400" cy="50750"/>
            </a:xfrm>
            <a:custGeom>
              <a:avLst/>
              <a:gdLst/>
              <a:ahLst/>
              <a:cxnLst/>
              <a:rect l="l" t="t" r="r" b="b"/>
              <a:pathLst>
                <a:path w="12136" h="2030" extrusionOk="0">
                  <a:moveTo>
                    <a:pt x="0" y="0"/>
                  </a:moveTo>
                  <a:lnTo>
                    <a:pt x="0" y="2029"/>
                  </a:lnTo>
                  <a:lnTo>
                    <a:pt x="12135" y="2029"/>
                  </a:lnTo>
                  <a:lnTo>
                    <a:pt x="12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991938" y="1526525"/>
              <a:ext cx="151725" cy="135125"/>
            </a:xfrm>
            <a:custGeom>
              <a:avLst/>
              <a:gdLst/>
              <a:ahLst/>
              <a:cxnLst/>
              <a:rect l="l" t="t" r="r" b="b"/>
              <a:pathLst>
                <a:path w="6069" h="5405" extrusionOk="0">
                  <a:moveTo>
                    <a:pt x="1" y="1"/>
                  </a:moveTo>
                  <a:lnTo>
                    <a:pt x="1" y="5405"/>
                  </a:lnTo>
                  <a:lnTo>
                    <a:pt x="6068" y="5405"/>
                  </a:lnTo>
                  <a:lnTo>
                    <a:pt x="60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840263" y="1526525"/>
              <a:ext cx="100975" cy="135125"/>
            </a:xfrm>
            <a:custGeom>
              <a:avLst/>
              <a:gdLst/>
              <a:ahLst/>
              <a:cxnLst/>
              <a:rect l="l" t="t" r="r" b="b"/>
              <a:pathLst>
                <a:path w="4039" h="5405" extrusionOk="0">
                  <a:moveTo>
                    <a:pt x="0" y="1"/>
                  </a:moveTo>
                  <a:lnTo>
                    <a:pt x="0" y="5405"/>
                  </a:lnTo>
                  <a:lnTo>
                    <a:pt x="4039" y="5405"/>
                  </a:lnTo>
                  <a:lnTo>
                    <a:pt x="4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2019438" y="1325075"/>
              <a:ext cx="19925" cy="17125"/>
            </a:xfrm>
            <a:custGeom>
              <a:avLst/>
              <a:gdLst/>
              <a:ahLst/>
              <a:cxnLst/>
              <a:rect l="l" t="t" r="r" b="b"/>
              <a:pathLst>
                <a:path w="797" h="685" extrusionOk="0">
                  <a:moveTo>
                    <a:pt x="456" y="0"/>
                  </a:moveTo>
                  <a:cubicBezTo>
                    <a:pt x="152" y="0"/>
                    <a:pt x="0" y="361"/>
                    <a:pt x="209" y="588"/>
                  </a:cubicBezTo>
                  <a:cubicBezTo>
                    <a:pt x="282" y="655"/>
                    <a:pt x="368" y="684"/>
                    <a:pt x="451" y="684"/>
                  </a:cubicBezTo>
                  <a:cubicBezTo>
                    <a:pt x="630" y="684"/>
                    <a:pt x="797" y="548"/>
                    <a:pt x="797" y="342"/>
                  </a:cubicBezTo>
                  <a:cubicBezTo>
                    <a:pt x="797" y="152"/>
                    <a:pt x="645" y="0"/>
                    <a:pt x="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2054038" y="1325075"/>
              <a:ext cx="54550" cy="17075"/>
            </a:xfrm>
            <a:custGeom>
              <a:avLst/>
              <a:gdLst/>
              <a:ahLst/>
              <a:cxnLst/>
              <a:rect l="l" t="t" r="r" b="b"/>
              <a:pathLst>
                <a:path w="2182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lnTo>
                    <a:pt x="1764" y="683"/>
                  </a:lnTo>
                  <a:cubicBezTo>
                    <a:pt x="2181" y="645"/>
                    <a:pt x="2181" y="38"/>
                    <a:pt x="17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2119763" y="1325025"/>
              <a:ext cx="55650" cy="17175"/>
            </a:xfrm>
            <a:custGeom>
              <a:avLst/>
              <a:gdLst/>
              <a:ahLst/>
              <a:cxnLst/>
              <a:rect l="l" t="t" r="r" b="b"/>
              <a:pathLst>
                <a:path w="2226" h="687" extrusionOk="0">
                  <a:moveTo>
                    <a:pt x="446" y="1"/>
                  </a:moveTo>
                  <a:cubicBezTo>
                    <a:pt x="0" y="1"/>
                    <a:pt x="0" y="686"/>
                    <a:pt x="446" y="686"/>
                  </a:cubicBezTo>
                  <a:cubicBezTo>
                    <a:pt x="458" y="686"/>
                    <a:pt x="469" y="686"/>
                    <a:pt x="481" y="685"/>
                  </a:cubicBezTo>
                  <a:lnTo>
                    <a:pt x="1828" y="685"/>
                  </a:lnTo>
                  <a:cubicBezTo>
                    <a:pt x="2226" y="647"/>
                    <a:pt x="2226" y="40"/>
                    <a:pt x="1828" y="2"/>
                  </a:cubicBezTo>
                  <a:lnTo>
                    <a:pt x="481" y="2"/>
                  </a:lnTo>
                  <a:cubicBezTo>
                    <a:pt x="469" y="1"/>
                    <a:pt x="458" y="1"/>
                    <a:pt x="4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76263" y="1291425"/>
              <a:ext cx="431400" cy="431375"/>
            </a:xfrm>
            <a:custGeom>
              <a:avLst/>
              <a:gdLst/>
              <a:ahLst/>
              <a:cxnLst/>
              <a:rect l="l" t="t" r="r" b="b"/>
              <a:pathLst>
                <a:path w="17256" h="17255" extrusionOk="0">
                  <a:moveTo>
                    <a:pt x="16282" y="681"/>
                  </a:moveTo>
                  <a:cubicBezTo>
                    <a:pt x="16457" y="681"/>
                    <a:pt x="16592" y="826"/>
                    <a:pt x="16592" y="1005"/>
                  </a:cubicBezTo>
                  <a:lnTo>
                    <a:pt x="16592" y="2693"/>
                  </a:lnTo>
                  <a:lnTo>
                    <a:pt x="664" y="2693"/>
                  </a:lnTo>
                  <a:lnTo>
                    <a:pt x="664" y="1005"/>
                  </a:lnTo>
                  <a:cubicBezTo>
                    <a:pt x="664" y="834"/>
                    <a:pt x="816" y="683"/>
                    <a:pt x="1005" y="683"/>
                  </a:cubicBezTo>
                  <a:lnTo>
                    <a:pt x="16250" y="683"/>
                  </a:lnTo>
                  <a:cubicBezTo>
                    <a:pt x="16261" y="682"/>
                    <a:pt x="16272" y="681"/>
                    <a:pt x="16282" y="681"/>
                  </a:cubicBezTo>
                  <a:close/>
                  <a:moveTo>
                    <a:pt x="16592" y="3375"/>
                  </a:moveTo>
                  <a:lnTo>
                    <a:pt x="16592" y="16250"/>
                  </a:lnTo>
                  <a:cubicBezTo>
                    <a:pt x="16592" y="16440"/>
                    <a:pt x="16440" y="16591"/>
                    <a:pt x="16250" y="16591"/>
                  </a:cubicBezTo>
                  <a:lnTo>
                    <a:pt x="1005" y="16591"/>
                  </a:lnTo>
                  <a:cubicBezTo>
                    <a:pt x="816" y="16591"/>
                    <a:pt x="664" y="16440"/>
                    <a:pt x="664" y="16250"/>
                  </a:cubicBezTo>
                  <a:lnTo>
                    <a:pt x="664" y="3375"/>
                  </a:lnTo>
                  <a:close/>
                  <a:moveTo>
                    <a:pt x="1005" y="0"/>
                  </a:moveTo>
                  <a:cubicBezTo>
                    <a:pt x="436" y="0"/>
                    <a:pt x="0" y="455"/>
                    <a:pt x="0" y="1005"/>
                  </a:cubicBezTo>
                  <a:lnTo>
                    <a:pt x="0" y="16250"/>
                  </a:lnTo>
                  <a:cubicBezTo>
                    <a:pt x="0" y="16819"/>
                    <a:pt x="436" y="17255"/>
                    <a:pt x="1005" y="17255"/>
                  </a:cubicBezTo>
                  <a:lnTo>
                    <a:pt x="16250" y="17255"/>
                  </a:lnTo>
                  <a:cubicBezTo>
                    <a:pt x="16800" y="17255"/>
                    <a:pt x="17255" y="16819"/>
                    <a:pt x="17255" y="16250"/>
                  </a:cubicBezTo>
                  <a:lnTo>
                    <a:pt x="17255" y="1005"/>
                  </a:lnTo>
                  <a:cubicBezTo>
                    <a:pt x="17255" y="455"/>
                    <a:pt x="16800" y="0"/>
                    <a:pt x="16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831713" y="1414650"/>
              <a:ext cx="320000" cy="67350"/>
            </a:xfrm>
            <a:custGeom>
              <a:avLst/>
              <a:gdLst/>
              <a:ahLst/>
              <a:cxnLst/>
              <a:rect l="l" t="t" r="r" b="b"/>
              <a:pathLst>
                <a:path w="12800" h="2694" extrusionOk="0">
                  <a:moveTo>
                    <a:pt x="12136" y="665"/>
                  </a:moveTo>
                  <a:lnTo>
                    <a:pt x="12136" y="2011"/>
                  </a:lnTo>
                  <a:lnTo>
                    <a:pt x="664" y="2011"/>
                  </a:lnTo>
                  <a:lnTo>
                    <a:pt x="664" y="665"/>
                  </a:lnTo>
                  <a:close/>
                  <a:moveTo>
                    <a:pt x="342" y="1"/>
                  </a:moveTo>
                  <a:cubicBezTo>
                    <a:pt x="152" y="1"/>
                    <a:pt x="1" y="153"/>
                    <a:pt x="1" y="323"/>
                  </a:cubicBezTo>
                  <a:lnTo>
                    <a:pt x="1" y="2352"/>
                  </a:lnTo>
                  <a:cubicBezTo>
                    <a:pt x="1" y="2542"/>
                    <a:pt x="152" y="2694"/>
                    <a:pt x="342" y="2694"/>
                  </a:cubicBezTo>
                  <a:lnTo>
                    <a:pt x="12477" y="2694"/>
                  </a:lnTo>
                  <a:cubicBezTo>
                    <a:pt x="12648" y="2694"/>
                    <a:pt x="12800" y="2542"/>
                    <a:pt x="12800" y="2352"/>
                  </a:cubicBezTo>
                  <a:lnTo>
                    <a:pt x="12800" y="323"/>
                  </a:lnTo>
                  <a:cubicBezTo>
                    <a:pt x="12800" y="153"/>
                    <a:pt x="12648" y="1"/>
                    <a:pt x="124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831713" y="1518000"/>
              <a:ext cx="118075" cy="152200"/>
            </a:xfrm>
            <a:custGeom>
              <a:avLst/>
              <a:gdLst/>
              <a:ahLst/>
              <a:cxnLst/>
              <a:rect l="l" t="t" r="r" b="b"/>
              <a:pathLst>
                <a:path w="4723" h="6088" extrusionOk="0">
                  <a:moveTo>
                    <a:pt x="4040" y="683"/>
                  </a:moveTo>
                  <a:lnTo>
                    <a:pt x="4040" y="5405"/>
                  </a:lnTo>
                  <a:lnTo>
                    <a:pt x="664" y="5405"/>
                  </a:lnTo>
                  <a:lnTo>
                    <a:pt x="664" y="683"/>
                  </a:lnTo>
                  <a:close/>
                  <a:moveTo>
                    <a:pt x="342" y="1"/>
                  </a:moveTo>
                  <a:cubicBezTo>
                    <a:pt x="152" y="1"/>
                    <a:pt x="1" y="152"/>
                    <a:pt x="1" y="342"/>
                  </a:cubicBezTo>
                  <a:lnTo>
                    <a:pt x="1" y="5746"/>
                  </a:lnTo>
                  <a:cubicBezTo>
                    <a:pt x="1" y="5917"/>
                    <a:pt x="152" y="6068"/>
                    <a:pt x="342" y="6087"/>
                  </a:cubicBezTo>
                  <a:lnTo>
                    <a:pt x="4381" y="6087"/>
                  </a:lnTo>
                  <a:cubicBezTo>
                    <a:pt x="4570" y="6087"/>
                    <a:pt x="4722" y="5917"/>
                    <a:pt x="4722" y="5746"/>
                  </a:cubicBezTo>
                  <a:lnTo>
                    <a:pt x="4722" y="342"/>
                  </a:lnTo>
                  <a:cubicBezTo>
                    <a:pt x="4722" y="152"/>
                    <a:pt x="4570" y="1"/>
                    <a:pt x="43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983413" y="1518000"/>
              <a:ext cx="168300" cy="152200"/>
            </a:xfrm>
            <a:custGeom>
              <a:avLst/>
              <a:gdLst/>
              <a:ahLst/>
              <a:cxnLst/>
              <a:rect l="l" t="t" r="r" b="b"/>
              <a:pathLst>
                <a:path w="6732" h="6088" extrusionOk="0">
                  <a:moveTo>
                    <a:pt x="5518" y="683"/>
                  </a:moveTo>
                  <a:lnTo>
                    <a:pt x="3357" y="2598"/>
                  </a:lnTo>
                  <a:lnTo>
                    <a:pt x="1214" y="683"/>
                  </a:lnTo>
                  <a:close/>
                  <a:moveTo>
                    <a:pt x="664" y="1100"/>
                  </a:moveTo>
                  <a:lnTo>
                    <a:pt x="2864" y="3034"/>
                  </a:lnTo>
                  <a:lnTo>
                    <a:pt x="664" y="4987"/>
                  </a:lnTo>
                  <a:lnTo>
                    <a:pt x="664" y="1100"/>
                  </a:lnTo>
                  <a:close/>
                  <a:moveTo>
                    <a:pt x="6068" y="1081"/>
                  </a:moveTo>
                  <a:lnTo>
                    <a:pt x="6068" y="4987"/>
                  </a:lnTo>
                  <a:lnTo>
                    <a:pt x="3869" y="3034"/>
                  </a:lnTo>
                  <a:lnTo>
                    <a:pt x="6068" y="1081"/>
                  </a:lnTo>
                  <a:close/>
                  <a:moveTo>
                    <a:pt x="3376" y="3508"/>
                  </a:moveTo>
                  <a:lnTo>
                    <a:pt x="5518" y="5405"/>
                  </a:lnTo>
                  <a:lnTo>
                    <a:pt x="1233" y="5405"/>
                  </a:lnTo>
                  <a:lnTo>
                    <a:pt x="3376" y="3508"/>
                  </a:lnTo>
                  <a:close/>
                  <a:moveTo>
                    <a:pt x="323" y="1"/>
                  </a:moveTo>
                  <a:cubicBezTo>
                    <a:pt x="152" y="20"/>
                    <a:pt x="0" y="171"/>
                    <a:pt x="0" y="342"/>
                  </a:cubicBezTo>
                  <a:lnTo>
                    <a:pt x="0" y="5746"/>
                  </a:lnTo>
                  <a:cubicBezTo>
                    <a:pt x="0" y="5936"/>
                    <a:pt x="152" y="6068"/>
                    <a:pt x="342" y="6087"/>
                  </a:cubicBezTo>
                  <a:lnTo>
                    <a:pt x="6409" y="6087"/>
                  </a:lnTo>
                  <a:cubicBezTo>
                    <a:pt x="6580" y="6068"/>
                    <a:pt x="6732" y="5936"/>
                    <a:pt x="6732" y="5746"/>
                  </a:cubicBezTo>
                  <a:lnTo>
                    <a:pt x="6732" y="342"/>
                  </a:lnTo>
                  <a:cubicBezTo>
                    <a:pt x="6732" y="152"/>
                    <a:pt x="6580" y="1"/>
                    <a:pt x="64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" name="Google Shape;605;p33"/>
          <p:cNvGrpSpPr/>
          <p:nvPr/>
        </p:nvGrpSpPr>
        <p:grpSpPr>
          <a:xfrm>
            <a:off x="6522835" y="3527165"/>
            <a:ext cx="365742" cy="365754"/>
            <a:chOff x="3826463" y="1356825"/>
            <a:chExt cx="366475" cy="366450"/>
          </a:xfrm>
        </p:grpSpPr>
        <p:sp>
          <p:nvSpPr>
            <p:cNvPr id="606" name="Google Shape;606;p33"/>
            <p:cNvSpPr/>
            <p:nvPr/>
          </p:nvSpPr>
          <p:spPr>
            <a:xfrm>
              <a:off x="3833588" y="1420825"/>
              <a:ext cx="351750" cy="294875"/>
            </a:xfrm>
            <a:custGeom>
              <a:avLst/>
              <a:gdLst/>
              <a:ahLst/>
              <a:cxnLst/>
              <a:rect l="l" t="t" r="r" b="b"/>
              <a:pathLst>
                <a:path w="14070" h="11795" extrusionOk="0">
                  <a:moveTo>
                    <a:pt x="0" y="0"/>
                  </a:moveTo>
                  <a:lnTo>
                    <a:pt x="0" y="11226"/>
                  </a:lnTo>
                  <a:cubicBezTo>
                    <a:pt x="0" y="11548"/>
                    <a:pt x="247" y="11795"/>
                    <a:pt x="569" y="11795"/>
                  </a:cubicBezTo>
                  <a:lnTo>
                    <a:pt x="13501" y="11795"/>
                  </a:lnTo>
                  <a:cubicBezTo>
                    <a:pt x="13823" y="11795"/>
                    <a:pt x="14070" y="11548"/>
                    <a:pt x="14070" y="11226"/>
                  </a:cubicBezTo>
                  <a:lnTo>
                    <a:pt x="140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3833588" y="1363950"/>
              <a:ext cx="351750" cy="56900"/>
            </a:xfrm>
            <a:custGeom>
              <a:avLst/>
              <a:gdLst/>
              <a:ahLst/>
              <a:cxnLst/>
              <a:rect l="l" t="t" r="r" b="b"/>
              <a:pathLst>
                <a:path w="14070" h="2276" extrusionOk="0">
                  <a:moveTo>
                    <a:pt x="569" y="0"/>
                  </a:moveTo>
                  <a:cubicBezTo>
                    <a:pt x="247" y="0"/>
                    <a:pt x="0" y="247"/>
                    <a:pt x="0" y="569"/>
                  </a:cubicBezTo>
                  <a:lnTo>
                    <a:pt x="0" y="2275"/>
                  </a:lnTo>
                  <a:lnTo>
                    <a:pt x="14070" y="2275"/>
                  </a:lnTo>
                  <a:lnTo>
                    <a:pt x="14070" y="569"/>
                  </a:lnTo>
                  <a:cubicBezTo>
                    <a:pt x="14070" y="247"/>
                    <a:pt x="13823" y="0"/>
                    <a:pt x="135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3876238" y="1468225"/>
              <a:ext cx="266450" cy="128975"/>
            </a:xfrm>
            <a:custGeom>
              <a:avLst/>
              <a:gdLst/>
              <a:ahLst/>
              <a:cxnLst/>
              <a:rect l="l" t="t" r="r" b="b"/>
              <a:pathLst>
                <a:path w="10658" h="5159" extrusionOk="0">
                  <a:moveTo>
                    <a:pt x="589" y="1"/>
                  </a:moveTo>
                  <a:cubicBezTo>
                    <a:pt x="266" y="1"/>
                    <a:pt x="1" y="266"/>
                    <a:pt x="1" y="569"/>
                  </a:cubicBezTo>
                  <a:lnTo>
                    <a:pt x="1" y="4589"/>
                  </a:lnTo>
                  <a:cubicBezTo>
                    <a:pt x="20" y="4893"/>
                    <a:pt x="266" y="5158"/>
                    <a:pt x="589" y="5158"/>
                  </a:cubicBezTo>
                  <a:lnTo>
                    <a:pt x="10088" y="5158"/>
                  </a:lnTo>
                  <a:cubicBezTo>
                    <a:pt x="10392" y="5158"/>
                    <a:pt x="10657" y="4893"/>
                    <a:pt x="10657" y="4589"/>
                  </a:cubicBezTo>
                  <a:lnTo>
                    <a:pt x="10657" y="569"/>
                  </a:lnTo>
                  <a:cubicBezTo>
                    <a:pt x="10657" y="266"/>
                    <a:pt x="10411" y="1"/>
                    <a:pt x="10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3981013" y="1504250"/>
              <a:ext cx="64475" cy="56925"/>
            </a:xfrm>
            <a:custGeom>
              <a:avLst/>
              <a:gdLst/>
              <a:ahLst/>
              <a:cxnLst/>
              <a:rect l="l" t="t" r="r" b="b"/>
              <a:pathLst>
                <a:path w="2579" h="2277" extrusionOk="0">
                  <a:moveTo>
                    <a:pt x="0" y="1"/>
                  </a:moveTo>
                  <a:lnTo>
                    <a:pt x="0" y="2276"/>
                  </a:lnTo>
                  <a:lnTo>
                    <a:pt x="2579" y="11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37863" y="1639825"/>
              <a:ext cx="33700" cy="28825"/>
            </a:xfrm>
            <a:custGeom>
              <a:avLst/>
              <a:gdLst/>
              <a:ahLst/>
              <a:cxnLst/>
              <a:rect l="l" t="t" r="r" b="b"/>
              <a:pathLst>
                <a:path w="1348" h="1153" extrusionOk="0">
                  <a:moveTo>
                    <a:pt x="570" y="1"/>
                  </a:moveTo>
                  <a:cubicBezTo>
                    <a:pt x="266" y="1"/>
                    <a:pt x="1" y="266"/>
                    <a:pt x="1" y="570"/>
                  </a:cubicBezTo>
                  <a:cubicBezTo>
                    <a:pt x="1" y="918"/>
                    <a:pt x="282" y="1153"/>
                    <a:pt x="582" y="1153"/>
                  </a:cubicBezTo>
                  <a:cubicBezTo>
                    <a:pt x="722" y="1153"/>
                    <a:pt x="866" y="1101"/>
                    <a:pt x="987" y="987"/>
                  </a:cubicBezTo>
                  <a:cubicBezTo>
                    <a:pt x="1347" y="626"/>
                    <a:pt x="1082" y="1"/>
                    <a:pt x="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4032688" y="1385275"/>
              <a:ext cx="17075" cy="14375"/>
            </a:xfrm>
            <a:custGeom>
              <a:avLst/>
              <a:gdLst/>
              <a:ahLst/>
              <a:cxnLst/>
              <a:rect l="l" t="t" r="r" b="b"/>
              <a:pathLst>
                <a:path w="683" h="575" extrusionOk="0">
                  <a:moveTo>
                    <a:pt x="398" y="0"/>
                  </a:moveTo>
                  <a:cubicBezTo>
                    <a:pt x="133" y="0"/>
                    <a:pt x="0" y="304"/>
                    <a:pt x="190" y="493"/>
                  </a:cubicBezTo>
                  <a:cubicBezTo>
                    <a:pt x="245" y="549"/>
                    <a:pt x="314" y="574"/>
                    <a:pt x="384" y="574"/>
                  </a:cubicBezTo>
                  <a:cubicBezTo>
                    <a:pt x="527" y="574"/>
                    <a:pt x="670" y="464"/>
                    <a:pt x="683" y="285"/>
                  </a:cubicBezTo>
                  <a:cubicBezTo>
                    <a:pt x="683" y="133"/>
                    <a:pt x="550" y="0"/>
                    <a:pt x="3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4061588" y="1385275"/>
              <a:ext cx="47425" cy="14250"/>
            </a:xfrm>
            <a:custGeom>
              <a:avLst/>
              <a:gdLst/>
              <a:ahLst/>
              <a:cxnLst/>
              <a:rect l="l" t="t" r="r" b="b"/>
              <a:pathLst>
                <a:path w="1897" h="570" extrusionOk="0">
                  <a:moveTo>
                    <a:pt x="380" y="0"/>
                  </a:moveTo>
                  <a:cubicBezTo>
                    <a:pt x="1" y="0"/>
                    <a:pt x="1" y="569"/>
                    <a:pt x="380" y="569"/>
                  </a:cubicBezTo>
                  <a:lnTo>
                    <a:pt x="1518" y="569"/>
                  </a:lnTo>
                  <a:cubicBezTo>
                    <a:pt x="1897" y="569"/>
                    <a:pt x="1897" y="0"/>
                    <a:pt x="15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4118963" y="1385275"/>
              <a:ext cx="47900" cy="14250"/>
            </a:xfrm>
            <a:custGeom>
              <a:avLst/>
              <a:gdLst/>
              <a:ahLst/>
              <a:cxnLst/>
              <a:rect l="l" t="t" r="r" b="b"/>
              <a:pathLst>
                <a:path w="1916" h="570" extrusionOk="0">
                  <a:moveTo>
                    <a:pt x="379" y="0"/>
                  </a:moveTo>
                  <a:cubicBezTo>
                    <a:pt x="0" y="0"/>
                    <a:pt x="0" y="569"/>
                    <a:pt x="379" y="569"/>
                  </a:cubicBezTo>
                  <a:lnTo>
                    <a:pt x="1517" y="569"/>
                  </a:lnTo>
                  <a:cubicBezTo>
                    <a:pt x="1915" y="569"/>
                    <a:pt x="1915" y="0"/>
                    <a:pt x="1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3826463" y="1356825"/>
              <a:ext cx="366475" cy="366450"/>
            </a:xfrm>
            <a:custGeom>
              <a:avLst/>
              <a:gdLst/>
              <a:ahLst/>
              <a:cxnLst/>
              <a:rect l="l" t="t" r="r" b="b"/>
              <a:pathLst>
                <a:path w="14659" h="14658" extrusionOk="0">
                  <a:moveTo>
                    <a:pt x="13786" y="570"/>
                  </a:moveTo>
                  <a:cubicBezTo>
                    <a:pt x="13956" y="570"/>
                    <a:pt x="14070" y="702"/>
                    <a:pt x="14070" y="854"/>
                  </a:cubicBezTo>
                  <a:lnTo>
                    <a:pt x="14070" y="2276"/>
                  </a:lnTo>
                  <a:lnTo>
                    <a:pt x="570" y="2276"/>
                  </a:lnTo>
                  <a:lnTo>
                    <a:pt x="570" y="854"/>
                  </a:lnTo>
                  <a:cubicBezTo>
                    <a:pt x="570" y="702"/>
                    <a:pt x="683" y="570"/>
                    <a:pt x="854" y="570"/>
                  </a:cubicBezTo>
                  <a:close/>
                  <a:moveTo>
                    <a:pt x="14070" y="2864"/>
                  </a:moveTo>
                  <a:lnTo>
                    <a:pt x="14070" y="13786"/>
                  </a:lnTo>
                  <a:cubicBezTo>
                    <a:pt x="14070" y="13956"/>
                    <a:pt x="13956" y="14070"/>
                    <a:pt x="13786" y="14070"/>
                  </a:cubicBezTo>
                  <a:lnTo>
                    <a:pt x="854" y="14070"/>
                  </a:lnTo>
                  <a:cubicBezTo>
                    <a:pt x="683" y="14070"/>
                    <a:pt x="570" y="13956"/>
                    <a:pt x="570" y="13786"/>
                  </a:cubicBezTo>
                  <a:lnTo>
                    <a:pt x="570" y="2864"/>
                  </a:lnTo>
                  <a:close/>
                  <a:moveTo>
                    <a:pt x="854" y="1"/>
                  </a:moveTo>
                  <a:cubicBezTo>
                    <a:pt x="380" y="1"/>
                    <a:pt x="1" y="380"/>
                    <a:pt x="1" y="854"/>
                  </a:cubicBezTo>
                  <a:lnTo>
                    <a:pt x="1" y="13786"/>
                  </a:lnTo>
                  <a:cubicBezTo>
                    <a:pt x="1" y="14260"/>
                    <a:pt x="380" y="14639"/>
                    <a:pt x="854" y="14658"/>
                  </a:cubicBezTo>
                  <a:lnTo>
                    <a:pt x="13786" y="14658"/>
                  </a:lnTo>
                  <a:cubicBezTo>
                    <a:pt x="14260" y="14639"/>
                    <a:pt x="14639" y="14260"/>
                    <a:pt x="14658" y="13786"/>
                  </a:cubicBezTo>
                  <a:lnTo>
                    <a:pt x="14658" y="854"/>
                  </a:lnTo>
                  <a:cubicBezTo>
                    <a:pt x="14639" y="380"/>
                    <a:pt x="14260" y="1"/>
                    <a:pt x="137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3869138" y="1461125"/>
              <a:ext cx="280650" cy="143175"/>
            </a:xfrm>
            <a:custGeom>
              <a:avLst/>
              <a:gdLst/>
              <a:ahLst/>
              <a:cxnLst/>
              <a:rect l="l" t="t" r="r" b="b"/>
              <a:pathLst>
                <a:path w="11226" h="5727" extrusionOk="0">
                  <a:moveTo>
                    <a:pt x="10372" y="569"/>
                  </a:moveTo>
                  <a:cubicBezTo>
                    <a:pt x="10524" y="569"/>
                    <a:pt x="10657" y="702"/>
                    <a:pt x="10657" y="853"/>
                  </a:cubicBezTo>
                  <a:lnTo>
                    <a:pt x="10657" y="4873"/>
                  </a:lnTo>
                  <a:cubicBezTo>
                    <a:pt x="10657" y="5025"/>
                    <a:pt x="10524" y="5158"/>
                    <a:pt x="10372" y="5158"/>
                  </a:cubicBezTo>
                  <a:lnTo>
                    <a:pt x="873" y="5158"/>
                  </a:lnTo>
                  <a:cubicBezTo>
                    <a:pt x="702" y="5158"/>
                    <a:pt x="588" y="5025"/>
                    <a:pt x="588" y="4873"/>
                  </a:cubicBezTo>
                  <a:lnTo>
                    <a:pt x="569" y="853"/>
                  </a:lnTo>
                  <a:cubicBezTo>
                    <a:pt x="569" y="702"/>
                    <a:pt x="702" y="569"/>
                    <a:pt x="854" y="569"/>
                  </a:cubicBezTo>
                  <a:close/>
                  <a:moveTo>
                    <a:pt x="873" y="0"/>
                  </a:moveTo>
                  <a:cubicBezTo>
                    <a:pt x="399" y="0"/>
                    <a:pt x="0" y="379"/>
                    <a:pt x="19" y="853"/>
                  </a:cubicBezTo>
                  <a:lnTo>
                    <a:pt x="19" y="4873"/>
                  </a:lnTo>
                  <a:cubicBezTo>
                    <a:pt x="19" y="5347"/>
                    <a:pt x="399" y="5727"/>
                    <a:pt x="873" y="5727"/>
                  </a:cubicBezTo>
                  <a:lnTo>
                    <a:pt x="10372" y="5727"/>
                  </a:lnTo>
                  <a:cubicBezTo>
                    <a:pt x="10846" y="5727"/>
                    <a:pt x="11226" y="5347"/>
                    <a:pt x="11226" y="4873"/>
                  </a:cubicBezTo>
                  <a:lnTo>
                    <a:pt x="11226" y="853"/>
                  </a:lnTo>
                  <a:cubicBezTo>
                    <a:pt x="11226" y="379"/>
                    <a:pt x="10846" y="0"/>
                    <a:pt x="103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3867713" y="1632825"/>
              <a:ext cx="285100" cy="43050"/>
            </a:xfrm>
            <a:custGeom>
              <a:avLst/>
              <a:gdLst/>
              <a:ahLst/>
              <a:cxnLst/>
              <a:rect l="l" t="t" r="r" b="b"/>
              <a:pathLst>
                <a:path w="11404" h="1722" extrusionOk="0">
                  <a:moveTo>
                    <a:pt x="3376" y="565"/>
                  </a:moveTo>
                  <a:cubicBezTo>
                    <a:pt x="3641" y="565"/>
                    <a:pt x="3755" y="868"/>
                    <a:pt x="3584" y="1058"/>
                  </a:cubicBezTo>
                  <a:cubicBezTo>
                    <a:pt x="3523" y="1113"/>
                    <a:pt x="3449" y="1139"/>
                    <a:pt x="3378" y="1139"/>
                  </a:cubicBezTo>
                  <a:cubicBezTo>
                    <a:pt x="3230" y="1139"/>
                    <a:pt x="3091" y="1029"/>
                    <a:pt x="3091" y="850"/>
                  </a:cubicBezTo>
                  <a:cubicBezTo>
                    <a:pt x="3091" y="698"/>
                    <a:pt x="3224" y="565"/>
                    <a:pt x="3376" y="565"/>
                  </a:cubicBezTo>
                  <a:close/>
                  <a:moveTo>
                    <a:pt x="3385" y="1"/>
                  </a:moveTo>
                  <a:cubicBezTo>
                    <a:pt x="3049" y="1"/>
                    <a:pt x="2712" y="195"/>
                    <a:pt x="2579" y="584"/>
                  </a:cubicBezTo>
                  <a:lnTo>
                    <a:pt x="342" y="584"/>
                  </a:lnTo>
                  <a:cubicBezTo>
                    <a:pt x="0" y="603"/>
                    <a:pt x="0" y="1115"/>
                    <a:pt x="342" y="1153"/>
                  </a:cubicBezTo>
                  <a:lnTo>
                    <a:pt x="2579" y="1153"/>
                  </a:lnTo>
                  <a:cubicBezTo>
                    <a:pt x="2712" y="1532"/>
                    <a:pt x="3049" y="1722"/>
                    <a:pt x="3385" y="1722"/>
                  </a:cubicBezTo>
                  <a:cubicBezTo>
                    <a:pt x="3722" y="1722"/>
                    <a:pt x="4058" y="1532"/>
                    <a:pt x="4191" y="1153"/>
                  </a:cubicBezTo>
                  <a:lnTo>
                    <a:pt x="10998" y="1153"/>
                  </a:lnTo>
                  <a:cubicBezTo>
                    <a:pt x="11010" y="1154"/>
                    <a:pt x="11021" y="1154"/>
                    <a:pt x="11032" y="1154"/>
                  </a:cubicBezTo>
                  <a:cubicBezTo>
                    <a:pt x="11399" y="1154"/>
                    <a:pt x="11404" y="581"/>
                    <a:pt x="11047" y="581"/>
                  </a:cubicBezTo>
                  <a:cubicBezTo>
                    <a:pt x="11032" y="581"/>
                    <a:pt x="11015" y="582"/>
                    <a:pt x="10998" y="584"/>
                  </a:cubicBezTo>
                  <a:lnTo>
                    <a:pt x="4191" y="584"/>
                  </a:lnTo>
                  <a:cubicBezTo>
                    <a:pt x="4058" y="195"/>
                    <a:pt x="3722" y="1"/>
                    <a:pt x="33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3973888" y="1496900"/>
              <a:ext cx="78725" cy="71550"/>
            </a:xfrm>
            <a:custGeom>
              <a:avLst/>
              <a:gdLst/>
              <a:ahLst/>
              <a:cxnLst/>
              <a:rect l="l" t="t" r="r" b="b"/>
              <a:pathLst>
                <a:path w="3149" h="2862" extrusionOk="0">
                  <a:moveTo>
                    <a:pt x="570" y="731"/>
                  </a:moveTo>
                  <a:lnTo>
                    <a:pt x="2143" y="1432"/>
                  </a:lnTo>
                  <a:lnTo>
                    <a:pt x="570" y="2153"/>
                  </a:lnTo>
                  <a:lnTo>
                    <a:pt x="570" y="731"/>
                  </a:lnTo>
                  <a:close/>
                  <a:moveTo>
                    <a:pt x="280" y="0"/>
                  </a:moveTo>
                  <a:cubicBezTo>
                    <a:pt x="131" y="0"/>
                    <a:pt x="1" y="130"/>
                    <a:pt x="1" y="295"/>
                  </a:cubicBezTo>
                  <a:lnTo>
                    <a:pt x="1" y="2570"/>
                  </a:lnTo>
                  <a:cubicBezTo>
                    <a:pt x="1" y="2665"/>
                    <a:pt x="39" y="2760"/>
                    <a:pt x="115" y="2817"/>
                  </a:cubicBezTo>
                  <a:cubicBezTo>
                    <a:pt x="167" y="2848"/>
                    <a:pt x="219" y="2862"/>
                    <a:pt x="271" y="2862"/>
                  </a:cubicBezTo>
                  <a:cubicBezTo>
                    <a:pt x="314" y="2862"/>
                    <a:pt x="356" y="2853"/>
                    <a:pt x="399" y="2836"/>
                  </a:cubicBezTo>
                  <a:lnTo>
                    <a:pt x="2978" y="1698"/>
                  </a:lnTo>
                  <a:cubicBezTo>
                    <a:pt x="3073" y="1641"/>
                    <a:pt x="3148" y="1546"/>
                    <a:pt x="3148" y="1432"/>
                  </a:cubicBezTo>
                  <a:cubicBezTo>
                    <a:pt x="3148" y="1319"/>
                    <a:pt x="3073" y="1224"/>
                    <a:pt x="2978" y="1167"/>
                  </a:cubicBezTo>
                  <a:lnTo>
                    <a:pt x="399" y="29"/>
                  </a:lnTo>
                  <a:cubicBezTo>
                    <a:pt x="359" y="9"/>
                    <a:pt x="319" y="0"/>
                    <a:pt x="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33"/>
          <p:cNvGrpSpPr/>
          <p:nvPr/>
        </p:nvGrpSpPr>
        <p:grpSpPr>
          <a:xfrm>
            <a:off x="2188928" y="3527177"/>
            <a:ext cx="231293" cy="365730"/>
            <a:chOff x="1461488" y="3250125"/>
            <a:chExt cx="394900" cy="624325"/>
          </a:xfrm>
        </p:grpSpPr>
        <p:sp>
          <p:nvSpPr>
            <p:cNvPr id="619" name="Google Shape;619;p33"/>
            <p:cNvSpPr/>
            <p:nvPr/>
          </p:nvSpPr>
          <p:spPr>
            <a:xfrm>
              <a:off x="1474763" y="3313650"/>
              <a:ext cx="370725" cy="548950"/>
            </a:xfrm>
            <a:custGeom>
              <a:avLst/>
              <a:gdLst/>
              <a:ahLst/>
              <a:cxnLst/>
              <a:rect l="l" t="t" r="r" b="b"/>
              <a:pathLst>
                <a:path w="14829" h="21958" extrusionOk="0">
                  <a:moveTo>
                    <a:pt x="4589" y="1"/>
                  </a:moveTo>
                  <a:cubicBezTo>
                    <a:pt x="3774" y="1"/>
                    <a:pt x="3129" y="645"/>
                    <a:pt x="3129" y="1461"/>
                  </a:cubicBezTo>
                  <a:lnTo>
                    <a:pt x="3129" y="8704"/>
                  </a:lnTo>
                  <a:lnTo>
                    <a:pt x="1593" y="9747"/>
                  </a:lnTo>
                  <a:cubicBezTo>
                    <a:pt x="513" y="10448"/>
                    <a:pt x="1" y="11757"/>
                    <a:pt x="285" y="13008"/>
                  </a:cubicBezTo>
                  <a:cubicBezTo>
                    <a:pt x="892" y="15568"/>
                    <a:pt x="2219" y="17900"/>
                    <a:pt x="4096" y="19720"/>
                  </a:cubicBezTo>
                  <a:lnTo>
                    <a:pt x="4096" y="21958"/>
                  </a:lnTo>
                  <a:lnTo>
                    <a:pt x="12838" y="21958"/>
                  </a:lnTo>
                  <a:lnTo>
                    <a:pt x="12838" y="19720"/>
                  </a:lnTo>
                  <a:cubicBezTo>
                    <a:pt x="14108" y="17824"/>
                    <a:pt x="14791" y="15587"/>
                    <a:pt x="14791" y="13312"/>
                  </a:cubicBezTo>
                  <a:lnTo>
                    <a:pt x="14791" y="9519"/>
                  </a:lnTo>
                  <a:cubicBezTo>
                    <a:pt x="14829" y="8685"/>
                    <a:pt x="14165" y="8002"/>
                    <a:pt x="13331" y="8002"/>
                  </a:cubicBezTo>
                  <a:cubicBezTo>
                    <a:pt x="12542" y="8002"/>
                    <a:pt x="11906" y="8612"/>
                    <a:pt x="11871" y="9384"/>
                  </a:cubicBezTo>
                  <a:lnTo>
                    <a:pt x="11871" y="9384"/>
                  </a:lnTo>
                  <a:lnTo>
                    <a:pt x="11871" y="8552"/>
                  </a:lnTo>
                  <a:cubicBezTo>
                    <a:pt x="11871" y="7737"/>
                    <a:pt x="11226" y="7092"/>
                    <a:pt x="10411" y="7092"/>
                  </a:cubicBezTo>
                  <a:cubicBezTo>
                    <a:pt x="9614" y="7092"/>
                    <a:pt x="8951" y="7737"/>
                    <a:pt x="8951" y="8552"/>
                  </a:cubicBezTo>
                  <a:lnTo>
                    <a:pt x="8951" y="7566"/>
                  </a:lnTo>
                  <a:cubicBezTo>
                    <a:pt x="8951" y="6770"/>
                    <a:pt x="8306" y="6106"/>
                    <a:pt x="7509" y="6106"/>
                  </a:cubicBezTo>
                  <a:cubicBezTo>
                    <a:pt x="6694" y="6106"/>
                    <a:pt x="6049" y="6770"/>
                    <a:pt x="6049" y="7566"/>
                  </a:cubicBezTo>
                  <a:lnTo>
                    <a:pt x="6049" y="1461"/>
                  </a:lnTo>
                  <a:cubicBezTo>
                    <a:pt x="6049" y="645"/>
                    <a:pt x="5386" y="1"/>
                    <a:pt x="4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83838" y="3624350"/>
              <a:ext cx="28475" cy="24475"/>
            </a:xfrm>
            <a:custGeom>
              <a:avLst/>
              <a:gdLst/>
              <a:ahLst/>
              <a:cxnLst/>
              <a:rect l="l" t="t" r="r" b="b"/>
              <a:pathLst>
                <a:path w="1139" h="979" extrusionOk="0">
                  <a:moveTo>
                    <a:pt x="492" y="1"/>
                  </a:moveTo>
                  <a:cubicBezTo>
                    <a:pt x="242" y="1"/>
                    <a:pt x="1" y="191"/>
                    <a:pt x="1" y="485"/>
                  </a:cubicBezTo>
                  <a:cubicBezTo>
                    <a:pt x="1" y="751"/>
                    <a:pt x="209" y="978"/>
                    <a:pt x="475" y="978"/>
                  </a:cubicBezTo>
                  <a:cubicBezTo>
                    <a:pt x="911" y="978"/>
                    <a:pt x="1138" y="466"/>
                    <a:pt x="835" y="144"/>
                  </a:cubicBezTo>
                  <a:cubicBezTo>
                    <a:pt x="736" y="45"/>
                    <a:pt x="613" y="1"/>
                    <a:pt x="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461488" y="3301325"/>
              <a:ext cx="394900" cy="573125"/>
            </a:xfrm>
            <a:custGeom>
              <a:avLst/>
              <a:gdLst/>
              <a:ahLst/>
              <a:cxnLst/>
              <a:rect l="l" t="t" r="r" b="b"/>
              <a:pathLst>
                <a:path w="15796" h="22925" extrusionOk="0">
                  <a:moveTo>
                    <a:pt x="5120" y="972"/>
                  </a:moveTo>
                  <a:cubicBezTo>
                    <a:pt x="5604" y="972"/>
                    <a:pt x="6087" y="1299"/>
                    <a:pt x="6087" y="1954"/>
                  </a:cubicBezTo>
                  <a:lnTo>
                    <a:pt x="6087" y="11472"/>
                  </a:lnTo>
                  <a:cubicBezTo>
                    <a:pt x="6087" y="11795"/>
                    <a:pt x="6334" y="11956"/>
                    <a:pt x="6580" y="11956"/>
                  </a:cubicBezTo>
                  <a:cubicBezTo>
                    <a:pt x="6827" y="11956"/>
                    <a:pt x="7073" y="11795"/>
                    <a:pt x="7073" y="11472"/>
                  </a:cubicBezTo>
                  <a:lnTo>
                    <a:pt x="7073" y="8059"/>
                  </a:lnTo>
                  <a:cubicBezTo>
                    <a:pt x="7073" y="7415"/>
                    <a:pt x="7557" y="7092"/>
                    <a:pt x="8040" y="7092"/>
                  </a:cubicBezTo>
                  <a:cubicBezTo>
                    <a:pt x="8524" y="7092"/>
                    <a:pt x="9008" y="7415"/>
                    <a:pt x="9008" y="8059"/>
                  </a:cubicBezTo>
                  <a:lnTo>
                    <a:pt x="9008" y="11472"/>
                  </a:lnTo>
                  <a:cubicBezTo>
                    <a:pt x="9008" y="11795"/>
                    <a:pt x="9249" y="11956"/>
                    <a:pt x="9491" y="11956"/>
                  </a:cubicBezTo>
                  <a:cubicBezTo>
                    <a:pt x="9733" y="11956"/>
                    <a:pt x="9975" y="11795"/>
                    <a:pt x="9975" y="11472"/>
                  </a:cubicBezTo>
                  <a:lnTo>
                    <a:pt x="9975" y="9045"/>
                  </a:lnTo>
                  <a:cubicBezTo>
                    <a:pt x="9975" y="8391"/>
                    <a:pt x="10463" y="8064"/>
                    <a:pt x="10951" y="8064"/>
                  </a:cubicBezTo>
                  <a:cubicBezTo>
                    <a:pt x="11439" y="8064"/>
                    <a:pt x="11928" y="8391"/>
                    <a:pt x="11928" y="9045"/>
                  </a:cubicBezTo>
                  <a:lnTo>
                    <a:pt x="11928" y="11472"/>
                  </a:lnTo>
                  <a:cubicBezTo>
                    <a:pt x="11928" y="11795"/>
                    <a:pt x="12169" y="11956"/>
                    <a:pt x="12411" y="11956"/>
                  </a:cubicBezTo>
                  <a:cubicBezTo>
                    <a:pt x="12653" y="11956"/>
                    <a:pt x="12895" y="11795"/>
                    <a:pt x="12895" y="11472"/>
                  </a:cubicBezTo>
                  <a:lnTo>
                    <a:pt x="12895" y="10012"/>
                  </a:lnTo>
                  <a:cubicBezTo>
                    <a:pt x="12857" y="9330"/>
                    <a:pt x="13359" y="8988"/>
                    <a:pt x="13862" y="8988"/>
                  </a:cubicBezTo>
                  <a:cubicBezTo>
                    <a:pt x="14364" y="8988"/>
                    <a:pt x="14867" y="9330"/>
                    <a:pt x="14829" y="10012"/>
                  </a:cubicBezTo>
                  <a:lnTo>
                    <a:pt x="14829" y="13805"/>
                  </a:lnTo>
                  <a:cubicBezTo>
                    <a:pt x="14829" y="15985"/>
                    <a:pt x="14184" y="18128"/>
                    <a:pt x="12970" y="19948"/>
                  </a:cubicBezTo>
                  <a:cubicBezTo>
                    <a:pt x="12914" y="20024"/>
                    <a:pt x="12895" y="20119"/>
                    <a:pt x="12895" y="20213"/>
                  </a:cubicBezTo>
                  <a:lnTo>
                    <a:pt x="12895" y="21977"/>
                  </a:lnTo>
                  <a:lnTo>
                    <a:pt x="5120" y="21977"/>
                  </a:lnTo>
                  <a:lnTo>
                    <a:pt x="5120" y="20213"/>
                  </a:lnTo>
                  <a:cubicBezTo>
                    <a:pt x="5120" y="20081"/>
                    <a:pt x="5064" y="19967"/>
                    <a:pt x="4969" y="19872"/>
                  </a:cubicBezTo>
                  <a:cubicBezTo>
                    <a:pt x="4040" y="18962"/>
                    <a:pt x="3243" y="17938"/>
                    <a:pt x="2617" y="16800"/>
                  </a:cubicBezTo>
                  <a:cubicBezTo>
                    <a:pt x="2011" y="15720"/>
                    <a:pt x="1575" y="14582"/>
                    <a:pt x="1290" y="13387"/>
                  </a:cubicBezTo>
                  <a:cubicBezTo>
                    <a:pt x="1044" y="12326"/>
                    <a:pt x="1480" y="11226"/>
                    <a:pt x="2390" y="10638"/>
                  </a:cubicBezTo>
                  <a:lnTo>
                    <a:pt x="3186" y="10107"/>
                  </a:lnTo>
                  <a:lnTo>
                    <a:pt x="3186" y="13406"/>
                  </a:lnTo>
                  <a:cubicBezTo>
                    <a:pt x="3186" y="13729"/>
                    <a:pt x="3428" y="13890"/>
                    <a:pt x="3670" y="13890"/>
                  </a:cubicBezTo>
                  <a:cubicBezTo>
                    <a:pt x="3912" y="13890"/>
                    <a:pt x="4153" y="13729"/>
                    <a:pt x="4153" y="13406"/>
                  </a:cubicBezTo>
                  <a:lnTo>
                    <a:pt x="4153" y="1954"/>
                  </a:lnTo>
                  <a:cubicBezTo>
                    <a:pt x="4153" y="1299"/>
                    <a:pt x="4637" y="972"/>
                    <a:pt x="5120" y="972"/>
                  </a:cubicBezTo>
                  <a:close/>
                  <a:moveTo>
                    <a:pt x="5101" y="1"/>
                  </a:moveTo>
                  <a:cubicBezTo>
                    <a:pt x="4040" y="1"/>
                    <a:pt x="3167" y="873"/>
                    <a:pt x="3167" y="1954"/>
                  </a:cubicBezTo>
                  <a:lnTo>
                    <a:pt x="3167" y="8931"/>
                  </a:lnTo>
                  <a:lnTo>
                    <a:pt x="1840" y="9823"/>
                  </a:lnTo>
                  <a:cubicBezTo>
                    <a:pt x="589" y="10657"/>
                    <a:pt x="1" y="12155"/>
                    <a:pt x="342" y="13615"/>
                  </a:cubicBezTo>
                  <a:lnTo>
                    <a:pt x="361" y="13615"/>
                  </a:lnTo>
                  <a:cubicBezTo>
                    <a:pt x="949" y="16175"/>
                    <a:pt x="2257" y="18526"/>
                    <a:pt x="4134" y="20403"/>
                  </a:cubicBezTo>
                  <a:lnTo>
                    <a:pt x="4153" y="20403"/>
                  </a:lnTo>
                  <a:lnTo>
                    <a:pt x="4153" y="22451"/>
                  </a:lnTo>
                  <a:cubicBezTo>
                    <a:pt x="4153" y="22716"/>
                    <a:pt x="4362" y="22925"/>
                    <a:pt x="4627" y="22925"/>
                  </a:cubicBezTo>
                  <a:lnTo>
                    <a:pt x="13369" y="22925"/>
                  </a:lnTo>
                  <a:cubicBezTo>
                    <a:pt x="13634" y="22925"/>
                    <a:pt x="13862" y="22716"/>
                    <a:pt x="13843" y="22451"/>
                  </a:cubicBezTo>
                  <a:lnTo>
                    <a:pt x="13843" y="20346"/>
                  </a:lnTo>
                  <a:cubicBezTo>
                    <a:pt x="15113" y="18393"/>
                    <a:pt x="15796" y="16118"/>
                    <a:pt x="15796" y="13786"/>
                  </a:cubicBezTo>
                  <a:lnTo>
                    <a:pt x="15796" y="9993"/>
                  </a:lnTo>
                  <a:cubicBezTo>
                    <a:pt x="15796" y="8851"/>
                    <a:pt x="14853" y="8046"/>
                    <a:pt x="13842" y="8046"/>
                  </a:cubicBezTo>
                  <a:cubicBezTo>
                    <a:pt x="13477" y="8046"/>
                    <a:pt x="13104" y="8150"/>
                    <a:pt x="12762" y="8382"/>
                  </a:cubicBezTo>
                  <a:cubicBezTo>
                    <a:pt x="12496" y="7604"/>
                    <a:pt x="11757" y="7092"/>
                    <a:pt x="10942" y="7092"/>
                  </a:cubicBezTo>
                  <a:cubicBezTo>
                    <a:pt x="10913" y="7091"/>
                    <a:pt x="10885" y="7090"/>
                    <a:pt x="10856" y="7090"/>
                  </a:cubicBezTo>
                  <a:cubicBezTo>
                    <a:pt x="10489" y="7090"/>
                    <a:pt x="10142" y="7203"/>
                    <a:pt x="9861" y="7415"/>
                  </a:cubicBezTo>
                  <a:cubicBezTo>
                    <a:pt x="9566" y="6597"/>
                    <a:pt x="8806" y="6111"/>
                    <a:pt x="8018" y="6111"/>
                  </a:cubicBezTo>
                  <a:cubicBezTo>
                    <a:pt x="7691" y="6111"/>
                    <a:pt x="7360" y="6194"/>
                    <a:pt x="7054" y="6372"/>
                  </a:cubicBezTo>
                  <a:lnTo>
                    <a:pt x="7054" y="1954"/>
                  </a:lnTo>
                  <a:cubicBezTo>
                    <a:pt x="7054" y="873"/>
                    <a:pt x="6182" y="1"/>
                    <a:pt x="5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741663" y="3674550"/>
              <a:ext cx="63050" cy="117175"/>
            </a:xfrm>
            <a:custGeom>
              <a:avLst/>
              <a:gdLst/>
              <a:ahLst/>
              <a:cxnLst/>
              <a:rect l="l" t="t" r="r" b="b"/>
              <a:pathLst>
                <a:path w="2522" h="4687" extrusionOk="0">
                  <a:moveTo>
                    <a:pt x="2023" y="1"/>
                  </a:moveTo>
                  <a:cubicBezTo>
                    <a:pt x="1835" y="1"/>
                    <a:pt x="1648" y="106"/>
                    <a:pt x="1574" y="336"/>
                  </a:cubicBezTo>
                  <a:cubicBezTo>
                    <a:pt x="1365" y="1625"/>
                    <a:pt x="872" y="2857"/>
                    <a:pt x="152" y="3938"/>
                  </a:cubicBezTo>
                  <a:cubicBezTo>
                    <a:pt x="0" y="4147"/>
                    <a:pt x="57" y="4469"/>
                    <a:pt x="284" y="4602"/>
                  </a:cubicBezTo>
                  <a:cubicBezTo>
                    <a:pt x="370" y="4659"/>
                    <a:pt x="464" y="4687"/>
                    <a:pt x="556" y="4687"/>
                  </a:cubicBezTo>
                  <a:cubicBezTo>
                    <a:pt x="707" y="4687"/>
                    <a:pt x="854" y="4611"/>
                    <a:pt x="948" y="4469"/>
                  </a:cubicBezTo>
                  <a:cubicBezTo>
                    <a:pt x="1763" y="3275"/>
                    <a:pt x="2294" y="1909"/>
                    <a:pt x="2522" y="506"/>
                  </a:cubicBezTo>
                  <a:cubicBezTo>
                    <a:pt x="2522" y="183"/>
                    <a:pt x="2271" y="1"/>
                    <a:pt x="20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490888" y="3250125"/>
              <a:ext cx="196750" cy="112150"/>
            </a:xfrm>
            <a:custGeom>
              <a:avLst/>
              <a:gdLst/>
              <a:ahLst/>
              <a:cxnLst/>
              <a:rect l="l" t="t" r="r" b="b"/>
              <a:pathLst>
                <a:path w="7870" h="4486" extrusionOk="0">
                  <a:moveTo>
                    <a:pt x="3925" y="1"/>
                  </a:moveTo>
                  <a:cubicBezTo>
                    <a:pt x="1745" y="1"/>
                    <a:pt x="0" y="1802"/>
                    <a:pt x="38" y="4002"/>
                  </a:cubicBezTo>
                  <a:cubicBezTo>
                    <a:pt x="38" y="4267"/>
                    <a:pt x="247" y="4476"/>
                    <a:pt x="512" y="4476"/>
                  </a:cubicBezTo>
                  <a:lnTo>
                    <a:pt x="550" y="4476"/>
                  </a:lnTo>
                  <a:cubicBezTo>
                    <a:pt x="816" y="4476"/>
                    <a:pt x="1024" y="4267"/>
                    <a:pt x="1024" y="4002"/>
                  </a:cubicBezTo>
                  <a:cubicBezTo>
                    <a:pt x="1024" y="2390"/>
                    <a:pt x="2314" y="1082"/>
                    <a:pt x="3925" y="1082"/>
                  </a:cubicBezTo>
                  <a:cubicBezTo>
                    <a:pt x="5537" y="1082"/>
                    <a:pt x="6846" y="2390"/>
                    <a:pt x="6846" y="4002"/>
                  </a:cubicBezTo>
                  <a:cubicBezTo>
                    <a:pt x="6846" y="4324"/>
                    <a:pt x="7087" y="4485"/>
                    <a:pt x="7329" y="4485"/>
                  </a:cubicBezTo>
                  <a:cubicBezTo>
                    <a:pt x="7571" y="4485"/>
                    <a:pt x="7813" y="4324"/>
                    <a:pt x="7813" y="4002"/>
                  </a:cubicBezTo>
                  <a:cubicBezTo>
                    <a:pt x="7869" y="1802"/>
                    <a:pt x="6125" y="1"/>
                    <a:pt x="39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33"/>
          <p:cNvSpPr txBox="1"/>
          <p:nvPr/>
        </p:nvSpPr>
        <p:spPr>
          <a:xfrm>
            <a:off x="2479763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Intuitivo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5" name="Google Shape;625;p33"/>
          <p:cNvSpPr txBox="1"/>
          <p:nvPr/>
        </p:nvSpPr>
        <p:spPr>
          <a:xfrm>
            <a:off x="4709225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eficiênte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6972975" y="3459992"/>
            <a:ext cx="1392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scalavel</a:t>
            </a:r>
            <a:endParaRPr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7" name="Google Shape;627;p3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231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04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618825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800" dirty="0">
                <a:solidFill>
                  <a:schemeClr val="accent6"/>
                </a:solidFill>
              </a:rPr>
              <a:t>[</a:t>
            </a:r>
            <a:r>
              <a:rPr lang="pt-BR" sz="1800" dirty="0">
                <a:solidFill>
                  <a:schemeClr val="accent1"/>
                </a:solidFill>
              </a:rPr>
              <a:t>Demonstração prática de um sistema de mensageria simples</a:t>
            </a:r>
            <a:r>
              <a:rPr lang="pt-BR" sz="1800" dirty="0">
                <a:solidFill>
                  <a:schemeClr val="accent6"/>
                </a:solidFill>
              </a:rPr>
              <a:t>]</a:t>
            </a:r>
            <a:r>
              <a:rPr lang="pt-BR" sz="2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96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66" name="Google Shape;866;p43"/>
          <p:cNvSpPr txBox="1">
            <a:spLocks noGrp="1"/>
          </p:cNvSpPr>
          <p:nvPr>
            <p:ph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Bora Fazé? </a:t>
            </a:r>
            <a:r>
              <a:rPr lang="en" sz="6000" dirty="0">
                <a:solidFill>
                  <a:schemeClr val="accent6"/>
                </a:solidFill>
              </a:rPr>
              <a:t>{</a:t>
            </a:r>
            <a:endParaRPr sz="6000" dirty="0">
              <a:solidFill>
                <a:schemeClr val="accent6"/>
              </a:solidFill>
            </a:endParaRPr>
          </a:p>
        </p:txBody>
      </p:sp>
      <p:sp>
        <p:nvSpPr>
          <p:cNvPr id="867" name="Google Shape;867;p43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pt-BR" dirty="0">
                <a:hlinkClick r:id="rId3"/>
              </a:rPr>
              <a:t>https://github.com/Niltonguerra/trabalho6semestre/tree/branch-de-backend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&gt;</a:t>
            </a:r>
            <a:endParaRPr dirty="0"/>
          </a:p>
        </p:txBody>
      </p:sp>
      <p:sp>
        <p:nvSpPr>
          <p:cNvPr id="868" name="Google Shape;868;p4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69" name="Google Shape;869;p4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870" name="Google Shape;870;p43"/>
          <p:cNvGrpSpPr/>
          <p:nvPr/>
        </p:nvGrpSpPr>
        <p:grpSpPr>
          <a:xfrm>
            <a:off x="1084825" y="2250725"/>
            <a:ext cx="506100" cy="1952100"/>
            <a:chOff x="1084825" y="2250725"/>
            <a:chExt cx="506100" cy="1952100"/>
          </a:xfrm>
        </p:grpSpPr>
        <p:cxnSp>
          <p:nvCxnSpPr>
            <p:cNvPr id="871" name="Google Shape;871;p43"/>
            <p:cNvCxnSpPr>
              <a:endCxn id="872" idx="0"/>
            </p:cNvCxnSpPr>
            <p:nvPr/>
          </p:nvCxnSpPr>
          <p:spPr>
            <a:xfrm>
              <a:off x="1337875" y="2250725"/>
              <a:ext cx="0" cy="8439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2" name="Google Shape;872;p43"/>
            <p:cNvSpPr txBox="1"/>
            <p:nvPr/>
          </p:nvSpPr>
          <p:spPr>
            <a:xfrm>
              <a:off x="1084825" y="3094625"/>
              <a:ext cx="5061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6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057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05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7" y="1846623"/>
            <a:ext cx="6188251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800" dirty="0">
                <a:solidFill>
                  <a:schemeClr val="accent6"/>
                </a:solidFill>
              </a:rPr>
              <a:t>[</a:t>
            </a:r>
            <a:r>
              <a:rPr lang="pt-BR" sz="1800" dirty="0">
                <a:solidFill>
                  <a:schemeClr val="lt2"/>
                </a:solidFill>
              </a:rPr>
              <a:t>Demonstração prática de um sistema de coleta de dados em tempo real</a:t>
            </a:r>
            <a:r>
              <a:rPr lang="pt-BR" sz="1800" dirty="0">
                <a:solidFill>
                  <a:schemeClr val="accent6"/>
                </a:solidFill>
              </a:rPr>
              <a:t>]</a:t>
            </a:r>
            <a:r>
              <a:rPr lang="pt-BR" sz="2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205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66" name="Google Shape;866;p43"/>
          <p:cNvSpPr txBox="1">
            <a:spLocks noGrp="1"/>
          </p:cNvSpPr>
          <p:nvPr>
            <p:ph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Bora lá? </a:t>
            </a:r>
            <a:r>
              <a:rPr lang="en" sz="6000" dirty="0">
                <a:solidFill>
                  <a:schemeClr val="accent6"/>
                </a:solidFill>
              </a:rPr>
              <a:t>{</a:t>
            </a:r>
            <a:endParaRPr sz="6000" dirty="0">
              <a:solidFill>
                <a:schemeClr val="accent6"/>
              </a:solidFill>
            </a:endParaRPr>
          </a:p>
        </p:txBody>
      </p:sp>
      <p:sp>
        <p:nvSpPr>
          <p:cNvPr id="867" name="Google Shape;867;p43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pt-BR" dirty="0">
                <a:hlinkClick r:id="rId3"/>
              </a:rPr>
              <a:t>https://github.com/Niltonguerra/backend5semestre</a:t>
            </a: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&gt;</a:t>
            </a:r>
            <a:endParaRPr dirty="0"/>
          </a:p>
        </p:txBody>
      </p:sp>
      <p:sp>
        <p:nvSpPr>
          <p:cNvPr id="868" name="Google Shape;868;p4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69" name="Google Shape;869;p4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870" name="Google Shape;870;p43"/>
          <p:cNvGrpSpPr/>
          <p:nvPr/>
        </p:nvGrpSpPr>
        <p:grpSpPr>
          <a:xfrm>
            <a:off x="1084825" y="2250725"/>
            <a:ext cx="506100" cy="1952100"/>
            <a:chOff x="1084825" y="2250725"/>
            <a:chExt cx="506100" cy="1952100"/>
          </a:xfrm>
        </p:grpSpPr>
        <p:cxnSp>
          <p:nvCxnSpPr>
            <p:cNvPr id="871" name="Google Shape;871;p43"/>
            <p:cNvCxnSpPr>
              <a:endCxn id="872" idx="0"/>
            </p:cNvCxnSpPr>
            <p:nvPr/>
          </p:nvCxnSpPr>
          <p:spPr>
            <a:xfrm>
              <a:off x="1337875" y="2250725"/>
              <a:ext cx="0" cy="8439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2" name="Google Shape;872;p43"/>
            <p:cNvSpPr txBox="1"/>
            <p:nvPr/>
          </p:nvSpPr>
          <p:spPr>
            <a:xfrm>
              <a:off x="1084825" y="3094625"/>
              <a:ext cx="5061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6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881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2545" name="Google Shape;2545;p49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3"/>
                </a:solidFill>
              </a:rPr>
              <a:t>Niltondg.39@gmail.com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MoveSmart.Inc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6" name="Google Shape;2546;p49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55086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‘alguém tem alguma pergunta?’</a:t>
            </a:r>
            <a:endParaRPr dirty="0"/>
          </a:p>
        </p:txBody>
      </p:sp>
      <p:sp>
        <p:nvSpPr>
          <p:cNvPr id="2547" name="Google Shape;2547;p49"/>
          <p:cNvSpPr txBox="1"/>
          <p:nvPr/>
        </p:nvSpPr>
        <p:spPr>
          <a:xfrm>
            <a:off x="2912425" y="3781775"/>
            <a:ext cx="4418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&lt; Please keep this slide for attribution &gt; </a:t>
            </a:r>
            <a:endParaRPr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2548" name="Google Shape;2548;p49"/>
          <p:cNvGrpSpPr/>
          <p:nvPr/>
        </p:nvGrpSpPr>
        <p:grpSpPr>
          <a:xfrm>
            <a:off x="2584287" y="2579158"/>
            <a:ext cx="375421" cy="353610"/>
            <a:chOff x="4248762" y="2749595"/>
            <a:chExt cx="375421" cy="353610"/>
          </a:xfrm>
        </p:grpSpPr>
        <p:sp>
          <p:nvSpPr>
            <p:cNvPr id="2549" name="Google Shape;2549;p49"/>
            <p:cNvSpPr/>
            <p:nvPr/>
          </p:nvSpPr>
          <p:spPr>
            <a:xfrm>
              <a:off x="4262244" y="2755191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9"/>
            <p:cNvSpPr/>
            <p:nvPr/>
          </p:nvSpPr>
          <p:spPr>
            <a:xfrm>
              <a:off x="4321847" y="2829656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9"/>
            <p:cNvSpPr/>
            <p:nvPr/>
          </p:nvSpPr>
          <p:spPr>
            <a:xfrm>
              <a:off x="4248762" y="2749595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2" name="Google Shape;2552;p49"/>
          <p:cNvGrpSpPr/>
          <p:nvPr/>
        </p:nvGrpSpPr>
        <p:grpSpPr>
          <a:xfrm>
            <a:off x="3654268" y="2579159"/>
            <a:ext cx="372558" cy="353610"/>
            <a:chOff x="5318743" y="2749597"/>
            <a:chExt cx="372558" cy="353610"/>
          </a:xfrm>
        </p:grpSpPr>
        <p:sp>
          <p:nvSpPr>
            <p:cNvPr id="2553" name="Google Shape;2553;p49"/>
            <p:cNvSpPr/>
            <p:nvPr/>
          </p:nvSpPr>
          <p:spPr>
            <a:xfrm>
              <a:off x="5343105" y="2755166"/>
              <a:ext cx="342418" cy="342418"/>
            </a:xfrm>
            <a:custGeom>
              <a:avLst/>
              <a:gdLst/>
              <a:ahLst/>
              <a:cxnLst/>
              <a:rect l="l" t="t" r="r" b="b"/>
              <a:pathLst>
                <a:path w="13156" h="13156" extrusionOk="0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9"/>
            <p:cNvSpPr/>
            <p:nvPr/>
          </p:nvSpPr>
          <p:spPr>
            <a:xfrm>
              <a:off x="5404556" y="2816617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9"/>
            <p:cNvSpPr/>
            <p:nvPr/>
          </p:nvSpPr>
          <p:spPr>
            <a:xfrm>
              <a:off x="5558951" y="2844441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9"/>
            <p:cNvSpPr/>
            <p:nvPr/>
          </p:nvSpPr>
          <p:spPr>
            <a:xfrm>
              <a:off x="5318743" y="2749597"/>
              <a:ext cx="372558" cy="353610"/>
            </a:xfrm>
            <a:custGeom>
              <a:avLst/>
              <a:gdLst/>
              <a:ahLst/>
              <a:cxnLst/>
              <a:rect l="l" t="t" r="r" b="b"/>
              <a:pathLst>
                <a:path w="14314" h="13586" extrusionOk="0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9"/>
            <p:cNvSpPr/>
            <p:nvPr/>
          </p:nvSpPr>
          <p:spPr>
            <a:xfrm>
              <a:off x="5411825" y="2823750"/>
              <a:ext cx="205800" cy="205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9"/>
            <p:cNvSpPr/>
            <p:nvPr/>
          </p:nvSpPr>
          <p:spPr>
            <a:xfrm>
              <a:off x="5404556" y="2816617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9"/>
            <p:cNvSpPr/>
            <p:nvPr/>
          </p:nvSpPr>
          <p:spPr>
            <a:xfrm>
              <a:off x="5451171" y="2868568"/>
              <a:ext cx="127665" cy="115562"/>
            </a:xfrm>
            <a:custGeom>
              <a:avLst/>
              <a:gdLst/>
              <a:ahLst/>
              <a:cxnLst/>
              <a:rect l="l" t="t" r="r" b="b"/>
              <a:pathLst>
                <a:path w="4905" h="4440" extrusionOk="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9"/>
            <p:cNvSpPr/>
            <p:nvPr/>
          </p:nvSpPr>
          <p:spPr>
            <a:xfrm>
              <a:off x="5558951" y="2844441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1" name="Google Shape;2561;p49"/>
          <p:cNvGrpSpPr/>
          <p:nvPr/>
        </p:nvGrpSpPr>
        <p:grpSpPr>
          <a:xfrm>
            <a:off x="3120755" y="2565609"/>
            <a:ext cx="372480" cy="353610"/>
            <a:chOff x="4785230" y="2736047"/>
            <a:chExt cx="372480" cy="353610"/>
          </a:xfrm>
        </p:grpSpPr>
        <p:sp>
          <p:nvSpPr>
            <p:cNvPr id="2562" name="Google Shape;2562;p49"/>
            <p:cNvSpPr/>
            <p:nvPr/>
          </p:nvSpPr>
          <p:spPr>
            <a:xfrm>
              <a:off x="4809513" y="2741616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9"/>
            <p:cNvSpPr/>
            <p:nvPr/>
          </p:nvSpPr>
          <p:spPr>
            <a:xfrm>
              <a:off x="4891006" y="2882738"/>
              <a:ext cx="38026" cy="112387"/>
            </a:xfrm>
            <a:custGeom>
              <a:avLst/>
              <a:gdLst/>
              <a:ahLst/>
              <a:cxnLst/>
              <a:rect l="l" t="t" r="r" b="b"/>
              <a:pathLst>
                <a:path w="1461" h="4318" extrusionOk="0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9"/>
            <p:cNvSpPr/>
            <p:nvPr/>
          </p:nvSpPr>
          <p:spPr>
            <a:xfrm>
              <a:off x="4875988" y="2815639"/>
              <a:ext cx="53044" cy="45522"/>
            </a:xfrm>
            <a:custGeom>
              <a:avLst/>
              <a:gdLst/>
              <a:ahLst/>
              <a:cxnLst/>
              <a:rect l="l" t="t" r="r" b="b"/>
              <a:pathLst>
                <a:path w="2038" h="1749" extrusionOk="0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9"/>
            <p:cNvSpPr/>
            <p:nvPr/>
          </p:nvSpPr>
          <p:spPr>
            <a:xfrm>
              <a:off x="4965470" y="2882633"/>
              <a:ext cx="119805" cy="112491"/>
            </a:xfrm>
            <a:custGeom>
              <a:avLst/>
              <a:gdLst/>
              <a:ahLst/>
              <a:cxnLst/>
              <a:rect l="l" t="t" r="r" b="b"/>
              <a:pathLst>
                <a:path w="4603" h="4322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9"/>
            <p:cNvSpPr/>
            <p:nvPr/>
          </p:nvSpPr>
          <p:spPr>
            <a:xfrm>
              <a:off x="4785230" y="2736047"/>
              <a:ext cx="372480" cy="353610"/>
            </a:xfrm>
            <a:custGeom>
              <a:avLst/>
              <a:gdLst/>
              <a:ahLst/>
              <a:cxnLst/>
              <a:rect l="l" t="t" r="r" b="b"/>
              <a:pathLst>
                <a:path w="14311" h="13586" extrusionOk="0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9"/>
            <p:cNvSpPr/>
            <p:nvPr/>
          </p:nvSpPr>
          <p:spPr>
            <a:xfrm>
              <a:off x="4885774" y="2877506"/>
              <a:ext cx="48489" cy="122850"/>
            </a:xfrm>
            <a:custGeom>
              <a:avLst/>
              <a:gdLst/>
              <a:ahLst/>
              <a:cxnLst/>
              <a:rect l="l" t="t" r="r" b="b"/>
              <a:pathLst>
                <a:path w="1863" h="4720" extrusionOk="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9"/>
            <p:cNvSpPr/>
            <p:nvPr/>
          </p:nvSpPr>
          <p:spPr>
            <a:xfrm>
              <a:off x="4868934" y="2810485"/>
              <a:ext cx="65329" cy="55881"/>
            </a:xfrm>
            <a:custGeom>
              <a:avLst/>
              <a:gdLst/>
              <a:ahLst/>
              <a:cxnLst/>
              <a:rect l="l" t="t" r="r" b="b"/>
              <a:pathLst>
                <a:path w="2510" h="2147" extrusionOk="0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9"/>
            <p:cNvSpPr/>
            <p:nvPr/>
          </p:nvSpPr>
          <p:spPr>
            <a:xfrm>
              <a:off x="4960239" y="2877506"/>
              <a:ext cx="130346" cy="122850"/>
            </a:xfrm>
            <a:custGeom>
              <a:avLst/>
              <a:gdLst/>
              <a:ahLst/>
              <a:cxnLst/>
              <a:rect l="l" t="t" r="r" b="b"/>
              <a:pathLst>
                <a:path w="5008" h="4720" extrusionOk="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0" name="Google Shape;2570;p49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571" name="Google Shape;2571;p49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2572" name="Google Shape;2572;p49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2573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106661930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Microsoft Office PowerPoint</Application>
  <PresentationFormat>Apresentação na tela (16:9)</PresentationFormat>
  <Paragraphs>289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Fira Code</vt:lpstr>
      <vt:lpstr>Arial</vt:lpstr>
      <vt:lpstr>Montserrat</vt:lpstr>
      <vt:lpstr>Programming Language Workshop for Beginners by Slidesgo</vt:lpstr>
      <vt:lpstr>protocolos de mensageria para intercomunicação de sistemas    técnicas de mineração de dados em tempo real </vt:lpstr>
      <vt:lpstr>01</vt:lpstr>
      <vt:lpstr>04</vt:lpstr>
      <vt:lpstr>01 {</vt:lpstr>
      <vt:lpstr>Introdução; {</vt:lpstr>
      <vt:lpstr>AMQP (Advanced Message Queuing Protocol) {</vt:lpstr>
      <vt:lpstr>JMS (Java Message Service) {</vt:lpstr>
      <vt:lpstr>STOMP (Simple Text Oriented Messaging Protocol) {</vt:lpstr>
      <vt:lpstr>MQTT (Message Queuing Telemetry Transport) {</vt:lpstr>
      <vt:lpstr>Kafka Protocol {</vt:lpstr>
      <vt:lpstr>ZeroMQ {</vt:lpstr>
      <vt:lpstr>Redis Pub/Sub {</vt:lpstr>
      <vt:lpstr>Resumo Geral{</vt:lpstr>
      <vt:lpstr>02 {</vt:lpstr>
      <vt:lpstr>Introdução; {</vt:lpstr>
      <vt:lpstr>Processamento de Streams {</vt:lpstr>
      <vt:lpstr>Detecção de Padrões em Tempo Real {</vt:lpstr>
      <vt:lpstr>Aprendizado Online (Online Learning){</vt:lpstr>
      <vt:lpstr>Mineração de fluxos de dados {</vt:lpstr>
      <vt:lpstr>Mineração de Eventos Complexos {</vt:lpstr>
      <vt:lpstr>Técnicas de Detecção de Fraude em Tempo Real {</vt:lpstr>
      <vt:lpstr>03 {</vt:lpstr>
      <vt:lpstr>Aplicativo De Mobilidade Urbana Inteligente {</vt:lpstr>
      <vt:lpstr>04 {</vt:lpstr>
      <vt:lpstr>Bora Fazé? {</vt:lpstr>
      <vt:lpstr>05 {</vt:lpstr>
      <vt:lpstr>Bora lá? {</vt:lpstr>
      <vt:lpstr>Obrigado;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NILTON DIONISIO GUERRA</cp:lastModifiedBy>
  <cp:revision>1</cp:revision>
  <dcterms:modified xsi:type="dcterms:W3CDTF">2024-09-10T04:33:00Z</dcterms:modified>
</cp:coreProperties>
</file>