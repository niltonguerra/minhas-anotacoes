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60863-46A0-41C0-8F22-350014EA5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319BCA-857F-457E-A5DB-CBC82D7586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3040B7-D2EB-453E-A771-44C3D33E4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C8EA-DDB3-4D03-885A-E8F14A5AF229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B2DA1F-F253-43C1-B489-B8AAC59E8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3EED39-F44D-4488-AABF-B60FB809C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C9C0-F89B-49ED-B3CD-79F86CAA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8558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659B8-8319-4D67-A1F0-4B5B014A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425EBE-D578-4C7E-96ED-75D700349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84DE37-88AD-42C7-A774-840AC09D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C8EA-DDB3-4D03-885A-E8F14A5AF229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8AA164-78DD-460C-A1E2-EB8D4D301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C73388-6999-4DE4-8A08-2867C5FC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C9C0-F89B-49ED-B3CD-79F86CAA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252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F0B3A-6B5F-45EF-BEC8-5AD4AE77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D1FAD9-7F25-43E3-A810-058AE4009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7636C3-274C-4EDB-A62E-DC782B109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C8EA-DDB3-4D03-885A-E8F14A5AF229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A85EA8-748B-460E-8A89-472C7DE9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2EEDF7-CCCC-414F-B0FE-A4062B691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C9C0-F89B-49ED-B3CD-79F86CAA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8318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ADF39-FC66-42AE-B469-366F2E93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A0E77C-41ED-4DE1-B878-5D92FF5DE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ADF760E-A8EA-4981-8883-56344F77A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EE2327-233E-4FD5-9DA3-71152E81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C8EA-DDB3-4D03-885A-E8F14A5AF229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2E16DA-E489-4714-9D2E-5A47BA72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EA5EDB-75C6-4B9A-BFAE-A3337272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C9C0-F89B-49ED-B3CD-79F86CAA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31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5FD59-0732-49FC-9F60-876C9862F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68E5E7-82E3-4AEB-BDF6-7106F7C04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BF1F7A-10EC-4968-B2C2-5CC55E1DC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C80ECFB-CB0C-48DE-813A-C3DA24A6E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872226-340B-455B-90A6-967C4600A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AEA0134-6942-4DEE-88AC-C4B0BE315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C8EA-DDB3-4D03-885A-E8F14A5AF229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93A3C72-70B5-4A4B-8F72-10941775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F46CB8-D43F-4CFA-BCFD-AD0DA4B9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C9C0-F89B-49ED-B3CD-79F86CAA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635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B726F-E9FB-448A-AA2B-A2C5F3CE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A1E95B-C940-45DC-9AC0-7AD849A77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C8EA-DDB3-4D03-885A-E8F14A5AF229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C9D4B2-ED5C-4BE4-B2DA-6531FDB7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F5B7D6-FFC4-40A3-A2DB-A0B0E845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C9C0-F89B-49ED-B3CD-79F86CAA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8381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FFBFDAE-C370-4A3C-B4B2-AE974C57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C8EA-DDB3-4D03-885A-E8F14A5AF229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98A3A9-1845-4867-885D-C0B9780BA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E6CD2A-554A-48D4-9464-C322FC0B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C9C0-F89B-49ED-B3CD-79F86CAA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21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032A7-6455-46AE-96C7-89D34365E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DB88C1-3268-4EC9-A1F7-24877B622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3F06AC-5FD2-4AB4-B615-96BDAB7F4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189143-245A-4428-9AE6-C1D78F39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C8EA-DDB3-4D03-885A-E8F14A5AF229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5CD599-88E6-471D-83A3-39298B6DD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9AEFA7-AAE9-4B44-A6EE-941697B1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C9C0-F89B-49ED-B3CD-79F86CAA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494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FC569-D548-44C5-BE5E-5F7A438F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1533FC0-B290-4B13-99E5-8C4975E66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CCF5D6-D72C-40D9-B9B5-F8B80589F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E996F1-D503-4B32-9CF1-4FCF9BF7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C8EA-DDB3-4D03-885A-E8F14A5AF229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1E27B0-B181-4257-B6E8-CB89E776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83FC7E-1C92-4073-9984-59C8BA5F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C9C0-F89B-49ED-B3CD-79F86CAA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2332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7EB59-EE5C-4680-B855-8543F180F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F67B8B-E6F2-4B4D-A114-582A07549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527EC4-8B36-4BEE-BD92-2CFD8A39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C8EA-DDB3-4D03-885A-E8F14A5AF229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58CEC1-A599-46C9-B28F-2D07EA379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3F6462-9C47-4359-AD7F-265D4E269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C9C0-F89B-49ED-B3CD-79F86CAA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484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E4CC99-FF04-4E15-BDBA-5C2483973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61BA8F-6F7F-4BCE-B07B-91CC8AA44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B7384E-F3B7-4D31-B25C-378051E5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C8EA-DDB3-4D03-885A-E8F14A5AF229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C09FC4-A678-4C05-AA08-3965D59A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A4BE7A-5518-4094-A170-D52562D93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8C9C0-F89B-49ED-B3CD-79F86CAA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856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9ADBFEA-8D09-4E55-A41F-C2DCCC6D2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D88461-DB9D-47AA-A66D-2E6916687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CD0DE8-15E5-4B7B-9473-D74C91C08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3C8EA-DDB3-4D03-885A-E8F14A5AF229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0E43DD-4C90-4BB0-AC0E-113EA5B60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00D3BE-15B0-4794-960B-022AEDB66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8C9C0-F89B-49ED-B3CD-79F86CAA31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806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bih=635&amp;biw=1366&amp;rlz=1C1FCXM_pt-PTBR957BR957&amp;hl=pt-BR&amp;sxsrf=ALeKk03-8z0ts07IkxMgBV-dBIPSLozvUA:1627604783213&amp;q=Herzogenaurach&amp;stick=H4sIAAAAAAAAAONgVuLUz9U3MDUxqDJ4xGjCLfDyxz1hKe1Ja05eY1Tl4grOyC93zSvJLKkUEudig7J4pbi5ELp4FrHyeaQWVeWnp-YllhYlJmcAAJgFcepVAAAA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oogle.com/search?bih=635&amp;biw=1366&amp;rlz=1C1FCXM_pt-PTBR957BR957&amp;hl=pt-BR&amp;sxsrf=ALeKk00G9VRaoBZf_eexrWN6ZM0dMz-r4w:1627604821779&amp;q=Adolf+Dassler&amp;stick=H4sIAAAAAAAAAONgVuLUz9U3MDe3rKp4xGjCLfDyxz1hKe1Ja05eY1Tl4grOyC93zSvJLKkUEudig7J4pbi5ELp4FrHyOqbk56QpuCQWF-ekFgEAb5_cWlQAAA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google.com/search?sa=X&amp;bih=635&amp;biw=1366&amp;rlz=1C1FCXM_pt-PTBR957BR957&amp;hl=pt-BR&amp;sxsrf=ALeKk01G26n62bhSC71fVTZQcY2KMtztmQ:1627608125809&amp;q=Kasper+Rorsted&amp;stick=H4sIAAAAAAAAAONgVuLSz9U3MC4vLEzLfsRoyi3w8sc9YSmdSWtOXmNU4-IKzsgvd80rySypFJLgYoOy-KR4uJC08Sxi5fNOLC5ILVIIyi8qLklNAQBGiq12VwAAAA" TargetMode="Externa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cord.pt/fora-de-campo/detalhe/adidas-celebra-70-anos-a-historia-da-sua-origem" TargetMode="External"/><Relationship Id="rId2" Type="http://schemas.openxmlformats.org/officeDocument/2006/relationships/hyperlink" Target="https://www.adidas.com.br/blog/392942-historia-da-adidas-de-1949-ate-agora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O futebol é considerado o esporte coletivo mais popular do mundo.">
            <a:extLst>
              <a:ext uri="{FF2B5EF4-FFF2-40B4-BE49-F238E27FC236}">
                <a16:creationId xmlns:a16="http://schemas.microsoft.com/office/drawing/2014/main" id="{8620C673-C441-460B-826A-EBE3866129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7"/>
          <a:stretch/>
        </p:blipFill>
        <p:spPr bwMode="auto">
          <a:xfrm>
            <a:off x="0" y="-15239"/>
            <a:ext cx="12553950" cy="687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FD988E6A-C470-40B6-9678-ED8F164C62AE}"/>
              </a:ext>
            </a:extLst>
          </p:cNvPr>
          <p:cNvSpPr/>
          <p:nvPr/>
        </p:nvSpPr>
        <p:spPr>
          <a:xfrm>
            <a:off x="0" y="-15240"/>
            <a:ext cx="12553950" cy="6873239"/>
          </a:xfrm>
          <a:prstGeom prst="rect">
            <a:avLst/>
          </a:prstGeom>
          <a:gradFill>
            <a:gsLst>
              <a:gs pos="0">
                <a:srgbClr val="FF0000">
                  <a:alpha val="68000"/>
                </a:srgbClr>
              </a:gs>
              <a:gs pos="83000">
                <a:schemeClr val="accent1">
                  <a:lumMod val="45000"/>
                  <a:lumOff val="55000"/>
                  <a:alpha val="70000"/>
                </a:schemeClr>
              </a:gs>
              <a:gs pos="100000">
                <a:srgbClr val="00B0F0">
                  <a:alpha val="69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BrowalliaUPC" panose="020B0502040204020203" pitchFamily="34" charset="-34"/>
              <a:cs typeface="BrowalliaUPC" panose="020B0502040204020203" pitchFamily="34" charset="-34"/>
            </a:endParaRPr>
          </a:p>
        </p:txBody>
      </p:sp>
      <p:pic>
        <p:nvPicPr>
          <p:cNvPr id="1038" name="Picture 14" descr="13 melhor ideia de Logos da ADIDAS | papel de parede adidas, imagens adidas,  logotipo da adidas">
            <a:extLst>
              <a:ext uri="{FF2B5EF4-FFF2-40B4-BE49-F238E27FC236}">
                <a16:creationId xmlns:a16="http://schemas.microsoft.com/office/drawing/2014/main" id="{13FF7D39-2E59-494F-AEED-8257842B1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2797" y1="48729" x2="42797" y2="48729"/>
                        <a14:foregroundMark x1="29237" y1="54237" x2="29237" y2="54237"/>
                        <a14:foregroundMark x1="27966" y1="67797" x2="27966" y2="67797"/>
                        <a14:foregroundMark x1="32627" y1="63983" x2="32627" y2="63983"/>
                        <a14:foregroundMark x1="44492" y1="62712" x2="44492" y2="62712"/>
                        <a14:foregroundMark x1="56780" y1="63559" x2="56780" y2="63559"/>
                        <a14:foregroundMark x1="69915" y1="63559" x2="69915" y2="63559"/>
                        <a14:foregroundMark x1="74153" y1="62288" x2="74153" y2="622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226" y="1132567"/>
            <a:ext cx="1712233" cy="1712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1E94FE26-8656-48D2-BA29-9A036CC00B49}"/>
              </a:ext>
            </a:extLst>
          </p:cNvPr>
          <p:cNvSpPr txBox="1"/>
          <p:nvPr/>
        </p:nvSpPr>
        <p:spPr>
          <a:xfrm>
            <a:off x="4314372" y="2239389"/>
            <a:ext cx="6057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O melhor para os atletas</a:t>
            </a:r>
          </a:p>
        </p:txBody>
      </p:sp>
    </p:spTree>
    <p:extLst>
      <p:ext uri="{BB962C8B-B14F-4D97-AF65-F5344CB8AC3E}">
        <p14:creationId xmlns:p14="http://schemas.microsoft.com/office/powerpoint/2010/main" val="2398779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FD988E6A-C470-40B6-9678-ED8F164C62AE}"/>
              </a:ext>
            </a:extLst>
          </p:cNvPr>
          <p:cNvSpPr/>
          <p:nvPr/>
        </p:nvSpPr>
        <p:spPr>
          <a:xfrm>
            <a:off x="0" y="0"/>
            <a:ext cx="12192000" cy="6873239"/>
          </a:xfrm>
          <a:prstGeom prst="rect">
            <a:avLst/>
          </a:prstGeom>
          <a:gradFill>
            <a:gsLst>
              <a:gs pos="0">
                <a:srgbClr val="FF0000">
                  <a:alpha val="68000"/>
                </a:srgbClr>
              </a:gs>
              <a:gs pos="83000">
                <a:schemeClr val="accent1">
                  <a:lumMod val="45000"/>
                  <a:lumOff val="55000"/>
                  <a:alpha val="70000"/>
                </a:schemeClr>
              </a:gs>
              <a:gs pos="100000">
                <a:srgbClr val="00B0F0">
                  <a:alpha val="69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BrowalliaUPC" panose="020B0502040204020203" pitchFamily="34" charset="-34"/>
              <a:cs typeface="BrowalliaUPC" panose="020B0502040204020203" pitchFamily="34" charset="-34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EC55638-FAE3-4383-8268-D958FA346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357" y="630281"/>
            <a:ext cx="9753600" cy="659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5E8D14C-7CD2-4A33-A39F-986B9660F192}"/>
              </a:ext>
            </a:extLst>
          </p:cNvPr>
          <p:cNvSpPr txBox="1"/>
          <p:nvPr/>
        </p:nvSpPr>
        <p:spPr>
          <a:xfrm>
            <a:off x="595086" y="783771"/>
            <a:ext cx="550091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Criada: </a:t>
            </a:r>
            <a:r>
              <a:rPr lang="pt-BR" sz="2400" dirty="0" err="1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Herzogenaurach</a:t>
            </a:r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Alemanha</a:t>
            </a:r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,</a:t>
            </a:r>
          </a:p>
          <a:p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18 de Agosto de 1949</a:t>
            </a:r>
          </a:p>
          <a:p>
            <a:endParaRPr lang="pt-BR" sz="24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  <a:p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Fundador: </a:t>
            </a:r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Adolf </a:t>
            </a:r>
            <a:r>
              <a:rPr lang="pt-BR" sz="2400" dirty="0" err="1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Dassler</a:t>
            </a:r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 </a:t>
            </a:r>
          </a:p>
          <a:p>
            <a:endParaRPr lang="pt-BR" sz="24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  <a:p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Origem: Irmãos </a:t>
            </a:r>
            <a:r>
              <a:rPr lang="pt-BR" sz="2400" dirty="0" err="1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Dassler</a:t>
            </a:r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,</a:t>
            </a:r>
          </a:p>
          <a:p>
            <a:r>
              <a:rPr lang="pt-BR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Rudolf e </a:t>
            </a:r>
            <a:r>
              <a:rPr lang="pt-BR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Adolf </a:t>
            </a:r>
            <a:r>
              <a:rPr lang="pt-BR" dirty="0" err="1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Dassler</a:t>
            </a:r>
            <a:r>
              <a:rPr lang="pt-BR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 </a:t>
            </a:r>
          </a:p>
          <a:p>
            <a:endParaRPr lang="pt-BR" sz="24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  <a:p>
            <a:endParaRPr lang="pt-BR" sz="24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  <a:p>
            <a:endParaRPr lang="pt-BR" sz="24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082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Quer se tornar um atleta profissional? Veja esses 5 simples passos! - MVP  Sports">
            <a:extLst>
              <a:ext uri="{FF2B5EF4-FFF2-40B4-BE49-F238E27FC236}">
                <a16:creationId xmlns:a16="http://schemas.microsoft.com/office/drawing/2014/main" id="{9E38D97A-D7CD-4826-AC4D-D814BE80B1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2"/>
          <a:stretch/>
        </p:blipFill>
        <p:spPr bwMode="auto">
          <a:xfrm>
            <a:off x="3543300" y="-25583"/>
            <a:ext cx="8648700" cy="6898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FD988E6A-C470-40B6-9678-ED8F164C62AE}"/>
              </a:ext>
            </a:extLst>
          </p:cNvPr>
          <p:cNvSpPr/>
          <p:nvPr/>
        </p:nvSpPr>
        <p:spPr>
          <a:xfrm>
            <a:off x="0" y="0"/>
            <a:ext cx="12264572" cy="6914061"/>
          </a:xfrm>
          <a:prstGeom prst="rect">
            <a:avLst/>
          </a:prstGeom>
          <a:gradFill>
            <a:gsLst>
              <a:gs pos="43000">
                <a:srgbClr val="7030A0"/>
              </a:gs>
              <a:gs pos="0">
                <a:srgbClr val="FF0000"/>
              </a:gs>
              <a:gs pos="71000">
                <a:srgbClr val="7030A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BrowalliaUPC" panose="020B0502040204020203" pitchFamily="34" charset="-34"/>
              <a:cs typeface="BrowalliaUPC" panose="020B0502040204020203" pitchFamily="34" charset="-34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5E8D14C-7CD2-4A33-A39F-986B9660F192}"/>
              </a:ext>
            </a:extLst>
          </p:cNvPr>
          <p:cNvSpPr txBox="1"/>
          <p:nvPr/>
        </p:nvSpPr>
        <p:spPr>
          <a:xfrm>
            <a:off x="2161722" y="682342"/>
            <a:ext cx="927100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POR QUE DO NOME ADIDAS?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EA0AD8-2705-4890-9319-75EB93BA4BAD}"/>
              </a:ext>
            </a:extLst>
          </p:cNvPr>
          <p:cNvSpPr txBox="1"/>
          <p:nvPr/>
        </p:nvSpPr>
        <p:spPr>
          <a:xfrm>
            <a:off x="104502" y="1874728"/>
            <a:ext cx="495082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8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que começou a fabricar calçados esportivos quando retornou de seu tempo de serviço na Primeira Guerra Mundial. O nome combina seu apelido, Adi, e as três primeiras letras de seu sobrenome</a:t>
            </a:r>
          </a:p>
        </p:txBody>
      </p:sp>
    </p:spTree>
    <p:extLst>
      <p:ext uri="{BB962C8B-B14F-4D97-AF65-F5344CB8AC3E}">
        <p14:creationId xmlns:p14="http://schemas.microsoft.com/office/powerpoint/2010/main" val="175072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ângulo Retângulo 4">
            <a:extLst>
              <a:ext uri="{FF2B5EF4-FFF2-40B4-BE49-F238E27FC236}">
                <a16:creationId xmlns:a16="http://schemas.microsoft.com/office/drawing/2014/main" id="{0CFF071A-BF83-4323-922B-B9B50EB55A48}"/>
              </a:ext>
            </a:extLst>
          </p:cNvPr>
          <p:cNvSpPr/>
          <p:nvPr/>
        </p:nvSpPr>
        <p:spPr>
          <a:xfrm flipH="1" flipV="1">
            <a:off x="-34928" y="-217714"/>
            <a:ext cx="12454618" cy="8044542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F0"/>
              </a:solidFill>
            </a:endParaRPr>
          </a:p>
        </p:txBody>
      </p:sp>
      <p:pic>
        <p:nvPicPr>
          <p:cNvPr id="7" name="Imagem 6" descr="Uma imagem contendo vestuário, calçado&#10;&#10;Descrição gerada automaticamente">
            <a:extLst>
              <a:ext uri="{FF2B5EF4-FFF2-40B4-BE49-F238E27FC236}">
                <a16:creationId xmlns:a16="http://schemas.microsoft.com/office/drawing/2014/main" id="{962B8746-D9B2-4921-9C6D-BFE0BFE2B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08" b="98462" l="1556" r="99222">
                        <a14:foregroundMark x1="8667" y1="12692" x2="5333" y2="30385"/>
                        <a14:foregroundMark x1="5333" y1="30385" x2="7444" y2="64038"/>
                        <a14:foregroundMark x1="7444" y1="64038" x2="23333" y2="78269"/>
                        <a14:foregroundMark x1="23333" y1="78269" x2="76667" y2="86346"/>
                        <a14:foregroundMark x1="76667" y1="86346" x2="81000" y2="77308"/>
                        <a14:foregroundMark x1="81000" y1="77308" x2="79333" y2="61154"/>
                        <a14:foregroundMark x1="79333" y1="61154" x2="74889" y2="50577"/>
                        <a14:foregroundMark x1="74889" y1="50577" x2="73556" y2="50192"/>
                        <a14:foregroundMark x1="45111" y1="21154" x2="39222" y2="5385"/>
                        <a14:foregroundMark x1="39222" y1="5385" x2="38111" y2="4808"/>
                        <a14:foregroundMark x1="4333" y1="27885" x2="1556" y2="58846"/>
                        <a14:foregroundMark x1="1556" y1="58846" x2="2889" y2="76538"/>
                        <a14:foregroundMark x1="77222" y1="90577" x2="89333" y2="83654"/>
                        <a14:foregroundMark x1="95222" y1="81346" x2="95556" y2="74231"/>
                        <a14:foregroundMark x1="76889" y1="92500" x2="44444" y2="91538"/>
                        <a14:foregroundMark x1="60889" y1="98462" x2="60889" y2="98462"/>
                        <a14:foregroundMark x1="99222" y1="87115" x2="99222" y2="87115"/>
                        <a14:backgroundMark x1="333" y1="43077" x2="111" y2="444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9657" y="2449822"/>
            <a:ext cx="7689622" cy="4442893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83082E33-B07A-442E-800C-FFA9B94BBE7B}"/>
              </a:ext>
            </a:extLst>
          </p:cNvPr>
          <p:cNvSpPr txBox="1"/>
          <p:nvPr/>
        </p:nvSpPr>
        <p:spPr>
          <a:xfrm>
            <a:off x="5790294" y="0"/>
            <a:ext cx="219256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História</a:t>
            </a:r>
          </a:p>
          <a:p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75A34D3-0855-4594-BD7B-D31D74C054FA}"/>
              </a:ext>
            </a:extLst>
          </p:cNvPr>
          <p:cNvSpPr txBox="1"/>
          <p:nvPr/>
        </p:nvSpPr>
        <p:spPr>
          <a:xfrm>
            <a:off x="6829311" y="863881"/>
            <a:ext cx="219256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1970</a:t>
            </a:r>
          </a:p>
          <a:p>
            <a:endParaRPr lang="pt-BR" sz="44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  <a:p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157E321-370A-431B-8E71-77FE35537E67}"/>
              </a:ext>
            </a:extLst>
          </p:cNvPr>
          <p:cNvSpPr txBox="1"/>
          <p:nvPr/>
        </p:nvSpPr>
        <p:spPr>
          <a:xfrm>
            <a:off x="7841739" y="2334344"/>
            <a:ext cx="219256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1990</a:t>
            </a:r>
          </a:p>
          <a:p>
            <a:endParaRPr lang="pt-BR" sz="44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  <a:p>
            <a:endParaRPr lang="pt-BR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F46761D-C541-4856-AA5A-5FB395A949BD}"/>
              </a:ext>
            </a:extLst>
          </p:cNvPr>
          <p:cNvSpPr txBox="1"/>
          <p:nvPr/>
        </p:nvSpPr>
        <p:spPr>
          <a:xfrm>
            <a:off x="9038203" y="3804557"/>
            <a:ext cx="219256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2010</a:t>
            </a:r>
          </a:p>
          <a:p>
            <a:endParaRPr lang="pt-BR" sz="44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B60CAA7-89E3-4E35-845A-03C5B195F926}"/>
              </a:ext>
            </a:extLst>
          </p:cNvPr>
          <p:cNvSpPr txBox="1"/>
          <p:nvPr/>
        </p:nvSpPr>
        <p:spPr>
          <a:xfrm>
            <a:off x="7378586" y="1597597"/>
            <a:ext cx="30915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adidas Superstar</a:t>
            </a:r>
          </a:p>
          <a:p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50DA394-BDA6-4D1D-A62C-4013237082AA}"/>
              </a:ext>
            </a:extLst>
          </p:cNvPr>
          <p:cNvSpPr txBox="1"/>
          <p:nvPr/>
        </p:nvSpPr>
        <p:spPr>
          <a:xfrm>
            <a:off x="7982858" y="3010992"/>
            <a:ext cx="4803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Novo modelo de chuteira</a:t>
            </a:r>
          </a:p>
          <a:p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jaqueta EQT </a:t>
            </a:r>
            <a:r>
              <a:rPr lang="pt-BR" sz="2400" dirty="0" err="1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Volunteer</a:t>
            </a:r>
            <a:endParaRPr lang="pt-BR" sz="24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2E27730-1214-4A31-98B0-96E577F712A4}"/>
              </a:ext>
            </a:extLst>
          </p:cNvPr>
          <p:cNvSpPr txBox="1"/>
          <p:nvPr/>
        </p:nvSpPr>
        <p:spPr>
          <a:xfrm>
            <a:off x="8777515" y="4564063"/>
            <a:ext cx="6538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000000"/>
                </a:solidFill>
                <a:effectLst/>
                <a:latin typeface="AdihausDIN"/>
              </a:rPr>
              <a:t> </a:t>
            </a:r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união com a </a:t>
            </a:r>
            <a:r>
              <a:rPr lang="pt-BR" sz="2400" dirty="0" err="1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Parley</a:t>
            </a:r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 em </a:t>
            </a:r>
          </a:p>
          <a:p>
            <a:r>
              <a:rPr lang="pt-BR" sz="2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prol da reciclagem</a:t>
            </a:r>
          </a:p>
        </p:txBody>
      </p:sp>
    </p:spTree>
    <p:extLst>
      <p:ext uri="{BB962C8B-B14F-4D97-AF65-F5344CB8AC3E}">
        <p14:creationId xmlns:p14="http://schemas.microsoft.com/office/powerpoint/2010/main" val="2573899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125DE91D-145D-4F00-B5C0-54C0F17BD10B}"/>
              </a:ext>
            </a:extLst>
          </p:cNvPr>
          <p:cNvSpPr/>
          <p:nvPr/>
        </p:nvSpPr>
        <p:spPr>
          <a:xfrm>
            <a:off x="717260" y="664935"/>
            <a:ext cx="4296812" cy="532129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Retângulo 4">
            <a:extLst>
              <a:ext uri="{FF2B5EF4-FFF2-40B4-BE49-F238E27FC236}">
                <a16:creationId xmlns:a16="http://schemas.microsoft.com/office/drawing/2014/main" id="{0CFF071A-BF83-4323-922B-B9B50EB55A48}"/>
              </a:ext>
            </a:extLst>
          </p:cNvPr>
          <p:cNvSpPr/>
          <p:nvPr/>
        </p:nvSpPr>
        <p:spPr>
          <a:xfrm flipH="1" flipV="1">
            <a:off x="-567644" y="0"/>
            <a:ext cx="13078957" cy="8044542"/>
          </a:xfrm>
          <a:prstGeom prst="rt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A5A671B-6A54-4AEF-9298-6DD4777F33C6}"/>
              </a:ext>
            </a:extLst>
          </p:cNvPr>
          <p:cNvSpPr/>
          <p:nvPr/>
        </p:nvSpPr>
        <p:spPr>
          <a:xfrm>
            <a:off x="638013" y="562832"/>
            <a:ext cx="4296812" cy="53212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3082E33-B07A-442E-800C-FFA9B94BBE7B}"/>
              </a:ext>
            </a:extLst>
          </p:cNvPr>
          <p:cNvSpPr txBox="1"/>
          <p:nvPr/>
        </p:nvSpPr>
        <p:spPr>
          <a:xfrm>
            <a:off x="5790294" y="0"/>
            <a:ext cx="219256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Hoje</a:t>
            </a:r>
          </a:p>
          <a:p>
            <a:endParaRPr lang="pt-BR" dirty="0"/>
          </a:p>
        </p:txBody>
      </p:sp>
      <p:pic>
        <p:nvPicPr>
          <p:cNvPr id="6146" name="Picture 2" descr="Adidas busca seu novo dirigente na Henkel - Notícias : nominations (#617573)">
            <a:extLst>
              <a:ext uri="{FF2B5EF4-FFF2-40B4-BE49-F238E27FC236}">
                <a16:creationId xmlns:a16="http://schemas.microsoft.com/office/drawing/2014/main" id="{5E85E733-A619-45FD-AA1D-C7FEDE6432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57" t="11529" r="27504" b="16110"/>
          <a:stretch/>
        </p:blipFill>
        <p:spPr bwMode="auto">
          <a:xfrm>
            <a:off x="928009" y="844348"/>
            <a:ext cx="3875314" cy="496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13 melhor ideia de Logos da ADIDAS | papel de parede adidas, imagens adidas,  logotipo da adidas">
            <a:extLst>
              <a:ext uri="{FF2B5EF4-FFF2-40B4-BE49-F238E27FC236}">
                <a16:creationId xmlns:a16="http://schemas.microsoft.com/office/drawing/2014/main" id="{B38F6AA3-65DD-4529-AC43-500DCE8C7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2797" y1="48729" x2="42797" y2="48729"/>
                        <a14:foregroundMark x1="29237" y1="54237" x2="29237" y2="54237"/>
                        <a14:foregroundMark x1="27966" y1="67797" x2="27966" y2="67797"/>
                        <a14:foregroundMark x1="32627" y1="63983" x2="32627" y2="63983"/>
                        <a14:foregroundMark x1="44492" y1="62712" x2="44492" y2="62712"/>
                        <a14:foregroundMark x1="56780" y1="63559" x2="56780" y2="63559"/>
                        <a14:foregroundMark x1="69915" y1="63559" x2="69915" y2="63559"/>
                        <a14:foregroundMark x1="74153" y1="62288" x2="74153" y2="622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3555" y="13916"/>
            <a:ext cx="1787757" cy="178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D384AD6-648A-4D59-BB7C-2627FB2BB838}"/>
              </a:ext>
            </a:extLst>
          </p:cNvPr>
          <p:cNvSpPr txBox="1"/>
          <p:nvPr/>
        </p:nvSpPr>
        <p:spPr>
          <a:xfrm>
            <a:off x="5573691" y="1255178"/>
            <a:ext cx="34834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CEO:  </a:t>
            </a:r>
            <a:r>
              <a:rPr lang="pt-BR" sz="26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Kasper </a:t>
            </a:r>
            <a:r>
              <a:rPr lang="pt-BR" sz="2600" dirty="0" err="1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Rorsted</a:t>
            </a:r>
            <a:endParaRPr lang="pt-BR" sz="26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  <a:p>
            <a:endParaRPr lang="pt-BR" sz="26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  <a:p>
            <a:endParaRPr lang="pt-BR" sz="26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B5C2236-9294-49C2-A710-70A07C4E7249}"/>
              </a:ext>
            </a:extLst>
          </p:cNvPr>
          <p:cNvSpPr txBox="1"/>
          <p:nvPr/>
        </p:nvSpPr>
        <p:spPr>
          <a:xfrm>
            <a:off x="5587981" y="2048458"/>
            <a:ext cx="65386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Lucro no primeiro trimestre de 2020: </a:t>
            </a:r>
          </a:p>
          <a:p>
            <a:r>
              <a:rPr lang="pt-BR" sz="28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     129,76 milhões </a:t>
            </a:r>
            <a:endParaRPr lang="pt-BR" sz="26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  <a:p>
            <a:endParaRPr lang="pt-BR" sz="26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D836A9F-85A6-4236-962C-F4B405EE2D37}"/>
              </a:ext>
            </a:extLst>
          </p:cNvPr>
          <p:cNvSpPr txBox="1"/>
          <p:nvPr/>
        </p:nvSpPr>
        <p:spPr>
          <a:xfrm>
            <a:off x="6401312" y="3052220"/>
            <a:ext cx="65386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Lucro no primeiro trimestre de 2019: </a:t>
            </a:r>
          </a:p>
          <a:p>
            <a:r>
              <a:rPr lang="pt-BR" sz="28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    3,5 bilhões</a:t>
            </a:r>
            <a:endParaRPr lang="pt-BR" sz="2600" dirty="0">
              <a:solidFill>
                <a:schemeClr val="bg1"/>
              </a:solidFill>
              <a:latin typeface="Berlin Sans FB" panose="020E0602020502020306" pitchFamily="34" charset="0"/>
              <a:cs typeface="BrowalliaUPC" panose="020B0604020202020204" pitchFamily="34" charset="-34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541C731-68B1-4595-94A0-7C0DB5A92913}"/>
              </a:ext>
            </a:extLst>
          </p:cNvPr>
          <p:cNvSpPr txBox="1"/>
          <p:nvPr/>
        </p:nvSpPr>
        <p:spPr>
          <a:xfrm>
            <a:off x="7454213" y="4022271"/>
            <a:ext cx="653868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Uma das principais marcas de </a:t>
            </a:r>
          </a:p>
          <a:p>
            <a:r>
              <a:rPr lang="pt-BR" sz="2600" dirty="0">
                <a:solidFill>
                  <a:schemeClr val="bg1"/>
                </a:solidFill>
                <a:latin typeface="Berlin Sans FB" panose="020E0602020502020306" pitchFamily="34" charset="0"/>
                <a:cs typeface="BrowalliaUPC" panose="020B0604020202020204" pitchFamily="34" charset="-34"/>
              </a:rPr>
              <a:t>       sapatos do mundo 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FC5EABB6-582C-492E-A6B8-82A24DD5974A}"/>
              </a:ext>
            </a:extLst>
          </p:cNvPr>
          <p:cNvSpPr/>
          <p:nvPr/>
        </p:nvSpPr>
        <p:spPr>
          <a:xfrm>
            <a:off x="5469735" y="2255123"/>
            <a:ext cx="118246" cy="1182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6296C2CE-ED81-4DC0-BABD-BA1D104881AD}"/>
              </a:ext>
            </a:extLst>
          </p:cNvPr>
          <p:cNvSpPr/>
          <p:nvPr/>
        </p:nvSpPr>
        <p:spPr>
          <a:xfrm>
            <a:off x="6262942" y="3264516"/>
            <a:ext cx="118246" cy="1182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3C815E8E-0B7C-411B-BAF3-A5742FC53A2F}"/>
              </a:ext>
            </a:extLst>
          </p:cNvPr>
          <p:cNvSpPr/>
          <p:nvPr/>
        </p:nvSpPr>
        <p:spPr>
          <a:xfrm>
            <a:off x="7335967" y="4221693"/>
            <a:ext cx="118246" cy="1182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32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2B77A1C-83EF-4096-9017-4EEB4CA5DA8F}"/>
              </a:ext>
            </a:extLst>
          </p:cNvPr>
          <p:cNvSpPr txBox="1"/>
          <p:nvPr/>
        </p:nvSpPr>
        <p:spPr>
          <a:xfrm>
            <a:off x="566057" y="740228"/>
            <a:ext cx="102035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Fontes: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>
                <a:hlinkClick r:id="rId2"/>
              </a:rPr>
              <a:t>https://www.adidas.com.br/blog/392942-historia-da-adidas-de-1949-ate-agora</a:t>
            </a:r>
            <a:endParaRPr lang="pt-BR" dirty="0"/>
          </a:p>
          <a:p>
            <a:endParaRPr lang="pt-BR" dirty="0"/>
          </a:p>
          <a:p>
            <a:r>
              <a:rPr lang="pt-BR" dirty="0">
                <a:hlinkClick r:id="rId3"/>
              </a:rPr>
              <a:t>https://www.record.pt/fora-de-campo/detalhe/adidas-celebra-70-anos-a-historia-da-sua-origem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https://www.suno.com.br/noticias/adidas-lucro-queda-96-primeiro-trimestre-2020/</a:t>
            </a:r>
          </a:p>
        </p:txBody>
      </p:sp>
    </p:spTree>
    <p:extLst>
      <p:ext uri="{BB962C8B-B14F-4D97-AF65-F5344CB8AC3E}">
        <p14:creationId xmlns:p14="http://schemas.microsoft.com/office/powerpoint/2010/main" val="38160796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167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AdihausDIN</vt:lpstr>
      <vt:lpstr>Arial</vt:lpstr>
      <vt:lpstr>Berlin Sans FB</vt:lpstr>
      <vt:lpstr>BrowalliaUPC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nilton dionisio guerra</dc:creator>
  <cp:lastModifiedBy>nilton dionisio guerra</cp:lastModifiedBy>
  <cp:revision>1</cp:revision>
  <dcterms:created xsi:type="dcterms:W3CDTF">2021-07-29T23:36:17Z</dcterms:created>
  <dcterms:modified xsi:type="dcterms:W3CDTF">2021-07-30T01:40:45Z</dcterms:modified>
</cp:coreProperties>
</file>