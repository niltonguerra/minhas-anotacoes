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sldIdLst>
    <p:sldId id="256" r:id="rId5"/>
    <p:sldId id="257" r:id="rId6"/>
    <p:sldId id="266" r:id="rId7"/>
    <p:sldId id="265" r:id="rId8"/>
    <p:sldId id="264" r:id="rId9"/>
    <p:sldId id="263" r:id="rId10"/>
    <p:sldId id="262" r:id="rId11"/>
    <p:sldId id="261" r:id="rId12"/>
    <p:sldId id="258" r:id="rId13"/>
    <p:sldId id="260" r:id="rId14"/>
    <p:sldId id="259" r:id="rId15"/>
    <p:sldId id="267" r:id="rId16"/>
    <p:sldId id="269" r:id="rId17"/>
    <p:sldId id="270" r:id="rId18"/>
    <p:sldId id="271" r:id="rId19"/>
    <p:sldId id="26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1951E0E-545E-409C-A422-DC410C654E80}" type="datetimeFigureOut">
              <a:rPr lang="pt-BR" smtClean="0"/>
              <a:t>18/09/2024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2847219E-488D-47A5-97FA-CA4D62B83E13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992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1E0E-545E-409C-A422-DC410C654E80}" type="datetimeFigureOut">
              <a:rPr lang="pt-BR" smtClean="0"/>
              <a:t>18/09/2024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219E-488D-47A5-97FA-CA4D62B83E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518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1E0E-545E-409C-A422-DC410C654E80}" type="datetimeFigureOut">
              <a:rPr lang="pt-BR" smtClean="0"/>
              <a:t>18/09/2024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219E-488D-47A5-97FA-CA4D62B83E13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563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1E0E-545E-409C-A422-DC410C654E80}" type="datetimeFigureOut">
              <a:rPr lang="pt-BR" smtClean="0"/>
              <a:t>18/09/2024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219E-488D-47A5-97FA-CA4D62B83E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4497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1E0E-545E-409C-A422-DC410C654E80}" type="datetimeFigureOut">
              <a:rPr lang="pt-BR" smtClean="0"/>
              <a:t>18/09/2024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219E-488D-47A5-97FA-CA4D62B83E13}" type="slidenum">
              <a:rPr lang="pt-BR" smtClean="0"/>
              <a:t>‹nº›</a:t>
            </a:fld>
            <a:endParaRPr lang="pt-BR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4101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1E0E-545E-409C-A422-DC410C654E80}" type="datetimeFigureOut">
              <a:rPr lang="pt-BR" smtClean="0"/>
              <a:t>18/09/2024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219E-488D-47A5-97FA-CA4D62B83E13}" type="slidenum">
              <a:rPr lang="pt-BR" smtClean="0"/>
              <a:t>‹nº›</a:t>
            </a:fld>
            <a:endParaRPr lang="pt-B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3223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1E0E-545E-409C-A422-DC410C654E80}" type="datetimeFigureOut">
              <a:rPr lang="pt-BR" smtClean="0"/>
              <a:t>18/09/2024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219E-488D-47A5-97FA-CA4D62B83E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9270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1E0E-545E-409C-A422-DC410C654E80}" type="datetimeFigureOut">
              <a:rPr lang="pt-BR" smtClean="0"/>
              <a:t>18/09/2024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219E-488D-47A5-97FA-CA4D62B83E13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4942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1E0E-545E-409C-A422-DC410C654E80}" type="datetimeFigureOut">
              <a:rPr lang="pt-BR" smtClean="0"/>
              <a:t>18/09/2024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219E-488D-47A5-97FA-CA4D62B83E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4540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1E0E-545E-409C-A422-DC410C654E80}" type="datetimeFigureOut">
              <a:rPr lang="pt-BR" smtClean="0"/>
              <a:t>18/09/2024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219E-488D-47A5-97FA-CA4D62B83E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7696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1E0E-545E-409C-A422-DC410C654E80}" type="datetimeFigureOut">
              <a:rPr lang="pt-BR" smtClean="0"/>
              <a:t>18/09/2024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219E-488D-47A5-97FA-CA4D62B83E13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1511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1E0E-545E-409C-A422-DC410C654E80}" type="datetimeFigureOut">
              <a:rPr lang="pt-BR" smtClean="0"/>
              <a:t>18/09/2024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219E-488D-47A5-97FA-CA4D62B83E13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8448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1E0E-545E-409C-A422-DC410C654E80}" type="datetimeFigureOut">
              <a:rPr lang="pt-BR" smtClean="0"/>
              <a:t>18/09/2024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219E-488D-47A5-97FA-CA4D62B83E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16760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1E0E-545E-409C-A422-DC410C654E80}" type="datetimeFigureOut">
              <a:rPr lang="pt-BR" smtClean="0"/>
              <a:t>18/09/2024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219E-488D-47A5-97FA-CA4D62B83E13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14120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1E0E-545E-409C-A422-DC410C654E80}" type="datetimeFigureOut">
              <a:rPr lang="pt-BR" smtClean="0"/>
              <a:t>18/09/2024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219E-488D-47A5-97FA-CA4D62B83E13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72012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1E0E-545E-409C-A422-DC410C654E80}" type="datetimeFigureOut">
              <a:rPr lang="pt-BR" smtClean="0"/>
              <a:t>18/09/2024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219E-488D-47A5-97FA-CA4D62B83E13}" type="slidenum">
              <a:rPr lang="pt-BR" smtClean="0"/>
              <a:t>‹nº›</a:t>
            </a:fld>
            <a:endParaRPr lang="pt-B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5354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1E0E-545E-409C-A422-DC410C654E80}" type="datetimeFigureOut">
              <a:rPr lang="pt-BR" smtClean="0"/>
              <a:t>18/09/2024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7219E-488D-47A5-97FA-CA4D62B83E13}" type="slidenum">
              <a:rPr lang="pt-BR" smtClean="0"/>
              <a:t>‹nº›</a:t>
            </a:fld>
            <a:endParaRPr lang="pt-BR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157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1951E0E-545E-409C-A422-DC410C654E80}" type="datetimeFigureOut">
              <a:rPr lang="pt-BR" smtClean="0"/>
              <a:t>18/09/2024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847219E-488D-47A5-97FA-CA4D62B83E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0993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4gc_PuCg3R0&amp;list=PLH8edgEd8YTkXH4dMY66A7Xg64-_5BPZ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KnAj9aepQ8U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appium.io/" TargetMode="External"/><Relationship Id="rId3" Type="http://schemas.openxmlformats.org/officeDocument/2006/relationships/hyperlink" Target="https://www.selenium.dev/" TargetMode="External"/><Relationship Id="rId7" Type="http://schemas.openxmlformats.org/officeDocument/2006/relationships/hyperlink" Target="https://cucumber.io/" TargetMode="External"/><Relationship Id="rId2" Type="http://schemas.openxmlformats.org/officeDocument/2006/relationships/hyperlink" Target="https://jmeter.apache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ostman.com/" TargetMode="External"/><Relationship Id="rId5" Type="http://schemas.openxmlformats.org/officeDocument/2006/relationships/hyperlink" Target="https://testng.orgpostman/" TargetMode="External"/><Relationship Id="rId10" Type="http://schemas.openxmlformats.org/officeDocument/2006/relationships/hyperlink" Target="https://www.katalon.com/" TargetMode="External"/><Relationship Id="rId4" Type="http://schemas.openxmlformats.org/officeDocument/2006/relationships/hyperlink" Target="https://junit.org/" TargetMode="External"/><Relationship Id="rId9" Type="http://schemas.openxmlformats.org/officeDocument/2006/relationships/hyperlink" Target="https://www.jenkins.io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ferramentas de testes de software 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pt-BR" b="1" dirty="0" err="1"/>
              <a:t>Prof°</a:t>
            </a:r>
            <a:r>
              <a:rPr lang="pt-BR" b="1" dirty="0"/>
              <a:t> Luana Lourenço</a:t>
            </a:r>
          </a:p>
        </p:txBody>
      </p:sp>
    </p:spTree>
    <p:extLst>
      <p:ext uri="{BB962C8B-B14F-4D97-AF65-F5344CB8AC3E}">
        <p14:creationId xmlns:p14="http://schemas.microsoft.com/office/powerpoint/2010/main" val="1476552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 </a:t>
            </a:r>
            <a:r>
              <a:rPr lang="pt-BR" dirty="0" err="1"/>
              <a:t>TestNG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pt-BR" b="1" dirty="0"/>
              <a:t>Categoria: </a:t>
            </a:r>
            <a:r>
              <a:rPr lang="pt-BR" dirty="0"/>
              <a:t>Teste Unitário e de Integração</a:t>
            </a:r>
          </a:p>
          <a:p>
            <a:pPr marL="0" indent="0" algn="just">
              <a:buNone/>
            </a:pPr>
            <a:r>
              <a:rPr lang="pt-BR" b="1" dirty="0"/>
              <a:t>Como funciona: </a:t>
            </a:r>
            <a:r>
              <a:rPr lang="pt-BR" u="sng" dirty="0"/>
              <a:t>É uma ferramenta para testes automatizados, projetada para cobrir uma ampla gama de testes, como unitários, de integração e funcionais</a:t>
            </a:r>
            <a:r>
              <a:rPr lang="pt-BR" dirty="0"/>
              <a:t>. Baseada em Java, </a:t>
            </a:r>
            <a:r>
              <a:rPr lang="pt-BR" u="sng" dirty="0"/>
              <a:t>permite organizar testes em grupos, configurar dependências e gerar relatórios detalhados.</a:t>
            </a:r>
            <a:r>
              <a:rPr lang="pt-BR" dirty="0"/>
              <a:t> É uma evolução do </a:t>
            </a:r>
            <a:r>
              <a:rPr lang="pt-BR" dirty="0" err="1"/>
              <a:t>JUnit</a:t>
            </a:r>
            <a:r>
              <a:rPr lang="pt-BR" dirty="0"/>
              <a:t>, oferecendo mais flexibilidade e funcionalidades adicionais, como priorização de testes e paralelismo.</a:t>
            </a:r>
          </a:p>
          <a:p>
            <a:pPr marL="0" indent="0" algn="just">
              <a:buNone/>
            </a:pPr>
            <a:r>
              <a:rPr lang="pt-BR" b="1" dirty="0"/>
              <a:t>Exemplo de uso: </a:t>
            </a:r>
            <a:r>
              <a:rPr lang="pt-BR" dirty="0"/>
              <a:t>Testar a interação entre diferentes módulos de uma aplicação de e-commerce que está escrita em Java.</a:t>
            </a:r>
          </a:p>
        </p:txBody>
      </p:sp>
    </p:spTree>
    <p:extLst>
      <p:ext uri="{BB962C8B-B14F-4D97-AF65-F5344CB8AC3E}">
        <p14:creationId xmlns:p14="http://schemas.microsoft.com/office/powerpoint/2010/main" val="1756801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 err="1"/>
              <a:t>Postman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043953"/>
            <a:ext cx="10010885" cy="405563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b="1" dirty="0"/>
              <a:t>Categoria: </a:t>
            </a:r>
            <a:r>
              <a:rPr lang="pt-BR" dirty="0"/>
              <a:t>Teste de API</a:t>
            </a:r>
          </a:p>
          <a:p>
            <a:pPr marL="0" indent="0">
              <a:buNone/>
            </a:pPr>
            <a:r>
              <a:rPr lang="pt-BR" b="1" dirty="0"/>
              <a:t>Como funciona</a:t>
            </a:r>
            <a:r>
              <a:rPr lang="pt-BR" b="1" u="sng" dirty="0"/>
              <a:t>: </a:t>
            </a:r>
            <a:r>
              <a:rPr lang="pt-BR" u="sng" dirty="0" err="1"/>
              <a:t>Postman</a:t>
            </a:r>
            <a:r>
              <a:rPr lang="pt-BR" u="sng" dirty="0"/>
              <a:t> é uma ferramenta muito utilizada para testar </a:t>
            </a:r>
            <a:r>
              <a:rPr lang="pt-BR" u="sng" dirty="0" err="1"/>
              <a:t>APIs</a:t>
            </a:r>
            <a:r>
              <a:rPr lang="pt-BR" u="sng" dirty="0"/>
              <a:t>. </a:t>
            </a:r>
            <a:r>
              <a:rPr lang="pt-BR" dirty="0"/>
              <a:t>Com ela, é possível criar, enviar e monitorizar pedidos HTTP (GET, POST, PUT, DELETE, etc.) e validar as respostas para garantir que as </a:t>
            </a:r>
            <a:r>
              <a:rPr lang="pt-BR" dirty="0" err="1"/>
              <a:t>APIs</a:t>
            </a:r>
            <a:r>
              <a:rPr lang="pt-BR" dirty="0"/>
              <a:t> estão a funcionar corretamente. </a:t>
            </a:r>
            <a:r>
              <a:rPr lang="pt-BR" dirty="0" err="1"/>
              <a:t>Postman</a:t>
            </a:r>
            <a:r>
              <a:rPr lang="pt-BR" dirty="0"/>
              <a:t> oferece uma interface gráfica intuitiva, o que facilita a criação de </a:t>
            </a:r>
            <a:r>
              <a:rPr lang="pt-BR" dirty="0" err="1"/>
              <a:t>suites</a:t>
            </a:r>
            <a:r>
              <a:rPr lang="pt-BR" dirty="0"/>
              <a:t> de testes para </a:t>
            </a:r>
            <a:r>
              <a:rPr lang="pt-BR" dirty="0" err="1"/>
              <a:t>APIs</a:t>
            </a:r>
            <a:r>
              <a:rPr lang="pt-BR" dirty="0"/>
              <a:t> </a:t>
            </a:r>
            <a:r>
              <a:rPr lang="pt-BR" dirty="0" err="1"/>
              <a:t>RESTful</a:t>
            </a:r>
            <a:r>
              <a:rPr lang="pt-BR" dirty="0"/>
              <a:t> e SOAP.</a:t>
            </a:r>
          </a:p>
          <a:p>
            <a:pPr marL="0" indent="0" algn="just">
              <a:buNone/>
            </a:pPr>
            <a:r>
              <a:rPr lang="pt-BR" b="1" dirty="0"/>
              <a:t>Exemplo de uso: </a:t>
            </a:r>
            <a:r>
              <a:rPr lang="pt-BR" dirty="0"/>
              <a:t>Testar a API de um sistema de reservas de hotel, verificando se as requisições para criar, modificar ou cancelar reservas funcionam corretamente.</a:t>
            </a:r>
          </a:p>
          <a:p>
            <a:pPr marL="0" indent="0" algn="just">
              <a:buNone/>
            </a:pPr>
            <a:r>
              <a:rPr lang="pt-BR" dirty="0">
                <a:solidFill>
                  <a:srgbClr val="00B0F0"/>
                </a:solidFill>
                <a:hlinkClick r:id="rId2"/>
              </a:rPr>
              <a:t>https://www.youtube.com/watch?v=4gc_PuCg3R0&amp;list=PLH8edgEd8YTkXH4dMY66A7Xg64-_5BPZS</a:t>
            </a:r>
            <a:r>
              <a:rPr lang="pt-BR" dirty="0">
                <a:solidFill>
                  <a:srgbClr val="00B0F0"/>
                </a:solidFill>
              </a:rPr>
              <a:t> </a:t>
            </a:r>
          </a:p>
          <a:p>
            <a:pPr marL="0" indent="0" algn="just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04710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 </a:t>
            </a:r>
            <a:r>
              <a:rPr lang="pt-BR" b="1" dirty="0" err="1"/>
              <a:t>Cucumber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2" y="2460113"/>
            <a:ext cx="9601196" cy="3198410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pt-BR" b="1" dirty="0"/>
              <a:t>Categoria: </a:t>
            </a:r>
            <a:r>
              <a:rPr lang="pt-BR" dirty="0"/>
              <a:t>Teste de Aceitação e Comportamento (BDD)</a:t>
            </a:r>
          </a:p>
          <a:p>
            <a:pPr marL="0" indent="0" algn="just">
              <a:buNone/>
            </a:pPr>
            <a:r>
              <a:rPr lang="pt-BR" b="1" dirty="0"/>
              <a:t>Como funciona: </a:t>
            </a:r>
            <a:r>
              <a:rPr lang="pt-BR" dirty="0" err="1"/>
              <a:t>Cucumber</a:t>
            </a:r>
            <a:r>
              <a:rPr lang="pt-BR" dirty="0"/>
              <a:t> é uma ferramenta que suporta o BDD (</a:t>
            </a:r>
            <a:r>
              <a:rPr lang="pt-BR" dirty="0" err="1"/>
              <a:t>Behavior</a:t>
            </a:r>
            <a:r>
              <a:rPr lang="pt-BR" dirty="0"/>
              <a:t> </a:t>
            </a:r>
            <a:r>
              <a:rPr lang="pt-BR" dirty="0" err="1"/>
              <a:t>Driven</a:t>
            </a:r>
            <a:r>
              <a:rPr lang="pt-BR" dirty="0"/>
              <a:t> </a:t>
            </a:r>
            <a:r>
              <a:rPr lang="pt-BR" dirty="0" err="1"/>
              <a:t>Development</a:t>
            </a:r>
            <a:r>
              <a:rPr lang="pt-BR" dirty="0"/>
              <a:t>), permitindo a escrita de testes de aceitação em linguagem natural (normalmente </a:t>
            </a:r>
            <a:r>
              <a:rPr lang="pt-BR" dirty="0" err="1"/>
              <a:t>Gherkin</a:t>
            </a:r>
            <a:r>
              <a:rPr lang="pt-BR" dirty="0"/>
              <a:t>), que podem ser entendidos tanto por desenvolvedores quanto por partes interessadas não técnicas. Os cenários de teste são descritos em termos de comportamentos esperados, e as automações são feitas com base nestes cenários.</a:t>
            </a:r>
          </a:p>
          <a:p>
            <a:pPr marL="0" indent="0" algn="just">
              <a:buNone/>
            </a:pPr>
            <a:r>
              <a:rPr lang="pt-BR" b="1" dirty="0"/>
              <a:t>Exemplo de uso: </a:t>
            </a:r>
            <a:r>
              <a:rPr lang="pt-BR" dirty="0"/>
              <a:t>Testar funcionalidades de um sistema de pagamento online, garantindo que o comportamento do sistema corresponde às expectativas definidas pelos utilizadores.</a:t>
            </a:r>
          </a:p>
          <a:p>
            <a:pPr marL="0" indent="0" algn="just">
              <a:buNone/>
            </a:pPr>
            <a:r>
              <a:rPr lang="pt-BR" dirty="0">
                <a:hlinkClick r:id="rId2"/>
              </a:rPr>
              <a:t>https://www.youtube.com/watch?v=KnAj9aepQ8U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7362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 err="1"/>
              <a:t>Appium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pt-BR" b="1" dirty="0"/>
              <a:t>Categoria: </a:t>
            </a:r>
            <a:r>
              <a:rPr lang="pt-BR" dirty="0"/>
              <a:t>Teste de Aplicações Móveis</a:t>
            </a:r>
          </a:p>
          <a:p>
            <a:pPr marL="0" indent="0" algn="just">
              <a:buNone/>
            </a:pPr>
            <a:r>
              <a:rPr lang="pt-BR" b="1" dirty="0"/>
              <a:t>Como funciona: </a:t>
            </a:r>
            <a:r>
              <a:rPr lang="pt-BR" dirty="0" err="1"/>
              <a:t>Appium</a:t>
            </a:r>
            <a:r>
              <a:rPr lang="pt-BR" dirty="0"/>
              <a:t> é uma ferramenta de código aberto para automação de testes em aplicações móveis. Funciona tanto em dispositivos iOS quanto </a:t>
            </a:r>
            <a:r>
              <a:rPr lang="pt-BR" dirty="0" err="1"/>
              <a:t>Android</a:t>
            </a:r>
            <a:r>
              <a:rPr lang="pt-BR" dirty="0"/>
              <a:t>, permitindo a criação de testes automáticos para aplicações nativas, híbridas e baseadas na web. O </a:t>
            </a:r>
            <a:r>
              <a:rPr lang="pt-BR" dirty="0" err="1"/>
              <a:t>Appium</a:t>
            </a:r>
            <a:r>
              <a:rPr lang="pt-BR" dirty="0"/>
              <a:t> usa </a:t>
            </a:r>
            <a:r>
              <a:rPr lang="pt-BR" dirty="0" err="1"/>
              <a:t>WebDriver</a:t>
            </a:r>
            <a:r>
              <a:rPr lang="pt-BR" dirty="0"/>
              <a:t> para controlar os dispositivos móveis e permite escrever testes em várias linguagens, como Java, Python e </a:t>
            </a:r>
            <a:r>
              <a:rPr lang="pt-BR" dirty="0" err="1"/>
              <a:t>JavaScript</a:t>
            </a:r>
            <a:r>
              <a:rPr lang="pt-BR" dirty="0"/>
              <a:t>.</a:t>
            </a:r>
          </a:p>
          <a:p>
            <a:pPr marL="0" indent="0" algn="just">
              <a:buNone/>
            </a:pPr>
            <a:r>
              <a:rPr lang="pt-BR" b="1" dirty="0"/>
              <a:t>Exemplo de uso: </a:t>
            </a:r>
            <a:r>
              <a:rPr lang="pt-BR" dirty="0"/>
              <a:t>Testar a funcionalidade de uma aplicação bancária mobile para garantir que operações como </a:t>
            </a:r>
            <a:r>
              <a:rPr lang="pt-BR" dirty="0" err="1"/>
              <a:t>login</a:t>
            </a:r>
            <a:r>
              <a:rPr lang="pt-BR" dirty="0"/>
              <a:t>, consulta de saldo e transferência funcionam corretamente.</a:t>
            </a:r>
          </a:p>
          <a:p>
            <a:pPr marL="0" indent="0" algn="just">
              <a:buNone/>
            </a:pPr>
            <a:r>
              <a:rPr lang="pt-BR" dirty="0"/>
              <a:t>https://www.youtube.com/watch?v=Elot0i1W1iI</a:t>
            </a:r>
          </a:p>
        </p:txBody>
      </p:sp>
    </p:spTree>
    <p:extLst>
      <p:ext uri="{BB962C8B-B14F-4D97-AF65-F5344CB8AC3E}">
        <p14:creationId xmlns:p14="http://schemas.microsoft.com/office/powerpoint/2010/main" val="3309189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 err="1"/>
              <a:t>Jenkins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b="1" dirty="0"/>
              <a:t>Categoria: </a:t>
            </a:r>
            <a:r>
              <a:rPr lang="pt-BR" dirty="0"/>
              <a:t>Integração Contínua (CI/CD) e Testes Automatizados</a:t>
            </a:r>
          </a:p>
          <a:p>
            <a:pPr marL="0" indent="0">
              <a:buNone/>
            </a:pPr>
            <a:r>
              <a:rPr lang="pt-BR" dirty="0"/>
              <a:t>Como funciona: </a:t>
            </a:r>
            <a:r>
              <a:rPr lang="pt-BR" dirty="0" err="1"/>
              <a:t>Jenkins</a:t>
            </a:r>
            <a:r>
              <a:rPr lang="pt-BR" dirty="0"/>
              <a:t> é uma plataforma de automação que ajuda a implementar práticas de integração contínua e entrega contínua (CI/CD). Ele automatiza a execução de testes de software sempre que há alterações no código, garantindo que os testes sejam executados de forma consistente e contínua. </a:t>
            </a:r>
            <a:r>
              <a:rPr lang="pt-BR" dirty="0" err="1"/>
              <a:t>Jenkins</a:t>
            </a:r>
            <a:r>
              <a:rPr lang="pt-BR" dirty="0"/>
              <a:t> pode ser integrado com outras ferramentas de testes, como </a:t>
            </a:r>
            <a:r>
              <a:rPr lang="pt-BR" dirty="0" err="1"/>
              <a:t>JUnit</a:t>
            </a:r>
            <a:r>
              <a:rPr lang="pt-BR" dirty="0"/>
              <a:t>, </a:t>
            </a:r>
            <a:r>
              <a:rPr lang="pt-BR" dirty="0" err="1"/>
              <a:t>Selenium</a:t>
            </a:r>
            <a:r>
              <a:rPr lang="pt-BR" dirty="0"/>
              <a:t>, e </a:t>
            </a:r>
            <a:r>
              <a:rPr lang="pt-BR" dirty="0" err="1"/>
              <a:t>Postman</a:t>
            </a:r>
            <a:r>
              <a:rPr lang="pt-BR" dirty="0"/>
              <a:t>, para automatizar a execução dos testes após cada mudança no código.</a:t>
            </a:r>
          </a:p>
          <a:p>
            <a:pPr marL="0" indent="0">
              <a:buNone/>
            </a:pPr>
            <a:r>
              <a:rPr lang="pt-BR" b="1" dirty="0"/>
              <a:t>Exemplo de uso: </a:t>
            </a:r>
            <a:r>
              <a:rPr lang="pt-BR" dirty="0"/>
              <a:t>Automação de testes e construção de pipelines para uma aplicação web, executando testes automaticamente após cada </a:t>
            </a:r>
            <a:r>
              <a:rPr lang="pt-BR" dirty="0" err="1"/>
              <a:t>commit</a:t>
            </a:r>
            <a:r>
              <a:rPr lang="pt-BR" dirty="0"/>
              <a:t> no repositório de código.</a:t>
            </a:r>
          </a:p>
          <a:p>
            <a:pPr marL="0" indent="0">
              <a:buNone/>
            </a:pPr>
            <a:r>
              <a:rPr lang="pt-BR" dirty="0"/>
              <a:t>https://www.youtube.com/watch?v=8OfhS5f7jIY</a:t>
            </a:r>
          </a:p>
        </p:txBody>
      </p:sp>
    </p:spTree>
    <p:extLst>
      <p:ext uri="{BB962C8B-B14F-4D97-AF65-F5344CB8AC3E}">
        <p14:creationId xmlns:p14="http://schemas.microsoft.com/office/powerpoint/2010/main" val="1175992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 </a:t>
            </a:r>
            <a:r>
              <a:rPr lang="pt-BR" b="1" dirty="0" err="1"/>
              <a:t>Selenium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pt-BR" b="1" dirty="0"/>
              <a:t>Categoria: </a:t>
            </a:r>
            <a:r>
              <a:rPr lang="pt-BR" dirty="0"/>
              <a:t>Teste Funcional de Interfaces de Utilizador</a:t>
            </a:r>
          </a:p>
          <a:p>
            <a:pPr marL="0" indent="0" algn="just">
              <a:buNone/>
            </a:pPr>
            <a:r>
              <a:rPr lang="pt-BR" b="1" dirty="0"/>
              <a:t>Como funciona: </a:t>
            </a:r>
            <a:r>
              <a:rPr lang="pt-BR" dirty="0" err="1"/>
              <a:t>Selenium</a:t>
            </a:r>
            <a:r>
              <a:rPr lang="pt-BR" dirty="0"/>
              <a:t> é uma das ferramentas mais usadas para automatizar testes em aplicações web. Ele permite simular interações de utilizadores, como cliques e entradas de dados, em várias plataformas e navegadores (Chrome, Firefox, etc.). Os scripts de teste podem ser escritos em várias linguagens de programação, como Java, Python e C#. É amplamente utilizado para garantir que as interfaces gráficas de utilizador (UI) funcionam conforme o esperado.</a:t>
            </a:r>
          </a:p>
          <a:p>
            <a:pPr marL="0" indent="0" algn="just">
              <a:buNone/>
            </a:pPr>
            <a:r>
              <a:rPr lang="pt-BR" b="1" dirty="0"/>
              <a:t>Exemplo de uso: </a:t>
            </a:r>
            <a:r>
              <a:rPr lang="pt-BR" dirty="0"/>
              <a:t>Testar o formulário de registo de uma aplicação web para garantir que todos os campos obrigatórios estão a funcionar corretamente e que os dados são validados.</a:t>
            </a:r>
          </a:p>
          <a:p>
            <a:pPr marL="0" indent="0" algn="just">
              <a:buNone/>
            </a:pPr>
            <a:r>
              <a:rPr lang="pt-BR" dirty="0"/>
              <a:t>https://www.youtube.com/watch?v=Fw9YW5_MZRs</a:t>
            </a:r>
          </a:p>
        </p:txBody>
      </p:sp>
    </p:spTree>
    <p:extLst>
      <p:ext uri="{BB962C8B-B14F-4D97-AF65-F5344CB8AC3E}">
        <p14:creationId xmlns:p14="http://schemas.microsoft.com/office/powerpoint/2010/main" val="3264886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 err="1"/>
              <a:t>JMeter</a:t>
            </a:r>
            <a:endParaRPr lang="pt-BR" b="1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pt-BR" b="1" dirty="0"/>
              <a:t>Categoria: </a:t>
            </a:r>
            <a:r>
              <a:rPr lang="pt-BR" dirty="0"/>
              <a:t>Teste de Desempenho</a:t>
            </a:r>
          </a:p>
          <a:p>
            <a:pPr marL="0" indent="0" algn="just">
              <a:buNone/>
            </a:pPr>
            <a:r>
              <a:rPr lang="pt-BR" b="1" dirty="0"/>
              <a:t>Como funciona: </a:t>
            </a:r>
            <a:r>
              <a:rPr lang="pt-BR" dirty="0"/>
              <a:t>Apache </a:t>
            </a:r>
            <a:r>
              <a:rPr lang="pt-BR" dirty="0" err="1"/>
              <a:t>JMeter</a:t>
            </a:r>
            <a:r>
              <a:rPr lang="pt-BR" dirty="0"/>
              <a:t> é uma ferramenta usada principalmente para testes de desempenho e carga em aplicações web. Simula múltiplos utilizadores a interagir com a aplicação ao mesmo tempo, medindo o tempo de resposta, o uso de recursos, e identificando gargalos de desempenho. É muito útil para avaliar como a aplicação se comporta em condições de alta carga.</a:t>
            </a:r>
          </a:p>
          <a:p>
            <a:pPr marL="0" indent="0" algn="just">
              <a:buNone/>
            </a:pPr>
            <a:r>
              <a:rPr lang="pt-BR" b="1" dirty="0"/>
              <a:t>Exemplo de uso: </a:t>
            </a:r>
            <a:r>
              <a:rPr lang="pt-BR" dirty="0"/>
              <a:t>Testar uma plataforma de e-commerce durante uma campanha de vendas massiva para avaliar como o sistema responde a milhares de acessos simultâneos.</a:t>
            </a:r>
          </a:p>
          <a:p>
            <a:pPr marL="0" indent="0" algn="just">
              <a:buNone/>
            </a:pPr>
            <a:r>
              <a:rPr lang="pt-BR" dirty="0"/>
              <a:t>https://www.youtube.com/watch?v=IEm3UCfUn2s</a:t>
            </a:r>
          </a:p>
        </p:txBody>
      </p:sp>
    </p:spTree>
    <p:extLst>
      <p:ext uri="{BB962C8B-B14F-4D97-AF65-F5344CB8AC3E}">
        <p14:creationId xmlns:p14="http://schemas.microsoft.com/office/powerpoint/2010/main" val="286439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 err="1"/>
              <a:t>Katalon</a:t>
            </a:r>
            <a:r>
              <a:rPr lang="pt-BR" b="1" dirty="0"/>
              <a:t> Studio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pt-BR" b="1" dirty="0"/>
              <a:t>Categoria: </a:t>
            </a:r>
            <a:r>
              <a:rPr lang="pt-BR" dirty="0"/>
              <a:t>Testes Funcionais e Automação de Interface de Utilizador</a:t>
            </a:r>
          </a:p>
          <a:p>
            <a:pPr marL="0" indent="0" algn="just">
              <a:buNone/>
            </a:pPr>
            <a:r>
              <a:rPr lang="pt-BR" b="1" dirty="0"/>
              <a:t>Como funciona: </a:t>
            </a:r>
            <a:r>
              <a:rPr lang="pt-BR" dirty="0" err="1"/>
              <a:t>Katalon</a:t>
            </a:r>
            <a:r>
              <a:rPr lang="pt-BR" dirty="0"/>
              <a:t> é uma plataforma completa de automação de testes para aplicações web, </a:t>
            </a:r>
            <a:r>
              <a:rPr lang="pt-BR" dirty="0" err="1"/>
              <a:t>APIs</a:t>
            </a:r>
            <a:r>
              <a:rPr lang="pt-BR" dirty="0"/>
              <a:t>, desktop e móveis. Oferece uma interface gráfica fácil de usar e suporte para automação de testes com base em palavras-chave e integração com outras ferramentas como </a:t>
            </a:r>
            <a:r>
              <a:rPr lang="pt-BR" dirty="0" err="1"/>
              <a:t>Jenkins</a:t>
            </a:r>
            <a:r>
              <a:rPr lang="pt-BR" dirty="0"/>
              <a:t> e </a:t>
            </a:r>
            <a:r>
              <a:rPr lang="pt-BR" dirty="0" err="1"/>
              <a:t>Git</a:t>
            </a:r>
            <a:r>
              <a:rPr lang="pt-BR" dirty="0"/>
              <a:t>. É uma solução completa que também oferece funcionalidades como geração de relatórios, execução paralela de testes e suporte a vários navegadores.</a:t>
            </a:r>
          </a:p>
          <a:p>
            <a:pPr marL="0" indent="0" algn="just">
              <a:buNone/>
            </a:pPr>
            <a:r>
              <a:rPr lang="pt-BR" b="1" dirty="0"/>
              <a:t>Exemplo de uso: </a:t>
            </a:r>
            <a:r>
              <a:rPr lang="pt-BR" dirty="0"/>
              <a:t>Automatizar o teste de </a:t>
            </a:r>
            <a:r>
              <a:rPr lang="pt-BR" dirty="0" err="1"/>
              <a:t>login</a:t>
            </a:r>
            <a:r>
              <a:rPr lang="pt-BR" dirty="0"/>
              <a:t> e navegação de um portal de ensino online em vários navegadores (Chrome, Firefox, etc.).</a:t>
            </a:r>
          </a:p>
          <a:p>
            <a:pPr marL="0" indent="0" algn="just">
              <a:buNone/>
            </a:pPr>
            <a:r>
              <a:rPr lang="pt-BR" dirty="0"/>
              <a:t>https://www.youtube.com/watch?v=SNOgBy0K18M&amp;list=PLx6gdu4s3nkeTJqXfjOoZTgDvCRyH1HHd</a:t>
            </a:r>
          </a:p>
        </p:txBody>
      </p:sp>
    </p:spTree>
    <p:extLst>
      <p:ext uri="{BB962C8B-B14F-4D97-AF65-F5344CB8AC3E}">
        <p14:creationId xmlns:p14="http://schemas.microsoft.com/office/powerpoint/2010/main" val="184106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 </a:t>
            </a:r>
            <a:r>
              <a:rPr lang="pt-BR" b="1" dirty="0" err="1"/>
              <a:t>SoapUI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pt-BR" b="1" dirty="0"/>
              <a:t>Categoria: </a:t>
            </a:r>
            <a:r>
              <a:rPr lang="pt-BR" dirty="0"/>
              <a:t>Teste de API (SOAP e REST)</a:t>
            </a:r>
          </a:p>
          <a:p>
            <a:pPr marL="0" indent="0" algn="just">
              <a:buNone/>
            </a:pPr>
            <a:r>
              <a:rPr lang="pt-BR" b="1" dirty="0"/>
              <a:t>Como funciona: </a:t>
            </a:r>
            <a:r>
              <a:rPr lang="pt-BR" dirty="0" err="1"/>
              <a:t>SoapUI</a:t>
            </a:r>
            <a:r>
              <a:rPr lang="pt-BR" dirty="0"/>
              <a:t> é uma ferramenta projetada especificamente para testes de </a:t>
            </a:r>
            <a:r>
              <a:rPr lang="pt-BR" dirty="0" err="1"/>
              <a:t>APIs</a:t>
            </a:r>
            <a:r>
              <a:rPr lang="pt-BR" dirty="0"/>
              <a:t>, tanto SOAP quanto REST. Com ela, é possível criar e executar casos de teste, validar respostas, realizar testes de carga e segurança em </a:t>
            </a:r>
            <a:r>
              <a:rPr lang="pt-BR" dirty="0" err="1"/>
              <a:t>APIs</a:t>
            </a:r>
            <a:r>
              <a:rPr lang="pt-BR" dirty="0"/>
              <a:t>. É amplamente utilizada para garantir a qualidade e a segurança de </a:t>
            </a:r>
            <a:r>
              <a:rPr lang="pt-BR" dirty="0" err="1"/>
              <a:t>APIs</a:t>
            </a:r>
            <a:r>
              <a:rPr lang="pt-BR" dirty="0"/>
              <a:t> antes de serem lançadas em produção.</a:t>
            </a:r>
          </a:p>
          <a:p>
            <a:pPr marL="0" indent="0" algn="just">
              <a:buNone/>
            </a:pPr>
            <a:r>
              <a:rPr lang="pt-BR" b="1" dirty="0"/>
              <a:t>Exemplo de uso: </a:t>
            </a:r>
            <a:r>
              <a:rPr lang="pt-BR" dirty="0"/>
              <a:t>Testar uma API REST que fornece dados de clientes para uma aplicação CRM, validando a precisão dos dados e o desempenho das requisições.</a:t>
            </a:r>
          </a:p>
          <a:p>
            <a:pPr marL="0" indent="0" algn="just">
              <a:buNone/>
            </a:pPr>
            <a:r>
              <a:rPr lang="pt-BR" dirty="0"/>
              <a:t>https://www.youtube.com/watch?v=iSkfWI53UEU</a:t>
            </a:r>
          </a:p>
        </p:txBody>
      </p:sp>
    </p:spTree>
    <p:extLst>
      <p:ext uri="{BB962C8B-B14F-4D97-AF65-F5344CB8AC3E}">
        <p14:creationId xmlns:p14="http://schemas.microsoft.com/office/powerpoint/2010/main" val="1398478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 </a:t>
            </a:r>
            <a:r>
              <a:rPr lang="pt-BR" b="1" dirty="0" err="1"/>
              <a:t>JUnit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pt-BR" b="1" dirty="0"/>
              <a:t>Categoria: </a:t>
            </a:r>
            <a:r>
              <a:rPr lang="pt-BR" dirty="0"/>
              <a:t>Teste Unitário.</a:t>
            </a:r>
          </a:p>
          <a:p>
            <a:pPr marL="0" indent="0" algn="just">
              <a:buNone/>
            </a:pPr>
            <a:r>
              <a:rPr lang="pt-BR" b="1" dirty="0"/>
              <a:t>Como funciona: </a:t>
            </a:r>
            <a:r>
              <a:rPr lang="pt-BR" dirty="0" err="1"/>
              <a:t>JUnit</a:t>
            </a:r>
            <a:r>
              <a:rPr lang="pt-BR" dirty="0"/>
              <a:t> é uma biblioteca de testes de software para a linguagem Java, amplamente usada para criar e executar testes unitários. Ele permite testar pequenos pedaços de código (unidades) de forma isolada. Através de anotações como @Test, o </a:t>
            </a:r>
            <a:r>
              <a:rPr lang="pt-BR" dirty="0" err="1"/>
              <a:t>JUnit</a:t>
            </a:r>
            <a:r>
              <a:rPr lang="pt-BR" dirty="0"/>
              <a:t> executa métodos de teste para verificar se o comportamento do código está conforme o esperado. Além de simples testes de validação, ele suporta testes de exceções e testes parametrizados. Ao identificar falhas nos testes, o </a:t>
            </a:r>
            <a:r>
              <a:rPr lang="pt-BR" dirty="0" err="1"/>
              <a:t>JUnit</a:t>
            </a:r>
            <a:r>
              <a:rPr lang="pt-BR" dirty="0"/>
              <a:t> informa os erros, ajudando os programadores a corrigir rapidamente.</a:t>
            </a:r>
          </a:p>
          <a:p>
            <a:pPr marL="0" indent="0" algn="just">
              <a:buNone/>
            </a:pPr>
            <a:r>
              <a:rPr lang="pt-BR" b="1" dirty="0"/>
              <a:t>Exemplo de uso: </a:t>
            </a:r>
            <a:r>
              <a:rPr lang="pt-BR" dirty="0"/>
              <a:t>Testar uma função que calcula a soma de números num programa de gestão financeira.</a:t>
            </a:r>
          </a:p>
          <a:p>
            <a:pPr marL="0" indent="0" algn="just">
              <a:buNone/>
            </a:pPr>
            <a:r>
              <a:rPr lang="pt-BR" dirty="0"/>
              <a:t>https://www.youtube.com/watch?v=rLADNxCyXqw&amp;t=5s</a:t>
            </a:r>
          </a:p>
        </p:txBody>
      </p:sp>
    </p:spTree>
    <p:extLst>
      <p:ext uri="{BB962C8B-B14F-4D97-AF65-F5344CB8AC3E}">
        <p14:creationId xmlns:p14="http://schemas.microsoft.com/office/powerpoint/2010/main" val="3611345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 err="1"/>
              <a:t>Selenium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pt-BR" b="1" dirty="0"/>
              <a:t>Categoria: </a:t>
            </a:r>
            <a:r>
              <a:rPr lang="pt-BR" dirty="0"/>
              <a:t>Teste Funcional (Interface de Utilizador) e Teste de Automação.</a:t>
            </a:r>
          </a:p>
          <a:p>
            <a:pPr marL="0" indent="0" algn="just">
              <a:buNone/>
            </a:pPr>
            <a:r>
              <a:rPr lang="pt-BR" b="1" dirty="0"/>
              <a:t>Como funciona: </a:t>
            </a:r>
            <a:r>
              <a:rPr lang="pt-BR" dirty="0" err="1"/>
              <a:t>Selenium</a:t>
            </a:r>
            <a:r>
              <a:rPr lang="pt-BR" dirty="0"/>
              <a:t> é uma ferramenta para automação de testes de interfaces de utilizador (UI) em aplicações web. Ele permite escrever scripts de teste em várias linguagens (como Java, Python, C#, etc.) e simular interações de utilizador nos navegadores (como cliques, preenchimento de formulários, e navegação entre páginas). O </a:t>
            </a:r>
            <a:r>
              <a:rPr lang="pt-BR" dirty="0" err="1"/>
              <a:t>Selenium</a:t>
            </a:r>
            <a:r>
              <a:rPr lang="pt-BR" dirty="0"/>
              <a:t> é usado principalmente para testes funcionais de aplicações web e suporta a execução em vários navegadores (Chrome, Firefox, Edge, etc.). Além disso, o </a:t>
            </a:r>
            <a:r>
              <a:rPr lang="pt-BR" dirty="0" err="1"/>
              <a:t>Selenium</a:t>
            </a:r>
            <a:r>
              <a:rPr lang="pt-BR" dirty="0"/>
              <a:t> </a:t>
            </a:r>
            <a:r>
              <a:rPr lang="pt-BR" dirty="0" err="1"/>
              <a:t>WebDriver</a:t>
            </a:r>
            <a:r>
              <a:rPr lang="pt-BR" dirty="0"/>
              <a:t> permite controlar navegadores em diferentes sistemas operativos e dispositivos móveis.</a:t>
            </a:r>
          </a:p>
          <a:p>
            <a:pPr marL="0" indent="0" algn="just">
              <a:buNone/>
            </a:pPr>
            <a:r>
              <a:rPr lang="pt-BR" b="1" dirty="0"/>
              <a:t>Exemplo de uso: </a:t>
            </a:r>
            <a:r>
              <a:rPr lang="pt-BR" dirty="0"/>
              <a:t>Automação de um teste de </a:t>
            </a:r>
            <a:r>
              <a:rPr lang="pt-BR" dirty="0" err="1"/>
              <a:t>login</a:t>
            </a:r>
            <a:r>
              <a:rPr lang="pt-BR" dirty="0"/>
              <a:t> numa aplicação de e-commerce, verificando se os campos de </a:t>
            </a:r>
            <a:r>
              <a:rPr lang="pt-BR" dirty="0" err="1"/>
              <a:t>email</a:t>
            </a:r>
            <a:r>
              <a:rPr lang="pt-BR" dirty="0"/>
              <a:t> e senha funcionam corretamente.</a:t>
            </a:r>
          </a:p>
          <a:p>
            <a:pPr marL="0" indent="0" algn="just">
              <a:buNone/>
            </a:pPr>
            <a:r>
              <a:rPr lang="pt-BR" dirty="0"/>
              <a:t>https://www.youtube.com/watch?v=YoV7Oa3vCIE&amp;list=PLedtsFT8ymsgVCqgLvPiSrfYeGdujcqvv</a:t>
            </a:r>
          </a:p>
          <a:p>
            <a:pPr marL="0" indent="0" algn="just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5822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 err="1"/>
              <a:t>JMeter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pt-BR" b="1" dirty="0"/>
              <a:t>Categoria: </a:t>
            </a:r>
            <a:r>
              <a:rPr lang="pt-BR" dirty="0"/>
              <a:t>Teste de Desempenho e Teste de Carga.</a:t>
            </a:r>
          </a:p>
          <a:p>
            <a:pPr marL="0" indent="0" algn="just">
              <a:buNone/>
            </a:pPr>
            <a:r>
              <a:rPr lang="pt-BR" b="1" dirty="0"/>
              <a:t>Como funciona: </a:t>
            </a:r>
            <a:r>
              <a:rPr lang="pt-BR" dirty="0"/>
              <a:t>Apache </a:t>
            </a:r>
            <a:r>
              <a:rPr lang="pt-BR" dirty="0" err="1"/>
              <a:t>JMeter</a:t>
            </a:r>
            <a:r>
              <a:rPr lang="pt-BR" dirty="0"/>
              <a:t> é uma ferramenta de teste de desempenho e teste de carga. Ele simula múltiplos utilizadores interagindo com a aplicação ao mesmo tempo, permitindo medir o tempo de resposta, o uso de recursos e a estabilidade sob diferentes níveis de carga. Embora seja mais conhecido pelos testes de performance em aplicações web, o </a:t>
            </a:r>
            <a:r>
              <a:rPr lang="pt-BR" dirty="0" err="1"/>
              <a:t>JMeter</a:t>
            </a:r>
            <a:r>
              <a:rPr lang="pt-BR" dirty="0"/>
              <a:t> também suporta outros tipos de serviços, como </a:t>
            </a:r>
            <a:r>
              <a:rPr lang="pt-BR" dirty="0" err="1"/>
              <a:t>APIs</a:t>
            </a:r>
            <a:r>
              <a:rPr lang="pt-BR" dirty="0"/>
              <a:t> e bases de dados. Permite criar "</a:t>
            </a:r>
            <a:r>
              <a:rPr lang="pt-BR" dirty="0" err="1"/>
              <a:t>test</a:t>
            </a:r>
            <a:r>
              <a:rPr lang="pt-BR" dirty="0"/>
              <a:t> </a:t>
            </a:r>
            <a:r>
              <a:rPr lang="pt-BR" dirty="0" err="1"/>
              <a:t>plans</a:t>
            </a:r>
            <a:r>
              <a:rPr lang="pt-BR" dirty="0"/>
              <a:t>" (planos de teste) que podem incluir múltiplos cenários e monitorizar o comportamento do sistema sob stress.</a:t>
            </a:r>
          </a:p>
          <a:p>
            <a:pPr marL="0" indent="0" algn="just">
              <a:buNone/>
            </a:pPr>
            <a:r>
              <a:rPr lang="pt-BR" b="1" dirty="0"/>
              <a:t>Exemplo de uso: </a:t>
            </a:r>
            <a:r>
              <a:rPr lang="pt-BR" dirty="0"/>
              <a:t>Testar uma aplicação web durante uma simulação de grande afluxo de utilizadores, como numa campanha de vendas, para avaliar se o sistema lida com a carga sem travar.</a:t>
            </a:r>
          </a:p>
          <a:p>
            <a:pPr marL="0" indent="0" algn="just">
              <a:buNone/>
            </a:pPr>
            <a:r>
              <a:rPr lang="pt-BR" dirty="0"/>
              <a:t>https://www.youtube.com/watch?v=IEm3UCfUn2s&amp;t=61s</a:t>
            </a:r>
          </a:p>
        </p:txBody>
      </p:sp>
    </p:spTree>
    <p:extLst>
      <p:ext uri="{BB962C8B-B14F-4D97-AF65-F5344CB8AC3E}">
        <p14:creationId xmlns:p14="http://schemas.microsoft.com/office/powerpoint/2010/main" val="3153263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4000" b="1" dirty="0"/>
              <a:t>LINKS DE DIRECIONAMENTO AOS TESTES CITADOS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13504" y="180411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400" dirty="0">
                <a:hlinkClick r:id="rId2"/>
              </a:rPr>
              <a:t> </a:t>
            </a:r>
            <a:r>
              <a:rPr lang="pt-BR" sz="1400" dirty="0" err="1">
                <a:hlinkClick r:id="rId2"/>
              </a:rPr>
              <a:t>Junit</a:t>
            </a:r>
            <a:r>
              <a:rPr lang="pt-BR" sz="1400" dirty="0">
                <a:hlinkClick r:id="rId2"/>
              </a:rPr>
              <a:t> :</a:t>
            </a:r>
            <a:r>
              <a:rPr lang="pt-BR" sz="1400" dirty="0" err="1">
                <a:hlinkClick r:id="rId2"/>
              </a:rPr>
              <a:t>https</a:t>
            </a:r>
            <a:r>
              <a:rPr lang="pt-BR" sz="1400" dirty="0">
                <a:hlinkClick r:id="rId2"/>
              </a:rPr>
              <a:t>://jmeter.apache.org</a:t>
            </a:r>
            <a:endParaRPr lang="pt-BR" sz="1400" dirty="0"/>
          </a:p>
          <a:p>
            <a:pPr marL="0" indent="0">
              <a:buNone/>
            </a:pPr>
            <a:r>
              <a:rPr lang="pt-BR" sz="1400" dirty="0" err="1">
                <a:hlinkClick r:id="rId3"/>
              </a:rPr>
              <a:t>Selenium</a:t>
            </a:r>
            <a:r>
              <a:rPr lang="pt-BR" sz="1400" dirty="0">
                <a:hlinkClick r:id="rId3"/>
              </a:rPr>
              <a:t> :</a:t>
            </a:r>
            <a:r>
              <a:rPr lang="pt-BR" sz="1400" dirty="0" err="1">
                <a:hlinkClick r:id="rId3"/>
              </a:rPr>
              <a:t>https</a:t>
            </a:r>
            <a:r>
              <a:rPr lang="pt-BR" sz="1400" dirty="0">
                <a:hlinkClick r:id="rId3"/>
              </a:rPr>
              <a:t>: //www.selenium.dev</a:t>
            </a:r>
            <a:endParaRPr lang="pt-BR" sz="1400" dirty="0"/>
          </a:p>
          <a:p>
            <a:pPr marL="0" indent="0">
              <a:buNone/>
            </a:pPr>
            <a:r>
              <a:rPr lang="pt-BR" sz="1400" dirty="0" err="1"/>
              <a:t>J</a:t>
            </a:r>
            <a:r>
              <a:rPr lang="pt-BR" sz="1400" dirty="0" err="1">
                <a:hlinkClick r:id="rId4"/>
              </a:rPr>
              <a:t>u</a:t>
            </a:r>
            <a:r>
              <a:rPr lang="pt-BR" sz="1400" dirty="0" err="1"/>
              <a:t>nit</a:t>
            </a:r>
            <a:r>
              <a:rPr lang="pt-BR" sz="1400" dirty="0"/>
              <a:t> </a:t>
            </a:r>
            <a:r>
              <a:rPr lang="pt-BR" sz="1400" dirty="0">
                <a:hlinkClick r:id="rId4"/>
              </a:rPr>
              <a:t>:</a:t>
            </a:r>
            <a:r>
              <a:rPr lang="pt-BR" sz="1400" dirty="0" err="1">
                <a:hlinkClick r:id="rId4"/>
              </a:rPr>
              <a:t>https</a:t>
            </a:r>
            <a:r>
              <a:rPr lang="pt-BR" sz="1400" dirty="0">
                <a:hlinkClick r:id="rId4"/>
              </a:rPr>
              <a:t>://junit.org</a:t>
            </a:r>
            <a:endParaRPr lang="pt-BR" sz="1400" dirty="0"/>
          </a:p>
          <a:p>
            <a:pPr marL="0" indent="0">
              <a:buNone/>
            </a:pPr>
            <a:r>
              <a:rPr lang="pt-BR" sz="1400" dirty="0" err="1"/>
              <a:t>TestNG</a:t>
            </a:r>
            <a:r>
              <a:rPr lang="pt-BR" sz="1400" dirty="0"/>
              <a:t>: </a:t>
            </a:r>
            <a:r>
              <a:rPr lang="pt-BR" sz="1400" dirty="0">
                <a:hlinkClick r:id="rId5"/>
              </a:rPr>
              <a:t>https://testng.orgPostman</a:t>
            </a:r>
            <a:endParaRPr lang="pt-BR" sz="1400" dirty="0"/>
          </a:p>
          <a:p>
            <a:pPr marL="0" indent="0">
              <a:buNone/>
            </a:pPr>
            <a:r>
              <a:rPr lang="pt-BR" sz="1400" dirty="0" err="1"/>
              <a:t>Postman</a:t>
            </a:r>
            <a:r>
              <a:rPr lang="pt-BR" sz="1400" dirty="0"/>
              <a:t>: </a:t>
            </a:r>
            <a:r>
              <a:rPr lang="pt-BR" sz="1400" dirty="0">
                <a:hlinkClick r:id="rId6"/>
              </a:rPr>
              <a:t>https://www.postman.com</a:t>
            </a:r>
            <a:endParaRPr lang="pt-BR" sz="1400" dirty="0"/>
          </a:p>
          <a:p>
            <a:pPr marL="0" indent="0">
              <a:buNone/>
            </a:pPr>
            <a:r>
              <a:rPr lang="pt-BR" sz="1400" dirty="0" err="1"/>
              <a:t>Cucumber</a:t>
            </a:r>
            <a:r>
              <a:rPr lang="pt-BR" sz="1400" dirty="0"/>
              <a:t>: </a:t>
            </a:r>
            <a:r>
              <a:rPr lang="pt-BR" sz="1400" dirty="0">
                <a:hlinkClick r:id="rId7"/>
              </a:rPr>
              <a:t>https://cucumber.io</a:t>
            </a:r>
            <a:endParaRPr lang="pt-BR" sz="1400" dirty="0"/>
          </a:p>
          <a:p>
            <a:pPr marL="0" indent="0">
              <a:buNone/>
            </a:pPr>
            <a:r>
              <a:rPr lang="pt-BR" sz="1400" dirty="0" err="1"/>
              <a:t>Appium</a:t>
            </a:r>
            <a:r>
              <a:rPr lang="pt-BR" sz="1400" dirty="0"/>
              <a:t>: </a:t>
            </a:r>
            <a:r>
              <a:rPr lang="pt-BR" sz="1400" dirty="0">
                <a:hlinkClick r:id="rId8"/>
              </a:rPr>
              <a:t>https://appium.io</a:t>
            </a:r>
            <a:endParaRPr lang="pt-BR" sz="1400" dirty="0"/>
          </a:p>
          <a:p>
            <a:pPr marL="0" indent="0">
              <a:buNone/>
            </a:pPr>
            <a:r>
              <a:rPr lang="pt-BR" sz="1400" dirty="0" err="1"/>
              <a:t>Jenkins</a:t>
            </a:r>
            <a:r>
              <a:rPr lang="pt-BR" sz="1400" dirty="0"/>
              <a:t>: </a:t>
            </a:r>
            <a:r>
              <a:rPr lang="pt-BR" sz="1400" dirty="0">
                <a:hlinkClick r:id="rId9"/>
              </a:rPr>
              <a:t>https://www.jenkins.io</a:t>
            </a:r>
            <a:endParaRPr lang="pt-BR" sz="1400" dirty="0"/>
          </a:p>
          <a:p>
            <a:pPr marL="0" indent="0">
              <a:buNone/>
            </a:pPr>
            <a:r>
              <a:rPr lang="pt-BR" sz="1400" dirty="0" err="1"/>
              <a:t>Selenium</a:t>
            </a:r>
            <a:r>
              <a:rPr lang="pt-BR" sz="1400" dirty="0"/>
              <a:t>: </a:t>
            </a:r>
            <a:r>
              <a:rPr lang="pt-BR" sz="1400" dirty="0">
                <a:hlinkClick r:id="rId3"/>
              </a:rPr>
              <a:t>https://www.selenium.dev</a:t>
            </a:r>
            <a:endParaRPr lang="pt-BR" sz="1400" dirty="0"/>
          </a:p>
          <a:p>
            <a:pPr marL="0" indent="0">
              <a:buNone/>
            </a:pPr>
            <a:r>
              <a:rPr lang="pt-BR" sz="1400" dirty="0" err="1"/>
              <a:t>JMeter</a:t>
            </a:r>
            <a:r>
              <a:rPr lang="pt-BR" sz="1400" dirty="0"/>
              <a:t>: </a:t>
            </a:r>
            <a:r>
              <a:rPr lang="pt-BR" sz="1400" dirty="0">
                <a:hlinkClick r:id="rId2"/>
              </a:rPr>
              <a:t>https://jmeter.apache.org</a:t>
            </a:r>
            <a:endParaRPr lang="pt-BR" sz="1400" dirty="0"/>
          </a:p>
          <a:p>
            <a:pPr marL="0" indent="0">
              <a:buNone/>
            </a:pPr>
            <a:r>
              <a:rPr lang="pt-BR" sz="1400" dirty="0" err="1"/>
              <a:t>Katalon</a:t>
            </a:r>
            <a:r>
              <a:rPr lang="pt-BR" sz="1400" dirty="0"/>
              <a:t> Studio: </a:t>
            </a:r>
            <a:r>
              <a:rPr lang="pt-BR" sz="1400" dirty="0">
                <a:hlinkClick r:id="rId10"/>
              </a:rPr>
              <a:t>https://www.katalon.com</a:t>
            </a:r>
            <a:endParaRPr lang="pt-BR" sz="1400" dirty="0"/>
          </a:p>
          <a:p>
            <a:pPr marL="0" indent="0">
              <a:buNone/>
            </a:pPr>
            <a:r>
              <a:rPr lang="pt-BR" sz="1400" dirty="0" err="1"/>
              <a:t>SoapUI</a:t>
            </a:r>
            <a:r>
              <a:rPr lang="pt-BR" sz="1400" dirty="0"/>
              <a:t>: https://www.soapui.org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4348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Referências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pt-BR" dirty="0" err="1"/>
              <a:t>Delamaro</a:t>
            </a:r>
            <a:r>
              <a:rPr lang="pt-BR" dirty="0"/>
              <a:t>, Márcio E., Maldonado, José Carlos,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Jino</a:t>
            </a:r>
            <a:r>
              <a:rPr lang="pt-BR" dirty="0"/>
              <a:t>, Mario. Introdução ao Teste de Software. Editora Campus, 2007.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dirty="0" err="1"/>
              <a:t>Spinola</a:t>
            </a:r>
            <a:r>
              <a:rPr lang="pt-BR" dirty="0"/>
              <a:t>, Mauro </a:t>
            </a:r>
            <a:r>
              <a:rPr lang="pt-BR" dirty="0" err="1"/>
              <a:t>Pichiliani</a:t>
            </a:r>
            <a:r>
              <a:rPr lang="pt-BR" dirty="0"/>
              <a:t>. Testes de Software: Conceitos e Práticas. </a:t>
            </a:r>
            <a:r>
              <a:rPr lang="pt-BR" dirty="0" err="1"/>
              <a:t>Novatec</a:t>
            </a:r>
            <a:r>
              <a:rPr lang="pt-BR" dirty="0"/>
              <a:t> Editora, 2013.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dirty="0"/>
              <a:t>Pressman, Roger S. Engenharia de Software: Uma Abordagem Profissional. 8ª Edição, McGraw-Hill, 2016.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dirty="0"/>
              <a:t>Amaral, Wilson de Pádua Paula Filho. Qualidade de Software: Abordagens e Modelos. Editora LTC, 2007.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dirty="0"/>
              <a:t>Moura, Edson F. Automação de Testes: Ferramentas, Processos e Práticas. Casa do Código, 2020.</a:t>
            </a:r>
          </a:p>
        </p:txBody>
      </p:sp>
    </p:spTree>
    <p:extLst>
      <p:ext uri="{BB962C8B-B14F-4D97-AF65-F5344CB8AC3E}">
        <p14:creationId xmlns:p14="http://schemas.microsoft.com/office/powerpoint/2010/main" val="463414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97755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ânico">
  <a:themeElements>
    <a:clrScheme name="Orgâ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â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â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87885B88499A448AC224B9B725C28C6" ma:contentTypeVersion="4" ma:contentTypeDescription="Crie um novo documento." ma:contentTypeScope="" ma:versionID="9d4fb44cad6cd2ddffa3ab7ae695194e">
  <xsd:schema xmlns:xsd="http://www.w3.org/2001/XMLSchema" xmlns:xs="http://www.w3.org/2001/XMLSchema" xmlns:p="http://schemas.microsoft.com/office/2006/metadata/properties" xmlns:ns2="f97d569a-4512-42b2-abdd-152bdc47a249" targetNamespace="http://schemas.microsoft.com/office/2006/metadata/properties" ma:root="true" ma:fieldsID="17309abf403db891a3fa9d42b6cef892" ns2:_="">
    <xsd:import namespace="f97d569a-4512-42b2-abdd-152bdc47a2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7d569a-4512-42b2-abdd-152bdc47a2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2B5B26D-5681-4233-A951-6FB7A8BB971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7C13C5D-DF59-4804-A4EB-D6D30DF6277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64ADCE0-3009-48F4-92EA-DC671F1396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7d569a-4512-42b2-abdd-152bdc47a2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66</TotalTime>
  <Words>1597</Words>
  <Application>Microsoft Office PowerPoint</Application>
  <PresentationFormat>Widescreen</PresentationFormat>
  <Paragraphs>80</Paragraphs>
  <Slides>16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7" baseType="lpstr">
      <vt:lpstr>Orgânico</vt:lpstr>
      <vt:lpstr>ferramentas de testes de software </vt:lpstr>
      <vt:lpstr> TestNG</vt:lpstr>
      <vt:lpstr>Postman</vt:lpstr>
      <vt:lpstr> Cucumber</vt:lpstr>
      <vt:lpstr>Appium</vt:lpstr>
      <vt:lpstr>Jenkins</vt:lpstr>
      <vt:lpstr> Selenium</vt:lpstr>
      <vt:lpstr>JMeter</vt:lpstr>
      <vt:lpstr>Katalon Studio</vt:lpstr>
      <vt:lpstr> SoapUI</vt:lpstr>
      <vt:lpstr> JUnit</vt:lpstr>
      <vt:lpstr>Selenium</vt:lpstr>
      <vt:lpstr>JMeter</vt:lpstr>
      <vt:lpstr>LINKS DE DIRECIONAMENTO AOS TESTES CITADOS</vt:lpstr>
      <vt:lpstr>Referências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ferramentas de testes de software</dc:title>
  <dc:creator>Luana Lourenço</dc:creator>
  <cp:lastModifiedBy>Luana Lourenço</cp:lastModifiedBy>
  <cp:revision>11</cp:revision>
  <dcterms:created xsi:type="dcterms:W3CDTF">2024-09-11T19:13:11Z</dcterms:created>
  <dcterms:modified xsi:type="dcterms:W3CDTF">2024-09-19T00:55:09Z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0x010100F87885B88499A448AC224B9B725C28C6</vt:lpwstr>
  </property>
</Properties>
</file>