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60" r:id="rId3"/>
    <p:sldId id="289" r:id="rId4"/>
    <p:sldId id="290" r:id="rId5"/>
    <p:sldId id="258" r:id="rId6"/>
    <p:sldId id="287" r:id="rId7"/>
    <p:sldId id="257" r:id="rId8"/>
    <p:sldId id="285" r:id="rId9"/>
    <p:sldId id="259" r:id="rId10"/>
    <p:sldId id="288" r:id="rId11"/>
    <p:sldId id="284" r:id="rId12"/>
  </p:sldIdLst>
  <p:sldSz cx="9144000" cy="5143500" type="screen16x9"/>
  <p:notesSz cx="6858000" cy="9144000"/>
  <p:embeddedFontLst>
    <p:embeddedFont>
      <p:font typeface="Abel" panose="02000506030000020004" pitchFamily="2" charset="0"/>
      <p:regular r:id="rId14"/>
    </p:embeddedFont>
    <p:embeddedFont>
      <p:font typeface="Barlow Semi Condensed" panose="00000506000000000000" pitchFamily="2" charset="0"/>
      <p:regular r:id="rId15"/>
      <p:bold r:id="rId16"/>
      <p:italic r:id="rId17"/>
      <p:boldItalic r:id="rId18"/>
    </p:embeddedFont>
    <p:embeddedFont>
      <p:font typeface="Barlow Semi Condensed Light" panose="00000406000000000000" pitchFamily="2" charset="0"/>
      <p:regular r:id="rId19"/>
      <p:bold r:id="rId20"/>
      <p:italic r:id="rId21"/>
      <p:boldItalic r:id="rId22"/>
    </p:embeddedFont>
    <p:embeddedFont>
      <p:font typeface="Barlow Semi Condensed Medium" panose="00000606000000000000" pitchFamily="2" charset="0"/>
      <p:regular r:id="rId23"/>
      <p:bold r:id="rId24"/>
      <p:italic r:id="rId25"/>
      <p:boldItalic r:id="rId26"/>
    </p:embeddedFont>
    <p:embeddedFont>
      <p:font typeface="Fjalla One" panose="02000506040000020004" pitchFamily="2" charset="0"/>
      <p:regular r:id="rId27"/>
    </p:embeddedFont>
    <p:embeddedFont>
      <p:font typeface="Roboto Condensed Light" panose="02000000000000000000" pitchFamily="2" charset="0"/>
      <p:regular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1EAE42-4104-4E25-9ED1-2DA28A857A39}">
  <a:tblStyle styleId="{851EAE42-4104-4E25-9ED1-2DA28A857A3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4689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4252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3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7336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1464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1"/>
        <p:cNvGrpSpPr/>
        <p:nvPr/>
      </p:nvGrpSpPr>
      <p:grpSpPr>
        <a:xfrm>
          <a:off x="0" y="0"/>
          <a:ext cx="0" cy="0"/>
          <a:chOff x="0" y="0"/>
          <a:chExt cx="0" cy="0"/>
        </a:xfrm>
      </p:grpSpPr>
      <p:sp>
        <p:nvSpPr>
          <p:cNvPr id="3602" name="Google Shape;3602;g8714a43093_5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3" name="Google Shape;3603;g8714a43093_5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 id="2147483665" r:id="rId7"/>
    <p:sldLayoutId id="2147483669" r:id="rId8"/>
    <p:sldLayoutId id="2147483673" r:id="rId9"/>
    <p:sldLayoutId id="2147483674" r:id="rId10"/>
    <p:sldLayoutId id="2147483675" r:id="rId11"/>
    <p:sldLayoutId id="214748367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5000" dirty="0">
                <a:solidFill>
                  <a:schemeClr val="dk2"/>
                </a:solidFill>
              </a:rPr>
              <a:t>Banco de Bados</a:t>
            </a:r>
            <a:endParaRPr sz="5000" dirty="0">
              <a:solidFill>
                <a:schemeClr val="dk2"/>
              </a:solidFill>
            </a:endParaRPr>
          </a:p>
        </p:txBody>
      </p:sp>
      <p:sp>
        <p:nvSpPr>
          <p:cNvPr id="1885" name="Google Shape;1885;p35"/>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pt-BR" sz="2300" dirty="0">
                <a:solidFill>
                  <a:schemeClr val="accent1"/>
                </a:solidFill>
              </a:rPr>
              <a:t>Lanchonete</a:t>
            </a:r>
            <a:endParaRPr sz="2300" dirty="0">
              <a:solidFill>
                <a:schemeClr val="accent1"/>
              </a:solidFill>
            </a:endParaRPr>
          </a:p>
          <a:p>
            <a:pPr marL="0" lvl="0" indent="0" algn="r" rtl="0">
              <a:spcBef>
                <a:spcPts val="0"/>
              </a:spcBef>
              <a:spcAft>
                <a:spcPts val="0"/>
              </a:spcAft>
              <a:buNone/>
            </a:pPr>
            <a:endParaRPr sz="23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4039175" y="1473608"/>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dirty="0">
                <a:solidFill>
                  <a:schemeClr val="dk2"/>
                </a:solidFill>
                <a:latin typeface="Abel"/>
              </a:rPr>
              <a:t>Lanchonete MYN</a:t>
            </a:r>
            <a:endParaRPr lang="pt-BR" sz="1100" dirty="0">
              <a:solidFill>
                <a:schemeClr val="dk2"/>
              </a:solidFill>
              <a:latin typeface="Abel"/>
              <a:sym typeface="Abel"/>
            </a:endParaRPr>
          </a:p>
        </p:txBody>
      </p:sp>
      <p:grpSp>
        <p:nvGrpSpPr>
          <p:cNvPr id="2166" name="Google Shape;2166;p39"/>
          <p:cNvGrpSpPr/>
          <p:nvPr/>
        </p:nvGrpSpPr>
        <p:grpSpPr>
          <a:xfrm>
            <a:off x="4276542" y="950661"/>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Missão</a:t>
            </a:r>
            <a:endParaRPr dirty="0"/>
          </a:p>
        </p:txBody>
      </p:sp>
      <p:sp>
        <p:nvSpPr>
          <p:cNvPr id="2178" name="Google Shape;2178;p39"/>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pt-BR" sz="1600" b="0" i="0" dirty="0">
                <a:solidFill>
                  <a:srgbClr val="606060"/>
                </a:solidFill>
                <a:effectLst/>
                <a:latin typeface="open_sansregular"/>
              </a:rPr>
              <a:t>Oferecer às pessoas em todo o mundo a oportunidade de desfrutar de alimentos e guloseimas de qualidade, gostosos e saudáveis, transformando o seu dia a dia em “Momentos Mágicos” de encontro e comemoração.</a:t>
            </a:r>
            <a:endParaRPr sz="1100" dirty="0">
              <a:latin typeface="Barlow Semi Condensed"/>
              <a:ea typeface="Barlow Semi Condensed"/>
              <a:cs typeface="Barlow Semi Condensed"/>
              <a:sym typeface="Barlow Semi Condensed"/>
            </a:endParaRPr>
          </a:p>
        </p:txBody>
      </p:sp>
      <p:pic>
        <p:nvPicPr>
          <p:cNvPr id="19" name="Picture 2" descr="Delivery de Lanchonete em Sao Paulo - MenuDino">
            <a:extLst>
              <a:ext uri="{FF2B5EF4-FFF2-40B4-BE49-F238E27FC236}">
                <a16:creationId xmlns:a16="http://schemas.microsoft.com/office/drawing/2014/main" id="{487F20C8-09BB-01A5-5B55-791CB7315A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56" t="15114" r="24912" b="13722"/>
          <a:stretch/>
        </p:blipFill>
        <p:spPr bwMode="auto">
          <a:xfrm>
            <a:off x="3644031" y="447808"/>
            <a:ext cx="1855468" cy="1766988"/>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4039175" y="1473608"/>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dirty="0">
                <a:solidFill>
                  <a:schemeClr val="dk2"/>
                </a:solidFill>
                <a:latin typeface="Abel"/>
              </a:rPr>
              <a:t>Lanchonete MYN</a:t>
            </a:r>
            <a:endParaRPr lang="pt-BR" sz="1100" dirty="0">
              <a:solidFill>
                <a:schemeClr val="dk2"/>
              </a:solidFill>
              <a:latin typeface="Abel"/>
              <a:sym typeface="Abel"/>
            </a:endParaRPr>
          </a:p>
        </p:txBody>
      </p:sp>
      <p:grpSp>
        <p:nvGrpSpPr>
          <p:cNvPr id="2166" name="Google Shape;2166;p39"/>
          <p:cNvGrpSpPr/>
          <p:nvPr/>
        </p:nvGrpSpPr>
        <p:grpSpPr>
          <a:xfrm>
            <a:off x="4276542" y="950661"/>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Visão</a:t>
            </a:r>
            <a:endParaRPr dirty="0"/>
          </a:p>
        </p:txBody>
      </p:sp>
      <p:sp>
        <p:nvSpPr>
          <p:cNvPr id="2178" name="Google Shape;2178;p39"/>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pPr algn="just" fontAlgn="base"/>
            <a:r>
              <a:rPr lang="pt-BR" sz="1600" dirty="0">
                <a:solidFill>
                  <a:srgbClr val="606060"/>
                </a:solidFill>
                <a:latin typeface="open_sansregular"/>
              </a:rPr>
              <a:t>Ser uma empresa líder de Alimentos e Guloseimas na América Latina e ser reconhecida no mercado internacional, destacando-nos pelas nossas práticas sustentáveis e pela nossa capacidade de ingressar em novos negócios.</a:t>
            </a:r>
          </a:p>
          <a:p>
            <a:br>
              <a:rPr lang="pt-BR" sz="1600" dirty="0">
                <a:solidFill>
                  <a:srgbClr val="606060"/>
                </a:solidFill>
                <a:latin typeface="open_sansregular"/>
              </a:rPr>
            </a:br>
            <a:endParaRPr sz="1600" dirty="0">
              <a:solidFill>
                <a:srgbClr val="606060"/>
              </a:solidFill>
              <a:latin typeface="open_sansregular"/>
            </a:endParaRPr>
          </a:p>
        </p:txBody>
      </p:sp>
      <p:pic>
        <p:nvPicPr>
          <p:cNvPr id="19" name="Picture 2" descr="Delivery de Lanchonete em Sao Paulo - MenuDino">
            <a:extLst>
              <a:ext uri="{FF2B5EF4-FFF2-40B4-BE49-F238E27FC236}">
                <a16:creationId xmlns:a16="http://schemas.microsoft.com/office/drawing/2014/main" id="{508E33E3-52C7-A828-6EA5-5686AE4224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56" t="15114" r="24912" b="13722"/>
          <a:stretch/>
        </p:blipFill>
        <p:spPr bwMode="auto">
          <a:xfrm>
            <a:off x="3644031" y="447808"/>
            <a:ext cx="1855468" cy="1766988"/>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59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4039175" y="1473608"/>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dirty="0">
                <a:solidFill>
                  <a:schemeClr val="dk2"/>
                </a:solidFill>
                <a:latin typeface="Abel"/>
              </a:rPr>
              <a:t>Lanchonete MYN</a:t>
            </a:r>
            <a:endParaRPr lang="pt-BR" sz="1100" dirty="0">
              <a:solidFill>
                <a:schemeClr val="dk2"/>
              </a:solidFill>
              <a:latin typeface="Abel"/>
              <a:sym typeface="Abel"/>
            </a:endParaRPr>
          </a:p>
        </p:txBody>
      </p:sp>
      <p:grpSp>
        <p:nvGrpSpPr>
          <p:cNvPr id="2166" name="Google Shape;2166;p39"/>
          <p:cNvGrpSpPr/>
          <p:nvPr/>
        </p:nvGrpSpPr>
        <p:grpSpPr>
          <a:xfrm>
            <a:off x="4276542" y="950661"/>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Valores</a:t>
            </a:r>
            <a:endParaRPr dirty="0"/>
          </a:p>
        </p:txBody>
      </p:sp>
      <p:sp>
        <p:nvSpPr>
          <p:cNvPr id="2178" name="Google Shape;2178;p39"/>
          <p:cNvSpPr txBox="1">
            <a:spLocks noGrp="1"/>
          </p:cNvSpPr>
          <p:nvPr>
            <p:ph type="subTitle" idx="1"/>
          </p:nvPr>
        </p:nvSpPr>
        <p:spPr>
          <a:xfrm>
            <a:off x="2167128" y="3054096"/>
            <a:ext cx="4809600" cy="1134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pt-BR" sz="1600" b="0" i="0" dirty="0">
                <a:solidFill>
                  <a:srgbClr val="606060"/>
                </a:solidFill>
                <a:effectLst/>
                <a:latin typeface="open_sansregular"/>
              </a:rPr>
              <a:t>Diversidade, Integridade, Vínculos humanos, Cultura interna de empreendedores, proximidade e compromisso com a cadeia de valor.</a:t>
            </a:r>
            <a:endParaRPr sz="1100" dirty="0">
              <a:latin typeface="Barlow Semi Condensed"/>
              <a:ea typeface="Barlow Semi Condensed"/>
              <a:cs typeface="Barlow Semi Condensed"/>
              <a:sym typeface="Barlow Semi Condensed"/>
            </a:endParaRPr>
          </a:p>
        </p:txBody>
      </p:sp>
      <p:pic>
        <p:nvPicPr>
          <p:cNvPr id="19" name="Picture 2" descr="Delivery de Lanchonete em Sao Paulo - MenuDino">
            <a:extLst>
              <a:ext uri="{FF2B5EF4-FFF2-40B4-BE49-F238E27FC236}">
                <a16:creationId xmlns:a16="http://schemas.microsoft.com/office/drawing/2014/main" id="{F1E2224F-CAFA-AED8-DAD3-6C6E95C7CF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56" t="15114" r="24912" b="13722"/>
          <a:stretch/>
        </p:blipFill>
        <p:spPr bwMode="auto">
          <a:xfrm>
            <a:off x="3644031" y="447808"/>
            <a:ext cx="1855468" cy="1766988"/>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66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3994598" y="1510458"/>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Do que se trata?</a:t>
            </a:r>
            <a:endParaRPr dirty="0"/>
          </a:p>
        </p:txBody>
      </p:sp>
      <p:sp>
        <p:nvSpPr>
          <p:cNvPr id="2140" name="Google Shape;2140;p37"/>
          <p:cNvSpPr txBox="1">
            <a:spLocks noGrp="1"/>
          </p:cNvSpPr>
          <p:nvPr>
            <p:ph type="subTitle" idx="1"/>
          </p:nvPr>
        </p:nvSpPr>
        <p:spPr>
          <a:xfrm>
            <a:off x="1686030" y="67801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Empresa e fornecedor</a:t>
            </a:r>
            <a:endParaRPr dirty="0"/>
          </a:p>
        </p:txBody>
      </p:sp>
      <p:sp>
        <p:nvSpPr>
          <p:cNvPr id="2141" name="Google Shape;2141;p37"/>
          <p:cNvSpPr txBox="1">
            <a:spLocks noGrp="1"/>
          </p:cNvSpPr>
          <p:nvPr>
            <p:ph type="subTitle" idx="3"/>
          </p:nvPr>
        </p:nvSpPr>
        <p:spPr>
          <a:xfrm>
            <a:off x="1686030" y="1757010"/>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Empresa e funcionarios</a:t>
            </a:r>
            <a:endParaRPr dirty="0"/>
          </a:p>
        </p:txBody>
      </p:sp>
      <p:sp>
        <p:nvSpPr>
          <p:cNvPr id="2143" name="Google Shape;2143;p37"/>
          <p:cNvSpPr txBox="1">
            <a:spLocks noGrp="1"/>
          </p:cNvSpPr>
          <p:nvPr>
            <p:ph type="subTitle" idx="5"/>
          </p:nvPr>
        </p:nvSpPr>
        <p:spPr>
          <a:xfrm>
            <a:off x="1686030" y="2836002"/>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BR" sz="1800" dirty="0">
                <a:solidFill>
                  <a:schemeClr val="accent1"/>
                </a:solidFill>
              </a:rPr>
              <a:t>C</a:t>
            </a:r>
            <a:r>
              <a:rPr lang="en" sz="1800" dirty="0">
                <a:solidFill>
                  <a:schemeClr val="accent1"/>
                </a:solidFill>
              </a:rPr>
              <a:t>ategorias de funcionarios</a:t>
            </a:r>
            <a:endParaRPr dirty="0"/>
          </a:p>
        </p:txBody>
      </p:sp>
      <p:sp>
        <p:nvSpPr>
          <p:cNvPr id="2145" name="Google Shape;2145;p37"/>
          <p:cNvSpPr txBox="1">
            <a:spLocks noGrp="1"/>
          </p:cNvSpPr>
          <p:nvPr>
            <p:ph type="subTitle" idx="7"/>
          </p:nvPr>
        </p:nvSpPr>
        <p:spPr>
          <a:xfrm>
            <a:off x="1686030" y="3914994"/>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Contato com o cliente</a:t>
            </a:r>
            <a:endParaRPr dirty="0"/>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BR" dirty="0"/>
              <a:t>P</a:t>
            </a:r>
            <a:r>
              <a:rPr lang="en" dirty="0"/>
              <a:t>roposta do SGBD</a:t>
            </a:r>
            <a:endParaRPr dirty="0"/>
          </a:p>
        </p:txBody>
      </p:sp>
      <p:sp>
        <p:nvSpPr>
          <p:cNvPr id="1891" name="Google Shape;1891;p36"/>
          <p:cNvSpPr txBox="1">
            <a:spLocks noGrp="1"/>
          </p:cNvSpPr>
          <p:nvPr>
            <p:ph type="body" idx="1"/>
          </p:nvPr>
        </p:nvSpPr>
        <p:spPr>
          <a:xfrm>
            <a:off x="714650" y="1152150"/>
            <a:ext cx="7705500" cy="3529500"/>
          </a:xfrm>
          <a:prstGeom prst="rect">
            <a:avLst/>
          </a:prstGeom>
        </p:spPr>
        <p:txBody>
          <a:bodyPr spcFirstLastPara="1" wrap="square" lIns="91425" tIns="91425" rIns="91425" bIns="91425" anchor="ctr" anchorCtr="0">
            <a:noAutofit/>
          </a:bodyPr>
          <a:lstStyle/>
          <a:p>
            <a:pPr marL="0" indent="0" fontAlgn="base">
              <a:buClr>
                <a:schemeClr val="dk1"/>
              </a:buClr>
              <a:buSzPts val="1100"/>
              <a:buNone/>
            </a:pPr>
            <a:r>
              <a:rPr lang="pt-BR" sz="2000" dirty="0"/>
              <a:t>Uma lanchonete precisa fazer um sistema para gerenciar os seus funcionários e sua relação com seus fornecedores. </a:t>
            </a:r>
          </a:p>
          <a:p>
            <a:pPr marL="0" indent="0" fontAlgn="base">
              <a:buClr>
                <a:schemeClr val="dk1"/>
              </a:buClr>
              <a:buSzPts val="1100"/>
              <a:buNone/>
            </a:pPr>
            <a:endParaRPr lang="pt-BR" sz="2000" dirty="0"/>
          </a:p>
          <a:p>
            <a:pPr marL="0" indent="0" fontAlgn="base">
              <a:buClr>
                <a:schemeClr val="dk1"/>
              </a:buClr>
              <a:buSzPts val="1100"/>
              <a:buNone/>
            </a:pPr>
            <a:r>
              <a:rPr lang="pt-BR" sz="2000" dirty="0"/>
              <a:t>Os funcionários são identificados por seus </a:t>
            </a:r>
            <a:r>
              <a:rPr lang="pt-BR" sz="2000" dirty="0" err="1"/>
              <a:t>RF’s</a:t>
            </a:r>
            <a:r>
              <a:rPr lang="pt-BR" sz="2000" dirty="0"/>
              <a:t> e possuem RG, RF, CPF, salário, nome e idade e podem ser apenas atendentes, cozinheiros, faxineiros ou gerente, cada um tem suas próprias características especiais como boa comunicação, curso técnico de culinária, atenção aos detalhes e curso superior em gerenciamento de negócios respectivamente. </a:t>
            </a:r>
          </a:p>
        </p:txBody>
      </p:sp>
    </p:spTree>
    <p:extLst>
      <p:ext uri="{BB962C8B-B14F-4D97-AF65-F5344CB8AC3E}">
        <p14:creationId xmlns:p14="http://schemas.microsoft.com/office/powerpoint/2010/main" val="2386607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714650" y="1152150"/>
            <a:ext cx="7705500" cy="3529500"/>
          </a:xfrm>
          <a:prstGeom prst="rect">
            <a:avLst/>
          </a:prstGeom>
        </p:spPr>
        <p:txBody>
          <a:bodyPr spcFirstLastPara="1" wrap="square" lIns="91425" tIns="91425" rIns="91425" bIns="91425" anchor="ctr" anchorCtr="0">
            <a:noAutofit/>
          </a:bodyPr>
          <a:lstStyle/>
          <a:p>
            <a:pPr marL="0" indent="0" fontAlgn="base">
              <a:buClr>
                <a:schemeClr val="dk1"/>
              </a:buClr>
              <a:buSzPts val="1100"/>
              <a:buNone/>
            </a:pPr>
            <a:r>
              <a:rPr lang="pt-BR" sz="2000" dirty="0"/>
              <a:t>Cada atendente pode atender nenhum ou várias clientes, assim como um cliente sempre possui nome e CPF é atendido por apenas um atendente, já um cozinheiro pode preparar nenhum ou vários pratos, cada prato tem um nome, calorias, número do prato  mas um prato pode ser preparado por um ou vários cozinheiros, já um faxineiro pode limpar um cômodo ou vários e um cômodo sempre possui espaço em metros e nome, além disso um cômodo pode ser limpo por um ou vários faxineiros, da mesma forma, um gerente pode gerenciar uma ou várias pessoas, mas várias pessoas podem ser gerenciadas por apenas um gerente. </a:t>
            </a:r>
          </a:p>
          <a:p>
            <a:pPr marL="0" lvl="0" indent="0" algn="l" rtl="0">
              <a:spcBef>
                <a:spcPts val="0"/>
              </a:spcBef>
              <a:spcAft>
                <a:spcPts val="0"/>
              </a:spcAft>
              <a:buNone/>
            </a:pPr>
            <a:endParaRPr dirty="0">
              <a:latin typeface="Barlow Semi Condensed"/>
              <a:ea typeface="Barlow Semi Condensed"/>
              <a:cs typeface="Barlow Semi Condensed"/>
              <a:sym typeface="Barlow Semi Condensed"/>
            </a:endParaRPr>
          </a:p>
        </p:txBody>
      </p:sp>
      <p:sp>
        <p:nvSpPr>
          <p:cNvPr id="7" name="Google Shape;1890;p36">
            <a:extLst>
              <a:ext uri="{FF2B5EF4-FFF2-40B4-BE49-F238E27FC236}">
                <a16:creationId xmlns:a16="http://schemas.microsoft.com/office/drawing/2014/main" id="{3C5F9EB6-546B-A969-EB56-588C692E9802}"/>
              </a:ext>
            </a:extLst>
          </p:cNvPr>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BR" dirty="0"/>
              <a:t>P</a:t>
            </a:r>
            <a:r>
              <a:rPr lang="en" dirty="0"/>
              <a:t>roposta do SGBD</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1" name="Google Shape;1891;p36"/>
          <p:cNvSpPr txBox="1">
            <a:spLocks noGrp="1"/>
          </p:cNvSpPr>
          <p:nvPr>
            <p:ph type="body" idx="1"/>
          </p:nvPr>
        </p:nvSpPr>
        <p:spPr>
          <a:xfrm>
            <a:off x="714650" y="1152150"/>
            <a:ext cx="7705500" cy="3529500"/>
          </a:xfrm>
          <a:prstGeom prst="rect">
            <a:avLst/>
          </a:prstGeom>
        </p:spPr>
        <p:txBody>
          <a:bodyPr spcFirstLastPara="1" wrap="square" lIns="91425" tIns="91425" rIns="91425" bIns="91425" anchor="ctr" anchorCtr="0">
            <a:noAutofit/>
          </a:bodyPr>
          <a:lstStyle/>
          <a:p>
            <a:pPr marL="0" indent="0" fontAlgn="base">
              <a:buClr>
                <a:schemeClr val="dk1"/>
              </a:buClr>
              <a:buSzPts val="1100"/>
              <a:buNone/>
            </a:pPr>
            <a:r>
              <a:rPr lang="pt-BR" sz="2000" dirty="0"/>
              <a:t>A lanchonete que possui CNPJ, endereço e nome compra apenas de sua distribuidora, que possui CNPJ, nome e endereço nenhum ou vários ingredientes por um preço, data de entrega e número de pedido específico; e a distribuidora compra vários ou nenhum ingrediente de outras distribuidoras por um preço, data de entrega e número de pedido. Já as outras distribuidoras vendem para a distribuidora da lanchonete vários ou nenhum ingrediente, assim como a distribuidora da lanchonete vende para a lanchonete vários ou nenhum ingrediente. </a:t>
            </a:r>
          </a:p>
          <a:p>
            <a:pPr marL="0" lvl="0" indent="0" algn="l" rtl="0">
              <a:spcBef>
                <a:spcPts val="0"/>
              </a:spcBef>
              <a:spcAft>
                <a:spcPts val="0"/>
              </a:spcAft>
              <a:buNone/>
            </a:pPr>
            <a:endParaRPr dirty="0">
              <a:latin typeface="Barlow Semi Condensed"/>
              <a:ea typeface="Barlow Semi Condensed"/>
              <a:cs typeface="Barlow Semi Condensed"/>
              <a:sym typeface="Barlow Semi Condensed"/>
            </a:endParaRPr>
          </a:p>
        </p:txBody>
      </p:sp>
      <p:sp>
        <p:nvSpPr>
          <p:cNvPr id="6" name="Google Shape;1890;p36">
            <a:extLst>
              <a:ext uri="{FF2B5EF4-FFF2-40B4-BE49-F238E27FC236}">
                <a16:creationId xmlns:a16="http://schemas.microsoft.com/office/drawing/2014/main" id="{2CB2C7DA-8DF0-9ABF-C391-DF55C6DCB634}"/>
              </a:ext>
            </a:extLst>
          </p:cNvPr>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pt-BR" dirty="0"/>
              <a:t>P</a:t>
            </a:r>
            <a:r>
              <a:rPr lang="en" dirty="0"/>
              <a:t>roposta do SGBD</a:t>
            </a:r>
            <a:endParaRPr dirty="0"/>
          </a:p>
        </p:txBody>
      </p:sp>
    </p:spTree>
    <p:extLst>
      <p:ext uri="{BB962C8B-B14F-4D97-AF65-F5344CB8AC3E}">
        <p14:creationId xmlns:p14="http://schemas.microsoft.com/office/powerpoint/2010/main" val="683172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pic>
        <p:nvPicPr>
          <p:cNvPr id="1028" name="Picture 4" descr="Diagrama&#10;&#10;Descrição gerada automaticamente">
            <a:extLst>
              <a:ext uri="{FF2B5EF4-FFF2-40B4-BE49-F238E27FC236}">
                <a16:creationId xmlns:a16="http://schemas.microsoft.com/office/drawing/2014/main" id="{36B1AAE7-3976-F81E-C9C3-7182EFF26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276" y="228801"/>
            <a:ext cx="7241447" cy="4685897"/>
          </a:xfrm>
          <a:prstGeom prst="rect">
            <a:avLst/>
          </a:prstGeom>
          <a:noFill/>
          <a:extLst>
            <a:ext uri="{909E8E84-426E-40DD-AFC4-6F175D3DCCD1}">
              <a14:hiddenFill xmlns:a14="http://schemas.microsoft.com/office/drawing/2010/main">
                <a:solidFill>
                  <a:srgbClr val="FFFFFF"/>
                </a:solidFill>
              </a14:hiddenFill>
            </a:ext>
          </a:extLst>
        </p:spPr>
      </p:pic>
      <p:sp>
        <p:nvSpPr>
          <p:cNvPr id="2155" name="Google Shape;2155;p38"/>
          <p:cNvSpPr txBox="1">
            <a:spLocks noGrp="1"/>
          </p:cNvSpPr>
          <p:nvPr>
            <p:ph type="title"/>
          </p:nvPr>
        </p:nvSpPr>
        <p:spPr>
          <a:xfrm>
            <a:off x="4834467" y="718424"/>
            <a:ext cx="3699933" cy="122326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pt-BR" dirty="0"/>
              <a:t>M</a:t>
            </a:r>
            <a:r>
              <a:rPr lang="en" dirty="0"/>
              <a:t>odelo Conceitual</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700"/>
              <a:t>Company</a:t>
            </a:r>
            <a:endParaRPr sz="470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57" name="Google Shape;2157;p38"/>
          <p:cNvSpPr txBox="1">
            <a:spLocks noGrp="1"/>
          </p:cNvSpPr>
          <p:nvPr>
            <p:ph type="subTitle" idx="1"/>
          </p:nvPr>
        </p:nvSpPr>
        <p:spPr>
          <a:xfrm>
            <a:off x="2973225" y="2999232"/>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Enter a subtitle here if you need it</a:t>
            </a:r>
            <a:endParaRPr>
              <a:latin typeface="Barlow Semi Condensed"/>
              <a:ea typeface="Barlow Semi Condensed"/>
              <a:cs typeface="Barlow Semi Condensed"/>
              <a:sym typeface="Barlow Semi Condensed"/>
            </a:endParaRPr>
          </a:p>
        </p:txBody>
      </p:sp>
      <p:pic>
        <p:nvPicPr>
          <p:cNvPr id="1026" name="Picture 2" descr="Diagrama&#10;&#10;Descrição gerada automaticamente">
            <a:extLst>
              <a:ext uri="{FF2B5EF4-FFF2-40B4-BE49-F238E27FC236}">
                <a16:creationId xmlns:a16="http://schemas.microsoft.com/office/drawing/2014/main" id="{2464A3E0-FA47-9553-0459-2479793AE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0"/>
            <a:ext cx="7085013"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2155;p38">
            <a:extLst>
              <a:ext uri="{FF2B5EF4-FFF2-40B4-BE49-F238E27FC236}">
                <a16:creationId xmlns:a16="http://schemas.microsoft.com/office/drawing/2014/main" id="{7BB05042-1B4F-7A8B-2FA3-62A917B59B1D}"/>
              </a:ext>
            </a:extLst>
          </p:cNvPr>
          <p:cNvSpPr txBox="1">
            <a:spLocks/>
          </p:cNvSpPr>
          <p:nvPr/>
        </p:nvSpPr>
        <p:spPr>
          <a:xfrm>
            <a:off x="4676423" y="623824"/>
            <a:ext cx="3699933" cy="122326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3600"/>
              <a:buFont typeface="Fjalla One"/>
              <a:buNone/>
              <a:defRPr sz="3600" b="0" i="0" u="none" strike="noStrike" cap="none">
                <a:solidFill>
                  <a:schemeClr val="dk2"/>
                </a:solidFill>
                <a:latin typeface="Fjalla One"/>
                <a:ea typeface="Fjalla One"/>
                <a:cs typeface="Fjalla One"/>
                <a:sym typeface="Fjalla One"/>
              </a:defRPr>
            </a:lvl9pPr>
          </a:lstStyle>
          <a:p>
            <a:r>
              <a:rPr lang="pt-BR" dirty="0"/>
              <a:t>Modelo Lógico</a:t>
            </a:r>
          </a:p>
        </p:txBody>
      </p:sp>
    </p:spTree>
    <p:extLst>
      <p:ext uri="{BB962C8B-B14F-4D97-AF65-F5344CB8AC3E}">
        <p14:creationId xmlns:p14="http://schemas.microsoft.com/office/powerpoint/2010/main" val="3523333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04"/>
        <p:cNvGrpSpPr/>
        <p:nvPr/>
      </p:nvGrpSpPr>
      <p:grpSpPr>
        <a:xfrm>
          <a:off x="0" y="0"/>
          <a:ext cx="0" cy="0"/>
          <a:chOff x="0" y="0"/>
          <a:chExt cx="0" cy="0"/>
        </a:xfrm>
      </p:grpSpPr>
      <p:sp>
        <p:nvSpPr>
          <p:cNvPr id="3605" name="Google Shape;3605;p63"/>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a:t>Thanks!</a:t>
            </a:r>
            <a:endParaRPr sz="7200"/>
          </a:p>
        </p:txBody>
      </p:sp>
      <p:sp>
        <p:nvSpPr>
          <p:cNvPr id="3606" name="Google Shape;3606;p63"/>
          <p:cNvSpPr txBox="1">
            <a:spLocks noGrp="1"/>
          </p:cNvSpPr>
          <p:nvPr>
            <p:ph type="subTitle" idx="1"/>
          </p:nvPr>
        </p:nvSpPr>
        <p:spPr>
          <a:xfrm>
            <a:off x="3017520" y="1709928"/>
            <a:ext cx="3099900" cy="143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accent1"/>
                </a:solidFill>
                <a:latin typeface="Barlow Semi Condensed"/>
                <a:ea typeface="Barlow Semi Condensed"/>
                <a:cs typeface="Barlow Semi Condensed"/>
                <a:sym typeface="Barlow Semi Condensed"/>
              </a:rPr>
              <a:t>Do you have any questions?</a:t>
            </a:r>
            <a:endParaRPr>
              <a:solidFill>
                <a:schemeClr val="accent1"/>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endParaRPr>
              <a:solidFill>
                <a:srgbClr val="595959"/>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r>
              <a:rPr lang="en">
                <a:solidFill>
                  <a:schemeClr val="dk2"/>
                </a:solidFill>
                <a:latin typeface="Barlow Semi Condensed"/>
                <a:ea typeface="Barlow Semi Condensed"/>
                <a:cs typeface="Barlow Semi Condensed"/>
                <a:sym typeface="Barlow Semi Condensed"/>
              </a:rPr>
              <a:t>youremail@freepik.com </a:t>
            </a:r>
            <a:endParaRPr>
              <a:solidFill>
                <a:schemeClr val="dk2"/>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r>
              <a:rPr lang="en">
                <a:solidFill>
                  <a:schemeClr val="dk2"/>
                </a:solidFill>
                <a:latin typeface="Barlow Semi Condensed"/>
                <a:ea typeface="Barlow Semi Condensed"/>
                <a:cs typeface="Barlow Semi Condensed"/>
                <a:sym typeface="Barlow Semi Condensed"/>
              </a:rPr>
              <a:t>+91  620 421 838 </a:t>
            </a:r>
            <a:endParaRPr>
              <a:solidFill>
                <a:schemeClr val="dk2"/>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r>
              <a:rPr lang="en">
                <a:solidFill>
                  <a:schemeClr val="dk2"/>
                </a:solidFill>
                <a:latin typeface="Barlow Semi Condensed"/>
                <a:ea typeface="Barlow Semi Condensed"/>
                <a:cs typeface="Barlow Semi Condensed"/>
                <a:sym typeface="Barlow Semi Condensed"/>
              </a:rPr>
              <a:t>yourcompany.com</a:t>
            </a:r>
            <a:endParaRPr>
              <a:solidFill>
                <a:schemeClr val="dk2"/>
              </a:solidFill>
              <a:latin typeface="Barlow Semi Condensed Light"/>
              <a:ea typeface="Barlow Semi Condensed Light"/>
              <a:cs typeface="Barlow Semi Condensed Light"/>
              <a:sym typeface="Barlow Semi Condensed Light"/>
            </a:endParaRPr>
          </a:p>
        </p:txBody>
      </p:sp>
      <p:sp>
        <p:nvSpPr>
          <p:cNvPr id="3607" name="Google Shape;3607;p63"/>
          <p:cNvSpPr txBox="1">
            <a:spLocks noGrp="1"/>
          </p:cNvSpPr>
          <p:nvPr>
            <p:ph type="subTitle" idx="4294967295"/>
          </p:nvPr>
        </p:nvSpPr>
        <p:spPr>
          <a:xfrm>
            <a:off x="2673650" y="4233275"/>
            <a:ext cx="3793200" cy="33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a:latin typeface="Barlow Semi Condensed"/>
                <a:ea typeface="Barlow Semi Condensed"/>
                <a:cs typeface="Barlow Semi Condensed"/>
                <a:sym typeface="Barlow Semi Condensed"/>
              </a:rPr>
              <a:t>Please keep this slide for attribution</a:t>
            </a:r>
            <a:endParaRPr sz="1100">
              <a:latin typeface="Barlow Semi Condensed"/>
              <a:ea typeface="Barlow Semi Condensed"/>
              <a:cs typeface="Barlow Semi Condensed"/>
              <a:sym typeface="Barlow Semi Condensed"/>
            </a:endParaRPr>
          </a:p>
        </p:txBody>
      </p:sp>
      <p:grpSp>
        <p:nvGrpSpPr>
          <p:cNvPr id="3608" name="Google Shape;3608;p63"/>
          <p:cNvGrpSpPr/>
          <p:nvPr/>
        </p:nvGrpSpPr>
        <p:grpSpPr>
          <a:xfrm>
            <a:off x="3733763" y="3221625"/>
            <a:ext cx="1681025" cy="338359"/>
            <a:chOff x="3733763" y="3183525"/>
            <a:chExt cx="1681025" cy="338359"/>
          </a:xfrm>
        </p:grpSpPr>
        <p:sp>
          <p:nvSpPr>
            <p:cNvPr id="3609" name="Google Shape;3609;p63"/>
            <p:cNvSpPr/>
            <p:nvPr/>
          </p:nvSpPr>
          <p:spPr>
            <a:xfrm>
              <a:off x="3733763" y="3183525"/>
              <a:ext cx="338345" cy="338295"/>
            </a:xfrm>
            <a:custGeom>
              <a:avLst/>
              <a:gdLst/>
              <a:ahLst/>
              <a:cxnLst/>
              <a:rect l="l" t="t" r="r" b="b"/>
              <a:pathLst>
                <a:path w="19982" h="19982" extrusionOk="0">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0" name="Google Shape;3610;p63"/>
            <p:cNvGrpSpPr/>
            <p:nvPr/>
          </p:nvGrpSpPr>
          <p:grpSpPr>
            <a:xfrm>
              <a:off x="4166051" y="3183552"/>
              <a:ext cx="338366" cy="338332"/>
              <a:chOff x="812101" y="2571761"/>
              <a:chExt cx="417066" cy="417024"/>
            </a:xfrm>
          </p:grpSpPr>
          <p:sp>
            <p:nvSpPr>
              <p:cNvPr id="3611" name="Google Shape;3611;p63"/>
              <p:cNvSpPr/>
              <p:nvPr/>
            </p:nvSpPr>
            <p:spPr>
              <a:xfrm>
                <a:off x="935084" y="2694744"/>
                <a:ext cx="171071" cy="171071"/>
              </a:xfrm>
              <a:custGeom>
                <a:avLst/>
                <a:gdLst/>
                <a:ahLst/>
                <a:cxnLst/>
                <a:rect l="l" t="t" r="r" b="b"/>
                <a:pathLst>
                  <a:path w="8197" h="8197" extrusionOk="0">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63"/>
              <p:cNvSpPr/>
              <p:nvPr/>
            </p:nvSpPr>
            <p:spPr>
              <a:xfrm>
                <a:off x="860977" y="2620616"/>
                <a:ext cx="319311" cy="319290"/>
              </a:xfrm>
              <a:custGeom>
                <a:avLst/>
                <a:gdLst/>
                <a:ahLst/>
                <a:cxnLst/>
                <a:rect l="l" t="t" r="r" b="b"/>
                <a:pathLst>
                  <a:path w="15300" h="15299" extrusionOk="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63"/>
              <p:cNvSpPr/>
              <p:nvPr/>
            </p:nvSpPr>
            <p:spPr>
              <a:xfrm>
                <a:off x="812101" y="2571761"/>
                <a:ext cx="417066" cy="417024"/>
              </a:xfrm>
              <a:custGeom>
                <a:avLst/>
                <a:gdLst/>
                <a:ahLst/>
                <a:cxnLst/>
                <a:rect l="l" t="t" r="r" b="b"/>
                <a:pathLst>
                  <a:path w="19984" h="19982" extrusionOk="0">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63"/>
              <p:cNvSpPr/>
              <p:nvPr/>
            </p:nvSpPr>
            <p:spPr>
              <a:xfrm>
                <a:off x="1081712" y="2670306"/>
                <a:ext cx="48878" cy="48898"/>
              </a:xfrm>
              <a:custGeom>
                <a:avLst/>
                <a:gdLst/>
                <a:ahLst/>
                <a:cxnLst/>
                <a:rect l="l" t="t" r="r" b="b"/>
                <a:pathLst>
                  <a:path w="2342" h="2343" extrusionOk="0">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5" name="Google Shape;3615;p63"/>
            <p:cNvGrpSpPr/>
            <p:nvPr/>
          </p:nvGrpSpPr>
          <p:grpSpPr>
            <a:xfrm>
              <a:off x="4598397" y="3183552"/>
              <a:ext cx="338332" cy="338332"/>
              <a:chOff x="1323129" y="2571761"/>
              <a:chExt cx="417024" cy="417024"/>
            </a:xfrm>
          </p:grpSpPr>
          <p:sp>
            <p:nvSpPr>
              <p:cNvPr id="3616" name="Google Shape;3616;p63"/>
              <p:cNvSpPr/>
              <p:nvPr/>
            </p:nvSpPr>
            <p:spPr>
              <a:xfrm>
                <a:off x="1385007" y="2719183"/>
                <a:ext cx="73337" cy="219907"/>
              </a:xfrm>
              <a:custGeom>
                <a:avLst/>
                <a:gdLst/>
                <a:ahLst/>
                <a:cxnLst/>
                <a:rect l="l" t="t" r="r" b="b"/>
                <a:pathLst>
                  <a:path w="3514" h="10537" extrusionOk="0">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63"/>
              <p:cNvSpPr/>
              <p:nvPr/>
            </p:nvSpPr>
            <p:spPr>
              <a:xfrm>
                <a:off x="1385007" y="2621430"/>
                <a:ext cx="73337" cy="73337"/>
              </a:xfrm>
              <a:custGeom>
                <a:avLst/>
                <a:gdLst/>
                <a:ahLst/>
                <a:cxnLst/>
                <a:rect l="l" t="t" r="r" b="b"/>
                <a:pathLst>
                  <a:path w="3514" h="3514" extrusionOk="0">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63"/>
              <p:cNvSpPr/>
              <p:nvPr/>
            </p:nvSpPr>
            <p:spPr>
              <a:xfrm>
                <a:off x="1482759" y="2718786"/>
                <a:ext cx="195510" cy="220304"/>
              </a:xfrm>
              <a:custGeom>
                <a:avLst/>
                <a:gdLst/>
                <a:ahLst/>
                <a:cxnLst/>
                <a:rect l="l" t="t" r="r" b="b"/>
                <a:pathLst>
                  <a:path w="9368" h="10556" extrusionOk="0">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63"/>
              <p:cNvSpPr/>
              <p:nvPr/>
            </p:nvSpPr>
            <p:spPr>
              <a:xfrm>
                <a:off x="1323129" y="2571761"/>
                <a:ext cx="417024" cy="417024"/>
              </a:xfrm>
              <a:custGeom>
                <a:avLst/>
                <a:gdLst/>
                <a:ahLst/>
                <a:cxnLst/>
                <a:rect l="l" t="t" r="r" b="b"/>
                <a:pathLst>
                  <a:path w="19982" h="19982" extrusionOk="0">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0" name="Google Shape;3620;p63"/>
            <p:cNvSpPr/>
            <p:nvPr/>
          </p:nvSpPr>
          <p:spPr>
            <a:xfrm>
              <a:off x="5074766" y="3214044"/>
              <a:ext cx="340022" cy="277263"/>
            </a:xfrm>
            <a:custGeom>
              <a:avLst/>
              <a:gdLst/>
              <a:ahLst/>
              <a:cxnLst/>
              <a:rect l="l" t="t" r="r" b="b"/>
              <a:pathLst>
                <a:path w="20081" h="16377" extrusionOk="0">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468</Words>
  <Application>Microsoft Office PowerPoint</Application>
  <PresentationFormat>Apresentação na tela (16:9)</PresentationFormat>
  <Paragraphs>41</Paragraphs>
  <Slides>11</Slides>
  <Notes>11</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11</vt:i4>
      </vt:variant>
    </vt:vector>
  </HeadingPairs>
  <TitlesOfParts>
    <vt:vector size="20" baseType="lpstr">
      <vt:lpstr>Barlow Semi Condensed Light</vt:lpstr>
      <vt:lpstr>Fjalla One</vt:lpstr>
      <vt:lpstr>Barlow Semi Condensed</vt:lpstr>
      <vt:lpstr>Abel</vt:lpstr>
      <vt:lpstr>Barlow Semi Condensed Medium</vt:lpstr>
      <vt:lpstr>Arial</vt:lpstr>
      <vt:lpstr>Roboto Condensed Light</vt:lpstr>
      <vt:lpstr>open_sansregular</vt:lpstr>
      <vt:lpstr>Technology Consulting by Slidesgo</vt:lpstr>
      <vt:lpstr>Banco de Bados</vt:lpstr>
      <vt:lpstr>Missão</vt:lpstr>
      <vt:lpstr>Visão</vt:lpstr>
      <vt:lpstr>Valores</vt:lpstr>
      <vt:lpstr>Do que se trata?</vt:lpstr>
      <vt:lpstr>Proposta do SGBD</vt:lpstr>
      <vt:lpstr>Proposta do SGBD</vt:lpstr>
      <vt:lpstr>Proposta do SGBD</vt:lpstr>
      <vt:lpstr>Modelo Conceitual</vt:lpstr>
      <vt:lpstr>Company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Banco de Bados</dc:title>
  <cp:lastModifiedBy>NILTON GUERRA</cp:lastModifiedBy>
  <cp:revision>1</cp:revision>
  <dcterms:modified xsi:type="dcterms:W3CDTF">2022-06-04T15:09:25Z</dcterms:modified>
</cp:coreProperties>
</file>