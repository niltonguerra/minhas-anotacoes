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6655B-B957-4011-A8AD-7967366BB9DF}" type="datetimeFigureOut">
              <a:rPr lang="pt-BR" smtClean="0"/>
              <a:t>04/03/2023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D48-3D87-45A2-98D1-21B9D298C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80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6655B-B957-4011-A8AD-7967366BB9DF}" type="datetimeFigureOut">
              <a:rPr lang="pt-BR" smtClean="0"/>
              <a:t>04/03/2023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D48-3D87-45A2-98D1-21B9D298C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384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6655B-B957-4011-A8AD-7967366BB9DF}" type="datetimeFigureOut">
              <a:rPr lang="pt-BR" smtClean="0"/>
              <a:t>04/03/2023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D48-3D87-45A2-98D1-21B9D298C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250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6655B-B957-4011-A8AD-7967366BB9DF}" type="datetimeFigureOut">
              <a:rPr lang="pt-BR" smtClean="0"/>
              <a:t>04/03/2023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D48-3D87-45A2-98D1-21B9D298C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0780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6655B-B957-4011-A8AD-7967366BB9DF}" type="datetimeFigureOut">
              <a:rPr lang="pt-BR" smtClean="0"/>
              <a:t>04/03/2023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D48-3D87-45A2-98D1-21B9D298C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196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6655B-B957-4011-A8AD-7967366BB9DF}" type="datetimeFigureOut">
              <a:rPr lang="pt-BR" smtClean="0"/>
              <a:t>04/03/2023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D48-3D87-45A2-98D1-21B9D298C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3156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6655B-B957-4011-A8AD-7967366BB9DF}" type="datetimeFigureOut">
              <a:rPr lang="pt-BR" smtClean="0"/>
              <a:t>04/03/2023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D48-3D87-45A2-98D1-21B9D298C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858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6655B-B957-4011-A8AD-7967366BB9DF}" type="datetimeFigureOut">
              <a:rPr lang="pt-BR" smtClean="0"/>
              <a:t>04/03/2023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D48-3D87-45A2-98D1-21B9D298C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2769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6655B-B957-4011-A8AD-7967366BB9DF}" type="datetimeFigureOut">
              <a:rPr lang="pt-BR" smtClean="0"/>
              <a:t>04/03/2023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D48-3D87-45A2-98D1-21B9D298C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39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6655B-B957-4011-A8AD-7967366BB9DF}" type="datetimeFigureOut">
              <a:rPr lang="pt-BR" smtClean="0"/>
              <a:t>04/03/2023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D48-3D87-45A2-98D1-21B9D298C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2033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6655B-B957-4011-A8AD-7967366BB9DF}" type="datetimeFigureOut">
              <a:rPr lang="pt-BR" smtClean="0"/>
              <a:t>04/03/2023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2D48-3D87-45A2-98D1-21B9D298C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418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97" b="1" i="0">
                <a:solidFill>
                  <a:srgbClr val="496200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317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6655B-B957-4011-A8AD-7967366BB9DF}" type="datetimeFigureOut">
              <a:rPr lang="pt-BR" smtClean="0"/>
              <a:t>04/03/2023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42D48-3D87-45A2-98D1-21B9D298C2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46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5" y="454488"/>
            <a:ext cx="4517018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5" dirty="0"/>
              <a:t>T</a:t>
            </a:r>
            <a:r>
              <a:rPr cap="small" dirty="0"/>
              <a:t>ópi</a:t>
            </a:r>
            <a:r>
              <a:rPr cap="small" spc="5" dirty="0"/>
              <a:t>c</a:t>
            </a:r>
            <a:r>
              <a:rPr cap="small" dirty="0"/>
              <a:t>os</a:t>
            </a:r>
            <a:r>
              <a:rPr sz="2398" spc="229" dirty="0">
                <a:latin typeface="Times New Roman"/>
                <a:cs typeface="Times New Roman"/>
              </a:rPr>
              <a:t> </a:t>
            </a:r>
            <a:r>
              <a:rPr cap="small" dirty="0"/>
              <a:t>apre</a:t>
            </a:r>
            <a:r>
              <a:rPr cap="small" spc="-5" dirty="0"/>
              <a:t>s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ados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741336"/>
            <a:ext cx="5985683" cy="2887846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indent="-274073">
              <a:spcBef>
                <a:spcPts val="100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Métodos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ágeis</a:t>
            </a:r>
            <a:endParaRPr sz="2398">
              <a:latin typeface="Century Schoolbook"/>
              <a:cs typeface="Century Schoolbook"/>
            </a:endParaRPr>
          </a:p>
          <a:p>
            <a:pPr marL="286762" indent="-274073">
              <a:spcBef>
                <a:spcPts val="2038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Desenvolvimento</a:t>
            </a:r>
            <a:r>
              <a:rPr sz="2398" spc="3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ágil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e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dirigido</a:t>
            </a:r>
            <a:r>
              <a:rPr sz="2398" spc="2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a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planos</a:t>
            </a:r>
            <a:endParaRPr sz="2398">
              <a:latin typeface="Century Schoolbook"/>
              <a:cs typeface="Century Schoolbook"/>
            </a:endParaRPr>
          </a:p>
          <a:p>
            <a:pPr marL="286762" indent="-274073">
              <a:spcBef>
                <a:spcPts val="2038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Extreme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Programming</a:t>
            </a:r>
            <a:endParaRPr sz="2398">
              <a:latin typeface="Century Schoolbook"/>
              <a:cs typeface="Century Schoolbook"/>
            </a:endParaRPr>
          </a:p>
          <a:p>
            <a:pPr marL="286762" indent="-274073">
              <a:spcBef>
                <a:spcPts val="2038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Gerenciamento</a:t>
            </a:r>
            <a:r>
              <a:rPr sz="2398" spc="1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ágil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55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projetos</a:t>
            </a:r>
            <a:endParaRPr sz="2398">
              <a:latin typeface="Century Schoolbook"/>
              <a:cs typeface="Century Schoolbook"/>
            </a:endParaRPr>
          </a:p>
          <a:p>
            <a:pPr marL="286762" indent="-274073">
              <a:spcBef>
                <a:spcPts val="2038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Escalamento</a:t>
            </a:r>
            <a:r>
              <a:rPr sz="2398" spc="6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5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métodos</a:t>
            </a:r>
            <a:r>
              <a:rPr sz="2398" spc="45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ágeis</a:t>
            </a:r>
            <a:endParaRPr sz="23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68871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6627"/>
            <a:ext cx="5650078" cy="161433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D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dirty="0"/>
              <a:t>envo</a:t>
            </a:r>
            <a:r>
              <a:rPr cap="small" spc="-10" dirty="0"/>
              <a:t>l</a:t>
            </a:r>
            <a:r>
              <a:rPr cap="small" dirty="0"/>
              <a:t>vi</a:t>
            </a:r>
            <a:r>
              <a:rPr cap="small" spc="-5" dirty="0"/>
              <a:t>m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75" dirty="0">
                <a:latin typeface="Times New Roman"/>
                <a:cs typeface="Times New Roman"/>
              </a:rPr>
              <a:t> </a:t>
            </a:r>
            <a:r>
              <a:rPr cap="small" spc="-5" dirty="0"/>
              <a:t>r</a:t>
            </a:r>
            <a:r>
              <a:rPr cap="small" dirty="0"/>
              <a:t>ápido</a:t>
            </a:r>
            <a:r>
              <a:rPr sz="2398" spc="240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spc="-5" dirty="0"/>
              <a:t>s</a:t>
            </a:r>
            <a:r>
              <a:rPr cap="small" dirty="0"/>
              <a:t>o</a:t>
            </a:r>
            <a:r>
              <a:rPr cap="small" spc="-10" dirty="0"/>
              <a:t>ft</a:t>
            </a:r>
            <a:r>
              <a:rPr cap="small" spc="-5" dirty="0"/>
              <a:t>w</a:t>
            </a:r>
            <a:r>
              <a:rPr cap="small" dirty="0"/>
              <a:t>are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58630"/>
            <a:ext cx="7301454" cy="420488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127" marR="5075" indent="-274073" algn="just">
              <a:lnSpc>
                <a:spcPct val="150000"/>
              </a:lnSpc>
              <a:spcBef>
                <a:spcPts val="100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Atualmente,</a:t>
            </a:r>
            <a:r>
              <a:rPr sz="2398" spc="450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a</a:t>
            </a:r>
            <a:r>
              <a:rPr sz="2398" spc="459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entrega</a:t>
            </a:r>
            <a:r>
              <a:rPr sz="2398" spc="455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e</a:t>
            </a:r>
            <a:r>
              <a:rPr sz="2398" spc="459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o</a:t>
            </a:r>
            <a:r>
              <a:rPr sz="2398" spc="450" dirty="0">
                <a:latin typeface="Times New Roman"/>
                <a:cs typeface="Times New Roman"/>
              </a:rPr>
              <a:t>  </a:t>
            </a:r>
            <a:r>
              <a:rPr sz="2398" spc="-10" dirty="0">
                <a:latin typeface="Century Schoolbook"/>
                <a:cs typeface="Century Schoolbook"/>
              </a:rPr>
              <a:t>desenvolvimento</a:t>
            </a:r>
            <a:r>
              <a:rPr sz="2398" spc="-1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rápidos</a:t>
            </a:r>
            <a:r>
              <a:rPr sz="2398" spc="114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têm</a:t>
            </a:r>
            <a:r>
              <a:rPr sz="2398" spc="120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sido</a:t>
            </a:r>
            <a:r>
              <a:rPr sz="2398" spc="114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geralmente,</a:t>
            </a:r>
            <a:r>
              <a:rPr sz="2398" spc="105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o</a:t>
            </a:r>
            <a:r>
              <a:rPr sz="2398" spc="114" dirty="0">
                <a:latin typeface="Times New Roman"/>
                <a:cs typeface="Times New Roman"/>
              </a:rPr>
              <a:t>  </a:t>
            </a:r>
            <a:r>
              <a:rPr sz="2398" dirty="0">
                <a:latin typeface="Century Schoolbook"/>
                <a:cs typeface="Century Schoolbook"/>
              </a:rPr>
              <a:t>requisito</a:t>
            </a:r>
            <a:r>
              <a:rPr sz="2398" spc="114" dirty="0">
                <a:latin typeface="Times New Roman"/>
                <a:cs typeface="Times New Roman"/>
              </a:rPr>
              <a:t>  </a:t>
            </a:r>
            <a:r>
              <a:rPr sz="2398" spc="-20" dirty="0">
                <a:latin typeface="Century Schoolbook"/>
                <a:cs typeface="Century Schoolbook"/>
              </a:rPr>
              <a:t>mais</a:t>
            </a:r>
            <a:r>
              <a:rPr sz="2398" spc="-2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importante</a:t>
            </a:r>
            <a:r>
              <a:rPr sz="2398" spc="4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nos</a:t>
            </a:r>
            <a:r>
              <a:rPr sz="2398" spc="5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sistemas</a:t>
            </a:r>
            <a:r>
              <a:rPr sz="2398" spc="60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6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software:</a:t>
            </a:r>
            <a:endParaRPr sz="2398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50000"/>
              </a:lnSpc>
              <a:spcBef>
                <a:spcPts val="574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652192" algn="l"/>
              </a:tabLst>
            </a:pPr>
            <a:r>
              <a:rPr sz="2098" dirty="0">
                <a:latin typeface="Century Schoolbook"/>
                <a:cs typeface="Century Schoolbook"/>
              </a:rPr>
              <a:t>Os</a:t>
            </a:r>
            <a:r>
              <a:rPr sz="2098" spc="30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negócios</a:t>
            </a:r>
            <a:r>
              <a:rPr sz="2098" spc="30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operam</a:t>
            </a:r>
            <a:r>
              <a:rPr sz="2098" spc="29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com</a:t>
            </a:r>
            <a:r>
              <a:rPr sz="2098" spc="30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requisitos</a:t>
            </a:r>
            <a:r>
              <a:rPr sz="2098" spc="30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que</a:t>
            </a:r>
            <a:r>
              <a:rPr sz="2098" spc="300" dirty="0">
                <a:latin typeface="Times New Roman"/>
                <a:cs typeface="Times New Roman"/>
              </a:rPr>
              <a:t>  </a:t>
            </a:r>
            <a:r>
              <a:rPr sz="2098" spc="-10" dirty="0">
                <a:latin typeface="Century Schoolbook"/>
                <a:cs typeface="Century Schoolbook"/>
              </a:rPr>
              <a:t>mudam</a:t>
            </a:r>
            <a:r>
              <a:rPr sz="2098" spc="-1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rapidamente</a:t>
            </a:r>
            <a:r>
              <a:rPr sz="2098" spc="9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e</a:t>
            </a:r>
            <a:r>
              <a:rPr sz="2098" spc="10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é</a:t>
            </a:r>
            <a:r>
              <a:rPr sz="2098" spc="10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praticamente</a:t>
            </a:r>
            <a:r>
              <a:rPr sz="2098" spc="10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impossível</a:t>
            </a:r>
            <a:r>
              <a:rPr sz="2098" spc="100" dirty="0">
                <a:latin typeface="Times New Roman"/>
                <a:cs typeface="Times New Roman"/>
              </a:rPr>
              <a:t>  </a:t>
            </a:r>
            <a:r>
              <a:rPr sz="2098" spc="-10" dirty="0">
                <a:latin typeface="Century Schoolbook"/>
                <a:cs typeface="Century Schoolbook"/>
              </a:rPr>
              <a:t>produzir</a:t>
            </a:r>
            <a:r>
              <a:rPr sz="2098" spc="-1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um</a:t>
            </a:r>
            <a:r>
              <a:rPr sz="2098" spc="3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conjunto</a:t>
            </a:r>
            <a:r>
              <a:rPr sz="2098" spc="6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estável</a:t>
            </a:r>
            <a:r>
              <a:rPr sz="2098" spc="4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</a:t>
            </a:r>
            <a:r>
              <a:rPr sz="2098" spc="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requisitos</a:t>
            </a:r>
            <a:r>
              <a:rPr sz="2098" spc="5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</a:t>
            </a:r>
            <a:r>
              <a:rPr sz="2098" spc="60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software.</a:t>
            </a:r>
            <a:endParaRPr sz="2098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50000"/>
              </a:lnSpc>
              <a:spcBef>
                <a:spcPts val="505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652192" algn="l"/>
              </a:tabLst>
            </a:pPr>
            <a:r>
              <a:rPr sz="2098" dirty="0">
                <a:latin typeface="Century Schoolbook"/>
                <a:cs typeface="Century Schoolbook"/>
              </a:rPr>
              <a:t>O</a:t>
            </a:r>
            <a:r>
              <a:rPr sz="2098" spc="27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software</a:t>
            </a:r>
            <a:r>
              <a:rPr sz="2098" spc="30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precisa</a:t>
            </a:r>
            <a:r>
              <a:rPr sz="2098" spc="28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evoluir</a:t>
            </a:r>
            <a:r>
              <a:rPr sz="2098" spc="29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rapidamente</a:t>
            </a:r>
            <a:r>
              <a:rPr sz="2098" spc="29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para</a:t>
            </a:r>
            <a:r>
              <a:rPr sz="2098" spc="285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refletir</a:t>
            </a:r>
            <a:r>
              <a:rPr sz="2098" spc="-1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as</a:t>
            </a:r>
            <a:r>
              <a:rPr sz="2098" spc="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necessidades</a:t>
            </a:r>
            <a:r>
              <a:rPr sz="2098" spc="5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</a:t>
            </a:r>
            <a:r>
              <a:rPr sz="2098" spc="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negócio</a:t>
            </a:r>
            <a:r>
              <a:rPr sz="2098" spc="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em</a:t>
            </a:r>
            <a:r>
              <a:rPr sz="2098" spc="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constante</a:t>
            </a:r>
            <a:r>
              <a:rPr sz="2098" spc="50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mudança.</a:t>
            </a:r>
            <a:endParaRPr sz="20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408989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6627"/>
            <a:ext cx="5650078" cy="1614332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D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dirty="0"/>
              <a:t>envo</a:t>
            </a:r>
            <a:r>
              <a:rPr cap="small" spc="-10" dirty="0"/>
              <a:t>l</a:t>
            </a:r>
            <a:r>
              <a:rPr cap="small" dirty="0"/>
              <a:t>vi</a:t>
            </a:r>
            <a:r>
              <a:rPr cap="small" spc="-5" dirty="0"/>
              <a:t>m</a:t>
            </a:r>
            <a:r>
              <a:rPr cap="small" dirty="0"/>
              <a:t>en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75" dirty="0">
                <a:latin typeface="Times New Roman"/>
                <a:cs typeface="Times New Roman"/>
              </a:rPr>
              <a:t> </a:t>
            </a:r>
            <a:r>
              <a:rPr cap="small" spc="-5" dirty="0"/>
              <a:t>r</a:t>
            </a:r>
            <a:r>
              <a:rPr cap="small" dirty="0"/>
              <a:t>ápido</a:t>
            </a:r>
            <a:r>
              <a:rPr sz="2398" spc="240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spc="-5" dirty="0"/>
              <a:t>s</a:t>
            </a:r>
            <a:r>
              <a:rPr cap="small" dirty="0"/>
              <a:t>o</a:t>
            </a:r>
            <a:r>
              <a:rPr cap="small" spc="-10" dirty="0"/>
              <a:t>ft</a:t>
            </a:r>
            <a:r>
              <a:rPr cap="small" spc="-5" dirty="0"/>
              <a:t>w</a:t>
            </a:r>
            <a:r>
              <a:rPr cap="small" dirty="0"/>
              <a:t>are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741336"/>
            <a:ext cx="7302722" cy="4428834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indent="-274073" algn="just">
              <a:spcBef>
                <a:spcPts val="100"/>
              </a:spcBef>
              <a:buClr>
                <a:srgbClr val="94C600"/>
              </a:buClr>
              <a:buSzPct val="68750"/>
              <a:buFont typeface="Wingdings"/>
              <a:buChar char=""/>
              <a:tabLst>
                <a:tab pos="286762" algn="l"/>
              </a:tabLst>
            </a:pPr>
            <a:r>
              <a:rPr sz="2398" dirty="0">
                <a:latin typeface="Century Schoolbook"/>
                <a:cs typeface="Century Schoolbook"/>
              </a:rPr>
              <a:t>Desenvolvimento</a:t>
            </a:r>
            <a:r>
              <a:rPr sz="2398" spc="2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rápido</a:t>
            </a:r>
            <a:r>
              <a:rPr sz="2398" spc="35" dirty="0">
                <a:latin typeface="Times New Roman"/>
                <a:cs typeface="Times New Roman"/>
              </a:rPr>
              <a:t> </a:t>
            </a:r>
            <a:r>
              <a:rPr sz="2398" dirty="0">
                <a:latin typeface="Century Schoolbook"/>
                <a:cs typeface="Century Schoolbook"/>
              </a:rPr>
              <a:t>de</a:t>
            </a:r>
            <a:r>
              <a:rPr sz="2398" spc="40" dirty="0">
                <a:latin typeface="Times New Roman"/>
                <a:cs typeface="Times New Roman"/>
              </a:rPr>
              <a:t> </a:t>
            </a:r>
            <a:r>
              <a:rPr sz="2398" spc="-10" dirty="0">
                <a:latin typeface="Century Schoolbook"/>
                <a:cs typeface="Century Schoolbook"/>
              </a:rPr>
              <a:t>software</a:t>
            </a:r>
            <a:endParaRPr sz="2398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50000"/>
              </a:lnSpc>
              <a:spcBef>
                <a:spcPts val="574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652192" algn="l"/>
              </a:tabLst>
            </a:pPr>
            <a:r>
              <a:rPr sz="2098" dirty="0">
                <a:latin typeface="Century Schoolbook"/>
                <a:cs typeface="Century Schoolbook"/>
              </a:rPr>
              <a:t>A</a:t>
            </a:r>
            <a:r>
              <a:rPr sz="2098" spc="16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especificação,</a:t>
            </a:r>
            <a:r>
              <a:rPr sz="2098" spc="16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o</a:t>
            </a:r>
            <a:r>
              <a:rPr sz="2098" spc="17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projeto</a:t>
            </a:r>
            <a:r>
              <a:rPr sz="2098" spc="16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e</a:t>
            </a:r>
            <a:r>
              <a:rPr sz="2098" spc="17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a</a:t>
            </a:r>
            <a:r>
              <a:rPr sz="2098" spc="16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implementação</a:t>
            </a:r>
            <a:r>
              <a:rPr sz="2098" spc="165" dirty="0">
                <a:latin typeface="Times New Roman"/>
                <a:cs typeface="Times New Roman"/>
              </a:rPr>
              <a:t>  </a:t>
            </a:r>
            <a:r>
              <a:rPr sz="2098" spc="-25" dirty="0">
                <a:latin typeface="Century Schoolbook"/>
                <a:cs typeface="Century Schoolbook"/>
              </a:rPr>
              <a:t>são</a:t>
            </a:r>
            <a:r>
              <a:rPr sz="2098" spc="-25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intercaladas.</a:t>
            </a:r>
            <a:endParaRPr sz="2098">
              <a:latin typeface="Century Schoolbook"/>
              <a:cs typeface="Century Schoolbook"/>
            </a:endParaRPr>
          </a:p>
          <a:p>
            <a:pPr marL="651558" marR="6344" lvl="1" indent="-274073" algn="just">
              <a:lnSpc>
                <a:spcPct val="150000"/>
              </a:lnSpc>
              <a:spcBef>
                <a:spcPts val="505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652192" algn="l"/>
              </a:tabLst>
            </a:pPr>
            <a:r>
              <a:rPr sz="2098" dirty="0">
                <a:latin typeface="Century Schoolbook"/>
                <a:cs typeface="Century Schoolbook"/>
              </a:rPr>
              <a:t>O</a:t>
            </a:r>
            <a:r>
              <a:rPr sz="2098" spc="43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sistema</a:t>
            </a:r>
            <a:r>
              <a:rPr sz="2098" spc="41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desenvolvido</a:t>
            </a:r>
            <a:r>
              <a:rPr sz="2098" spc="4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como</a:t>
            </a:r>
            <a:r>
              <a:rPr sz="2098" spc="45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uma</a:t>
            </a:r>
            <a:r>
              <a:rPr sz="2098" spc="42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série</a:t>
            </a:r>
            <a:r>
              <a:rPr sz="2098" spc="45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</a:t>
            </a:r>
            <a:r>
              <a:rPr sz="2098" spc="440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versões,</a:t>
            </a:r>
            <a:r>
              <a:rPr sz="2098" spc="-10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com</a:t>
            </a:r>
            <a:r>
              <a:rPr sz="2098" spc="21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os</a:t>
            </a:r>
            <a:r>
              <a:rPr sz="2098" spc="21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stakeholders</a:t>
            </a:r>
            <a:r>
              <a:rPr sz="2098" spc="21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envolvidos</a:t>
            </a:r>
            <a:r>
              <a:rPr sz="2098" spc="21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na</a:t>
            </a:r>
            <a:r>
              <a:rPr sz="2098" spc="204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avaliação</a:t>
            </a:r>
            <a:r>
              <a:rPr sz="2098" spc="215" dirty="0">
                <a:latin typeface="Times New Roman"/>
                <a:cs typeface="Times New Roman"/>
              </a:rPr>
              <a:t>  </a:t>
            </a:r>
            <a:r>
              <a:rPr sz="2098" spc="-25" dirty="0">
                <a:latin typeface="Century Schoolbook"/>
                <a:cs typeface="Century Schoolbook"/>
              </a:rPr>
              <a:t>das</a:t>
            </a:r>
            <a:r>
              <a:rPr sz="2098" spc="-25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versões.</a:t>
            </a:r>
            <a:endParaRPr sz="2098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50000"/>
              </a:lnSpc>
              <a:spcBef>
                <a:spcPts val="500"/>
              </a:spcBef>
              <a:buClr>
                <a:srgbClr val="94C600"/>
              </a:buClr>
              <a:buSzPct val="78571"/>
              <a:buFont typeface="Wingdings 2"/>
              <a:buChar char=""/>
              <a:tabLst>
                <a:tab pos="652192" algn="l"/>
              </a:tabLst>
            </a:pPr>
            <a:r>
              <a:rPr sz="2098" dirty="0">
                <a:latin typeface="Century Schoolbook"/>
                <a:cs typeface="Century Schoolbook"/>
              </a:rPr>
              <a:t>Geralmente</a:t>
            </a:r>
            <a:r>
              <a:rPr sz="2098" spc="280" dirty="0">
                <a:latin typeface="Times New Roman"/>
                <a:cs typeface="Times New Roman"/>
              </a:rPr>
              <a:t>    </a:t>
            </a:r>
            <a:r>
              <a:rPr sz="2098" dirty="0">
                <a:latin typeface="Century Schoolbook"/>
                <a:cs typeface="Century Schoolbook"/>
              </a:rPr>
              <a:t>as</a:t>
            </a:r>
            <a:r>
              <a:rPr sz="2098" spc="285" dirty="0">
                <a:latin typeface="Times New Roman"/>
                <a:cs typeface="Times New Roman"/>
              </a:rPr>
              <a:t>    </a:t>
            </a:r>
            <a:r>
              <a:rPr sz="2098" dirty="0">
                <a:latin typeface="Century Schoolbook"/>
                <a:cs typeface="Century Schoolbook"/>
              </a:rPr>
              <a:t>interfaces</a:t>
            </a:r>
            <a:r>
              <a:rPr sz="2098" spc="290" dirty="0">
                <a:latin typeface="Times New Roman"/>
                <a:cs typeface="Times New Roman"/>
              </a:rPr>
              <a:t>    </a:t>
            </a:r>
            <a:r>
              <a:rPr sz="2098" dirty="0">
                <a:latin typeface="Century Schoolbook"/>
                <a:cs typeface="Century Schoolbook"/>
              </a:rPr>
              <a:t>de</a:t>
            </a:r>
            <a:r>
              <a:rPr sz="2098" spc="285" dirty="0">
                <a:latin typeface="Times New Roman"/>
                <a:cs typeface="Times New Roman"/>
              </a:rPr>
              <a:t>    </a:t>
            </a:r>
            <a:r>
              <a:rPr sz="2098" dirty="0">
                <a:latin typeface="Century Schoolbook"/>
                <a:cs typeface="Century Schoolbook"/>
              </a:rPr>
              <a:t>usuário</a:t>
            </a:r>
            <a:r>
              <a:rPr sz="2098" spc="285" dirty="0">
                <a:latin typeface="Times New Roman"/>
                <a:cs typeface="Times New Roman"/>
              </a:rPr>
              <a:t>    </a:t>
            </a:r>
            <a:r>
              <a:rPr sz="2098" spc="-25" dirty="0">
                <a:latin typeface="Century Schoolbook"/>
                <a:cs typeface="Century Schoolbook"/>
              </a:rPr>
              <a:t>são</a:t>
            </a:r>
            <a:r>
              <a:rPr sz="2098" spc="-2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desenvolvidas</a:t>
            </a:r>
            <a:r>
              <a:rPr sz="2098" spc="8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usando</a:t>
            </a:r>
            <a:r>
              <a:rPr sz="2098" spc="9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uma</a:t>
            </a:r>
            <a:r>
              <a:rPr sz="2098" spc="9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IDE</a:t>
            </a:r>
            <a:r>
              <a:rPr sz="2098" spc="9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e</a:t>
            </a:r>
            <a:r>
              <a:rPr sz="2098" spc="90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um</a:t>
            </a:r>
            <a:r>
              <a:rPr sz="2098" spc="95" dirty="0">
                <a:latin typeface="Times New Roman"/>
                <a:cs typeface="Times New Roman"/>
              </a:rPr>
              <a:t>  </a:t>
            </a:r>
            <a:r>
              <a:rPr sz="2098" dirty="0">
                <a:latin typeface="Century Schoolbook"/>
                <a:cs typeface="Century Schoolbook"/>
              </a:rPr>
              <a:t>conjunto</a:t>
            </a:r>
            <a:r>
              <a:rPr sz="2098" spc="100" dirty="0">
                <a:latin typeface="Times New Roman"/>
                <a:cs typeface="Times New Roman"/>
              </a:rPr>
              <a:t>  </a:t>
            </a:r>
            <a:r>
              <a:rPr sz="2098" spc="-25" dirty="0">
                <a:latin typeface="Century Schoolbook"/>
                <a:cs typeface="Century Schoolbook"/>
              </a:rPr>
              <a:t>de</a:t>
            </a:r>
            <a:r>
              <a:rPr sz="2098" spc="-25" dirty="0">
                <a:latin typeface="Times New Roman"/>
                <a:cs typeface="Times New Roman"/>
              </a:rPr>
              <a:t> </a:t>
            </a:r>
            <a:r>
              <a:rPr sz="2098" dirty="0">
                <a:latin typeface="Century Schoolbook"/>
                <a:cs typeface="Century Schoolbook"/>
              </a:rPr>
              <a:t>ferramentas</a:t>
            </a:r>
            <a:r>
              <a:rPr sz="2098" spc="40" dirty="0">
                <a:latin typeface="Times New Roman"/>
                <a:cs typeface="Times New Roman"/>
              </a:rPr>
              <a:t> </a:t>
            </a:r>
            <a:r>
              <a:rPr sz="2098" spc="-10" dirty="0">
                <a:latin typeface="Century Schoolbook"/>
                <a:cs typeface="Century Schoolbook"/>
              </a:rPr>
              <a:t>gráficas.</a:t>
            </a:r>
            <a:endParaRPr sz="20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416846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2980470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-5" dirty="0"/>
              <a:t>M</a:t>
            </a:r>
            <a:r>
              <a:rPr cap="small" dirty="0"/>
              <a:t>é</a:t>
            </a:r>
            <a:r>
              <a:rPr cap="small" spc="-10" dirty="0"/>
              <a:t>t</a:t>
            </a:r>
            <a:r>
              <a:rPr cap="small" dirty="0"/>
              <a:t>odos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ágeis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88470"/>
            <a:ext cx="7303358" cy="47809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710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5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insatisfação</a:t>
            </a:r>
            <a:r>
              <a:rPr sz="1898" spc="6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com</a:t>
            </a:r>
            <a:r>
              <a:rPr sz="1898" spc="5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6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overhead</a:t>
            </a:r>
            <a:r>
              <a:rPr sz="1898" spc="5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que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envolve</a:t>
            </a:r>
            <a:r>
              <a:rPr sz="1898" spc="5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os</a:t>
            </a:r>
            <a:r>
              <a:rPr sz="1898" spc="5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métodos</a:t>
            </a:r>
            <a:r>
              <a:rPr sz="1898" spc="50" dirty="0">
                <a:latin typeface="Times New Roman"/>
                <a:cs typeface="Times New Roman"/>
              </a:rPr>
              <a:t>  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projeto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software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dos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anos</a:t>
            </a:r>
            <a:r>
              <a:rPr sz="1898" spc="7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1980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1990</a:t>
            </a:r>
            <a:r>
              <a:rPr sz="1898" spc="8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levou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9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criação</a:t>
            </a:r>
            <a:r>
              <a:rPr sz="1898" spc="85" dirty="0">
                <a:latin typeface="Times New Roman"/>
                <a:cs typeface="Times New Roman"/>
              </a:rPr>
              <a:t> </a:t>
            </a:r>
            <a:r>
              <a:rPr sz="1898" spc="-25" dirty="0">
                <a:latin typeface="Century Schoolbook"/>
                <a:cs typeface="Century Schoolbook"/>
              </a:rPr>
              <a:t>de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métodos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ágeis.</a:t>
            </a:r>
            <a:r>
              <a:rPr sz="1898" spc="-2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Esses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métodos:</a:t>
            </a:r>
            <a:endParaRPr sz="1898">
              <a:latin typeface="Century Schoolbook"/>
              <a:cs typeface="Century Schoolbook"/>
            </a:endParaRPr>
          </a:p>
          <a:p>
            <a:pPr marL="652192" lvl="1" indent="-274708" algn="just">
              <a:spcBef>
                <a:spcPts val="1018"/>
              </a:spcBef>
              <a:buClr>
                <a:srgbClr val="94C600"/>
              </a:buClr>
              <a:buSzPct val="78125"/>
              <a:buFont typeface="Wingdings 2"/>
              <a:buChar char=""/>
              <a:tabLst>
                <a:tab pos="652192" algn="l"/>
              </a:tabLst>
            </a:pPr>
            <a:r>
              <a:rPr sz="1599" dirty="0">
                <a:latin typeface="Century Schoolbook"/>
                <a:cs typeface="Century Schoolbook"/>
              </a:rPr>
              <a:t>Têm</a:t>
            </a:r>
            <a:r>
              <a:rPr sz="1599" spc="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foco</a:t>
            </a:r>
            <a:r>
              <a:rPr sz="1599" spc="3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no</a:t>
            </a:r>
            <a:r>
              <a:rPr sz="1599" spc="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código</a:t>
            </a:r>
            <a:r>
              <a:rPr sz="1599" spc="4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ao</a:t>
            </a:r>
            <a:r>
              <a:rPr sz="1599" spc="2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invés</a:t>
            </a:r>
            <a:r>
              <a:rPr sz="1599" spc="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4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no</a:t>
            </a:r>
            <a:r>
              <a:rPr sz="1599" spc="1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projeto.</a:t>
            </a:r>
            <a:endParaRPr sz="1599">
              <a:latin typeface="Century Schoolbook"/>
              <a:cs typeface="Century Schoolbook"/>
            </a:endParaRPr>
          </a:p>
          <a:p>
            <a:pPr marL="651558" marR="6344" lvl="1" indent="-274073" algn="just">
              <a:lnSpc>
                <a:spcPct val="130000"/>
              </a:lnSpc>
              <a:spcBef>
                <a:spcPts val="384"/>
              </a:spcBef>
              <a:buClr>
                <a:srgbClr val="94C600"/>
              </a:buClr>
              <a:buSzPct val="78125"/>
              <a:buFont typeface="Wingdings 2"/>
              <a:buChar char=""/>
              <a:tabLst>
                <a:tab pos="652192" algn="l"/>
              </a:tabLst>
            </a:pPr>
            <a:r>
              <a:rPr sz="1599" dirty="0">
                <a:latin typeface="Century Schoolbook"/>
                <a:cs typeface="Century Schoolbook"/>
              </a:rPr>
              <a:t>São</a:t>
            </a:r>
            <a:r>
              <a:rPr sz="1599" spc="4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baseados</a:t>
            </a:r>
            <a:r>
              <a:rPr sz="1599" spc="4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em</a:t>
            </a:r>
            <a:r>
              <a:rPr sz="1599" spc="42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uma</a:t>
            </a:r>
            <a:r>
              <a:rPr sz="1599" spc="4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abordagem</a:t>
            </a:r>
            <a:r>
              <a:rPr sz="1599" spc="41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iterativa</a:t>
            </a:r>
            <a:r>
              <a:rPr sz="1599" spc="434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</a:t>
            </a:r>
            <a:r>
              <a:rPr sz="1599" spc="4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desenvolvimento</a:t>
            </a:r>
            <a:r>
              <a:rPr sz="1599" spc="430" dirty="0">
                <a:latin typeface="Times New Roman"/>
                <a:cs typeface="Times New Roman"/>
              </a:rPr>
              <a:t> </a:t>
            </a:r>
            <a:r>
              <a:rPr sz="1599" spc="-25" dirty="0">
                <a:latin typeface="Century Schoolbook"/>
                <a:cs typeface="Century Schoolbook"/>
              </a:rPr>
              <a:t>de</a:t>
            </a:r>
            <a:r>
              <a:rPr sz="1599" spc="-2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software.</a:t>
            </a:r>
            <a:endParaRPr sz="1599">
              <a:latin typeface="Century Schoolbook"/>
              <a:cs typeface="Century Schoolbook"/>
            </a:endParaRPr>
          </a:p>
          <a:p>
            <a:pPr marL="651558" marR="5075" lvl="1" indent="-274073" algn="just">
              <a:lnSpc>
                <a:spcPct val="130000"/>
              </a:lnSpc>
              <a:spcBef>
                <a:spcPts val="380"/>
              </a:spcBef>
              <a:buClr>
                <a:srgbClr val="94C600"/>
              </a:buClr>
              <a:buSzPct val="78125"/>
              <a:buFont typeface="Wingdings 2"/>
              <a:buChar char=""/>
              <a:tabLst>
                <a:tab pos="652192" algn="l"/>
              </a:tabLst>
            </a:pPr>
            <a:r>
              <a:rPr sz="1599" dirty="0">
                <a:latin typeface="Century Schoolbook"/>
                <a:cs typeface="Century Schoolbook"/>
              </a:rPr>
              <a:t>São</a:t>
            </a:r>
            <a:r>
              <a:rPr sz="1599" spc="204" dirty="0">
                <a:latin typeface="Times New Roman"/>
                <a:cs typeface="Times New Roman"/>
              </a:rPr>
              <a:t>   </a:t>
            </a:r>
            <a:r>
              <a:rPr sz="1599" dirty="0">
                <a:latin typeface="Century Schoolbook"/>
                <a:cs typeface="Century Schoolbook"/>
              </a:rPr>
              <a:t>planejados</a:t>
            </a:r>
            <a:r>
              <a:rPr sz="1599" spc="204" dirty="0">
                <a:latin typeface="Times New Roman"/>
                <a:cs typeface="Times New Roman"/>
              </a:rPr>
              <a:t>   </a:t>
            </a:r>
            <a:r>
              <a:rPr sz="1599" dirty="0">
                <a:latin typeface="Century Schoolbook"/>
                <a:cs typeface="Century Schoolbook"/>
              </a:rPr>
              <a:t>para</a:t>
            </a:r>
            <a:r>
              <a:rPr sz="1599" spc="210" dirty="0">
                <a:latin typeface="Times New Roman"/>
                <a:cs typeface="Times New Roman"/>
              </a:rPr>
              <a:t>   </a:t>
            </a:r>
            <a:r>
              <a:rPr sz="1599" dirty="0">
                <a:latin typeface="Century Schoolbook"/>
                <a:cs typeface="Century Schoolbook"/>
              </a:rPr>
              <a:t>entregar</a:t>
            </a:r>
            <a:r>
              <a:rPr sz="1599" spc="204" dirty="0">
                <a:latin typeface="Times New Roman"/>
                <a:cs typeface="Times New Roman"/>
              </a:rPr>
              <a:t>   </a:t>
            </a:r>
            <a:r>
              <a:rPr sz="1599" dirty="0">
                <a:latin typeface="Century Schoolbook"/>
                <a:cs typeface="Century Schoolbook"/>
              </a:rPr>
              <a:t>rapidamente</a:t>
            </a:r>
            <a:r>
              <a:rPr sz="1599" spc="204" dirty="0">
                <a:latin typeface="Times New Roman"/>
                <a:cs typeface="Times New Roman"/>
              </a:rPr>
              <a:t>   </a:t>
            </a:r>
            <a:r>
              <a:rPr sz="1599" dirty="0">
                <a:latin typeface="Century Schoolbook"/>
                <a:cs typeface="Century Schoolbook"/>
              </a:rPr>
              <a:t>o</a:t>
            </a:r>
            <a:r>
              <a:rPr sz="1599" spc="204" dirty="0">
                <a:latin typeface="Times New Roman"/>
                <a:cs typeface="Times New Roman"/>
              </a:rPr>
              <a:t>   </a:t>
            </a:r>
            <a:r>
              <a:rPr sz="1599" dirty="0">
                <a:latin typeface="Century Schoolbook"/>
                <a:cs typeface="Century Schoolbook"/>
              </a:rPr>
              <a:t>software</a:t>
            </a:r>
            <a:r>
              <a:rPr sz="1599" spc="204" dirty="0">
                <a:latin typeface="Times New Roman"/>
                <a:cs typeface="Times New Roman"/>
              </a:rPr>
              <a:t>   </a:t>
            </a:r>
            <a:r>
              <a:rPr sz="1599" spc="-25" dirty="0">
                <a:latin typeface="Century Schoolbook"/>
                <a:cs typeface="Century Schoolbook"/>
              </a:rPr>
              <a:t>em</a:t>
            </a:r>
            <a:r>
              <a:rPr sz="1599" spc="-2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funcionamento</a:t>
            </a:r>
            <a:r>
              <a:rPr sz="1599" spc="265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e</a:t>
            </a:r>
            <a:r>
              <a:rPr sz="1599" spc="26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evoluí-</a:t>
            </a:r>
            <a:r>
              <a:rPr sz="1599" dirty="0">
                <a:latin typeface="Century Schoolbook"/>
                <a:cs typeface="Century Schoolbook"/>
              </a:rPr>
              <a:t>lo</a:t>
            </a:r>
            <a:r>
              <a:rPr sz="1599" spc="254" dirty="0">
                <a:latin typeface="Times New Roman"/>
                <a:cs typeface="Times New Roman"/>
              </a:rPr>
              <a:t>  </a:t>
            </a:r>
            <a:r>
              <a:rPr sz="1599" dirty="0">
                <a:latin typeface="Century Schoolbook"/>
                <a:cs typeface="Century Schoolbook"/>
              </a:rPr>
              <a:t>rapidamente</a:t>
            </a:r>
            <a:r>
              <a:rPr sz="1599" spc="27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para</a:t>
            </a:r>
            <a:r>
              <a:rPr sz="1599" spc="265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alcançar</a:t>
            </a:r>
            <a:r>
              <a:rPr sz="1599" spc="26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os</a:t>
            </a:r>
            <a:r>
              <a:rPr sz="1599" spc="260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requisitos</a:t>
            </a:r>
            <a:r>
              <a:rPr sz="1599" spc="-10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em</a:t>
            </a:r>
            <a:r>
              <a:rPr sz="1599" dirty="0">
                <a:latin typeface="Times New Roman"/>
                <a:cs typeface="Times New Roman"/>
              </a:rPr>
              <a:t> </a:t>
            </a:r>
            <a:r>
              <a:rPr sz="1599" dirty="0">
                <a:latin typeface="Century Schoolbook"/>
                <a:cs typeface="Century Schoolbook"/>
              </a:rPr>
              <a:t>constante</a:t>
            </a:r>
            <a:r>
              <a:rPr sz="1599" spc="5" dirty="0">
                <a:latin typeface="Times New Roman"/>
                <a:cs typeface="Times New Roman"/>
              </a:rPr>
              <a:t> </a:t>
            </a:r>
            <a:r>
              <a:rPr sz="1599" spc="-10" dirty="0">
                <a:latin typeface="Century Schoolbook"/>
                <a:cs typeface="Century Schoolbook"/>
              </a:rPr>
              <a:t>mudança.</a:t>
            </a:r>
            <a:endParaRPr sz="1599">
              <a:latin typeface="Century Schoolbook"/>
              <a:cs typeface="Century Schoolbook"/>
            </a:endParaRPr>
          </a:p>
          <a:p>
            <a:pPr marL="286762" marR="5710" indent="-274073" algn="just">
              <a:lnSpc>
                <a:spcPct val="130000"/>
              </a:lnSpc>
              <a:spcBef>
                <a:spcPts val="540"/>
              </a:spcBef>
              <a:buClr>
                <a:srgbClr val="94C600"/>
              </a:buClr>
              <a:buSzPct val="68421"/>
              <a:buFont typeface="Wingdings"/>
              <a:buChar char=""/>
              <a:tabLst>
                <a:tab pos="286762" algn="l"/>
              </a:tabLst>
            </a:pP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objetivo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dos</a:t>
            </a:r>
            <a:r>
              <a:rPr sz="1898" spc="21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métodos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ágeis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é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reduzir</a:t>
            </a:r>
            <a:r>
              <a:rPr sz="1898" spc="21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</a:t>
            </a:r>
            <a:r>
              <a:rPr sz="1898" spc="22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overhead</a:t>
            </a:r>
            <a:r>
              <a:rPr sz="1898" spc="220" dirty="0">
                <a:latin typeface="Times New Roman"/>
                <a:cs typeface="Times New Roman"/>
              </a:rPr>
              <a:t>  </a:t>
            </a:r>
            <a:r>
              <a:rPr sz="1898" spc="-25" dirty="0">
                <a:latin typeface="Century Schoolbook"/>
                <a:cs typeface="Century Schoolbook"/>
              </a:rPr>
              <a:t>nos</a:t>
            </a:r>
            <a:r>
              <a:rPr sz="1898" spc="-2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processos</a:t>
            </a:r>
            <a:r>
              <a:rPr sz="1898" spc="2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de</a:t>
            </a:r>
            <a:r>
              <a:rPr sz="1898" spc="24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software</a:t>
            </a:r>
            <a:r>
              <a:rPr sz="1898" spc="2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(ex.</a:t>
            </a:r>
            <a:r>
              <a:rPr sz="1898" spc="2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limitando</a:t>
            </a:r>
            <a:r>
              <a:rPr sz="1898" spc="26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</a:t>
            </a:r>
            <a:r>
              <a:rPr sz="1898" spc="25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documentação)</a:t>
            </a:r>
            <a:r>
              <a:rPr sz="1898" spc="250" dirty="0">
                <a:latin typeface="Times New Roman"/>
                <a:cs typeface="Times New Roman"/>
              </a:rPr>
              <a:t>  </a:t>
            </a:r>
            <a:r>
              <a:rPr sz="1898" spc="-50" dirty="0">
                <a:latin typeface="Century Schoolbook"/>
                <a:cs typeface="Century Schoolbook"/>
              </a:rPr>
              <a:t>e</a:t>
            </a:r>
            <a:r>
              <a:rPr sz="1898" spc="-5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permitir</a:t>
            </a:r>
            <a:r>
              <a:rPr sz="1898" spc="7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uma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resposta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rápida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aos</a:t>
            </a:r>
            <a:r>
              <a:rPr sz="1898" spc="75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requisitos</a:t>
            </a:r>
            <a:r>
              <a:rPr sz="1898" spc="80" dirty="0">
                <a:latin typeface="Times New Roman"/>
                <a:cs typeface="Times New Roman"/>
              </a:rPr>
              <a:t>  </a:t>
            </a:r>
            <a:r>
              <a:rPr sz="1898" dirty="0">
                <a:latin typeface="Century Schoolbook"/>
                <a:cs typeface="Century Schoolbook"/>
              </a:rPr>
              <a:t>em</a:t>
            </a:r>
            <a:r>
              <a:rPr sz="1898" spc="75" dirty="0">
                <a:latin typeface="Times New Roman"/>
                <a:cs typeface="Times New Roman"/>
              </a:rPr>
              <a:t>  </a:t>
            </a:r>
            <a:r>
              <a:rPr sz="1898" spc="-10" dirty="0">
                <a:latin typeface="Century Schoolbook"/>
                <a:cs typeface="Century Schoolbook"/>
              </a:rPr>
              <a:t>constante</a:t>
            </a:r>
            <a:r>
              <a:rPr sz="1898" spc="-1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mudança</a:t>
            </a:r>
            <a:r>
              <a:rPr sz="1898" spc="-15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sem</a:t>
            </a:r>
            <a:r>
              <a:rPr sz="1898" spc="-30" dirty="0">
                <a:latin typeface="Times New Roman"/>
                <a:cs typeface="Times New Roman"/>
              </a:rPr>
              <a:t> </a:t>
            </a:r>
            <a:r>
              <a:rPr sz="1898" dirty="0">
                <a:latin typeface="Century Schoolbook"/>
                <a:cs typeface="Century Schoolbook"/>
              </a:rPr>
              <a:t>retrabalho</a:t>
            </a:r>
            <a:r>
              <a:rPr sz="1898" spc="-5" dirty="0">
                <a:latin typeface="Times New Roman"/>
                <a:cs typeface="Times New Roman"/>
              </a:rPr>
              <a:t> </a:t>
            </a:r>
            <a:r>
              <a:rPr sz="1898" spc="-10" dirty="0">
                <a:latin typeface="Century Schoolbook"/>
                <a:cs typeface="Century Schoolbook"/>
              </a:rPr>
              <a:t>excessivo.</a:t>
            </a:r>
            <a:endParaRPr sz="18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235878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3099105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-5" dirty="0"/>
              <a:t>M</a:t>
            </a:r>
            <a:r>
              <a:rPr cap="small" dirty="0"/>
              <a:t>ani</a:t>
            </a:r>
            <a:r>
              <a:rPr cap="small" spc="-10" dirty="0"/>
              <a:t>f</a:t>
            </a:r>
            <a:r>
              <a:rPr cap="small" dirty="0"/>
              <a:t>e</a:t>
            </a:r>
            <a:r>
              <a:rPr cap="small" spc="-5" dirty="0"/>
              <a:t>s</a:t>
            </a:r>
            <a:r>
              <a:rPr cap="small" spc="-10" dirty="0"/>
              <a:t>t</a:t>
            </a:r>
            <a:r>
              <a:rPr cap="small" dirty="0"/>
              <a:t>o</a:t>
            </a:r>
            <a:r>
              <a:rPr sz="2398" spc="275" dirty="0">
                <a:latin typeface="Times New Roman"/>
                <a:cs typeface="Times New Roman"/>
              </a:rPr>
              <a:t> </a:t>
            </a:r>
            <a:r>
              <a:rPr cap="small" dirty="0"/>
              <a:t>ágil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86646"/>
            <a:ext cx="7302722" cy="463628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Estamos</a:t>
            </a:r>
            <a:r>
              <a:rPr sz="1998" spc="31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descobrindo</a:t>
            </a:r>
            <a:r>
              <a:rPr sz="1998" spc="32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melhores</a:t>
            </a:r>
            <a:r>
              <a:rPr sz="1998" spc="31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formas</a:t>
            </a:r>
            <a:r>
              <a:rPr sz="1998" spc="32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320" dirty="0">
                <a:latin typeface="Times New Roman"/>
                <a:cs typeface="Times New Roman"/>
              </a:rPr>
              <a:t>  </a:t>
            </a:r>
            <a:r>
              <a:rPr sz="1998" spc="-10" dirty="0">
                <a:latin typeface="Century Schoolbook"/>
                <a:cs typeface="Century Schoolbook"/>
              </a:rPr>
              <a:t>desenvolver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softwares</a:t>
            </a:r>
            <a:r>
              <a:rPr sz="1998" spc="2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2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ajudar</a:t>
            </a:r>
            <a:r>
              <a:rPr sz="1998" spc="229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outros</a:t>
            </a:r>
            <a:r>
              <a:rPr sz="1998" spc="2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229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fazê-</a:t>
            </a:r>
            <a:r>
              <a:rPr sz="1998" dirty="0">
                <a:latin typeface="Century Schoolbook"/>
                <a:cs typeface="Century Schoolbook"/>
              </a:rPr>
              <a:t>lo</a:t>
            </a:r>
            <a:r>
              <a:rPr sz="1998" spc="2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também.</a:t>
            </a:r>
            <a:r>
              <a:rPr sz="1998" spc="2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Através</a:t>
            </a:r>
            <a:r>
              <a:rPr sz="1998" spc="24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desse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trabalho,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valorizamos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spc="-20" dirty="0">
                <a:latin typeface="Century Schoolbook"/>
                <a:cs typeface="Century Schoolbook"/>
              </a:rPr>
              <a:t>mais:</a:t>
            </a:r>
            <a:endParaRPr sz="1998">
              <a:latin typeface="Century Schoolbook"/>
              <a:cs typeface="Century Schoolbook"/>
            </a:endParaRPr>
          </a:p>
          <a:p>
            <a:pPr marL="651558" marR="246793" lvl="1" indent="-274073">
              <a:spcBef>
                <a:spcPts val="784"/>
              </a:spcBef>
              <a:buClr>
                <a:srgbClr val="94C600"/>
              </a:buClr>
              <a:buSzPct val="80555"/>
              <a:buFont typeface="Wingdings 2"/>
              <a:buChar char=""/>
              <a:tabLst>
                <a:tab pos="651558" algn="l"/>
                <a:tab pos="652192" algn="l"/>
              </a:tabLst>
            </a:pPr>
            <a:r>
              <a:rPr sz="1798" dirty="0">
                <a:latin typeface="Century Schoolbook"/>
                <a:cs typeface="Century Schoolbook"/>
              </a:rPr>
              <a:t>Indivíduos</a:t>
            </a:r>
            <a:r>
              <a:rPr sz="1798" spc="2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e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interações,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ao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invés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4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processos</a:t>
            </a:r>
            <a:r>
              <a:rPr sz="1798" spc="6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e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ferramentas.</a:t>
            </a:r>
            <a:r>
              <a:rPr sz="1798" spc="-1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Softwares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que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já</a:t>
            </a:r>
            <a:r>
              <a:rPr sz="1798" spc="5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funcionam</a:t>
            </a:r>
            <a:r>
              <a:rPr sz="1798" spc="3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ao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invés</a:t>
            </a:r>
            <a:r>
              <a:rPr sz="1798" spc="2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45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documentação</a:t>
            </a:r>
            <a:r>
              <a:rPr sz="1798" spc="-10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abrangente.</a:t>
            </a:r>
            <a:endParaRPr sz="1798">
              <a:latin typeface="Century Schoolbook"/>
              <a:cs typeface="Century Schoolbook"/>
            </a:endParaRPr>
          </a:p>
          <a:p>
            <a:pPr lvl="1">
              <a:spcBef>
                <a:spcPts val="5"/>
              </a:spcBef>
              <a:buClr>
                <a:srgbClr val="94C600"/>
              </a:buClr>
              <a:buFont typeface="Wingdings 2"/>
              <a:buChar char=""/>
            </a:pPr>
            <a:endParaRPr sz="2148">
              <a:latin typeface="Century Schoolbook"/>
              <a:cs typeface="Century Schoolbook"/>
            </a:endParaRPr>
          </a:p>
          <a:p>
            <a:pPr marL="652192" lvl="1" indent="-274708">
              <a:spcBef>
                <a:spcPts val="5"/>
              </a:spcBef>
              <a:buClr>
                <a:srgbClr val="94C600"/>
              </a:buClr>
              <a:buSzPct val="80555"/>
              <a:buFont typeface="Wingdings 2"/>
              <a:buChar char=""/>
              <a:tabLst>
                <a:tab pos="651558" algn="l"/>
                <a:tab pos="652192" algn="l"/>
              </a:tabLst>
            </a:pPr>
            <a:r>
              <a:rPr sz="1798" dirty="0">
                <a:latin typeface="Century Schoolbook"/>
                <a:cs typeface="Century Schoolbook"/>
              </a:rPr>
              <a:t>Colaboração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do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cliente</a:t>
            </a:r>
            <a:r>
              <a:rPr sz="1798" spc="3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ao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invés</a:t>
            </a:r>
            <a:r>
              <a:rPr sz="1798" spc="2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negociação</a:t>
            </a:r>
            <a:r>
              <a:rPr sz="1798" spc="30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contratual.</a:t>
            </a:r>
            <a:endParaRPr sz="1798">
              <a:latin typeface="Century Schoolbook"/>
              <a:cs typeface="Century Schoolbook"/>
            </a:endParaRPr>
          </a:p>
          <a:p>
            <a:pPr lvl="1">
              <a:spcBef>
                <a:spcPts val="5"/>
              </a:spcBef>
              <a:buClr>
                <a:srgbClr val="94C600"/>
              </a:buClr>
              <a:buFont typeface="Wingdings 2"/>
              <a:buChar char=""/>
            </a:pPr>
            <a:endParaRPr sz="2148">
              <a:latin typeface="Century Schoolbook"/>
              <a:cs typeface="Century Schoolbook"/>
            </a:endParaRPr>
          </a:p>
          <a:p>
            <a:pPr marL="652192" lvl="1" indent="-274708">
              <a:buClr>
                <a:srgbClr val="94C600"/>
              </a:buClr>
              <a:buSzPct val="80555"/>
              <a:buFont typeface="Wingdings 2"/>
              <a:buChar char=""/>
              <a:tabLst>
                <a:tab pos="651558" algn="l"/>
                <a:tab pos="652192" algn="l"/>
              </a:tabLst>
            </a:pPr>
            <a:r>
              <a:rPr sz="1798" dirty="0">
                <a:latin typeface="Century Schoolbook"/>
                <a:cs typeface="Century Schoolbook"/>
              </a:rPr>
              <a:t>Resposta</a:t>
            </a:r>
            <a:r>
              <a:rPr sz="1798" spc="6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mudanças</a:t>
            </a:r>
            <a:r>
              <a:rPr sz="1798" spc="5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ao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invés</a:t>
            </a:r>
            <a:r>
              <a:rPr sz="1798" spc="2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de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seguir</a:t>
            </a:r>
            <a:r>
              <a:rPr sz="1798" spc="35" dirty="0">
                <a:latin typeface="Times New Roman"/>
                <a:cs typeface="Times New Roman"/>
              </a:rPr>
              <a:t> </a:t>
            </a:r>
            <a:r>
              <a:rPr sz="1798" dirty="0">
                <a:latin typeface="Century Schoolbook"/>
                <a:cs typeface="Century Schoolbook"/>
              </a:rPr>
              <a:t>um</a:t>
            </a:r>
            <a:r>
              <a:rPr sz="1798" spc="40" dirty="0">
                <a:latin typeface="Times New Roman"/>
                <a:cs typeface="Times New Roman"/>
              </a:rPr>
              <a:t> </a:t>
            </a:r>
            <a:r>
              <a:rPr sz="1798" spc="-10" dirty="0">
                <a:latin typeface="Century Schoolbook"/>
                <a:cs typeface="Century Schoolbook"/>
              </a:rPr>
              <a:t>plano.</a:t>
            </a:r>
            <a:endParaRPr sz="1798">
              <a:latin typeface="Century Schoolbook"/>
              <a:cs typeface="Century Schoolbook"/>
            </a:endParaRPr>
          </a:p>
          <a:p>
            <a:pPr lvl="1">
              <a:lnSpc>
                <a:spcPct val="100000"/>
              </a:lnSpc>
              <a:buClr>
                <a:srgbClr val="94C600"/>
              </a:buClr>
              <a:buFont typeface="Wingdings 2"/>
              <a:buChar char=""/>
            </a:pPr>
            <a:endParaRPr sz="20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143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significa</a:t>
            </a:r>
            <a:r>
              <a:rPr sz="1998" spc="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existe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valor</a:t>
            </a:r>
            <a:r>
              <a:rPr sz="1998" spc="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nos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itens</a:t>
            </a:r>
            <a:r>
              <a:rPr sz="1998" spc="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direita,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mas</a:t>
            </a:r>
            <a:r>
              <a:rPr sz="1998" spc="65" dirty="0">
                <a:latin typeface="Times New Roman"/>
                <a:cs typeface="Times New Roman"/>
              </a:rPr>
              <a:t> </a:t>
            </a:r>
            <a:r>
              <a:rPr sz="1998" spc="-25" dirty="0">
                <a:latin typeface="Century Schoolbook"/>
                <a:cs typeface="Century Schoolbook"/>
              </a:rPr>
              <a:t>que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valorizamos</a:t>
            </a:r>
            <a:r>
              <a:rPr sz="1998" spc="-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mais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itens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esquerda.</a:t>
            </a:r>
            <a:endParaRPr sz="19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272175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5" y="896298"/>
            <a:ext cx="6526837" cy="482154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spc="-5" dirty="0"/>
              <a:t>O</a:t>
            </a:r>
            <a:r>
              <a:rPr cap="small" dirty="0"/>
              <a:t>s</a:t>
            </a:r>
            <a:r>
              <a:rPr sz="2398" b="0" spc="270" dirty="0">
                <a:latin typeface="Times New Roman"/>
                <a:cs typeface="Times New Roman"/>
              </a:rPr>
              <a:t> </a:t>
            </a:r>
            <a:r>
              <a:rPr cap="small" dirty="0"/>
              <a:t>prin</a:t>
            </a:r>
            <a:r>
              <a:rPr cap="small" spc="5" dirty="0"/>
              <a:t>c</a:t>
            </a:r>
            <a:r>
              <a:rPr cap="small" dirty="0"/>
              <a:t>ípi</a:t>
            </a:r>
            <a:r>
              <a:rPr cap="small" spc="-10" dirty="0"/>
              <a:t>o</a:t>
            </a:r>
            <a:r>
              <a:rPr cap="small" dirty="0"/>
              <a:t>s</a:t>
            </a:r>
            <a:r>
              <a:rPr sz="2398" b="0" spc="235" dirty="0">
                <a:latin typeface="Times New Roman"/>
                <a:cs typeface="Times New Roman"/>
              </a:rPr>
              <a:t> </a:t>
            </a:r>
            <a:r>
              <a:rPr cap="small" dirty="0"/>
              <a:t>dos</a:t>
            </a:r>
            <a:r>
              <a:rPr sz="2398" b="0" spc="245" dirty="0">
                <a:latin typeface="Times New Roman"/>
                <a:cs typeface="Times New Roman"/>
              </a:rPr>
              <a:t> </a:t>
            </a:r>
            <a:r>
              <a:rPr cap="small" spc="-5" dirty="0"/>
              <a:t>m</a:t>
            </a:r>
            <a:r>
              <a:rPr cap="small" dirty="0"/>
              <a:t>é</a:t>
            </a:r>
            <a:r>
              <a:rPr cap="small" spc="-10" dirty="0"/>
              <a:t>t</a:t>
            </a:r>
            <a:r>
              <a:rPr cap="small" dirty="0"/>
              <a:t>odos</a:t>
            </a:r>
            <a:r>
              <a:rPr sz="2398" b="0" spc="254" dirty="0">
                <a:latin typeface="Times New Roman"/>
                <a:cs typeface="Times New Roman"/>
              </a:rPr>
              <a:t> </a:t>
            </a:r>
            <a:r>
              <a:rPr cap="small" dirty="0"/>
              <a:t>ágeis</a:t>
            </a:r>
            <a:endParaRPr sz="2398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9453" y="1775340"/>
            <a:ext cx="8512802" cy="467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9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6875129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Ap</a:t>
            </a:r>
            <a:r>
              <a:rPr cap="small" spc="-10" dirty="0"/>
              <a:t>l</a:t>
            </a:r>
            <a:r>
              <a:rPr cap="small" dirty="0"/>
              <a:t>ica</a:t>
            </a:r>
            <a:r>
              <a:rPr cap="small" spc="5" dirty="0"/>
              <a:t>b</a:t>
            </a:r>
            <a:r>
              <a:rPr cap="small" dirty="0"/>
              <a:t>i</a:t>
            </a:r>
            <a:r>
              <a:rPr cap="small" spc="-10" dirty="0"/>
              <a:t>l</a:t>
            </a:r>
            <a:r>
              <a:rPr cap="small" dirty="0"/>
              <a:t>idade</a:t>
            </a:r>
            <a:r>
              <a:rPr sz="2398" spc="240" dirty="0">
                <a:latin typeface="Times New Roman"/>
                <a:cs typeface="Times New Roman"/>
              </a:rPr>
              <a:t> </a:t>
            </a:r>
            <a:r>
              <a:rPr cap="small" dirty="0"/>
              <a:t>dos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spc="-5" dirty="0"/>
              <a:t>m</a:t>
            </a:r>
            <a:r>
              <a:rPr cap="small" dirty="0"/>
              <a:t>é</a:t>
            </a:r>
            <a:r>
              <a:rPr cap="small" spc="-10" dirty="0"/>
              <a:t>t</a:t>
            </a:r>
            <a:r>
              <a:rPr cap="small" dirty="0"/>
              <a:t>odos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ágeis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86646"/>
            <a:ext cx="7303358" cy="45322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Desenvolvimento</a:t>
            </a:r>
            <a:r>
              <a:rPr sz="1998" spc="45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4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produto,</a:t>
            </a:r>
            <a:r>
              <a:rPr sz="1998" spc="44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quando</a:t>
            </a:r>
            <a:r>
              <a:rPr sz="1998" spc="45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44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empresa</a:t>
            </a:r>
            <a:r>
              <a:rPr sz="1998" spc="440" dirty="0">
                <a:latin typeface="Times New Roman"/>
                <a:cs typeface="Times New Roman"/>
              </a:rPr>
              <a:t>  </a:t>
            </a:r>
            <a:r>
              <a:rPr sz="1998" spc="-25" dirty="0">
                <a:latin typeface="Century Schoolbook"/>
                <a:cs typeface="Century Schoolbook"/>
              </a:rPr>
              <a:t>de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software</a:t>
            </a:r>
            <a:r>
              <a:rPr sz="1998" spc="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está</a:t>
            </a:r>
            <a:r>
              <a:rPr sz="1998" spc="10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desenvolvendo</a:t>
            </a:r>
            <a:r>
              <a:rPr sz="1998" spc="1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um</a:t>
            </a:r>
            <a:r>
              <a:rPr sz="1998" spc="8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produto</a:t>
            </a:r>
            <a:r>
              <a:rPr sz="1998" spc="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pequeno</a:t>
            </a:r>
            <a:r>
              <a:rPr sz="1998" spc="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ou</a:t>
            </a:r>
            <a:r>
              <a:rPr sz="1998" spc="10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médio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para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venda.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Desenvolvimento</a:t>
            </a:r>
            <a:r>
              <a:rPr sz="1998" spc="2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2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sistema</a:t>
            </a:r>
            <a:r>
              <a:rPr sz="1998" spc="2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personalizado</a:t>
            </a:r>
            <a:r>
              <a:rPr sz="1998" spc="29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dentro</a:t>
            </a:r>
            <a:r>
              <a:rPr sz="1998" spc="28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295" dirty="0">
                <a:latin typeface="Times New Roman"/>
                <a:cs typeface="Times New Roman"/>
              </a:rPr>
              <a:t> </a:t>
            </a:r>
            <a:r>
              <a:rPr sz="1998" spc="-25" dirty="0">
                <a:latin typeface="Century Schoolbook"/>
                <a:cs typeface="Century Schoolbook"/>
              </a:rPr>
              <a:t>uma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organização,</a:t>
            </a:r>
            <a:r>
              <a:rPr sz="1998" spc="18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quando</a:t>
            </a:r>
            <a:r>
              <a:rPr sz="1998" spc="18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existe</a:t>
            </a:r>
            <a:r>
              <a:rPr sz="1998" spc="42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um</a:t>
            </a:r>
            <a:r>
              <a:rPr sz="1998" spc="18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compromisso</a:t>
            </a:r>
            <a:r>
              <a:rPr sz="1998" spc="19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claro</a:t>
            </a:r>
            <a:r>
              <a:rPr sz="1998" spc="185" dirty="0">
                <a:latin typeface="Times New Roman"/>
                <a:cs typeface="Times New Roman"/>
              </a:rPr>
              <a:t>  </a:t>
            </a:r>
            <a:r>
              <a:rPr sz="1998" spc="-25" dirty="0">
                <a:latin typeface="Century Schoolbook"/>
                <a:cs typeface="Century Schoolbook"/>
              </a:rPr>
              <a:t>do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cliente</a:t>
            </a:r>
            <a:r>
              <a:rPr sz="1998" spc="4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4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</a:t>
            </a:r>
            <a:r>
              <a:rPr sz="1998" spc="4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envolver</a:t>
            </a:r>
            <a:r>
              <a:rPr sz="1998" spc="4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no</a:t>
            </a:r>
            <a:r>
              <a:rPr sz="1998" spc="459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processo</a:t>
            </a:r>
            <a:r>
              <a:rPr sz="1998" spc="4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</a:t>
            </a:r>
            <a:r>
              <a:rPr sz="1998" spc="46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desenvolvimento</a:t>
            </a:r>
            <a:r>
              <a:rPr sz="1998" spc="450" dirty="0">
                <a:latin typeface="Times New Roman"/>
                <a:cs typeface="Times New Roman"/>
              </a:rPr>
              <a:t> </a:t>
            </a:r>
            <a:r>
              <a:rPr sz="1998" spc="-50" dirty="0">
                <a:latin typeface="Century Schoolbook"/>
                <a:cs typeface="Century Schoolbook"/>
              </a:rPr>
              <a:t>e</a:t>
            </a:r>
            <a:r>
              <a:rPr sz="1998" spc="-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quando</a:t>
            </a:r>
            <a:r>
              <a:rPr sz="1998" spc="5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não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existem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muitas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regras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regulamentos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externos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afetam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software.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 algn="just">
              <a:lnSpc>
                <a:spcPct val="13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Devido</a:t>
            </a:r>
            <a:r>
              <a:rPr sz="1998" spc="45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ao</a:t>
            </a:r>
            <a:r>
              <a:rPr sz="1998" spc="450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foco</a:t>
            </a:r>
            <a:r>
              <a:rPr sz="1998" spc="459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44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equipes</a:t>
            </a:r>
            <a:r>
              <a:rPr sz="1998" spc="45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pequenas</a:t>
            </a:r>
            <a:r>
              <a:rPr sz="1998" spc="455" dirty="0">
                <a:latin typeface="Times New Roman"/>
                <a:cs typeface="Times New Roman"/>
              </a:rPr>
              <a:t>  </a:t>
            </a:r>
            <a:r>
              <a:rPr sz="1998" dirty="0">
                <a:latin typeface="Century Schoolbook"/>
                <a:cs typeface="Century Schoolbook"/>
              </a:rPr>
              <a:t>e</a:t>
            </a:r>
            <a:r>
              <a:rPr sz="1998" spc="450" dirty="0">
                <a:latin typeface="Times New Roman"/>
                <a:cs typeface="Times New Roman"/>
              </a:rPr>
              <a:t>  </a:t>
            </a:r>
            <a:r>
              <a:rPr sz="1998" spc="-10" dirty="0">
                <a:latin typeface="Century Schoolbook"/>
                <a:cs typeface="Century Schoolbook"/>
              </a:rPr>
              <a:t>fortemente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integradas,</a:t>
            </a:r>
            <a:r>
              <a:rPr sz="1998" spc="18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existem</a:t>
            </a:r>
            <a:r>
              <a:rPr sz="1998" spc="18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problemas</a:t>
            </a:r>
            <a:r>
              <a:rPr sz="1998" spc="180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na</a:t>
            </a:r>
            <a:r>
              <a:rPr sz="1998" spc="185" dirty="0">
                <a:latin typeface="Times New Roman"/>
                <a:cs typeface="Times New Roman"/>
              </a:rPr>
              <a:t>   </a:t>
            </a:r>
            <a:r>
              <a:rPr sz="1998" dirty="0">
                <a:latin typeface="Century Schoolbook"/>
                <a:cs typeface="Century Schoolbook"/>
              </a:rPr>
              <a:t>escalabilidade</a:t>
            </a:r>
            <a:r>
              <a:rPr sz="1998" spc="185" dirty="0">
                <a:latin typeface="Times New Roman"/>
                <a:cs typeface="Times New Roman"/>
              </a:rPr>
              <a:t>   </a:t>
            </a:r>
            <a:r>
              <a:rPr sz="1998" spc="-25" dirty="0">
                <a:latin typeface="Century Schoolbook"/>
                <a:cs typeface="Century Schoolbook"/>
              </a:rPr>
              <a:t>de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métodos</a:t>
            </a:r>
            <a:r>
              <a:rPr sz="1998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ágeis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em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sistemas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grandes.</a:t>
            </a:r>
            <a:endParaRPr sz="19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349973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3676" y="454488"/>
            <a:ext cx="6122716" cy="1365776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689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Pro</a:t>
            </a:r>
            <a:r>
              <a:rPr cap="small" spc="5" dirty="0"/>
              <a:t>b</a:t>
            </a:r>
            <a:r>
              <a:rPr cap="small" spc="-10" dirty="0"/>
              <a:t>l</a:t>
            </a:r>
            <a:r>
              <a:rPr cap="small" dirty="0"/>
              <a:t>e</a:t>
            </a:r>
            <a:r>
              <a:rPr cap="small" spc="-5" dirty="0"/>
              <a:t>m</a:t>
            </a:r>
            <a:r>
              <a:rPr cap="small" dirty="0"/>
              <a:t>as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spc="5" dirty="0"/>
              <a:t>c</a:t>
            </a:r>
            <a:r>
              <a:rPr cap="small" dirty="0"/>
              <a:t>om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spc="-5" dirty="0"/>
              <a:t>m</a:t>
            </a:r>
            <a:r>
              <a:rPr cap="small" dirty="0"/>
              <a:t>é</a:t>
            </a:r>
            <a:r>
              <a:rPr cap="small" spc="-10" dirty="0"/>
              <a:t>t</a:t>
            </a:r>
            <a:r>
              <a:rPr cap="small" dirty="0"/>
              <a:t>odos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dirty="0"/>
              <a:t>ágeis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6" y="1579027"/>
            <a:ext cx="7303992" cy="4166821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710" indent="-274073">
              <a:lnSpc>
                <a:spcPct val="140000"/>
              </a:lnSpc>
              <a:spcBef>
                <a:spcPts val="100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Pode</a:t>
            </a:r>
            <a:r>
              <a:rPr sz="1998" spc="3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ser</a:t>
            </a:r>
            <a:r>
              <a:rPr sz="1998" spc="3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difícil</a:t>
            </a:r>
            <a:r>
              <a:rPr sz="1998" spc="40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manter</a:t>
            </a:r>
            <a:r>
              <a:rPr sz="1998" spc="3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39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interesse</a:t>
            </a:r>
            <a:r>
              <a:rPr sz="1998" spc="409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dos</a:t>
            </a:r>
            <a:r>
              <a:rPr sz="1998" spc="40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clientes</a:t>
            </a:r>
            <a:r>
              <a:rPr sz="1998" spc="40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39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estão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envolvidos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no</a:t>
            </a:r>
            <a:r>
              <a:rPr sz="1998" spc="4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processo.</a:t>
            </a:r>
            <a:endParaRPr sz="1998">
              <a:latin typeface="Century Schoolbook"/>
              <a:cs typeface="Century Schoolbook"/>
            </a:endParaRPr>
          </a:p>
          <a:p>
            <a:pPr marL="286762" marR="6344" indent="-274073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  <a:tab pos="1632385" algn="l"/>
                <a:tab pos="2174186" algn="l"/>
                <a:tab pos="3205133" algn="l"/>
                <a:tab pos="4232907" algn="l"/>
                <a:tab pos="4910477" algn="l"/>
                <a:tab pos="5524603" algn="l"/>
                <a:tab pos="7022489" algn="l"/>
              </a:tabLst>
            </a:pPr>
            <a:r>
              <a:rPr sz="1998" spc="-10" dirty="0">
                <a:latin typeface="Century Schoolbook"/>
                <a:cs typeface="Century Schoolbook"/>
              </a:rPr>
              <a:t>Membros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da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equipe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podem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não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ser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adequados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ao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envolvimento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intenso</a:t>
            </a:r>
            <a:r>
              <a:rPr sz="1998" spc="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caracteriza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os</a:t>
            </a:r>
            <a:r>
              <a:rPr sz="1998" spc="3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métodos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ágeis.</a:t>
            </a:r>
            <a:endParaRPr sz="1998">
              <a:latin typeface="Century Schoolbook"/>
              <a:cs typeface="Century Schoolbook"/>
            </a:endParaRPr>
          </a:p>
          <a:p>
            <a:pPr marL="286762" marR="5075" indent="-274073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Priorizar</a:t>
            </a:r>
            <a:r>
              <a:rPr sz="1998" spc="16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mudanças</a:t>
            </a:r>
            <a:r>
              <a:rPr sz="1998" spc="1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pode</a:t>
            </a:r>
            <a:r>
              <a:rPr sz="1998" spc="17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ser</a:t>
            </a:r>
            <a:r>
              <a:rPr sz="1998" spc="1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difícil</a:t>
            </a:r>
            <a:r>
              <a:rPr sz="1998" spc="1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onde</a:t>
            </a:r>
            <a:r>
              <a:rPr sz="1998" spc="17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existem</a:t>
            </a:r>
            <a:r>
              <a:rPr sz="1998" spc="16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múltiplos</a:t>
            </a:r>
            <a:r>
              <a:rPr sz="1998" spc="-1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stakeholders.</a:t>
            </a:r>
            <a:endParaRPr sz="1998">
              <a:latin typeface="Century Schoolbook"/>
              <a:cs typeface="Century Schoolbook"/>
            </a:endParaRPr>
          </a:p>
          <a:p>
            <a:pPr marL="286762" indent="-274073">
              <a:spcBef>
                <a:spcPts val="155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</a:tabLst>
            </a:pPr>
            <a:r>
              <a:rPr sz="1998" dirty="0">
                <a:latin typeface="Century Schoolbook"/>
                <a:cs typeface="Century Schoolbook"/>
              </a:rPr>
              <a:t>Manter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</a:t>
            </a:r>
            <a:r>
              <a:rPr sz="1998" spc="3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simplicidade</a:t>
            </a:r>
            <a:r>
              <a:rPr sz="1998" spc="1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requer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trabalho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extra.</a:t>
            </a:r>
            <a:endParaRPr sz="1998">
              <a:latin typeface="Century Schoolbook"/>
              <a:cs typeface="Century Schoolbook"/>
            </a:endParaRPr>
          </a:p>
          <a:p>
            <a:pPr marL="286762" marR="5710" indent="-274073">
              <a:lnSpc>
                <a:spcPct val="140000"/>
              </a:lnSpc>
              <a:spcBef>
                <a:spcPts val="599"/>
              </a:spcBef>
              <a:buClr>
                <a:srgbClr val="94C600"/>
              </a:buClr>
              <a:buSzPct val="70000"/>
              <a:buFont typeface="Wingdings"/>
              <a:buChar char=""/>
              <a:tabLst>
                <a:tab pos="286762" algn="l"/>
                <a:tab pos="772099" algn="l"/>
                <a:tab pos="2031440" algn="l"/>
                <a:tab pos="2975470" algn="l"/>
                <a:tab pos="3500775" algn="l"/>
                <a:tab pos="4052095" algn="l"/>
                <a:tab pos="5322855" algn="l"/>
                <a:tab pos="6172989" algn="l"/>
                <a:tab pos="6935572" algn="l"/>
              </a:tabLst>
            </a:pPr>
            <a:r>
              <a:rPr sz="1998" spc="-25" dirty="0">
                <a:latin typeface="Century Schoolbook"/>
                <a:cs typeface="Century Schoolbook"/>
              </a:rPr>
              <a:t>Os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contratos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0" dirty="0">
                <a:latin typeface="Century Schoolbook"/>
                <a:cs typeface="Century Schoolbook"/>
              </a:rPr>
              <a:t>podem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ser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um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problema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10" dirty="0">
                <a:latin typeface="Century Schoolbook"/>
                <a:cs typeface="Century Schoolbook"/>
              </a:rPr>
              <a:t>assim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0" dirty="0">
                <a:latin typeface="Century Schoolbook"/>
                <a:cs typeface="Century Schoolbook"/>
              </a:rPr>
              <a:t>como</a:t>
            </a:r>
            <a:r>
              <a:rPr sz="1998" dirty="0">
                <a:latin typeface="Times New Roman"/>
                <a:cs typeface="Times New Roman"/>
              </a:rPr>
              <a:t>	</a:t>
            </a:r>
            <a:r>
              <a:rPr sz="1998" spc="-25" dirty="0">
                <a:latin typeface="Century Schoolbook"/>
                <a:cs typeface="Century Schoolbook"/>
              </a:rPr>
              <a:t>em</a:t>
            </a:r>
            <a:r>
              <a:rPr sz="1998" spc="-2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outras</a:t>
            </a:r>
            <a:r>
              <a:rPr sz="1998" spc="1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abordagens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que</a:t>
            </a:r>
            <a:r>
              <a:rPr sz="1998" spc="4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usam</a:t>
            </a:r>
            <a:r>
              <a:rPr sz="1998" spc="2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o</a:t>
            </a:r>
            <a:r>
              <a:rPr sz="1998" spc="50" dirty="0">
                <a:latin typeface="Times New Roman"/>
                <a:cs typeface="Times New Roman"/>
              </a:rPr>
              <a:t> </a:t>
            </a:r>
            <a:r>
              <a:rPr sz="1998" dirty="0">
                <a:latin typeface="Century Schoolbook"/>
                <a:cs typeface="Century Schoolbook"/>
              </a:rPr>
              <a:t>desenvolvimento</a:t>
            </a:r>
            <a:r>
              <a:rPr sz="1998" spc="5" dirty="0">
                <a:latin typeface="Times New Roman"/>
                <a:cs typeface="Times New Roman"/>
              </a:rPr>
              <a:t> </a:t>
            </a:r>
            <a:r>
              <a:rPr sz="1998" spc="-10" dirty="0">
                <a:latin typeface="Century Schoolbook"/>
                <a:cs typeface="Century Schoolbook"/>
              </a:rPr>
              <a:t>iterativo.</a:t>
            </a:r>
            <a:endParaRPr sz="19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1728661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122" y="3046"/>
            <a:ext cx="626165" cy="6851656"/>
            <a:chOff x="8156437" y="3049"/>
            <a:chExt cx="62674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714" y="3049"/>
              <a:ext cx="381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56437" y="571804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179" y="4440"/>
                  </a:lnTo>
                  <a:lnTo>
                    <a:pt x="178858" y="17234"/>
                  </a:lnTo>
                  <a:lnTo>
                    <a:pt x="136149" y="37592"/>
                  </a:lnTo>
                  <a:lnTo>
                    <a:pt x="97842" y="64723"/>
                  </a:lnTo>
                  <a:lnTo>
                    <a:pt x="64727" y="97837"/>
                  </a:lnTo>
                  <a:lnTo>
                    <a:pt x="37594" y="136144"/>
                  </a:lnTo>
                  <a:lnTo>
                    <a:pt x="17235" y="178854"/>
                  </a:lnTo>
                  <a:lnTo>
                    <a:pt x="4440" y="225176"/>
                  </a:lnTo>
                  <a:lnTo>
                    <a:pt x="0" y="274321"/>
                  </a:lnTo>
                  <a:lnTo>
                    <a:pt x="4440" y="323866"/>
                  </a:lnTo>
                  <a:lnTo>
                    <a:pt x="17235" y="370402"/>
                  </a:lnTo>
                  <a:lnTo>
                    <a:pt x="37594" y="413174"/>
                  </a:lnTo>
                  <a:lnTo>
                    <a:pt x="64727" y="451431"/>
                  </a:lnTo>
                  <a:lnTo>
                    <a:pt x="97842" y="484420"/>
                  </a:lnTo>
                  <a:lnTo>
                    <a:pt x="136149" y="511387"/>
                  </a:lnTo>
                  <a:lnTo>
                    <a:pt x="178858" y="531582"/>
                  </a:lnTo>
                  <a:lnTo>
                    <a:pt x="225179" y="544251"/>
                  </a:lnTo>
                  <a:lnTo>
                    <a:pt x="274320" y="548641"/>
                  </a:lnTo>
                  <a:lnTo>
                    <a:pt x="323865" y="544251"/>
                  </a:lnTo>
                  <a:lnTo>
                    <a:pt x="370400" y="531582"/>
                  </a:lnTo>
                  <a:lnTo>
                    <a:pt x="413173" y="511387"/>
                  </a:lnTo>
                  <a:lnTo>
                    <a:pt x="451430" y="484420"/>
                  </a:lnTo>
                  <a:lnTo>
                    <a:pt x="484418" y="451431"/>
                  </a:lnTo>
                  <a:lnTo>
                    <a:pt x="511386" y="413174"/>
                  </a:lnTo>
                  <a:lnTo>
                    <a:pt x="531581" y="370402"/>
                  </a:lnTo>
                  <a:lnTo>
                    <a:pt x="544249" y="323866"/>
                  </a:lnTo>
                  <a:lnTo>
                    <a:pt x="548640" y="274321"/>
                  </a:lnTo>
                  <a:lnTo>
                    <a:pt x="544249" y="225176"/>
                  </a:lnTo>
                  <a:lnTo>
                    <a:pt x="531581" y="178854"/>
                  </a:lnTo>
                  <a:lnTo>
                    <a:pt x="511386" y="136144"/>
                  </a:lnTo>
                  <a:lnTo>
                    <a:pt x="484418" y="97837"/>
                  </a:lnTo>
                  <a:lnTo>
                    <a:pt x="451430" y="64723"/>
                  </a:lnTo>
                  <a:lnTo>
                    <a:pt x="413173" y="37592"/>
                  </a:lnTo>
                  <a:lnTo>
                    <a:pt x="370400" y="17234"/>
                  </a:lnTo>
                  <a:lnTo>
                    <a:pt x="323865" y="4440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5" name="object 5"/>
          <p:cNvSpPr/>
          <p:nvPr/>
        </p:nvSpPr>
        <p:spPr>
          <a:xfrm>
            <a:off x="1576942" y="3044"/>
            <a:ext cx="56463" cy="6852289"/>
          </a:xfrm>
          <a:custGeom>
            <a:avLst/>
            <a:gdLst/>
            <a:ahLst/>
            <a:cxnLst/>
            <a:rect l="l" t="t" r="r" b="b"/>
            <a:pathLst>
              <a:path w="56514" h="6858634">
                <a:moveTo>
                  <a:pt x="10668" y="0"/>
                </a:moveTo>
                <a:lnTo>
                  <a:pt x="0" y="0"/>
                </a:lnTo>
                <a:lnTo>
                  <a:pt x="0" y="6858013"/>
                </a:lnTo>
                <a:lnTo>
                  <a:pt x="10668" y="6858013"/>
                </a:lnTo>
                <a:lnTo>
                  <a:pt x="10668" y="0"/>
                </a:lnTo>
                <a:close/>
              </a:path>
              <a:path w="56514" h="6858634">
                <a:moveTo>
                  <a:pt x="56388" y="12"/>
                </a:moveTo>
                <a:lnTo>
                  <a:pt x="22860" y="12"/>
                </a:lnTo>
                <a:lnTo>
                  <a:pt x="22860" y="6858013"/>
                </a:lnTo>
                <a:lnTo>
                  <a:pt x="56388" y="6858013"/>
                </a:lnTo>
                <a:lnTo>
                  <a:pt x="56388" y="12"/>
                </a:lnTo>
                <a:close/>
              </a:path>
            </a:pathLst>
          </a:custGeom>
          <a:solidFill>
            <a:srgbClr val="C8DFA9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grpSp>
        <p:nvGrpSpPr>
          <p:cNvPr id="6" name="object 6"/>
          <p:cNvGrpSpPr/>
          <p:nvPr/>
        </p:nvGrpSpPr>
        <p:grpSpPr>
          <a:xfrm>
            <a:off x="10359242" y="3046"/>
            <a:ext cx="304518" cy="6851656"/>
            <a:chOff x="8839189" y="3049"/>
            <a:chExt cx="304800" cy="6858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89" y="3049"/>
              <a:ext cx="304800" cy="6858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0817" y="3049"/>
              <a:ext cx="10795" cy="6858000"/>
            </a:xfrm>
            <a:custGeom>
              <a:avLst/>
              <a:gdLst/>
              <a:ahLst/>
              <a:cxnLst/>
              <a:rect l="l" t="t" r="r" b="b"/>
              <a:pathLst>
                <a:path w="10795" h="6858000">
                  <a:moveTo>
                    <a:pt x="1067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670" y="6858000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rgbClr val="93C600"/>
            </a:solidFill>
          </p:spPr>
          <p:txBody>
            <a:bodyPr wrap="square" lIns="0" tIns="0" rIns="0" bIns="0" rtlCol="0"/>
            <a:lstStyle/>
            <a:p>
              <a:endParaRPr sz="179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365654" y="615526"/>
            <a:ext cx="10505872" cy="822861"/>
          </a:xfrm>
          <a:prstGeom prst="rect">
            <a:avLst/>
          </a:prstGeom>
        </p:spPr>
        <p:txBody>
          <a:bodyPr vert="horz" wrap="square" lIns="0" tIns="31086" rIns="0" bIns="0" rtlCol="0" anchor="ctr">
            <a:spAutoFit/>
          </a:bodyPr>
          <a:lstStyle/>
          <a:p>
            <a:pPr marL="12689" marR="5075">
              <a:lnSpc>
                <a:spcPct val="116700"/>
              </a:lnSpc>
              <a:spcBef>
                <a:spcPts val="245"/>
              </a:spcBef>
            </a:pPr>
            <a:r>
              <a:rPr cap="small" spc="-5" dirty="0"/>
              <a:t>M</a:t>
            </a:r>
            <a:r>
              <a:rPr cap="small" dirty="0"/>
              <a:t>é</a:t>
            </a:r>
            <a:r>
              <a:rPr cap="small" spc="-10" dirty="0"/>
              <a:t>t</a:t>
            </a:r>
            <a:r>
              <a:rPr cap="small" dirty="0"/>
              <a:t>odos</a:t>
            </a:r>
            <a:r>
              <a:rPr sz="2398" spc="254" dirty="0">
                <a:latin typeface="Times New Roman"/>
                <a:cs typeface="Times New Roman"/>
              </a:rPr>
              <a:t> </a:t>
            </a:r>
            <a:r>
              <a:rPr cap="small" dirty="0"/>
              <a:t>ágeis</a:t>
            </a:r>
            <a:r>
              <a:rPr sz="2398" spc="245" dirty="0">
                <a:latin typeface="Times New Roman"/>
                <a:cs typeface="Times New Roman"/>
              </a:rPr>
              <a:t> </a:t>
            </a:r>
            <a:r>
              <a:rPr cap="small" dirty="0"/>
              <a:t>e</a:t>
            </a:r>
            <a:r>
              <a:rPr sz="2398" spc="265" dirty="0">
                <a:latin typeface="Times New Roman"/>
                <a:cs typeface="Times New Roman"/>
              </a:rPr>
              <a:t> </a:t>
            </a:r>
            <a:r>
              <a:rPr cap="small" spc="-5" dirty="0"/>
              <a:t>m</a:t>
            </a:r>
            <a:r>
              <a:rPr cap="small" dirty="0"/>
              <a:t>anu</a:t>
            </a:r>
            <a:r>
              <a:rPr cap="small" spc="-10" dirty="0"/>
              <a:t>t</a:t>
            </a:r>
            <a:r>
              <a:rPr cap="small" dirty="0"/>
              <a:t>enção</a:t>
            </a:r>
            <a:r>
              <a:rPr sz="2398" spc="250" dirty="0">
                <a:latin typeface="Times New Roman"/>
                <a:cs typeface="Times New Roman"/>
              </a:rPr>
              <a:t> </a:t>
            </a:r>
            <a:r>
              <a:rPr cap="small" dirty="0"/>
              <a:t>de</a:t>
            </a:r>
            <a:r>
              <a:rPr sz="2398" dirty="0">
                <a:latin typeface="Times New Roman"/>
                <a:cs typeface="Times New Roman"/>
              </a:rPr>
              <a:t> </a:t>
            </a:r>
            <a:r>
              <a:rPr cap="small" spc="-5" dirty="0"/>
              <a:t>s</a:t>
            </a:r>
            <a:r>
              <a:rPr cap="small" dirty="0"/>
              <a:t>o</a:t>
            </a:r>
            <a:r>
              <a:rPr cap="small" spc="-10" dirty="0"/>
              <a:t>ft</a:t>
            </a:r>
            <a:r>
              <a:rPr cap="small" spc="-5" dirty="0"/>
              <a:t>w</a:t>
            </a:r>
            <a:r>
              <a:rPr cap="small" dirty="0"/>
              <a:t>are</a:t>
            </a:r>
            <a:endParaRPr sz="239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675" y="1594254"/>
            <a:ext cx="7303358" cy="410909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286762" marR="5075" indent="-274073" algn="just">
              <a:lnSpc>
                <a:spcPct val="130000"/>
              </a:lnSpc>
              <a:spcBef>
                <a:spcPts val="100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A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maioria</a:t>
            </a:r>
            <a:r>
              <a:rPr sz="1698" spc="2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das</a:t>
            </a:r>
            <a:r>
              <a:rPr sz="1698" spc="2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organizações</a:t>
            </a:r>
            <a:r>
              <a:rPr sz="1698" spc="2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gasta</a:t>
            </a:r>
            <a:r>
              <a:rPr sz="1698" spc="229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mais</a:t>
            </a:r>
            <a:r>
              <a:rPr sz="1698" spc="24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na</a:t>
            </a:r>
            <a:r>
              <a:rPr sz="1698" spc="24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manutenção</a:t>
            </a:r>
            <a:r>
              <a:rPr sz="1698" spc="2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22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softwares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existentes</a:t>
            </a:r>
            <a:r>
              <a:rPr sz="1698" spc="30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3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no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spc="3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softwares</a:t>
            </a:r>
            <a:r>
              <a:rPr sz="1698" spc="3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novos.</a:t>
            </a:r>
            <a:r>
              <a:rPr sz="1698" spc="3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Devido</a:t>
            </a:r>
            <a:r>
              <a:rPr sz="1698" spc="320" dirty="0">
                <a:latin typeface="Times New Roman"/>
                <a:cs typeface="Times New Roman"/>
              </a:rPr>
              <a:t> </a:t>
            </a:r>
            <a:r>
              <a:rPr sz="1698" spc="-50" dirty="0">
                <a:latin typeface="Century Schoolbook"/>
                <a:cs typeface="Century Schoolbook"/>
              </a:rPr>
              <a:t>a</a:t>
            </a:r>
            <a:r>
              <a:rPr sz="1698" spc="-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isso,</a:t>
            </a:r>
            <a:r>
              <a:rPr sz="1698" spc="10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para</a:t>
            </a:r>
            <a:r>
              <a:rPr sz="1698" spc="114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que</a:t>
            </a:r>
            <a:r>
              <a:rPr sz="1698" spc="10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os</a:t>
            </a:r>
            <a:r>
              <a:rPr sz="1698" spc="11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métodos</a:t>
            </a:r>
            <a:r>
              <a:rPr sz="1698" spc="114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ágeis</a:t>
            </a:r>
            <a:r>
              <a:rPr sz="1698" spc="11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obtenham</a:t>
            </a:r>
            <a:r>
              <a:rPr sz="1698" spc="11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sucesso,</a:t>
            </a:r>
            <a:r>
              <a:rPr sz="1698" spc="11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os</a:t>
            </a:r>
            <a:r>
              <a:rPr sz="1698" spc="110" dirty="0">
                <a:latin typeface="Times New Roman"/>
                <a:cs typeface="Times New Roman"/>
              </a:rPr>
              <a:t>  </a:t>
            </a:r>
            <a:r>
              <a:rPr sz="1698" spc="-10" dirty="0">
                <a:latin typeface="Century Schoolbook"/>
                <a:cs typeface="Century Schoolbook"/>
              </a:rPr>
              <a:t>softwares</a:t>
            </a:r>
            <a:r>
              <a:rPr sz="1698" spc="-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devem</a:t>
            </a:r>
            <a:r>
              <a:rPr sz="1698" spc="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receber</a:t>
            </a:r>
            <a:r>
              <a:rPr sz="1698" spc="1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tanta</a:t>
            </a:r>
            <a:r>
              <a:rPr sz="1698" spc="4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manutenção</a:t>
            </a:r>
            <a:r>
              <a:rPr sz="1698" spc="1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quanto</a:t>
            </a:r>
            <a:r>
              <a:rPr sz="1698" spc="3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o</a:t>
            </a:r>
            <a:r>
              <a:rPr sz="1698" spc="5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original.</a:t>
            </a:r>
            <a:endParaRPr sz="1698">
              <a:latin typeface="Century Schoolbook"/>
              <a:cs typeface="Century Schoolbook"/>
            </a:endParaRPr>
          </a:p>
          <a:p>
            <a:pPr marL="286762" indent="-274073" algn="just">
              <a:spcBef>
                <a:spcPts val="1209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Duas</a:t>
            </a:r>
            <a:r>
              <a:rPr sz="1698" spc="3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questões</a:t>
            </a:r>
            <a:r>
              <a:rPr sz="1698" spc="20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muito</a:t>
            </a:r>
            <a:r>
              <a:rPr sz="1698" spc="35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importantes:</a:t>
            </a:r>
            <a:endParaRPr sz="1698">
              <a:latin typeface="Century Schoolbook"/>
              <a:cs typeface="Century Schoolbook"/>
            </a:endParaRPr>
          </a:p>
          <a:p>
            <a:pPr marL="651558" marR="5710" lvl="1" indent="-274073" algn="just">
              <a:lnSpc>
                <a:spcPct val="130000"/>
              </a:lnSpc>
              <a:spcBef>
                <a:spcPts val="390"/>
              </a:spcBef>
              <a:buClr>
                <a:srgbClr val="94C600"/>
              </a:buClr>
              <a:buSzPct val="80000"/>
              <a:buFont typeface="Wingdings 2"/>
              <a:buChar char=""/>
              <a:tabLst>
                <a:tab pos="652192" algn="l"/>
              </a:tabLst>
            </a:pPr>
            <a:r>
              <a:rPr sz="1499" dirty="0">
                <a:latin typeface="Century Schoolbook"/>
                <a:cs typeface="Century Schoolbook"/>
              </a:rPr>
              <a:t>É</a:t>
            </a:r>
            <a:r>
              <a:rPr sz="1499" spc="35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possível</a:t>
            </a:r>
            <a:r>
              <a:rPr sz="1499" spc="35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dar</a:t>
            </a:r>
            <a:r>
              <a:rPr sz="1499" spc="35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suporte</a:t>
            </a:r>
            <a:r>
              <a:rPr sz="1499" spc="35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aos</a:t>
            </a:r>
            <a:r>
              <a:rPr sz="1499" spc="36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sistemas</a:t>
            </a:r>
            <a:r>
              <a:rPr sz="1499" spc="36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que</a:t>
            </a:r>
            <a:r>
              <a:rPr sz="1499" spc="35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são</a:t>
            </a:r>
            <a:r>
              <a:rPr sz="1499" spc="35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desenvolvidos</a:t>
            </a:r>
            <a:r>
              <a:rPr sz="1499" spc="34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usando</a:t>
            </a:r>
            <a:r>
              <a:rPr sz="1499" spc="355" dirty="0">
                <a:latin typeface="Times New Roman"/>
                <a:cs typeface="Times New Roman"/>
              </a:rPr>
              <a:t> </a:t>
            </a:r>
            <a:r>
              <a:rPr sz="1499" spc="-25" dirty="0">
                <a:latin typeface="Century Schoolbook"/>
                <a:cs typeface="Century Schoolbook"/>
              </a:rPr>
              <a:t>uma</a:t>
            </a:r>
            <a:r>
              <a:rPr sz="1499" spc="-2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abordagem</a:t>
            </a:r>
            <a:r>
              <a:rPr sz="1499" spc="21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ágil,</a:t>
            </a:r>
            <a:r>
              <a:rPr sz="1499" spc="23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tendo</a:t>
            </a:r>
            <a:r>
              <a:rPr sz="1499" spc="22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em</a:t>
            </a:r>
            <a:r>
              <a:rPr sz="1499" spc="24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vista</a:t>
            </a:r>
            <a:r>
              <a:rPr sz="1499" spc="229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a</a:t>
            </a:r>
            <a:r>
              <a:rPr sz="1499" spc="23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ênfase</a:t>
            </a:r>
            <a:r>
              <a:rPr sz="1499" spc="23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no</a:t>
            </a:r>
            <a:r>
              <a:rPr sz="1499" spc="23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processo</a:t>
            </a:r>
            <a:r>
              <a:rPr sz="1499" spc="235" dirty="0">
                <a:latin typeface="Times New Roman"/>
                <a:cs typeface="Times New Roman"/>
              </a:rPr>
              <a:t>  </a:t>
            </a:r>
            <a:r>
              <a:rPr sz="1499" dirty="0">
                <a:latin typeface="Century Schoolbook"/>
                <a:cs typeface="Century Schoolbook"/>
              </a:rPr>
              <a:t>de</a:t>
            </a:r>
            <a:r>
              <a:rPr sz="1499" spc="24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minimização</a:t>
            </a:r>
            <a:r>
              <a:rPr sz="1499" spc="235" dirty="0">
                <a:latin typeface="Times New Roman"/>
                <a:cs typeface="Times New Roman"/>
              </a:rPr>
              <a:t> </a:t>
            </a:r>
            <a:r>
              <a:rPr sz="1499" spc="-25" dirty="0">
                <a:latin typeface="Century Schoolbook"/>
                <a:cs typeface="Century Schoolbook"/>
              </a:rPr>
              <a:t>da</a:t>
            </a:r>
            <a:r>
              <a:rPr sz="1499" spc="-2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documentação</a:t>
            </a:r>
            <a:r>
              <a:rPr sz="1499" spc="10" dirty="0">
                <a:latin typeface="Times New Roman"/>
                <a:cs typeface="Times New Roman"/>
              </a:rPr>
              <a:t> </a:t>
            </a:r>
            <a:r>
              <a:rPr sz="1499" spc="-10" dirty="0">
                <a:latin typeface="Century Schoolbook"/>
                <a:cs typeface="Century Schoolbook"/>
              </a:rPr>
              <a:t>formal?</a:t>
            </a:r>
            <a:endParaRPr sz="1499">
              <a:latin typeface="Century Schoolbook"/>
              <a:cs typeface="Century Schoolbook"/>
            </a:endParaRPr>
          </a:p>
          <a:p>
            <a:pPr marL="651558" marR="6979" lvl="1" indent="-274073" algn="just">
              <a:lnSpc>
                <a:spcPct val="130000"/>
              </a:lnSpc>
              <a:spcBef>
                <a:spcPts val="360"/>
              </a:spcBef>
              <a:buClr>
                <a:srgbClr val="94C600"/>
              </a:buClr>
              <a:buSzPct val="80000"/>
              <a:buFont typeface="Wingdings 2"/>
              <a:buChar char=""/>
              <a:tabLst>
                <a:tab pos="652192" algn="l"/>
              </a:tabLst>
            </a:pPr>
            <a:r>
              <a:rPr sz="1499" dirty="0">
                <a:latin typeface="Century Schoolbook"/>
                <a:cs typeface="Century Schoolbook"/>
              </a:rPr>
              <a:t>Os</a:t>
            </a:r>
            <a:r>
              <a:rPr sz="1499" spc="7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métodos</a:t>
            </a:r>
            <a:r>
              <a:rPr sz="1499" spc="8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ágeis</a:t>
            </a:r>
            <a:r>
              <a:rPr sz="1499" spc="8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podem</a:t>
            </a:r>
            <a:r>
              <a:rPr sz="1499" spc="8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ser</a:t>
            </a:r>
            <a:r>
              <a:rPr sz="1499" spc="7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usados</a:t>
            </a:r>
            <a:r>
              <a:rPr sz="1499" spc="8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efetivamente,</a:t>
            </a:r>
            <a:r>
              <a:rPr sz="1499" spc="7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para</a:t>
            </a:r>
            <a:r>
              <a:rPr sz="1499" spc="8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evoluir</a:t>
            </a:r>
            <a:r>
              <a:rPr sz="1499" spc="7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um</a:t>
            </a:r>
            <a:r>
              <a:rPr sz="1499" spc="85" dirty="0">
                <a:latin typeface="Times New Roman"/>
                <a:cs typeface="Times New Roman"/>
              </a:rPr>
              <a:t> </a:t>
            </a:r>
            <a:r>
              <a:rPr sz="1499" spc="-10" dirty="0">
                <a:latin typeface="Century Schoolbook"/>
                <a:cs typeface="Century Schoolbook"/>
              </a:rPr>
              <a:t>sistema</a:t>
            </a:r>
            <a:r>
              <a:rPr sz="1499" spc="-1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em</a:t>
            </a:r>
            <a:r>
              <a:rPr sz="1499" spc="1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resposta</a:t>
            </a:r>
            <a:r>
              <a:rPr sz="1499" spc="3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a</a:t>
            </a:r>
            <a:r>
              <a:rPr sz="1499" spc="3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mudanças</a:t>
            </a:r>
            <a:r>
              <a:rPr sz="1499" spc="4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nos</a:t>
            </a:r>
            <a:r>
              <a:rPr sz="1499" spc="40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requisitos</a:t>
            </a:r>
            <a:r>
              <a:rPr sz="1499" spc="445" dirty="0">
                <a:latin typeface="Times New Roman"/>
                <a:cs typeface="Times New Roman"/>
              </a:rPr>
              <a:t> </a:t>
            </a:r>
            <a:r>
              <a:rPr sz="1499" dirty="0">
                <a:latin typeface="Century Schoolbook"/>
                <a:cs typeface="Century Schoolbook"/>
              </a:rPr>
              <a:t>do</a:t>
            </a:r>
            <a:r>
              <a:rPr sz="1499" spc="35" dirty="0">
                <a:latin typeface="Times New Roman"/>
                <a:cs typeface="Times New Roman"/>
              </a:rPr>
              <a:t> </a:t>
            </a:r>
            <a:r>
              <a:rPr sz="1499" spc="-10" dirty="0">
                <a:latin typeface="Century Schoolbook"/>
                <a:cs typeface="Century Schoolbook"/>
              </a:rPr>
              <a:t>cliente?</a:t>
            </a:r>
            <a:endParaRPr sz="1499">
              <a:latin typeface="Century Schoolbook"/>
              <a:cs typeface="Century Schoolbook"/>
            </a:endParaRPr>
          </a:p>
          <a:p>
            <a:pPr marL="286762" marR="6344" indent="-274073" algn="just">
              <a:lnSpc>
                <a:spcPct val="130000"/>
              </a:lnSpc>
              <a:spcBef>
                <a:spcPts val="569"/>
              </a:spcBef>
              <a:buClr>
                <a:srgbClr val="94C600"/>
              </a:buClr>
              <a:buSzPct val="67647"/>
              <a:buFont typeface="Wingdings"/>
              <a:buChar char=""/>
              <a:tabLst>
                <a:tab pos="286762" algn="l"/>
              </a:tabLst>
            </a:pPr>
            <a:r>
              <a:rPr sz="1698" dirty="0">
                <a:latin typeface="Century Schoolbook"/>
                <a:cs typeface="Century Schoolbook"/>
              </a:rPr>
              <a:t>Podem</a:t>
            </a:r>
            <a:r>
              <a:rPr sz="1698" spc="46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ocorrer</a:t>
            </a:r>
            <a:r>
              <a:rPr sz="1698" spc="47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problemas</a:t>
            </a:r>
            <a:r>
              <a:rPr sz="1698" spc="47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no</a:t>
            </a:r>
            <a:r>
              <a:rPr sz="1698" spc="47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caso</a:t>
            </a:r>
            <a:r>
              <a:rPr sz="1698" spc="47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do</a:t>
            </a:r>
            <a:r>
              <a:rPr sz="1698" spc="475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tempo</a:t>
            </a:r>
            <a:r>
              <a:rPr sz="1698" spc="470" dirty="0">
                <a:latin typeface="Times New Roman"/>
                <a:cs typeface="Times New Roman"/>
              </a:rPr>
              <a:t>  </a:t>
            </a:r>
            <a:r>
              <a:rPr sz="1698" dirty="0">
                <a:latin typeface="Century Schoolbook"/>
                <a:cs typeface="Century Schoolbook"/>
              </a:rPr>
              <a:t>original</a:t>
            </a:r>
            <a:r>
              <a:rPr sz="1698" spc="470" dirty="0">
                <a:latin typeface="Times New Roman"/>
                <a:cs typeface="Times New Roman"/>
              </a:rPr>
              <a:t>    </a:t>
            </a:r>
            <a:r>
              <a:rPr sz="1698" spc="-25" dirty="0">
                <a:latin typeface="Century Schoolbook"/>
                <a:cs typeface="Century Schoolbook"/>
              </a:rPr>
              <a:t>de</a:t>
            </a:r>
            <a:r>
              <a:rPr sz="1698" spc="-2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desenvolvimento</a:t>
            </a:r>
            <a:r>
              <a:rPr sz="1698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não</a:t>
            </a:r>
            <a:r>
              <a:rPr sz="1698" spc="5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puder</a:t>
            </a:r>
            <a:r>
              <a:rPr sz="1698" spc="5" dirty="0">
                <a:latin typeface="Times New Roman"/>
                <a:cs typeface="Times New Roman"/>
              </a:rPr>
              <a:t> </a:t>
            </a:r>
            <a:r>
              <a:rPr sz="1698" dirty="0">
                <a:latin typeface="Century Schoolbook"/>
                <a:cs typeface="Century Schoolbook"/>
              </a:rPr>
              <a:t>ser</a:t>
            </a:r>
            <a:r>
              <a:rPr sz="1698" spc="40" dirty="0">
                <a:latin typeface="Times New Roman"/>
                <a:cs typeface="Times New Roman"/>
              </a:rPr>
              <a:t> </a:t>
            </a:r>
            <a:r>
              <a:rPr sz="1698" spc="-10" dirty="0">
                <a:latin typeface="Century Schoolbook"/>
                <a:cs typeface="Century Schoolbook"/>
              </a:rPr>
              <a:t>mantido.</a:t>
            </a:r>
            <a:endParaRPr sz="1698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43903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609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Century Schoolbook</vt:lpstr>
      <vt:lpstr>Times New Roman</vt:lpstr>
      <vt:lpstr>Wingdings</vt:lpstr>
      <vt:lpstr>Wingdings 2</vt:lpstr>
      <vt:lpstr>Tema do Office</vt:lpstr>
      <vt:lpstr>Tópicos apresentados</vt:lpstr>
      <vt:lpstr>Desenvolvimento rápido de software</vt:lpstr>
      <vt:lpstr>Desenvolvimento rápido de software</vt:lpstr>
      <vt:lpstr>Métodos ágeis</vt:lpstr>
      <vt:lpstr>Manifesto ágil</vt:lpstr>
      <vt:lpstr>Os princípios dos métodos ágeis</vt:lpstr>
      <vt:lpstr>Aplicabilidade dos métodos ágeis</vt:lpstr>
      <vt:lpstr>Problemas com métodos ágeis</vt:lpstr>
      <vt:lpstr>Métodos ágeis e manutenção de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Laboratórios - W10 - Fatec Mauá</dc:creator>
  <cp:lastModifiedBy>Laboratórios - W10 - Fatec Mauá</cp:lastModifiedBy>
  <cp:revision>2</cp:revision>
  <dcterms:created xsi:type="dcterms:W3CDTF">2023-03-04T13:36:29Z</dcterms:created>
  <dcterms:modified xsi:type="dcterms:W3CDTF">2023-03-04T13:51:08Z</dcterms:modified>
</cp:coreProperties>
</file>